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notesMasterIdLst>
    <p:notesMasterId r:id="rId3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4dc7c63d-a71a-a674-a309-bcf2a9c0821b}">
          <p14:sldIdLst>
            <p14:sldId id="256"/>
            <p14:sldId id="257"/>
            <p14:sldId id="258"/>
          </p14:sldIdLst>
        </p14:section>
        <p14:section name="Governance" id="{8bdd3237-e2b3-1a28-a211-4927450c65c1}">
          <p14:sldIdLst>
            <p14:sldId id="259"/>
            <p14:sldId id="260"/>
            <p14:sldId id="261"/>
            <p14:sldId id="262"/>
            <p14:sldId id="263"/>
            <p14:sldId id="264"/>
            <p14:sldId id="265"/>
            <p14:sldId id="266"/>
            <p14:sldId id="267"/>
            <p14:sldId id="268"/>
            <p14:sldId id="269"/>
          </p14:sldIdLst>
        </p14:section>
        <p14:section name="Public Policy" id="{ac9a3b41-f1b9-04c4-d045-0affe64fa1c8}">
          <p14:sldIdLst>
            <p14:sldId id="270"/>
            <p14:sldId id="271"/>
            <p14:sldId id="272"/>
            <p14:sldId id="273"/>
            <p14:sldId id="274"/>
            <p14:sldId id="275"/>
            <p14:sldId id="276"/>
            <p14:sldId id="277"/>
            <p14:sldId id="278"/>
            <p14:sldId id="279"/>
            <p14:sldId id="280"/>
            <p14:sldId id="281"/>
            <p14:sldId id="282"/>
          </p14:sldIdLst>
        </p14:section>
        <p14:section name="Review" id="{32a3ad6d-80c8-807d-ca74-ec3e6a171e71}">
          <p14:sldIdLst>
            <p14:sldId id="283"/>
            <p14:sldId id="284"/>
            <p14:sldId id="285"/>
            <p14:sldId id="286"/>
            <p14:sldId id="28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Recall the chapters 'Democracy' and 'Elections' from Part 1: voting forms a government, but a robust democracy also needs transparent institutions, responsible representatives and continuous participation by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textbook's opening Let's Explore. Groups list people and organisations, explain why coordination matters, and what citizens can do before, during and after heavy rain. Collect the qualities that made the response effective: coordination, communication, responsibility, participation.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Solving public problems needs much more than a government issuing orders. Different institutions and citizens must work together, decide, implement and stay accountable. This process is GOVERNANCE.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Explore: ask students for more examples from daily life, e.g. the school timetable, water supply, garbage collection.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Colonial powers imposed their models of governance on many societies. India stands out: it preserved knowledge of its pre-colonial institutions and framed its Constitution in the spirit of its own values. Example: 'Heaven's Light, Our Guide' (British order) vs 'Satyameva Jayate'.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Possible schemes: PM POSHAN (school meals), Ayushman Bharat, Jal Jeevan Mission. Good governance is measured not only by authority but by peace, prosperity, justice and well-being in society.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Memory trick: 'Real People Always Trust Every Responsible Institution' (Rule of law, Participation, Accountability, Transparency, Effectiveness, Responsiveness, Inclusiveness).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Textbook Q1: 'Good governance is the responsibility of the government alone.' Do you agree? Use this slide to argue why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Have you seen fake news on a family WhatsApp group? How can we check facts before sharing? (Official websites, PIB Fact Check, reliable newspapers.)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Indore (Madhya Pradesh) has been ranked India's cleanest city many times in the Swachh Survekshan survey; Surat and Navi Mumbai are also top performers. Encourage students to look at door-to-door collection, waste segregation and citizen campaigns.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textbook leaves this chart for students to fill in: cover the right column first and let them guess. Add two initiatives by our state government. Remember: e-governance works only when people have devices, internet and digital skills, so it must stay inclusive.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Guide students to record both benefits and barriers (digital divide, language, cyber fraud). This builds empathy and evidence-based thinking.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school policy is a policy, but not a public policy. Governments make public policies for society as a whole, e.g. roads, traffic signals, drinking water, electricity, parks, waste collection.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every policy is public: schools, companies, hospitals, clubs and even families have policies that apply only to a limited group.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hold up a P card (policy) or a PP card (public policy) and give a reason.
Answers:
1. PUBLIC POLICY: Made by government for the whole country.
2. PUBLIC POLICY: Public welfare, public money.
3. POLICY: Applies only to one organisation.
4. PUBLIC POLICY: A local government acting for all residents.
5. POLICY: Applies only to the society's members.
6. PUBLIC POLICY: Public health for all children.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Which of these stakeholders can a Grade 9 student be? (A citizen, and a member of civil society through school clubs.)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Stakeholders: students, principal, school management, parents, traffic police, municipal body, local representative, rickshaw and bus drivers, shopkeepers. Feedback loop example: weekly student observers report jams to a committee.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Explore: arrange the stages in sequence; name three stakeholders; suggest how to make a public building in our locality more accessible.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policy is a continuous cycle. Think About It: What happens if a step is skipped? Example: a city plants one lakh trees but skips monitoring; saplings die because no one waters them (textbook Q8).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6,000 urban local bodies were also consulted. Point out that NEP 2020 is why students now have new textbooks like this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policy document is available at https://static.pib.gov.in/WriteReadData/userfiles/NEP_Final_English_0.pdf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Analogy: policy is the destination, the programme is the route map, and schemes are the vehicles that carry benefits to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Explore: As a student, what can you do for Khelo Bharat Niti? If our school were the state's sports ambassador, what would it do? Which ministries could help? (Youth Affairs and Sports, Education, Health, Women and Child Development...)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Textbook Q2: Can students contribute to good governance? Ask each student to write five ways (save water and electricity, keep surroundings clean, follow road rules, report problems, volunteer, check facts before sharing).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Q1: B, Q2: C, Q3: B, Q4: C. Let students vote with fingers (1-4) or A/B/C/D cards before revealing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 why each wrong option is wrong. Ask: Which question was the trickiest, and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move to the 'Agree' or 'Disagree' side of the room and give one reason.
Answers:
1. DISAGREE: It is a partnership of government, citizens, media, civil society and the private sector.
2. AGREE: e.g. trees planted but not watered or protected.
3. AGREE: It brings ideas, ownership and accountability.
4. DISAGREE: People need access and skills, and institutions must be honest and responsive.
5. DISAGREE: School, company or society policies are not public policies.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ask a different student to explain each branch in one sentence, in their own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 out sticky notes or half-sheets for the 3-2-1 exit ticket. Collect them at the door and use the questions to plan the next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H_TITLE">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1143000"/>
            <a:ext cx="6949440" cy="457200"/>
          </a:xfrm>
          <a:prstGeom prst="rect">
            <a:avLst/>
          </a:prstGeom>
          <a:noFill/>
          <a:ln/>
        </p:spPr>
        <p:txBody>
          <a:bodyPr wrap="square" rtlCol="0"/>
          <a:lstStyle>
            <a:lvl1pPr indent="0" marL="0">
              <a:buNone/>
              <a:defRPr lang="en-US" sz="1800" b="1" spc="300" kern="0" dirty="0">
                <a:solidFill>
                  <a:schemeClr val="accent3"/>
                </a:solidFill>
              </a:defRPr>
            </a:lvl1pPr>
          </a:lstStyle>
          <a:p>
            <a:pPr indent="0" marL="0">
              <a:buNone/>
            </a:pPr>
            <a:endParaRPr lang="en-US" sz="1800" dirty="0"/>
          </a:p>
        </p:txBody>
      </p:sp>
      <p:sp>
        <p:nvSpPr>
          <p:cNvPr id="3" name="Text 0"/>
          <p:cNvSpPr/>
          <p:nvPr>
            <p:ph idx="101" type="title" hasCustomPrompt="1"/>
          </p:nvPr>
        </p:nvSpPr>
        <p:spPr>
          <a:xfrm>
            <a:off x="731520" y="1691640"/>
            <a:ext cx="6949440" cy="2194560"/>
          </a:xfrm>
          <a:prstGeom prst="rect">
            <a:avLst/>
          </a:prstGeom>
          <a:noFill/>
          <a:ln/>
        </p:spPr>
        <p:txBody>
          <a:bodyPr wrap="square" rtlCol="0"/>
          <a:lstStyle>
            <a:lvl1pPr algn="l" indent="0" marL="0">
              <a:buNone/>
              <a:defRPr lang="en-US" sz="5400" b="1" dirty="0">
                <a:solidFill>
                  <a:schemeClr val="bg1"/>
                </a:solidFill>
              </a:defRPr>
            </a:lvl1pPr>
          </a:lstStyle>
          <a:p>
            <a:pPr algn="l" indent="0" marL="0">
              <a:buNone/>
            </a:pPr>
            <a:endParaRPr lang="en-US" sz="5400" dirty="0"/>
          </a:p>
        </p:txBody>
      </p:sp>
      <p:sp>
        <p:nvSpPr>
          <p:cNvPr id="4" name="Text 0"/>
          <p:cNvSpPr/>
          <p:nvPr>
            <p:ph idx="102" type="body" hasCustomPrompt="1"/>
          </p:nvPr>
        </p:nvSpPr>
        <p:spPr>
          <a:xfrm>
            <a:off x="731520" y="4069080"/>
            <a:ext cx="6949440" cy="1097280"/>
          </a:xfrm>
          <a:prstGeom prst="rect">
            <a:avLst/>
          </a:prstGeom>
          <a:noFill/>
          <a:ln/>
        </p:spPr>
        <p:txBody>
          <a:bodyPr wrap="square" rtlCol="0"/>
          <a:lstStyle>
            <a:lvl1pPr indent="0" marL="0">
              <a:buNone/>
              <a:defRPr lang="en-US" sz="1800" dirty="0">
                <a:solidFill>
                  <a:schemeClr val="bg2"/>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accent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2011680"/>
            <a:ext cx="7772400" cy="457200"/>
          </a:xfrm>
          <a:prstGeom prst="rect">
            <a:avLst/>
          </a:prstGeom>
          <a:noFill/>
          <a:ln/>
        </p:spPr>
        <p:txBody>
          <a:bodyPr wrap="square" rtlCol="0"/>
          <a:lstStyle>
            <a:lvl1pPr indent="0" marL="0">
              <a:buNone/>
              <a:defRPr lang="en-US" sz="1800" b="1" spc="300" kern="0" dirty="0">
                <a:solidFill>
                  <a:schemeClr val="bg2"/>
                </a:solidFill>
              </a:defRPr>
            </a:lvl1pPr>
          </a:lstStyle>
          <a:p>
            <a:pPr indent="0" marL="0">
              <a:buNone/>
            </a:pPr>
            <a:endParaRPr lang="en-US" sz="1800" dirty="0"/>
          </a:p>
        </p:txBody>
      </p:sp>
      <p:sp>
        <p:nvSpPr>
          <p:cNvPr id="3" name="Text 0"/>
          <p:cNvSpPr/>
          <p:nvPr>
            <p:ph idx="101" type="title" hasCustomPrompt="1"/>
          </p:nvPr>
        </p:nvSpPr>
        <p:spPr>
          <a:xfrm>
            <a:off x="731520" y="2514600"/>
            <a:ext cx="7772400" cy="146304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4" name="Text 0"/>
          <p:cNvSpPr/>
          <p:nvPr>
            <p:ph idx="102" type="body" hasCustomPrompt="1"/>
          </p:nvPr>
        </p:nvSpPr>
        <p:spPr>
          <a:xfrm>
            <a:off x="731520" y="4069080"/>
            <a:ext cx="7772400" cy="1097280"/>
          </a:xfrm>
          <a:prstGeom prst="rect">
            <a:avLst/>
          </a:prstGeom>
          <a:noFill/>
          <a:ln/>
        </p:spPr>
        <p:txBody>
          <a:bodyPr wrap="square" rtlCol="0"/>
          <a:lstStyle>
            <a:lvl1pPr indent="0" marL="0">
              <a:buNone/>
              <a:defRPr lang="en-US" sz="1800" dirty="0">
                <a:solidFill>
                  <a:schemeClr val="bg1"/>
                </a:solidFill>
              </a:defRPr>
            </a:lvl1pPr>
          </a:lstStyle>
          <a:p>
            <a:pPr indent="0" marL="0">
              <a:buNone/>
            </a:pPr>
            <a:endParaRPr lang="en-US" sz="1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algn="l" indent="0" marL="0">
              <a:buNone/>
              <a:defRPr lang="en-US" sz="3600" b="1" dirty="0">
                <a:solidFill>
                  <a:schemeClr val="tx2"/>
                </a:solidFill>
              </a:defRPr>
            </a:lvl1pPr>
          </a:lstStyle>
          <a:p>
            <a:pPr algn="l" indent="0" marL="0">
              <a:buNone/>
            </a:pPr>
            <a:endParaRPr lang="en-US" sz="3600" dirty="0"/>
          </a:p>
        </p:txBody>
      </p:sp>
      <p:sp>
        <p:nvSpPr>
          <p:cNvPr id="3" name="Text 0"/>
          <p:cNvSpPr/>
          <p:nvPr/>
        </p:nvSpPr>
        <p:spPr>
          <a:xfrm>
            <a:off x="548640" y="6419088"/>
            <a:ext cx="8229600" cy="274320"/>
          </a:xfrm>
          <a:prstGeom prst="rect">
            <a:avLst/>
          </a:prstGeom>
          <a:noFill/>
          <a:ln/>
        </p:spPr>
        <p:txBody>
          <a:bodyPr wrap="square" lIns="0" tIns="0" rIns="0" bIns="0" rtlCol="0" anchor="ctr"/>
          <a:lstStyle/>
          <a:p>
            <a:pPr indent="0" marL="0">
              <a:buNone/>
            </a:pPr>
            <a:r>
              <a:rPr lang="en-US" sz="1000" dirty="0">
                <a:solidFill>
                  <a:schemeClr val="tx2"/>
                </a:solidFill>
              </a:rPr>
              <a:t>Grade 9 Social Science  ·  Chapter 4: Governance and Public Policy</a:t>
            </a:r>
            <a:endParaRPr lang="en-US" sz="10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E2761"/>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ACTIVITY">
    <p:bg>
      <p:bgPr>
        <a:solidFill>
          <a:schemeClr val="bg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algn="l" indent="0" marL="0">
              <a:buNone/>
              <a:defRPr lang="en-US" sz="3600" b="1" dirty="0">
                <a:solidFill>
                  <a:schemeClr val="tx2"/>
                </a:solidFill>
              </a:defRPr>
            </a:lvl1pPr>
          </a:lstStyle>
          <a:p>
            <a:pPr algn="l" indent="0" marL="0">
              <a:buNone/>
            </a:pPr>
            <a:endParaRPr lang="en-US" sz="3600" dirty="0"/>
          </a:p>
        </p:txBody>
      </p:sp>
      <p:sp>
        <p:nvSpPr>
          <p:cNvPr id="3" name="Text 0"/>
          <p:cNvSpPr/>
          <p:nvPr/>
        </p:nvSpPr>
        <p:spPr>
          <a:xfrm>
            <a:off x="548640" y="6419088"/>
            <a:ext cx="8229600" cy="274320"/>
          </a:xfrm>
          <a:prstGeom prst="rect">
            <a:avLst/>
          </a:prstGeom>
          <a:noFill/>
          <a:ln/>
        </p:spPr>
        <p:txBody>
          <a:bodyPr wrap="square" lIns="0" tIns="0" rIns="0" bIns="0" rtlCol="0" anchor="ctr"/>
          <a:lstStyle/>
          <a:p>
            <a:pPr indent="0" marL="0">
              <a:buNone/>
            </a:pPr>
            <a:r>
              <a:rPr lang="en-US" sz="1000" dirty="0">
                <a:solidFill>
                  <a:schemeClr val="tx2"/>
                </a:solidFill>
              </a:rPr>
              <a:t>Grade 9 Social Science  ·  Chapter 4: Governance and Public Policy</a:t>
            </a:r>
            <a:endParaRPr lang="en-US" sz="10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E2761"/>
                </a:solidFill>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LOSING">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457200"/>
            <a:ext cx="10698480" cy="82296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EBEEF8"/>
                </a:solidFill>
              </a:defRPr>
            </a:lvl1pPr>
          </a:lstStyle>
          <a:p>
            <a:pPr algn="r"/>
            <a:fld id="{F7021451-1387-4CA6-816F-3879F97B5CBC}" type="slidenum">
              <a:rPr b="0" lang="en-US"/>
              <a:t>1006</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E2761"/>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5.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4.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4.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5.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slideLayout" Target="../slideLayouts/slideLayout4.xml"/><Relationship Id="rId9"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4.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4.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5.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5.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4.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slideLayout" Target="../slideLayouts/slideLayout5.xml"/><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slideLayout" Target="../slideLayouts/slideLayout4.xml"/><Relationship Id="rId7"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slideLayout" Target="../slideLayouts/slideLayout4.xml"/><Relationship Id="rId7"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slideLayout" Target="../slideLayouts/slideLayout5.xml"/><Relationship Id="rI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image" Target="../media/image-27-6.png"/><Relationship Id="rId7" Type="http://schemas.openxmlformats.org/officeDocument/2006/relationships/slideLayout" Target="../slideLayouts/slideLayout4.xml"/><Relationship Id="rId8"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slideLayout" Target="../slideLayouts/slideLayout6.xml"/><Relationship Id="rId4"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731520" y="1143000"/>
            <a:ext cx="6949440" cy="457200"/>
          </a:xfrm>
          <a:prstGeom prst="rect">
            <a:avLst/>
          </a:prstGeom>
          <a:noFill/>
          <a:ln/>
        </p:spPr>
        <p:txBody>
          <a:bodyPr wrap="square" lIns="0" tIns="0" rIns="0" bIns="0" rtlCol="0"/>
          <a:lstStyle/>
          <a:p>
            <a:pPr indent="0" marL="0">
              <a:buNone/>
            </a:pPr>
            <a:r>
              <a:rPr lang="en-US" sz="1800" b="1" spc="300" kern="0" dirty="0">
                <a:solidFill>
                  <a:schemeClr val="accent3"/>
                </a:solidFill>
              </a:rPr>
              <a:t>CHAPTER 4  ·  POLITICAL SCIENCE</a:t>
            </a:r>
            <a:endParaRPr lang="en-US" sz="1800" dirty="0"/>
          </a:p>
        </p:txBody>
      </p:sp>
      <p:sp>
        <p:nvSpPr>
          <p:cNvPr id="3" name="Text 0"/>
          <p:cNvSpPr/>
          <p:nvPr>
            <p:ph idx="101" type="title" hasCustomPrompt="1"/>
          </p:nvPr>
        </p:nvSpPr>
        <p:spPr>
          <a:xfrm>
            <a:off x="731520" y="1691640"/>
            <a:ext cx="6949440" cy="2194560"/>
          </a:xfrm>
          <a:prstGeom prst="rect">
            <a:avLst/>
          </a:prstGeom>
          <a:noFill/>
          <a:ln/>
        </p:spPr>
        <p:txBody>
          <a:bodyPr wrap="square" lIns="0" tIns="0" rIns="0" bIns="0" rtlCol="0" anchor="t"/>
          <a:lstStyle/>
          <a:p>
            <a:pPr algn="l" indent="0" marL="0">
              <a:buNone/>
            </a:pPr>
            <a:r>
              <a:rPr lang="en-US" sz="5400" b="1" dirty="0">
                <a:solidFill>
                  <a:schemeClr val="bg1"/>
                </a:solidFill>
              </a:rPr>
              <a:t>Governance and Public Policy</a:t>
            </a:r>
            <a:endParaRPr lang="en-US" sz="5400" dirty="0"/>
          </a:p>
        </p:txBody>
      </p:sp>
      <p:sp>
        <p:nvSpPr>
          <p:cNvPr id="4" name="Text 0"/>
          <p:cNvSpPr/>
          <p:nvPr>
            <p:ph idx="102" type="body" hasCustomPrompt="1"/>
          </p:nvPr>
        </p:nvSpPr>
        <p:spPr>
          <a:xfrm>
            <a:off x="731520" y="4069080"/>
            <a:ext cx="6949440" cy="1097280"/>
          </a:xfrm>
          <a:prstGeom prst="rect">
            <a:avLst/>
          </a:prstGeom>
          <a:noFill/>
          <a:ln/>
        </p:spPr>
        <p:txBody>
          <a:bodyPr wrap="square" lIns="0" tIns="0" rIns="0" bIns="0" rtlCol="0" anchor="t"/>
          <a:lstStyle/>
          <a:p>
            <a:pPr indent="0" marL="0">
              <a:buNone/>
            </a:pPr>
            <a:r>
              <a:rPr lang="en-US" sz="1800" dirty="0">
                <a:solidFill>
                  <a:schemeClr val="bg2"/>
                </a:solidFill>
              </a:rPr>
              <a:t>Understanding Society: India and Beyond</a:t>
            </a:r>
            <a:endParaRPr lang="en-US" sz="1800" dirty="0"/>
          </a:p>
          <a:p>
            <a:pPr indent="0" marL="0">
              <a:buNone/>
            </a:pPr>
            <a:r>
              <a:rPr lang="en-US" sz="1800" dirty="0">
                <a:solidFill>
                  <a:schemeClr val="bg2"/>
                </a:solidFill>
              </a:rPr>
              <a:t>Grade 9, Part 2</a:t>
            </a:r>
            <a:endParaRPr lang="en-US" sz="1800" dirty="0"/>
          </a:p>
        </p:txBody>
      </p:sp>
      <p:sp>
        <p:nvSpPr>
          <p:cNvPr id="5" name="hero disc"/>
          <p:cNvSpPr/>
          <p:nvPr/>
        </p:nvSpPr>
        <p:spPr>
          <a:xfrm>
            <a:off x="8001000" y="1234440"/>
            <a:ext cx="3566160" cy="3566160"/>
          </a:xfrm>
          <a:prstGeom prst="ellipse">
            <a:avLst/>
          </a:prstGeom>
          <a:solidFill>
            <a:schemeClr val="accent1"/>
          </a:solidFill>
          <a:ln w="38100">
            <a:solidFill>
              <a:schemeClr val="accent3"/>
            </a:solidFill>
            <a:prstDash val="solid"/>
          </a:ln>
        </p:spPr>
      </p:sp>
      <p:pic>
        <p:nvPicPr>
          <p:cNvPr id="6" name="hero icon" descr="preencoded.png">    </p:cNvPr>
          <p:cNvPicPr>
            <a:picLocks noChangeAspect="1"/>
          </p:cNvPicPr>
          <p:nvPr/>
        </p:nvPicPr>
        <p:blipFill>
          <a:blip r:embed="rId1"/>
          <a:stretch>
            <a:fillRect/>
          </a:stretch>
        </p:blipFill>
        <p:spPr>
          <a:xfrm>
            <a:off x="8823960" y="2057400"/>
            <a:ext cx="1920240" cy="1920240"/>
          </a:xfrm>
          <a:prstGeom prst="rect">
            <a:avLst/>
          </a:prstGeom>
        </p:spPr>
      </p:pic>
      <p:sp>
        <p:nvSpPr>
          <p:cNvPr id="7" name="Text 4"/>
          <p:cNvSpPr txBox="1"/>
          <p:nvPr/>
        </p:nvSpPr>
        <p:spPr>
          <a:xfrm>
            <a:off x="7680960" y="5074920"/>
            <a:ext cx="4206240" cy="731520"/>
          </a:xfrm>
          <a:prstGeom prst="rect">
            <a:avLst/>
          </a:prstGeom>
          <a:noFill/>
          <a:ln/>
        </p:spPr>
        <p:txBody>
          <a:bodyPr wrap="square" lIns="0" tIns="0" rIns="0" bIns="0" rtlCol="0" anchor="t"/>
          <a:lstStyle/>
          <a:p>
            <a:pPr algn="ctr" indent="0" marL="0">
              <a:buNone/>
            </a:pPr>
            <a:r>
              <a:rPr lang="en-US" sz="1600" i="1" dirty="0">
                <a:solidFill>
                  <a:schemeClr val="bg2"/>
                </a:solidFill>
              </a:rPr>
              <a:t>Good governance is a partnership</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Let's Begin: The Town Is Flooded!</a:t>
            </a:r>
            <a:endParaRPr lang="en-US" sz="3600" dirty="0"/>
          </a:p>
        </p:txBody>
      </p:sp>
      <p:sp>
        <p:nvSpPr>
          <p:cNvPr id="3" name="hook prompt card"/>
          <p:cNvSpPr/>
          <p:nvPr/>
        </p:nvSpPr>
        <p:spPr>
          <a:xfrm>
            <a:off x="548640" y="1371600"/>
            <a:ext cx="6766560" cy="4754880"/>
          </a:xfrm>
          <a:prstGeom prst="roundRect">
            <a:avLst>
              <a:gd name="adj" fmla="val 2308"/>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4" name="hook disc"/>
          <p:cNvSpPr/>
          <p:nvPr/>
        </p:nvSpPr>
        <p:spPr>
          <a:xfrm>
            <a:off x="868680" y="1691640"/>
            <a:ext cx="822960" cy="822960"/>
          </a:xfrm>
          <a:prstGeom prst="ellipse">
            <a:avLst/>
          </a:prstGeom>
          <a:solidFill>
            <a:schemeClr val="accent1"/>
          </a:solidFill>
          <a:ln w="12700">
            <a:solidFill>
              <a:schemeClr val="accent1"/>
            </a:solidFill>
            <a:prstDash val="solid"/>
          </a:ln>
        </p:spPr>
      </p:sp>
      <p:pic>
        <p:nvPicPr>
          <p:cNvPr id="5" name="hook glyph" descr="preencoded.png">    </p:cNvPr>
          <p:cNvPicPr>
            <a:picLocks noChangeAspect="1"/>
          </p:cNvPicPr>
          <p:nvPr/>
        </p:nvPicPr>
        <p:blipFill>
          <a:blip r:embed="rId1"/>
          <a:stretch>
            <a:fillRect/>
          </a:stretch>
        </p:blipFill>
        <p:spPr>
          <a:xfrm>
            <a:off x="1049731" y="1872691"/>
            <a:ext cx="460858" cy="460858"/>
          </a:xfrm>
          <a:prstGeom prst="rect">
            <a:avLst/>
          </a:prstGeom>
        </p:spPr>
      </p:pic>
      <p:sp>
        <p:nvSpPr>
          <p:cNvPr id="6" name="Text 3"/>
          <p:cNvSpPr txBox="1"/>
          <p:nvPr/>
        </p:nvSpPr>
        <p:spPr>
          <a:xfrm>
            <a:off x="1874520" y="1874520"/>
            <a:ext cx="5120640" cy="457200"/>
          </a:xfrm>
          <a:prstGeom prst="rect">
            <a:avLst/>
          </a:prstGeom>
          <a:noFill/>
          <a:ln/>
        </p:spPr>
        <p:txBody>
          <a:bodyPr wrap="square" lIns="0" tIns="0" rIns="0" bIns="0" rtlCol="0" anchor="ctr"/>
          <a:lstStyle/>
          <a:p>
            <a:pPr indent="0" marL="0">
              <a:buNone/>
            </a:pPr>
            <a:r>
              <a:rPr lang="en-US" sz="1400" b="1" spc="200" kern="0" dirty="0">
                <a:solidFill>
                  <a:schemeClr val="accent1"/>
                </a:solidFill>
              </a:rPr>
              <a:t>GROUP TALK</a:t>
            </a:r>
            <a:endParaRPr lang="en-US" sz="1400" dirty="0"/>
          </a:p>
        </p:txBody>
      </p:sp>
      <p:sp>
        <p:nvSpPr>
          <p:cNvPr id="7" name="Text 4"/>
          <p:cNvSpPr txBox="1"/>
          <p:nvPr/>
        </p:nvSpPr>
        <p:spPr>
          <a:xfrm>
            <a:off x="868680" y="2743200"/>
            <a:ext cx="6126480" cy="1828800"/>
          </a:xfrm>
          <a:prstGeom prst="rect">
            <a:avLst/>
          </a:prstGeom>
          <a:noFill/>
          <a:ln/>
        </p:spPr>
        <p:txBody>
          <a:bodyPr wrap="square" lIns="0" tIns="0" rIns="0" bIns="0" rtlCol="0" anchor="t"/>
          <a:lstStyle/>
          <a:p>
            <a:pPr indent="0" marL="0">
              <a:buNone/>
            </a:pPr>
            <a:r>
              <a:rPr lang="en-US" sz="2400" b="1" dirty="0">
                <a:solidFill>
                  <a:schemeClr val="tx2"/>
                </a:solidFill>
                <a:latin typeface="Cambria" pitchFamily="34" charset="0"/>
                <a:ea typeface="Cambria" pitchFamily="34" charset="-122"/>
                <a:cs typeface="Cambria" pitchFamily="34" charset="-120"/>
              </a:rPr>
              <a:t>Roads are flooded, schools are shut and power is cut. Who will fix your town? Can one department do it alone?</a:t>
            </a:r>
            <a:endParaRPr lang="en-US" sz="2400" dirty="0"/>
          </a:p>
        </p:txBody>
      </p:sp>
      <p:sp>
        <p:nvSpPr>
          <p:cNvPr id="8" name="Text 5"/>
          <p:cNvSpPr txBox="1"/>
          <p:nvPr/>
        </p:nvSpPr>
        <p:spPr>
          <a:xfrm>
            <a:off x="868680" y="4617720"/>
            <a:ext cx="6126480" cy="1371600"/>
          </a:xfrm>
          <a:prstGeom prst="rect">
            <a:avLst/>
          </a:prstGeom>
          <a:noFill/>
          <a:ln/>
        </p:spPr>
        <p:txBody>
          <a:bodyPr wrap="square" lIns="0" tIns="0" rIns="0" bIns="0" rtlCol="0" anchor="t"/>
          <a:lstStyle/>
          <a:p>
            <a:pPr marL="228600" indent="-228600">
              <a:spcAft>
                <a:spcPts val="600"/>
              </a:spcAft>
              <a:buSzPct val="100000"/>
              <a:buChar char="•"/>
            </a:pPr>
            <a:r>
              <a:rPr lang="en-US" sz="1600" dirty="0">
                <a:solidFill>
                  <a:schemeClr val="tx1"/>
                </a:solidFill>
              </a:rPr>
              <a:t>List everyone who must act</a:t>
            </a:r>
            <a:endParaRPr lang="en-US" sz="1600" dirty="0"/>
          </a:p>
          <a:p>
            <a:pPr marL="228600" indent="-228600">
              <a:spcAft>
                <a:spcPts val="600"/>
              </a:spcAft>
              <a:buSzPct val="100000"/>
              <a:buChar char="•"/>
            </a:pPr>
            <a:r>
              <a:rPr lang="en-US" sz="1600" dirty="0">
                <a:solidFill>
                  <a:schemeClr val="tx1"/>
                </a:solidFill>
              </a:rPr>
              <a:t>What happens if they don't talk to each other?</a:t>
            </a:r>
            <a:endParaRPr lang="en-US" sz="1600" dirty="0"/>
          </a:p>
        </p:txBody>
      </p:sp>
      <p:sp>
        <p:nvSpPr>
          <p:cNvPr id="9" name="did you know card"/>
          <p:cNvSpPr/>
          <p:nvPr/>
        </p:nvSpPr>
        <p:spPr>
          <a:xfrm>
            <a:off x="7635240" y="1371600"/>
            <a:ext cx="3977640" cy="4754880"/>
          </a:xfrm>
          <a:prstGeom prst="roundRect">
            <a:avLst>
              <a:gd name="adj" fmla="val 2759"/>
            </a:avLst>
          </a:prstGeom>
          <a:solidFill>
            <a:schemeClr val="tx2"/>
          </a:solidFill>
          <a:ln w="12700">
            <a:solidFill>
              <a:schemeClr val="tx2"/>
            </a:solidFill>
            <a:prstDash val="solid"/>
          </a:ln>
          <a:effectLst>
            <a:outerShdw sx="100000" sy="100000" kx="0" ky="0" algn="bl" rotWithShape="0" blurRad="101600" dist="25400" dir="5400000">
              <a:srgbClr val="000000">
                <a:alpha val="14000"/>
              </a:srgbClr>
            </a:outerShdw>
          </a:effectLst>
        </p:spPr>
      </p:sp>
      <p:pic>
        <p:nvPicPr>
          <p:cNvPr id="10" name="bulb" descr="preencoded.png">    </p:cNvPr>
          <p:cNvPicPr>
            <a:picLocks noChangeAspect="1"/>
          </p:cNvPicPr>
          <p:nvPr/>
        </p:nvPicPr>
        <p:blipFill>
          <a:blip r:embed="rId2"/>
          <a:stretch>
            <a:fillRect/>
          </a:stretch>
        </p:blipFill>
        <p:spPr>
          <a:xfrm>
            <a:off x="7955280" y="1691640"/>
            <a:ext cx="548640" cy="548640"/>
          </a:xfrm>
          <a:prstGeom prst="rect">
            <a:avLst/>
          </a:prstGeom>
        </p:spPr>
      </p:pic>
      <p:sp>
        <p:nvSpPr>
          <p:cNvPr id="11" name="Text 7"/>
          <p:cNvSpPr txBox="1"/>
          <p:nvPr/>
        </p:nvSpPr>
        <p:spPr>
          <a:xfrm>
            <a:off x="8641080" y="1691640"/>
            <a:ext cx="2743200" cy="548640"/>
          </a:xfrm>
          <a:prstGeom prst="rect">
            <a:avLst/>
          </a:prstGeom>
          <a:noFill/>
          <a:ln/>
        </p:spPr>
        <p:txBody>
          <a:bodyPr wrap="square" lIns="0" tIns="0" rIns="0" bIns="0" rtlCol="0" anchor="ctr"/>
          <a:lstStyle/>
          <a:p>
            <a:pPr indent="0" marL="0">
              <a:buNone/>
            </a:pPr>
            <a:r>
              <a:rPr lang="en-US" sz="2000" b="1" dirty="0">
                <a:solidFill>
                  <a:schemeClr val="accent3"/>
                </a:solidFill>
              </a:rPr>
              <a:t>Did you know?</a:t>
            </a:r>
            <a:endParaRPr lang="en-US" sz="2000" dirty="0"/>
          </a:p>
        </p:txBody>
      </p:sp>
      <p:sp>
        <p:nvSpPr>
          <p:cNvPr id="12" name="Text 8"/>
          <p:cNvSpPr txBox="1"/>
          <p:nvPr/>
        </p:nvSpPr>
        <p:spPr>
          <a:xfrm>
            <a:off x="7955280" y="2468880"/>
            <a:ext cx="3383280" cy="3474720"/>
          </a:xfrm>
          <a:prstGeom prst="rect">
            <a:avLst/>
          </a:prstGeom>
          <a:noFill/>
          <a:ln/>
        </p:spPr>
        <p:txBody>
          <a:bodyPr wrap="square" lIns="0" tIns="0" rIns="0" bIns="0" rtlCol="0" anchor="t"/>
          <a:lstStyle/>
          <a:p>
            <a:pPr marL="228600" indent="-228600">
              <a:spcAft>
                <a:spcPts val="1000"/>
              </a:spcAft>
              <a:buSzPct val="100000"/>
              <a:buChar char="•"/>
            </a:pPr>
            <a:r>
              <a:rPr lang="en-US" sz="1600" dirty="0">
                <a:solidFill>
                  <a:schemeClr val="bg1"/>
                </a:solidFill>
              </a:rPr>
              <a:t>25 December is celebrated as National Good Governance Day.</a:t>
            </a:r>
            <a:endParaRPr lang="en-US" sz="1600" dirty="0"/>
          </a:p>
          <a:p>
            <a:pPr marL="228600" indent="-228600">
              <a:spcAft>
                <a:spcPts val="1000"/>
              </a:spcAft>
              <a:buSzPct val="100000"/>
              <a:buChar char="•"/>
            </a:pPr>
            <a:r>
              <a:rPr lang="en-US" sz="1600" dirty="0">
                <a:solidFill>
                  <a:schemeClr val="bg1"/>
                </a:solidFill>
              </a:rPr>
              <a:t>India's motto 'Satyameva Jayate' (Truth alone triumphs) comes from the Mundaka Upanishad.</a:t>
            </a:r>
            <a:endParaRPr lang="en-US" sz="1600" dirty="0"/>
          </a:p>
          <a:p>
            <a:pPr marL="228600" indent="-228600">
              <a:spcAft>
                <a:spcPts val="1000"/>
              </a:spcAft>
              <a:buSzPct val="100000"/>
              <a:buChar char="•"/>
            </a:pPr>
            <a:r>
              <a:rPr lang="en-US" sz="1600" dirty="0">
                <a:solidFill>
                  <a:schemeClr val="bg1"/>
                </a:solidFill>
              </a:rPr>
              <a:t>About 2 lakh suggestions from citizens shaped NEP 2020.</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E2761"/>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The Big Questions</a:t>
            </a:r>
            <a:endParaRPr lang="en-US" sz="3600" dirty="0"/>
          </a:p>
        </p:txBody>
      </p:sp>
      <p:sp>
        <p:nvSpPr>
          <p:cNvPr id="3" name="question 1 card"/>
          <p:cNvSpPr/>
          <p:nvPr/>
        </p:nvSpPr>
        <p:spPr>
          <a:xfrm>
            <a:off x="548640" y="1371600"/>
            <a:ext cx="11064240" cy="749808"/>
          </a:xfrm>
          <a:prstGeom prst="roundRect">
            <a:avLst>
              <a:gd name="adj" fmla="val 14634"/>
            </a:avLst>
          </a:prstGeom>
          <a:solidFill>
            <a:schemeClr val="bg2"/>
          </a:solidFill>
          <a:ln w="12700">
            <a:solidFill>
              <a:schemeClr val="bg2"/>
            </a:solidFill>
            <a:prstDash val="solid"/>
          </a:ln>
        </p:spPr>
      </p:sp>
      <p:sp>
        <p:nvSpPr>
          <p:cNvPr id="4" name="q1 badge"/>
          <p:cNvSpPr/>
          <p:nvPr/>
        </p:nvSpPr>
        <p:spPr>
          <a:xfrm>
            <a:off x="731520" y="1495044"/>
            <a:ext cx="502920" cy="502920"/>
          </a:xfrm>
          <a:prstGeom prst="ellipse">
            <a:avLst/>
          </a:prstGeom>
          <a:solidFill>
            <a:schemeClr val="accent1"/>
          </a:solidFill>
          <a:ln w="12700">
            <a:solidFill>
              <a:schemeClr val="accent1"/>
            </a:solidFill>
            <a:prstDash val="solid"/>
          </a:ln>
        </p:spPr>
      </p:sp>
      <p:sp>
        <p:nvSpPr>
          <p:cNvPr id="5" name="Text 3"/>
          <p:cNvSpPr txBox="1"/>
          <p:nvPr/>
        </p:nvSpPr>
        <p:spPr>
          <a:xfrm>
            <a:off x="731520" y="1495044"/>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6" name="Text 4"/>
          <p:cNvSpPr txBox="1"/>
          <p:nvPr/>
        </p:nvSpPr>
        <p:spPr>
          <a:xfrm>
            <a:off x="1463040" y="1371600"/>
            <a:ext cx="9966960" cy="749808"/>
          </a:xfrm>
          <a:prstGeom prst="rect">
            <a:avLst/>
          </a:prstGeom>
          <a:noFill/>
          <a:ln/>
        </p:spPr>
        <p:txBody>
          <a:bodyPr wrap="square" lIns="0" tIns="0" rIns="0" bIns="0" rtlCol="0" anchor="ctr"/>
          <a:lstStyle/>
          <a:p>
            <a:pPr indent="0" marL="0">
              <a:buNone/>
            </a:pPr>
            <a:r>
              <a:rPr lang="en-US" sz="1800" dirty="0">
                <a:solidFill>
                  <a:schemeClr val="tx1"/>
                </a:solidFill>
              </a:rPr>
              <a:t>What is governance, and how have its meaning and practice evolved over time?</a:t>
            </a:r>
            <a:endParaRPr lang="en-US" sz="1800" dirty="0"/>
          </a:p>
        </p:txBody>
      </p:sp>
      <p:sp>
        <p:nvSpPr>
          <p:cNvPr id="7" name="question 2 card"/>
          <p:cNvSpPr/>
          <p:nvPr/>
        </p:nvSpPr>
        <p:spPr>
          <a:xfrm>
            <a:off x="548640" y="2286000"/>
            <a:ext cx="11064240" cy="749808"/>
          </a:xfrm>
          <a:prstGeom prst="roundRect">
            <a:avLst>
              <a:gd name="adj" fmla="val 14634"/>
            </a:avLst>
          </a:prstGeom>
          <a:solidFill>
            <a:schemeClr val="bg2"/>
          </a:solidFill>
          <a:ln w="12700">
            <a:solidFill>
              <a:schemeClr val="bg2"/>
            </a:solidFill>
            <a:prstDash val="solid"/>
          </a:ln>
        </p:spPr>
      </p:sp>
      <p:sp>
        <p:nvSpPr>
          <p:cNvPr id="8" name="q2 badge"/>
          <p:cNvSpPr/>
          <p:nvPr/>
        </p:nvSpPr>
        <p:spPr>
          <a:xfrm>
            <a:off x="731520" y="2409444"/>
            <a:ext cx="502920" cy="502920"/>
          </a:xfrm>
          <a:prstGeom prst="ellipse">
            <a:avLst/>
          </a:prstGeom>
          <a:solidFill>
            <a:schemeClr val="accent1"/>
          </a:solidFill>
          <a:ln w="12700">
            <a:solidFill>
              <a:schemeClr val="accent1"/>
            </a:solidFill>
            <a:prstDash val="solid"/>
          </a:ln>
        </p:spPr>
      </p:sp>
      <p:sp>
        <p:nvSpPr>
          <p:cNvPr id="9" name="Text 7"/>
          <p:cNvSpPr txBox="1"/>
          <p:nvPr/>
        </p:nvSpPr>
        <p:spPr>
          <a:xfrm>
            <a:off x="731520" y="2409444"/>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0" name="Text 8"/>
          <p:cNvSpPr txBox="1"/>
          <p:nvPr/>
        </p:nvSpPr>
        <p:spPr>
          <a:xfrm>
            <a:off x="1463040" y="2286000"/>
            <a:ext cx="9966960" cy="749808"/>
          </a:xfrm>
          <a:prstGeom prst="rect">
            <a:avLst/>
          </a:prstGeom>
          <a:noFill/>
          <a:ln/>
        </p:spPr>
        <p:txBody>
          <a:bodyPr wrap="square" lIns="0" tIns="0" rIns="0" bIns="0" rtlCol="0" anchor="ctr"/>
          <a:lstStyle/>
          <a:p>
            <a:pPr indent="0" marL="0">
              <a:buNone/>
            </a:pPr>
            <a:r>
              <a:rPr lang="en-US" sz="1800" dirty="0">
                <a:solidFill>
                  <a:schemeClr val="tx1"/>
                </a:solidFill>
              </a:rPr>
              <a:t>What is public policy? How does it affect our daily lives, and what makes it 'public'?</a:t>
            </a:r>
            <a:endParaRPr lang="en-US" sz="1800" dirty="0"/>
          </a:p>
        </p:txBody>
      </p:sp>
      <p:sp>
        <p:nvSpPr>
          <p:cNvPr id="11" name="question 3 card"/>
          <p:cNvSpPr/>
          <p:nvPr/>
        </p:nvSpPr>
        <p:spPr>
          <a:xfrm>
            <a:off x="548640" y="3200400"/>
            <a:ext cx="11064240" cy="749808"/>
          </a:xfrm>
          <a:prstGeom prst="roundRect">
            <a:avLst>
              <a:gd name="adj" fmla="val 14634"/>
            </a:avLst>
          </a:prstGeom>
          <a:solidFill>
            <a:schemeClr val="bg2"/>
          </a:solidFill>
          <a:ln w="12700">
            <a:solidFill>
              <a:schemeClr val="bg2"/>
            </a:solidFill>
            <a:prstDash val="solid"/>
          </a:ln>
        </p:spPr>
      </p:sp>
      <p:sp>
        <p:nvSpPr>
          <p:cNvPr id="12" name="q3 badge"/>
          <p:cNvSpPr/>
          <p:nvPr/>
        </p:nvSpPr>
        <p:spPr>
          <a:xfrm>
            <a:off x="731520" y="3323844"/>
            <a:ext cx="502920" cy="502920"/>
          </a:xfrm>
          <a:prstGeom prst="ellipse">
            <a:avLst/>
          </a:prstGeom>
          <a:solidFill>
            <a:schemeClr val="accent1"/>
          </a:solidFill>
          <a:ln w="12700">
            <a:solidFill>
              <a:schemeClr val="accent1"/>
            </a:solidFill>
            <a:prstDash val="solid"/>
          </a:ln>
        </p:spPr>
      </p:sp>
      <p:sp>
        <p:nvSpPr>
          <p:cNvPr id="13" name="Text 11"/>
          <p:cNvSpPr txBox="1"/>
          <p:nvPr/>
        </p:nvSpPr>
        <p:spPr>
          <a:xfrm>
            <a:off x="731520" y="3323844"/>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4" name="Text 12"/>
          <p:cNvSpPr txBox="1"/>
          <p:nvPr/>
        </p:nvSpPr>
        <p:spPr>
          <a:xfrm>
            <a:off x="1463040" y="3200400"/>
            <a:ext cx="9966960" cy="749808"/>
          </a:xfrm>
          <a:prstGeom prst="rect">
            <a:avLst/>
          </a:prstGeom>
          <a:noFill/>
          <a:ln/>
        </p:spPr>
        <p:txBody>
          <a:bodyPr wrap="square" lIns="0" tIns="0" rIns="0" bIns="0" rtlCol="0" anchor="ctr"/>
          <a:lstStyle/>
          <a:p>
            <a:pPr indent="0" marL="0">
              <a:buNone/>
            </a:pPr>
            <a:r>
              <a:rPr lang="en-US" sz="1800" dirty="0">
                <a:solidFill>
                  <a:schemeClr val="tx1"/>
                </a:solidFill>
              </a:rPr>
              <a:t>What are the stages of policy-making and policy implementation?</a:t>
            </a:r>
            <a:endParaRPr lang="en-US" sz="1800" dirty="0"/>
          </a:p>
        </p:txBody>
      </p:sp>
      <p:sp>
        <p:nvSpPr>
          <p:cNvPr id="15" name="question 4 card"/>
          <p:cNvSpPr/>
          <p:nvPr/>
        </p:nvSpPr>
        <p:spPr>
          <a:xfrm>
            <a:off x="548640" y="4114800"/>
            <a:ext cx="11064240" cy="749808"/>
          </a:xfrm>
          <a:prstGeom prst="roundRect">
            <a:avLst>
              <a:gd name="adj" fmla="val 14634"/>
            </a:avLst>
          </a:prstGeom>
          <a:solidFill>
            <a:schemeClr val="bg2"/>
          </a:solidFill>
          <a:ln w="12700">
            <a:solidFill>
              <a:schemeClr val="bg2"/>
            </a:solidFill>
            <a:prstDash val="solid"/>
          </a:ln>
        </p:spPr>
      </p:sp>
      <p:sp>
        <p:nvSpPr>
          <p:cNvPr id="16" name="q4 badge"/>
          <p:cNvSpPr/>
          <p:nvPr/>
        </p:nvSpPr>
        <p:spPr>
          <a:xfrm>
            <a:off x="731520" y="4238244"/>
            <a:ext cx="502920" cy="502920"/>
          </a:xfrm>
          <a:prstGeom prst="ellipse">
            <a:avLst/>
          </a:prstGeom>
          <a:solidFill>
            <a:schemeClr val="accent1"/>
          </a:solidFill>
          <a:ln w="12700">
            <a:solidFill>
              <a:schemeClr val="accent1"/>
            </a:solidFill>
            <a:prstDash val="solid"/>
          </a:ln>
        </p:spPr>
      </p:sp>
      <p:sp>
        <p:nvSpPr>
          <p:cNvPr id="17" name="Text 15"/>
          <p:cNvSpPr txBox="1"/>
          <p:nvPr/>
        </p:nvSpPr>
        <p:spPr>
          <a:xfrm>
            <a:off x="731520" y="4238244"/>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18" name="Text 16"/>
          <p:cNvSpPr txBox="1"/>
          <p:nvPr/>
        </p:nvSpPr>
        <p:spPr>
          <a:xfrm>
            <a:off x="1463040" y="4114800"/>
            <a:ext cx="9966960" cy="749808"/>
          </a:xfrm>
          <a:prstGeom prst="rect">
            <a:avLst/>
          </a:prstGeom>
          <a:noFill/>
          <a:ln/>
        </p:spPr>
        <p:txBody>
          <a:bodyPr wrap="square" lIns="0" tIns="0" rIns="0" bIns="0" rtlCol="0" anchor="ctr"/>
          <a:lstStyle/>
          <a:p>
            <a:pPr indent="0" marL="0">
              <a:buNone/>
            </a:pPr>
            <a:r>
              <a:rPr lang="en-US" sz="1800" dirty="0">
                <a:solidFill>
                  <a:schemeClr val="tx1"/>
                </a:solidFill>
              </a:rPr>
              <a:t>Who are the major contributors to policy-making and implementation?</a:t>
            </a:r>
            <a:endParaRPr lang="en-US" sz="1800" dirty="0"/>
          </a:p>
        </p:txBody>
      </p:sp>
      <p:sp>
        <p:nvSpPr>
          <p:cNvPr id="19" name="question 5 card"/>
          <p:cNvSpPr/>
          <p:nvPr/>
        </p:nvSpPr>
        <p:spPr>
          <a:xfrm>
            <a:off x="548640" y="5029200"/>
            <a:ext cx="11064240" cy="749808"/>
          </a:xfrm>
          <a:prstGeom prst="roundRect">
            <a:avLst>
              <a:gd name="adj" fmla="val 14634"/>
            </a:avLst>
          </a:prstGeom>
          <a:solidFill>
            <a:schemeClr val="bg2"/>
          </a:solidFill>
          <a:ln w="12700">
            <a:solidFill>
              <a:schemeClr val="bg2"/>
            </a:solidFill>
            <a:prstDash val="solid"/>
          </a:ln>
        </p:spPr>
      </p:sp>
      <p:sp>
        <p:nvSpPr>
          <p:cNvPr id="20" name="q5 badge"/>
          <p:cNvSpPr/>
          <p:nvPr/>
        </p:nvSpPr>
        <p:spPr>
          <a:xfrm>
            <a:off x="731520" y="5152644"/>
            <a:ext cx="502920" cy="502920"/>
          </a:xfrm>
          <a:prstGeom prst="ellipse">
            <a:avLst/>
          </a:prstGeom>
          <a:solidFill>
            <a:schemeClr val="accent1"/>
          </a:solidFill>
          <a:ln w="12700">
            <a:solidFill>
              <a:schemeClr val="accent1"/>
            </a:solidFill>
            <a:prstDash val="solid"/>
          </a:ln>
        </p:spPr>
      </p:sp>
      <p:sp>
        <p:nvSpPr>
          <p:cNvPr id="21" name="Text 19"/>
          <p:cNvSpPr txBox="1"/>
          <p:nvPr/>
        </p:nvSpPr>
        <p:spPr>
          <a:xfrm>
            <a:off x="731520" y="5152644"/>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22" name="Text 20"/>
          <p:cNvSpPr txBox="1"/>
          <p:nvPr/>
        </p:nvSpPr>
        <p:spPr>
          <a:xfrm>
            <a:off x="1463040" y="5029200"/>
            <a:ext cx="9966960" cy="749808"/>
          </a:xfrm>
          <a:prstGeom prst="rect">
            <a:avLst/>
          </a:prstGeom>
          <a:noFill/>
          <a:ln/>
        </p:spPr>
        <p:txBody>
          <a:bodyPr wrap="square" lIns="0" tIns="0" rIns="0" bIns="0" rtlCol="0" anchor="ctr"/>
          <a:lstStyle/>
          <a:p>
            <a:pPr indent="0" marL="0">
              <a:buNone/>
            </a:pPr>
            <a:r>
              <a:rPr lang="en-US" sz="1800" dirty="0">
                <a:solidFill>
                  <a:schemeClr val="tx1"/>
                </a:solidFill>
              </a:rPr>
              <a:t>What role do citizens play in shaping public policy and good governance?</a:t>
            </a:r>
            <a:endParaRPr lang="en-US" sz="18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E2761"/>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731520" y="2011680"/>
            <a:ext cx="7772400" cy="457200"/>
          </a:xfrm>
          <a:prstGeom prst="rect">
            <a:avLst/>
          </a:prstGeom>
          <a:noFill/>
          <a:ln/>
        </p:spPr>
        <p:txBody>
          <a:bodyPr wrap="square" lIns="0" tIns="0" rIns="0" bIns="0" rtlCol="0"/>
          <a:lstStyle/>
          <a:p>
            <a:pPr indent="0" marL="0">
              <a:buNone/>
            </a:pPr>
            <a:r>
              <a:rPr lang="en-US" sz="1800" b="1" spc="300" kern="0" dirty="0">
                <a:solidFill>
                  <a:schemeClr val="bg2"/>
                </a:solidFill>
              </a:rPr>
              <a:t>PART 1</a:t>
            </a:r>
            <a:endParaRPr lang="en-US" sz="1800" dirty="0"/>
          </a:p>
        </p:txBody>
      </p:sp>
      <p:sp>
        <p:nvSpPr>
          <p:cNvPr id="3" name="Text 0"/>
          <p:cNvSpPr/>
          <p:nvPr>
            <p:ph idx="101" type="title" hasCustomPrompt="1"/>
          </p:nvPr>
        </p:nvSpPr>
        <p:spPr>
          <a:xfrm>
            <a:off x="731520" y="2514600"/>
            <a:ext cx="7772400" cy="1463040"/>
          </a:xfrm>
          <a:prstGeom prst="rect">
            <a:avLst/>
          </a:prstGeom>
          <a:noFill/>
          <a:ln/>
        </p:spPr>
        <p:txBody>
          <a:bodyPr wrap="square" lIns="0" tIns="0" rIns="0" bIns="0" rtlCol="0" anchor="t"/>
          <a:lstStyle/>
          <a:p>
            <a:pPr algn="l" indent="0" marL="0">
              <a:buNone/>
            </a:pPr>
            <a:r>
              <a:rPr lang="en-US" sz="4400" b="1" dirty="0">
                <a:solidFill>
                  <a:schemeClr val="bg1"/>
                </a:solidFill>
              </a:rPr>
              <a:t>Governance: How Decisions Get Done</a:t>
            </a:r>
            <a:endParaRPr lang="en-US" sz="4400" dirty="0"/>
          </a:p>
        </p:txBody>
      </p:sp>
      <p:sp>
        <p:nvSpPr>
          <p:cNvPr id="4" name="Text 0"/>
          <p:cNvSpPr/>
          <p:nvPr>
            <p:ph idx="102" type="body" hasCustomPrompt="1"/>
          </p:nvPr>
        </p:nvSpPr>
        <p:spPr>
          <a:xfrm>
            <a:off x="731520" y="4069080"/>
            <a:ext cx="7772400" cy="1097280"/>
          </a:xfrm>
          <a:prstGeom prst="rect">
            <a:avLst/>
          </a:prstGeom>
          <a:noFill/>
          <a:ln/>
        </p:spPr>
        <p:txBody>
          <a:bodyPr wrap="square" lIns="0" tIns="0" rIns="0" bIns="0" rtlCol="0" anchor="t"/>
          <a:lstStyle/>
          <a:p>
            <a:pPr indent="0" marL="0">
              <a:buNone/>
            </a:pPr>
            <a:r>
              <a:rPr lang="en-US" sz="1800" dirty="0">
                <a:solidFill>
                  <a:schemeClr val="bg1"/>
                </a:solidFill>
              </a:rPr>
              <a:t>Transparency, accountability, participation and the rule of law.</a:t>
            </a:r>
            <a:endParaRPr lang="en-US" sz="1800" dirty="0"/>
          </a:p>
        </p:txBody>
      </p:sp>
      <p:sp>
        <p:nvSpPr>
          <p:cNvPr id="5" name="section disc"/>
          <p:cNvSpPr/>
          <p:nvPr/>
        </p:nvSpPr>
        <p:spPr>
          <a:xfrm>
            <a:off x="9006840" y="1828800"/>
            <a:ext cx="2560320" cy="2560320"/>
          </a:xfrm>
          <a:prstGeom prst="ellipse">
            <a:avLst/>
          </a:prstGeom>
          <a:solidFill>
            <a:schemeClr val="tx2"/>
          </a:solidFill>
          <a:ln w="25400">
            <a:solidFill>
              <a:schemeClr val="bg1"/>
            </a:solidFill>
            <a:prstDash val="solid"/>
          </a:ln>
        </p:spPr>
      </p:sp>
      <p:pic>
        <p:nvPicPr>
          <p:cNvPr id="6" name="section icon" descr="preencoded.png">    </p:cNvPr>
          <p:cNvPicPr>
            <a:picLocks noChangeAspect="1"/>
          </p:cNvPicPr>
          <p:nvPr/>
        </p:nvPicPr>
        <p:blipFill>
          <a:blip r:embed="rId1"/>
          <a:stretch>
            <a:fillRect/>
          </a:stretch>
        </p:blipFill>
        <p:spPr>
          <a:xfrm>
            <a:off x="9601200" y="2423160"/>
            <a:ext cx="1371600" cy="13716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Who Helps When the Town Floods?</a:t>
            </a:r>
            <a:endParaRPr lang="en-US" sz="3600" dirty="0"/>
          </a:p>
        </p:txBody>
      </p:sp>
      <p:sp>
        <p:nvSpPr>
          <p:cNvPr id="3" name="spoke 1"/>
          <p:cNvSpPr/>
          <p:nvPr/>
        </p:nvSpPr>
        <p:spPr>
          <a:xfrm>
            <a:off x="6099048" y="1847088"/>
            <a:ext cx="914" cy="1965960"/>
          </a:xfrm>
          <a:prstGeom prst="line">
            <a:avLst/>
          </a:prstGeom>
          <a:noFill/>
          <a:ln w="25400">
            <a:solidFill>
              <a:schemeClr val="accent3"/>
            </a:solidFill>
            <a:prstDash val="solid"/>
          </a:ln>
        </p:spPr>
      </p:sp>
      <p:sp>
        <p:nvSpPr>
          <p:cNvPr id="4" name="spoke 2"/>
          <p:cNvSpPr/>
          <p:nvPr/>
        </p:nvSpPr>
        <p:spPr>
          <a:xfrm flipV="1">
            <a:off x="6099048" y="2587292"/>
            <a:ext cx="3217080" cy="1225756"/>
          </a:xfrm>
          <a:prstGeom prst="line">
            <a:avLst/>
          </a:prstGeom>
          <a:noFill/>
          <a:ln w="25400">
            <a:solidFill>
              <a:schemeClr val="accent3"/>
            </a:solidFill>
            <a:prstDash val="solid"/>
          </a:ln>
        </p:spPr>
      </p:sp>
      <p:sp>
        <p:nvSpPr>
          <p:cNvPr id="5" name="spoke 3"/>
          <p:cNvSpPr/>
          <p:nvPr/>
        </p:nvSpPr>
        <p:spPr>
          <a:xfrm>
            <a:off x="6099048" y="3813048"/>
            <a:ext cx="4011633" cy="437467"/>
          </a:xfrm>
          <a:prstGeom prst="line">
            <a:avLst/>
          </a:prstGeom>
          <a:noFill/>
          <a:ln w="25400">
            <a:solidFill>
              <a:schemeClr val="accent3"/>
            </a:solidFill>
            <a:prstDash val="solid"/>
          </a:ln>
        </p:spPr>
      </p:sp>
      <p:sp>
        <p:nvSpPr>
          <p:cNvPr id="6" name="spoke 4"/>
          <p:cNvSpPr/>
          <p:nvPr/>
        </p:nvSpPr>
        <p:spPr>
          <a:xfrm>
            <a:off x="6099048" y="3813048"/>
            <a:ext cx="1785345" cy="1771269"/>
          </a:xfrm>
          <a:prstGeom prst="line">
            <a:avLst/>
          </a:prstGeom>
          <a:noFill/>
          <a:ln w="25400">
            <a:solidFill>
              <a:schemeClr val="accent3"/>
            </a:solidFill>
            <a:prstDash val="solid"/>
          </a:ln>
        </p:spPr>
      </p:sp>
      <p:sp>
        <p:nvSpPr>
          <p:cNvPr id="7" name="spoke 5"/>
          <p:cNvSpPr/>
          <p:nvPr/>
        </p:nvSpPr>
        <p:spPr>
          <a:xfrm flipV="1">
            <a:off x="4313703" y="3813048"/>
            <a:ext cx="1785345" cy="1771269"/>
          </a:xfrm>
          <a:prstGeom prst="line">
            <a:avLst/>
          </a:prstGeom>
          <a:noFill/>
          <a:ln w="25400">
            <a:solidFill>
              <a:schemeClr val="accent3"/>
            </a:solidFill>
            <a:prstDash val="solid"/>
          </a:ln>
        </p:spPr>
      </p:sp>
      <p:sp>
        <p:nvSpPr>
          <p:cNvPr id="8" name="spoke 6"/>
          <p:cNvSpPr/>
          <p:nvPr/>
        </p:nvSpPr>
        <p:spPr>
          <a:xfrm flipV="1">
            <a:off x="2087415" y="3813048"/>
            <a:ext cx="4011633" cy="437467"/>
          </a:xfrm>
          <a:prstGeom prst="line">
            <a:avLst/>
          </a:prstGeom>
          <a:noFill/>
          <a:ln w="25400">
            <a:solidFill>
              <a:schemeClr val="accent3"/>
            </a:solidFill>
            <a:prstDash val="solid"/>
          </a:ln>
        </p:spPr>
      </p:sp>
      <p:sp>
        <p:nvSpPr>
          <p:cNvPr id="9" name="spoke 7"/>
          <p:cNvSpPr/>
          <p:nvPr/>
        </p:nvSpPr>
        <p:spPr>
          <a:xfrm>
            <a:off x="2881968" y="2587292"/>
            <a:ext cx="3217080" cy="1225756"/>
          </a:xfrm>
          <a:prstGeom prst="line">
            <a:avLst/>
          </a:prstGeom>
          <a:noFill/>
          <a:ln w="25400">
            <a:solidFill>
              <a:schemeClr val="accent3"/>
            </a:solidFill>
            <a:prstDash val="solid"/>
          </a:ln>
        </p:spPr>
      </p:sp>
      <p:sp>
        <p:nvSpPr>
          <p:cNvPr id="10" name="wheel centre"/>
          <p:cNvSpPr/>
          <p:nvPr/>
        </p:nvSpPr>
        <p:spPr>
          <a:xfrm>
            <a:off x="5093208" y="2958084"/>
            <a:ext cx="2011680" cy="1709928"/>
          </a:xfrm>
          <a:prstGeom prst="ellipse">
            <a:avLst/>
          </a:prstGeom>
          <a:solidFill>
            <a:schemeClr val="tx2"/>
          </a:solidFill>
          <a:ln w="38100">
            <a:solidFill>
              <a:schemeClr val="bg1"/>
            </a:solidFill>
            <a:prstDash val="solid"/>
          </a:ln>
        </p:spPr>
      </p:sp>
      <p:sp>
        <p:nvSpPr>
          <p:cNvPr id="11" name="Text 9"/>
          <p:cNvSpPr txBox="1"/>
          <p:nvPr/>
        </p:nvSpPr>
        <p:spPr>
          <a:xfrm>
            <a:off x="5184648" y="2958084"/>
            <a:ext cx="1828800" cy="1709928"/>
          </a:xfrm>
          <a:prstGeom prst="rect">
            <a:avLst/>
          </a:prstGeom>
          <a:noFill/>
          <a:ln/>
        </p:spPr>
        <p:txBody>
          <a:bodyPr wrap="square" lIns="0" tIns="0" rIns="0" bIns="0" rtlCol="0" anchor="ctr"/>
          <a:lstStyle/>
          <a:p>
            <a:pPr algn="ctr" indent="0" marL="0">
              <a:buNone/>
            </a:pPr>
            <a:r>
              <a:rPr lang="en-US" sz="1700" b="1" dirty="0">
                <a:solidFill>
                  <a:schemeClr val="bg1"/>
                </a:solidFill>
                <a:latin typeface="Cambria" pitchFamily="34" charset="0"/>
                <a:ea typeface="Cambria" pitchFamily="34" charset="-122"/>
                <a:cs typeface="Cambria" pitchFamily="34" charset="-120"/>
              </a:rPr>
              <a:t>Town in a flood</a:t>
            </a:r>
            <a:endParaRPr lang="en-US" sz="1700" dirty="0"/>
          </a:p>
        </p:txBody>
      </p:sp>
      <p:sp>
        <p:nvSpPr>
          <p:cNvPr id="12" name="node 1"/>
          <p:cNvSpPr/>
          <p:nvPr/>
        </p:nvSpPr>
        <p:spPr>
          <a:xfrm>
            <a:off x="4636008" y="1321308"/>
            <a:ext cx="2926080" cy="1051560"/>
          </a:xfrm>
          <a:prstGeom prst="roundRect">
            <a:avLst>
              <a:gd name="adj" fmla="val 10435"/>
            </a:avLst>
          </a:prstGeom>
          <a:solidFill>
            <a:schemeClr val="bg2"/>
          </a:solidFill>
          <a:ln w="12700">
            <a:solidFill>
              <a:schemeClr val="bg2"/>
            </a:solidFill>
            <a:prstDash val="solid"/>
          </a:ln>
        </p:spPr>
      </p:sp>
      <p:sp>
        <p:nvSpPr>
          <p:cNvPr id="13" name="Text 11"/>
          <p:cNvSpPr txBox="1"/>
          <p:nvPr/>
        </p:nvSpPr>
        <p:spPr>
          <a:xfrm>
            <a:off x="4800600" y="1394460"/>
            <a:ext cx="2651760" cy="923544"/>
          </a:xfrm>
          <a:prstGeom prst="rect">
            <a:avLst/>
          </a:prstGeom>
          <a:noFill/>
          <a:ln/>
        </p:spPr>
        <p:txBody>
          <a:bodyPr wrap="square" lIns="0" tIns="0" rIns="0" bIns="0" rtlCol="0" anchor="ctr"/>
          <a:lstStyle/>
          <a:p>
            <a:pPr indent="0" marL="0">
              <a:buNone/>
            </a:pPr>
            <a:r>
              <a:rPr lang="en-US" sz="1600" b="1" dirty="0">
                <a:solidFill>
                  <a:schemeClr val="accent1"/>
                </a:solidFill>
              </a:rPr>
              <a:t>Municipal corporation</a:t>
            </a:r>
            <a:endParaRPr lang="en-US" sz="1600" dirty="0"/>
          </a:p>
          <a:p>
            <a:pPr indent="0" marL="0">
              <a:buNone/>
            </a:pPr>
            <a:r>
              <a:rPr lang="en-US" sz="1600" dirty="0">
                <a:solidFill>
                  <a:schemeClr val="tx1"/>
                </a:solidFill>
              </a:rPr>
              <a:t>Clears drains, removes garbage</a:t>
            </a:r>
            <a:endParaRPr lang="en-US" sz="1600" dirty="0"/>
          </a:p>
        </p:txBody>
      </p:sp>
      <p:sp>
        <p:nvSpPr>
          <p:cNvPr id="14" name="node 2"/>
          <p:cNvSpPr/>
          <p:nvPr/>
        </p:nvSpPr>
        <p:spPr>
          <a:xfrm>
            <a:off x="7853088" y="2061512"/>
            <a:ext cx="2926080" cy="1051560"/>
          </a:xfrm>
          <a:prstGeom prst="roundRect">
            <a:avLst>
              <a:gd name="adj" fmla="val 10435"/>
            </a:avLst>
          </a:prstGeom>
          <a:solidFill>
            <a:schemeClr val="bg2"/>
          </a:solidFill>
          <a:ln w="12700">
            <a:solidFill>
              <a:schemeClr val="bg2"/>
            </a:solidFill>
            <a:prstDash val="solid"/>
          </a:ln>
        </p:spPr>
      </p:sp>
      <p:sp>
        <p:nvSpPr>
          <p:cNvPr id="15" name="Text 13"/>
          <p:cNvSpPr txBox="1"/>
          <p:nvPr/>
        </p:nvSpPr>
        <p:spPr>
          <a:xfrm>
            <a:off x="8017680" y="2134664"/>
            <a:ext cx="2651760" cy="923544"/>
          </a:xfrm>
          <a:prstGeom prst="rect">
            <a:avLst/>
          </a:prstGeom>
          <a:noFill/>
          <a:ln/>
        </p:spPr>
        <p:txBody>
          <a:bodyPr wrap="square" lIns="0" tIns="0" rIns="0" bIns="0" rtlCol="0" anchor="ctr"/>
          <a:lstStyle/>
          <a:p>
            <a:pPr indent="0" marL="0">
              <a:buNone/>
            </a:pPr>
            <a:r>
              <a:rPr lang="en-US" sz="1600" b="1" dirty="0">
                <a:solidFill>
                  <a:schemeClr val="accent2"/>
                </a:solidFill>
              </a:rPr>
              <a:t>Public Works Dept</a:t>
            </a:r>
            <a:endParaRPr lang="en-US" sz="1600" dirty="0"/>
          </a:p>
          <a:p>
            <a:pPr indent="0" marL="0">
              <a:buNone/>
            </a:pPr>
            <a:r>
              <a:rPr lang="en-US" sz="1600" dirty="0">
                <a:solidFill>
                  <a:schemeClr val="tx1"/>
                </a:solidFill>
              </a:rPr>
              <a:t>Repairs damaged roads</a:t>
            </a:r>
            <a:endParaRPr lang="en-US" sz="1600" dirty="0"/>
          </a:p>
        </p:txBody>
      </p:sp>
      <p:sp>
        <p:nvSpPr>
          <p:cNvPr id="16" name="node 3"/>
          <p:cNvSpPr/>
          <p:nvPr/>
        </p:nvSpPr>
        <p:spPr>
          <a:xfrm>
            <a:off x="8647641" y="3724735"/>
            <a:ext cx="2926080" cy="1051560"/>
          </a:xfrm>
          <a:prstGeom prst="roundRect">
            <a:avLst>
              <a:gd name="adj" fmla="val 10435"/>
            </a:avLst>
          </a:prstGeom>
          <a:solidFill>
            <a:schemeClr val="bg2"/>
          </a:solidFill>
          <a:ln w="12700">
            <a:solidFill>
              <a:schemeClr val="bg2"/>
            </a:solidFill>
            <a:prstDash val="solid"/>
          </a:ln>
        </p:spPr>
      </p:sp>
      <p:sp>
        <p:nvSpPr>
          <p:cNvPr id="17" name="Text 15"/>
          <p:cNvSpPr txBox="1"/>
          <p:nvPr/>
        </p:nvSpPr>
        <p:spPr>
          <a:xfrm>
            <a:off x="8812233" y="3797887"/>
            <a:ext cx="2651760" cy="923544"/>
          </a:xfrm>
          <a:prstGeom prst="rect">
            <a:avLst/>
          </a:prstGeom>
          <a:noFill/>
          <a:ln/>
        </p:spPr>
        <p:txBody>
          <a:bodyPr wrap="square" lIns="0" tIns="0" rIns="0" bIns="0" rtlCol="0" anchor="ctr"/>
          <a:lstStyle/>
          <a:p>
            <a:pPr indent="0" marL="0">
              <a:buNone/>
            </a:pPr>
            <a:r>
              <a:rPr lang="en-US" sz="1600" b="1" dirty="0">
                <a:solidFill>
                  <a:schemeClr val="accent4"/>
                </a:solidFill>
              </a:rPr>
              <a:t>Police</a:t>
            </a:r>
            <a:endParaRPr lang="en-US" sz="1600" dirty="0"/>
          </a:p>
          <a:p>
            <a:pPr indent="0" marL="0">
              <a:buNone/>
            </a:pPr>
            <a:r>
              <a:rPr lang="en-US" sz="1600" dirty="0">
                <a:solidFill>
                  <a:schemeClr val="tx1"/>
                </a:solidFill>
              </a:rPr>
              <a:t>Manages traffic</a:t>
            </a:r>
            <a:endParaRPr lang="en-US" sz="1600" dirty="0"/>
          </a:p>
        </p:txBody>
      </p:sp>
      <p:sp>
        <p:nvSpPr>
          <p:cNvPr id="18" name="node 4"/>
          <p:cNvSpPr/>
          <p:nvPr/>
        </p:nvSpPr>
        <p:spPr>
          <a:xfrm>
            <a:off x="6421353" y="5058537"/>
            <a:ext cx="2926080" cy="1051560"/>
          </a:xfrm>
          <a:prstGeom prst="roundRect">
            <a:avLst>
              <a:gd name="adj" fmla="val 10435"/>
            </a:avLst>
          </a:prstGeom>
          <a:solidFill>
            <a:schemeClr val="bg2"/>
          </a:solidFill>
          <a:ln w="12700">
            <a:solidFill>
              <a:schemeClr val="bg2"/>
            </a:solidFill>
            <a:prstDash val="solid"/>
          </a:ln>
        </p:spPr>
      </p:sp>
      <p:sp>
        <p:nvSpPr>
          <p:cNvPr id="19" name="Text 17"/>
          <p:cNvSpPr txBox="1"/>
          <p:nvPr/>
        </p:nvSpPr>
        <p:spPr>
          <a:xfrm>
            <a:off x="6585945" y="5131689"/>
            <a:ext cx="2651760" cy="923544"/>
          </a:xfrm>
          <a:prstGeom prst="rect">
            <a:avLst/>
          </a:prstGeom>
          <a:noFill/>
          <a:ln/>
        </p:spPr>
        <p:txBody>
          <a:bodyPr wrap="square" lIns="0" tIns="0" rIns="0" bIns="0" rtlCol="0" anchor="ctr"/>
          <a:lstStyle/>
          <a:p>
            <a:pPr indent="0" marL="0">
              <a:buNone/>
            </a:pPr>
            <a:r>
              <a:rPr lang="en-US" sz="1600" b="1" dirty="0">
                <a:solidFill>
                  <a:schemeClr val="accent5"/>
                </a:solidFill>
              </a:rPr>
              <a:t>School authorities</a:t>
            </a:r>
            <a:endParaRPr lang="en-US" sz="1600" dirty="0"/>
          </a:p>
          <a:p>
            <a:pPr indent="0" marL="0">
              <a:buNone/>
            </a:pPr>
            <a:r>
              <a:rPr lang="en-US" sz="1600" dirty="0">
                <a:solidFill>
                  <a:schemeClr val="tx1"/>
                </a:solidFill>
              </a:rPr>
              <a:t>Inform parents about closures</a:t>
            </a:r>
            <a:endParaRPr lang="en-US" sz="1600" dirty="0"/>
          </a:p>
        </p:txBody>
      </p:sp>
      <p:sp>
        <p:nvSpPr>
          <p:cNvPr id="20" name="node 5"/>
          <p:cNvSpPr/>
          <p:nvPr/>
        </p:nvSpPr>
        <p:spPr>
          <a:xfrm>
            <a:off x="2850663" y="5058537"/>
            <a:ext cx="2926080" cy="1051560"/>
          </a:xfrm>
          <a:prstGeom prst="roundRect">
            <a:avLst>
              <a:gd name="adj" fmla="val 10435"/>
            </a:avLst>
          </a:prstGeom>
          <a:solidFill>
            <a:schemeClr val="bg2"/>
          </a:solidFill>
          <a:ln w="12700">
            <a:solidFill>
              <a:schemeClr val="bg2"/>
            </a:solidFill>
            <a:prstDash val="solid"/>
          </a:ln>
        </p:spPr>
      </p:sp>
      <p:sp>
        <p:nvSpPr>
          <p:cNvPr id="21" name="Text 19"/>
          <p:cNvSpPr txBox="1"/>
          <p:nvPr/>
        </p:nvSpPr>
        <p:spPr>
          <a:xfrm>
            <a:off x="3015255" y="5131689"/>
            <a:ext cx="2651760" cy="923544"/>
          </a:xfrm>
          <a:prstGeom prst="rect">
            <a:avLst/>
          </a:prstGeom>
          <a:noFill/>
          <a:ln/>
        </p:spPr>
        <p:txBody>
          <a:bodyPr wrap="square" lIns="0" tIns="0" rIns="0" bIns="0" rtlCol="0" anchor="ctr"/>
          <a:lstStyle/>
          <a:p>
            <a:pPr indent="0" marL="0">
              <a:buNone/>
            </a:pPr>
            <a:r>
              <a:rPr lang="en-US" sz="1600" b="1" dirty="0">
                <a:solidFill>
                  <a:schemeClr val="accent6"/>
                </a:solidFill>
              </a:rPr>
              <a:t>Health workers</a:t>
            </a:r>
            <a:endParaRPr lang="en-US" sz="1600" dirty="0"/>
          </a:p>
          <a:p>
            <a:pPr indent="0" marL="0">
              <a:buNone/>
            </a:pPr>
            <a:r>
              <a:rPr lang="en-US" sz="1600" dirty="0">
                <a:solidFill>
                  <a:schemeClr val="tx1"/>
                </a:solidFill>
              </a:rPr>
              <a:t>Prevent the spread of disease</a:t>
            </a:r>
            <a:endParaRPr lang="en-US" sz="1600" dirty="0"/>
          </a:p>
        </p:txBody>
      </p:sp>
      <p:sp>
        <p:nvSpPr>
          <p:cNvPr id="22" name="node 6"/>
          <p:cNvSpPr/>
          <p:nvPr/>
        </p:nvSpPr>
        <p:spPr>
          <a:xfrm>
            <a:off x="624375" y="3724735"/>
            <a:ext cx="2926080" cy="1051560"/>
          </a:xfrm>
          <a:prstGeom prst="roundRect">
            <a:avLst>
              <a:gd name="adj" fmla="val 10435"/>
            </a:avLst>
          </a:prstGeom>
          <a:solidFill>
            <a:schemeClr val="bg2"/>
          </a:solidFill>
          <a:ln w="12700">
            <a:solidFill>
              <a:schemeClr val="bg2"/>
            </a:solidFill>
            <a:prstDash val="solid"/>
          </a:ln>
        </p:spPr>
      </p:sp>
      <p:sp>
        <p:nvSpPr>
          <p:cNvPr id="23" name="Text 21"/>
          <p:cNvSpPr txBox="1"/>
          <p:nvPr/>
        </p:nvSpPr>
        <p:spPr>
          <a:xfrm>
            <a:off x="788967" y="3797887"/>
            <a:ext cx="2651760" cy="923544"/>
          </a:xfrm>
          <a:prstGeom prst="rect">
            <a:avLst/>
          </a:prstGeom>
          <a:noFill/>
          <a:ln/>
        </p:spPr>
        <p:txBody>
          <a:bodyPr wrap="square" lIns="0" tIns="0" rIns="0" bIns="0" rtlCol="0" anchor="ctr"/>
          <a:lstStyle/>
          <a:p>
            <a:pPr indent="0" marL="0">
              <a:buNone/>
            </a:pPr>
            <a:r>
              <a:rPr lang="en-US" sz="1600" b="1" dirty="0">
                <a:solidFill>
                  <a:schemeClr val="accent1"/>
                </a:solidFill>
              </a:rPr>
              <a:t>Local representatives</a:t>
            </a:r>
            <a:endParaRPr lang="en-US" sz="1600" dirty="0"/>
          </a:p>
          <a:p>
            <a:pPr indent="0" marL="0">
              <a:buNone/>
            </a:pPr>
            <a:r>
              <a:rPr lang="en-US" sz="1600" dirty="0">
                <a:solidFill>
                  <a:schemeClr val="tx1"/>
                </a:solidFill>
              </a:rPr>
              <a:t>Raise people's concerns</a:t>
            </a:r>
            <a:endParaRPr lang="en-US" sz="1600" dirty="0"/>
          </a:p>
        </p:txBody>
      </p:sp>
      <p:sp>
        <p:nvSpPr>
          <p:cNvPr id="24" name="node 7"/>
          <p:cNvSpPr/>
          <p:nvPr/>
        </p:nvSpPr>
        <p:spPr>
          <a:xfrm>
            <a:off x="1418928" y="2061512"/>
            <a:ext cx="2926080" cy="1051560"/>
          </a:xfrm>
          <a:prstGeom prst="roundRect">
            <a:avLst>
              <a:gd name="adj" fmla="val 10435"/>
            </a:avLst>
          </a:prstGeom>
          <a:solidFill>
            <a:schemeClr val="bg2"/>
          </a:solidFill>
          <a:ln w="12700">
            <a:solidFill>
              <a:schemeClr val="bg2"/>
            </a:solidFill>
            <a:prstDash val="solid"/>
          </a:ln>
        </p:spPr>
      </p:sp>
      <p:sp>
        <p:nvSpPr>
          <p:cNvPr id="25" name="Text 23"/>
          <p:cNvSpPr txBox="1"/>
          <p:nvPr/>
        </p:nvSpPr>
        <p:spPr>
          <a:xfrm>
            <a:off x="1583520" y="2134664"/>
            <a:ext cx="2651760" cy="923544"/>
          </a:xfrm>
          <a:prstGeom prst="rect">
            <a:avLst/>
          </a:prstGeom>
          <a:noFill/>
          <a:ln/>
        </p:spPr>
        <p:txBody>
          <a:bodyPr wrap="square" lIns="0" tIns="0" rIns="0" bIns="0" rtlCol="0" anchor="ctr"/>
          <a:lstStyle/>
          <a:p>
            <a:pPr indent="0" marL="0">
              <a:buNone/>
            </a:pPr>
            <a:r>
              <a:rPr lang="en-US" sz="1600" b="1" dirty="0">
                <a:solidFill>
                  <a:schemeClr val="accent2"/>
                </a:solidFill>
              </a:rPr>
              <a:t>Residents</a:t>
            </a:r>
            <a:endParaRPr lang="en-US" sz="1600" dirty="0"/>
          </a:p>
          <a:p>
            <a:pPr indent="0" marL="0">
              <a:buNone/>
            </a:pPr>
            <a:r>
              <a:rPr lang="en-US" sz="1600" dirty="0">
                <a:solidFill>
                  <a:schemeClr val="tx1"/>
                </a:solidFill>
              </a:rPr>
              <a:t>Help neighbours, report flooding</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E2761"/>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Government vs Governance</a:t>
            </a:r>
            <a:endParaRPr lang="en-US" sz="3600" dirty="0"/>
          </a:p>
        </p:txBody>
      </p:sp>
      <p:sp>
        <p:nvSpPr>
          <p:cNvPr id="3" name="Government header"/>
          <p:cNvSpPr/>
          <p:nvPr/>
        </p:nvSpPr>
        <p:spPr>
          <a:xfrm>
            <a:off x="548640" y="1371600"/>
            <a:ext cx="5257800" cy="777240"/>
          </a:xfrm>
          <a:prstGeom prst="roundRect">
            <a:avLst>
              <a:gd name="adj" fmla="val 14118"/>
            </a:avLst>
          </a:prstGeom>
          <a:solidFill>
            <a:schemeClr val="accent1"/>
          </a:solidFill>
          <a:ln w="12700">
            <a:solidFill>
              <a:schemeClr val="accent1"/>
            </a:solidFill>
            <a:prstDash val="solid"/>
          </a:ln>
        </p:spPr>
      </p:sp>
      <p:pic>
        <p:nvPicPr>
          <p:cNvPr id="4" name="Government icon" descr="preencoded.png">    </p:cNvPr>
          <p:cNvPicPr>
            <a:picLocks noChangeAspect="1"/>
          </p:cNvPicPr>
          <p:nvPr/>
        </p:nvPicPr>
        <p:blipFill>
          <a:blip r:embed="rId1"/>
          <a:stretch>
            <a:fillRect/>
          </a:stretch>
        </p:blipFill>
        <p:spPr>
          <a:xfrm>
            <a:off x="777240" y="1508760"/>
            <a:ext cx="502920" cy="502920"/>
          </a:xfrm>
          <a:prstGeom prst="rect">
            <a:avLst/>
          </a:prstGeom>
        </p:spPr>
      </p:pic>
      <p:sp>
        <p:nvSpPr>
          <p:cNvPr id="5" name="Text 2"/>
          <p:cNvSpPr txBox="1"/>
          <p:nvPr/>
        </p:nvSpPr>
        <p:spPr>
          <a:xfrm>
            <a:off x="1463040" y="1371600"/>
            <a:ext cx="4160520" cy="777240"/>
          </a:xfrm>
          <a:prstGeom prst="rect">
            <a:avLst/>
          </a:prstGeom>
          <a:noFill/>
          <a:ln/>
        </p:spPr>
        <p:txBody>
          <a:bodyPr wrap="square" lIns="0" tIns="0" rIns="0" bIns="0" rtlCol="0" anchor="ctr"/>
          <a:lstStyle/>
          <a:p>
            <a:pPr indent="0" marL="0">
              <a:buNone/>
            </a:pPr>
            <a:r>
              <a:rPr lang="en-US" sz="2200" b="1" dirty="0">
                <a:solidFill>
                  <a:schemeClr val="bg1"/>
                </a:solidFill>
              </a:rPr>
              <a:t>Government</a:t>
            </a:r>
            <a:endParaRPr lang="en-US" sz="2200" dirty="0"/>
          </a:p>
        </p:txBody>
      </p:sp>
      <p:sp>
        <p:nvSpPr>
          <p:cNvPr id="6" name="Government body"/>
          <p:cNvSpPr/>
          <p:nvPr/>
        </p:nvSpPr>
        <p:spPr>
          <a:xfrm>
            <a:off x="548640" y="2240280"/>
            <a:ext cx="5257800" cy="3383280"/>
          </a:xfrm>
          <a:prstGeom prst="roundRect">
            <a:avLst>
              <a:gd name="adj" fmla="val 3243"/>
            </a:avLst>
          </a:prstGeom>
          <a:solidFill>
            <a:schemeClr val="bg2"/>
          </a:solidFill>
          <a:ln w="12700">
            <a:solidFill>
              <a:schemeClr val="bg2"/>
            </a:solidFill>
            <a:prstDash val="solid"/>
          </a:ln>
        </p:spPr>
      </p:sp>
      <p:sp>
        <p:nvSpPr>
          <p:cNvPr id="7" name="Text 4"/>
          <p:cNvSpPr txBox="1"/>
          <p:nvPr/>
        </p:nvSpPr>
        <p:spPr>
          <a:xfrm>
            <a:off x="822960" y="2423160"/>
            <a:ext cx="4709160" cy="3017520"/>
          </a:xfrm>
          <a:prstGeom prst="rect">
            <a:avLst/>
          </a:prstGeom>
          <a:noFill/>
          <a:ln/>
        </p:spPr>
        <p:txBody>
          <a:bodyPr wrap="square" lIns="0" tIns="0" rIns="0" bIns="0" rtlCol="0" anchor="t"/>
          <a:lstStyle/>
          <a:p>
            <a:pPr marL="228600" indent="-228600">
              <a:spcAft>
                <a:spcPts val="800"/>
              </a:spcAft>
              <a:buSzPct val="100000"/>
              <a:buChar char="•"/>
            </a:pPr>
            <a:r>
              <a:rPr lang="en-US" sz="2200" dirty="0">
                <a:solidFill>
                  <a:schemeClr val="tx1"/>
                </a:solidFill>
              </a:rPr>
              <a:t>The </a:t>
            </a:r>
            <a:r>
              <a:rPr lang="en-US" sz="2200" b="1" dirty="0">
                <a:solidFill>
                  <a:schemeClr val="tx1"/>
                </a:solidFill>
              </a:rPr>
              <a:t>institutions</a:t>
            </a:r>
            <a:r>
              <a:rPr lang="en-US" sz="2200" dirty="0">
                <a:solidFill>
                  <a:schemeClr val="tx1"/>
                </a:solidFill>
              </a:rPr>
              <a:t> that exercise political authority</a:t>
            </a:r>
            <a:endParaRPr lang="en-US" sz="1600" dirty="0"/>
          </a:p>
          <a:p>
            <a:pPr marL="228600" indent="-228600">
              <a:spcAft>
                <a:spcPts val="800"/>
              </a:spcAft>
              <a:buSzPct val="100000"/>
              <a:buChar char="•"/>
            </a:pPr>
            <a:r>
              <a:rPr lang="en-US" sz="2200" dirty="0">
                <a:solidFill>
                  <a:schemeClr val="tx1"/>
                </a:solidFill>
              </a:rPr>
              <a:t>Legislature, Executive and Judiciary</a:t>
            </a:r>
            <a:endParaRPr lang="en-US" sz="1600" dirty="0"/>
          </a:p>
          <a:p>
            <a:pPr marL="228600" indent="-228600">
              <a:spcAft>
                <a:spcPts val="800"/>
              </a:spcAft>
              <a:buSzPct val="100000"/>
              <a:buChar char="•"/>
            </a:pPr>
            <a:r>
              <a:rPr lang="en-US" sz="2200" dirty="0">
                <a:solidFill>
                  <a:schemeClr val="tx1"/>
                </a:solidFill>
              </a:rPr>
              <a:t>Focuses on </a:t>
            </a:r>
            <a:r>
              <a:rPr lang="en-US" sz="2200" b="1" dirty="0">
                <a:solidFill>
                  <a:schemeClr val="tx1"/>
                </a:solidFill>
              </a:rPr>
              <a:t>WHO</a:t>
            </a:r>
            <a:r>
              <a:rPr lang="en-US" sz="2200" dirty="0">
                <a:solidFill>
                  <a:schemeClr val="tx1"/>
                </a:solidFill>
              </a:rPr>
              <a:t> governs</a:t>
            </a:r>
            <a:endParaRPr lang="en-US" sz="1600" dirty="0"/>
          </a:p>
        </p:txBody>
      </p:sp>
      <p:sp>
        <p:nvSpPr>
          <p:cNvPr id="8" name="Governance header"/>
          <p:cNvSpPr/>
          <p:nvPr/>
        </p:nvSpPr>
        <p:spPr>
          <a:xfrm>
            <a:off x="6355080" y="1371600"/>
            <a:ext cx="5257800" cy="777240"/>
          </a:xfrm>
          <a:prstGeom prst="roundRect">
            <a:avLst>
              <a:gd name="adj" fmla="val 14118"/>
            </a:avLst>
          </a:prstGeom>
          <a:solidFill>
            <a:schemeClr val="accent2"/>
          </a:solidFill>
          <a:ln w="12700">
            <a:solidFill>
              <a:schemeClr val="accent2"/>
            </a:solidFill>
            <a:prstDash val="solid"/>
          </a:ln>
        </p:spPr>
      </p:sp>
      <p:pic>
        <p:nvPicPr>
          <p:cNvPr id="9" name="Governance icon" descr="preencoded.png">    </p:cNvPr>
          <p:cNvPicPr>
            <a:picLocks noChangeAspect="1"/>
          </p:cNvPicPr>
          <p:nvPr/>
        </p:nvPicPr>
        <p:blipFill>
          <a:blip r:embed="rId2"/>
          <a:stretch>
            <a:fillRect/>
          </a:stretch>
        </p:blipFill>
        <p:spPr>
          <a:xfrm>
            <a:off x="6583680" y="1508760"/>
            <a:ext cx="502920" cy="502920"/>
          </a:xfrm>
          <a:prstGeom prst="rect">
            <a:avLst/>
          </a:prstGeom>
        </p:spPr>
      </p:pic>
      <p:sp>
        <p:nvSpPr>
          <p:cNvPr id="10" name="Text 6"/>
          <p:cNvSpPr txBox="1"/>
          <p:nvPr/>
        </p:nvSpPr>
        <p:spPr>
          <a:xfrm>
            <a:off x="7269480" y="1371600"/>
            <a:ext cx="4160520" cy="777240"/>
          </a:xfrm>
          <a:prstGeom prst="rect">
            <a:avLst/>
          </a:prstGeom>
          <a:noFill/>
          <a:ln/>
        </p:spPr>
        <p:txBody>
          <a:bodyPr wrap="square" lIns="0" tIns="0" rIns="0" bIns="0" rtlCol="0" anchor="ctr"/>
          <a:lstStyle/>
          <a:p>
            <a:pPr indent="0" marL="0">
              <a:buNone/>
            </a:pPr>
            <a:r>
              <a:rPr lang="en-US" sz="2200" b="1" dirty="0">
                <a:solidFill>
                  <a:schemeClr val="bg1"/>
                </a:solidFill>
              </a:rPr>
              <a:t>Governance</a:t>
            </a:r>
            <a:endParaRPr lang="en-US" sz="2200" dirty="0"/>
          </a:p>
        </p:txBody>
      </p:sp>
      <p:sp>
        <p:nvSpPr>
          <p:cNvPr id="11" name="Governance body"/>
          <p:cNvSpPr/>
          <p:nvPr/>
        </p:nvSpPr>
        <p:spPr>
          <a:xfrm>
            <a:off x="6355080" y="2240280"/>
            <a:ext cx="5257800" cy="3383280"/>
          </a:xfrm>
          <a:prstGeom prst="roundRect">
            <a:avLst>
              <a:gd name="adj" fmla="val 3243"/>
            </a:avLst>
          </a:prstGeom>
          <a:solidFill>
            <a:schemeClr val="bg2"/>
          </a:solidFill>
          <a:ln w="12700">
            <a:solidFill>
              <a:schemeClr val="bg2"/>
            </a:solidFill>
            <a:prstDash val="solid"/>
          </a:ln>
        </p:spPr>
      </p:sp>
      <p:sp>
        <p:nvSpPr>
          <p:cNvPr id="12" name="Text 8"/>
          <p:cNvSpPr txBox="1"/>
          <p:nvPr/>
        </p:nvSpPr>
        <p:spPr>
          <a:xfrm>
            <a:off x="6629400" y="2423160"/>
            <a:ext cx="4709160" cy="3017520"/>
          </a:xfrm>
          <a:prstGeom prst="rect">
            <a:avLst/>
          </a:prstGeom>
          <a:noFill/>
          <a:ln/>
        </p:spPr>
        <p:txBody>
          <a:bodyPr wrap="square" lIns="0" tIns="0" rIns="0" bIns="0" rtlCol="0" anchor="t"/>
          <a:lstStyle/>
          <a:p>
            <a:pPr marL="228600" indent="-228600">
              <a:spcAft>
                <a:spcPts val="800"/>
              </a:spcAft>
              <a:buSzPct val="100000"/>
              <a:buChar char="•"/>
            </a:pPr>
            <a:r>
              <a:rPr lang="en-US" sz="2200" dirty="0">
                <a:solidFill>
                  <a:schemeClr val="tx1"/>
                </a:solidFill>
              </a:rPr>
              <a:t>The </a:t>
            </a:r>
            <a:r>
              <a:rPr lang="en-US" sz="2200" b="1" dirty="0">
                <a:solidFill>
                  <a:schemeClr val="tx1"/>
                </a:solidFill>
              </a:rPr>
              <a:t>process</a:t>
            </a:r>
            <a:r>
              <a:rPr lang="en-US" sz="2200" dirty="0">
                <a:solidFill>
                  <a:schemeClr val="tx1"/>
                </a:solidFill>
              </a:rPr>
              <a:t> of making, implementing and monitoring decisions</a:t>
            </a:r>
            <a:endParaRPr lang="en-US" sz="1600" dirty="0"/>
          </a:p>
          <a:p>
            <a:pPr marL="228600" indent="-228600">
              <a:spcAft>
                <a:spcPts val="800"/>
              </a:spcAft>
              <a:buSzPct val="100000"/>
              <a:buChar char="•"/>
            </a:pPr>
            <a:r>
              <a:rPr lang="en-US" sz="2200" dirty="0">
                <a:solidFill>
                  <a:schemeClr val="tx1"/>
                </a:solidFill>
              </a:rPr>
              <a:t>Includes government, citizens, media, civil society and private organisations</a:t>
            </a:r>
            <a:endParaRPr lang="en-US" sz="1600" dirty="0"/>
          </a:p>
          <a:p>
            <a:pPr marL="228600" indent="-228600">
              <a:spcAft>
                <a:spcPts val="800"/>
              </a:spcAft>
              <a:buSzPct val="100000"/>
              <a:buChar char="•"/>
            </a:pPr>
            <a:r>
              <a:rPr lang="en-US" sz="2200" dirty="0">
                <a:solidFill>
                  <a:schemeClr val="tx1"/>
                </a:solidFill>
              </a:rPr>
              <a:t>Focuses on </a:t>
            </a:r>
            <a:r>
              <a:rPr lang="en-US" sz="2200" b="1" dirty="0">
                <a:solidFill>
                  <a:schemeClr val="tx1"/>
                </a:solidFill>
              </a:rPr>
              <a:t>HOW</a:t>
            </a:r>
            <a:r>
              <a:rPr lang="en-US" sz="2200" dirty="0">
                <a:solidFill>
                  <a:schemeClr val="tx1"/>
                </a:solidFill>
              </a:rPr>
              <a:t> governing is done</a:t>
            </a:r>
            <a:endParaRPr lang="en-US" sz="1600" dirty="0"/>
          </a:p>
        </p:txBody>
      </p:sp>
      <p:sp>
        <p:nvSpPr>
          <p:cNvPr id="13" name="vs badge"/>
          <p:cNvSpPr/>
          <p:nvPr/>
        </p:nvSpPr>
        <p:spPr>
          <a:xfrm>
            <a:off x="5733288" y="1417320"/>
            <a:ext cx="713232" cy="713232"/>
          </a:xfrm>
          <a:prstGeom prst="ellipse">
            <a:avLst/>
          </a:prstGeom>
          <a:solidFill>
            <a:schemeClr val="accent3"/>
          </a:solidFill>
          <a:ln w="25400">
            <a:solidFill>
              <a:schemeClr val="bg1"/>
            </a:solidFill>
            <a:prstDash val="solid"/>
          </a:ln>
        </p:spPr>
      </p:sp>
      <p:sp>
        <p:nvSpPr>
          <p:cNvPr id="14" name="Text 10"/>
          <p:cNvSpPr txBox="1"/>
          <p:nvPr/>
        </p:nvSpPr>
        <p:spPr>
          <a:xfrm>
            <a:off x="5733288" y="1417320"/>
            <a:ext cx="713232" cy="713232"/>
          </a:xfrm>
          <a:prstGeom prst="rect">
            <a:avLst/>
          </a:prstGeom>
          <a:noFill/>
          <a:ln/>
        </p:spPr>
        <p:txBody>
          <a:bodyPr wrap="square" lIns="0" tIns="0" rIns="0" bIns="0" rtlCol="0" anchor="ctr"/>
          <a:lstStyle/>
          <a:p>
            <a:pPr algn="ctr" indent="0" marL="0">
              <a:buNone/>
            </a:pPr>
            <a:r>
              <a:rPr lang="en-US" sz="1600" b="1" dirty="0">
                <a:solidFill>
                  <a:schemeClr val="tx2"/>
                </a:solidFill>
              </a:rPr>
              <a:t>VS</a:t>
            </a:r>
            <a:endParaRPr lang="en-US" sz="1600" dirty="0"/>
          </a:p>
        </p:txBody>
      </p:sp>
      <p:sp>
        <p:nvSpPr>
          <p:cNvPr id="15" name="footnote band"/>
          <p:cNvSpPr/>
          <p:nvPr/>
        </p:nvSpPr>
        <p:spPr>
          <a:xfrm>
            <a:off x="548640" y="5760720"/>
            <a:ext cx="11064240" cy="502920"/>
          </a:xfrm>
          <a:prstGeom prst="roundRect">
            <a:avLst>
              <a:gd name="adj" fmla="val 14545"/>
            </a:avLst>
          </a:prstGeom>
          <a:solidFill>
            <a:schemeClr val="tx2"/>
          </a:solidFill>
          <a:ln w="12700">
            <a:solidFill>
              <a:schemeClr val="tx2"/>
            </a:solidFill>
            <a:prstDash val="solid"/>
          </a:ln>
        </p:spPr>
      </p:sp>
      <p:sp>
        <p:nvSpPr>
          <p:cNvPr id="16" name="Text 12"/>
          <p:cNvSpPr txBox="1"/>
          <p:nvPr/>
        </p:nvSpPr>
        <p:spPr>
          <a:xfrm>
            <a:off x="777240" y="5760720"/>
            <a:ext cx="10607040" cy="502920"/>
          </a:xfrm>
          <a:prstGeom prst="rect">
            <a:avLst/>
          </a:prstGeom>
          <a:noFill/>
          <a:ln/>
        </p:spPr>
        <p:txBody>
          <a:bodyPr wrap="square" lIns="0" tIns="0" rIns="0" bIns="0" rtlCol="0" anchor="ctr"/>
          <a:lstStyle/>
          <a:p>
            <a:pPr indent="0" marL="0">
              <a:buNone/>
            </a:pPr>
            <a:r>
              <a:rPr lang="en-US" sz="1500" b="1" dirty="0">
                <a:solidFill>
                  <a:schemeClr val="bg1"/>
                </a:solidFill>
              </a:rPr>
              <a:t>Example:</a:t>
            </a:r>
            <a:r>
              <a:rPr lang="en-US" sz="1500" dirty="0">
                <a:solidFill>
                  <a:schemeClr val="bg1"/>
                </a:solidFill>
              </a:rPr>
              <a:t> the panchayat installs street lights (government); planning, reporting dark spots and feedback (governance).</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E2761"/>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India's Roots of Good Governance</a:t>
            </a:r>
            <a:endParaRPr lang="en-US" sz="3600" dirty="0"/>
          </a:p>
        </p:txBody>
      </p:sp>
      <p:sp>
        <p:nvSpPr>
          <p:cNvPr id="3" name="card 1"/>
          <p:cNvSpPr/>
          <p:nvPr/>
        </p:nvSpPr>
        <p:spPr>
          <a:xfrm>
            <a:off x="548640" y="1371600"/>
            <a:ext cx="3505200" cy="2286000"/>
          </a:xfrm>
          <a:prstGeom prst="roundRect">
            <a:avLst>
              <a:gd name="adj" fmla="val 4800"/>
            </a:avLst>
          </a:prstGeom>
          <a:solidFill>
            <a:schemeClr val="bg2"/>
          </a:solidFill>
          <a:ln w="12700">
            <a:solidFill>
              <a:schemeClr val="bg2"/>
            </a:solidFill>
            <a:prstDash val="solid"/>
          </a:ln>
        </p:spPr>
      </p:sp>
      <p:sp>
        <p:nvSpPr>
          <p:cNvPr id="4" name="card 1 disc"/>
          <p:cNvSpPr/>
          <p:nvPr/>
        </p:nvSpPr>
        <p:spPr>
          <a:xfrm>
            <a:off x="777240" y="1600200"/>
            <a:ext cx="566928" cy="566928"/>
          </a:xfrm>
          <a:prstGeom prst="ellipse">
            <a:avLst/>
          </a:prstGeom>
          <a:solidFill>
            <a:schemeClr val="accent1"/>
          </a:solidFill>
          <a:ln w="12700">
            <a:solidFill>
              <a:schemeClr val="accent1"/>
            </a:solidFill>
            <a:prstDash val="solid"/>
          </a:ln>
        </p:spPr>
      </p:sp>
      <p:pic>
        <p:nvPicPr>
          <p:cNvPr id="5" name="card 1 glyph" descr="preencoded.png">    </p:cNvPr>
          <p:cNvPicPr>
            <a:picLocks noChangeAspect="1"/>
          </p:cNvPicPr>
          <p:nvPr/>
        </p:nvPicPr>
        <p:blipFill>
          <a:blip r:embed="rId1"/>
          <a:stretch>
            <a:fillRect/>
          </a:stretch>
        </p:blipFill>
        <p:spPr>
          <a:xfrm>
            <a:off x="901964" y="1724924"/>
            <a:ext cx="317480" cy="317480"/>
          </a:xfrm>
          <a:prstGeom prst="rect">
            <a:avLst/>
          </a:prstGeom>
        </p:spPr>
      </p:pic>
      <p:sp>
        <p:nvSpPr>
          <p:cNvPr id="6" name="Text 3"/>
          <p:cNvSpPr txBox="1"/>
          <p:nvPr/>
        </p:nvSpPr>
        <p:spPr>
          <a:xfrm>
            <a:off x="1481328" y="160020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Sabha and Samiti</a:t>
            </a:r>
            <a:endParaRPr lang="en-US" sz="1800" dirty="0"/>
          </a:p>
        </p:txBody>
      </p:sp>
      <p:sp>
        <p:nvSpPr>
          <p:cNvPr id="7" name="Text 4"/>
          <p:cNvSpPr txBox="1"/>
          <p:nvPr/>
        </p:nvSpPr>
        <p:spPr>
          <a:xfrm>
            <a:off x="777240" y="2276856"/>
            <a:ext cx="3048000" cy="1243584"/>
          </a:xfrm>
          <a:prstGeom prst="rect">
            <a:avLst/>
          </a:prstGeom>
          <a:noFill/>
          <a:ln/>
        </p:spPr>
        <p:txBody>
          <a:bodyPr wrap="square" lIns="0" tIns="0" rIns="0" bIns="0" rtlCol="0" anchor="t"/>
          <a:lstStyle/>
          <a:p>
            <a:pPr indent="0" marL="0">
              <a:buNone/>
            </a:pPr>
            <a:r>
              <a:rPr lang="en-US" sz="1800" dirty="0">
                <a:solidFill>
                  <a:schemeClr val="tx1"/>
                </a:solidFill>
              </a:rPr>
              <a:t>Assemblies in the </a:t>
            </a:r>
            <a:r>
              <a:rPr lang="en-US" sz="1800" b="1" dirty="0">
                <a:solidFill>
                  <a:schemeClr val="tx1"/>
                </a:solidFill>
              </a:rPr>
              <a:t>Rigveda</a:t>
            </a:r>
            <a:r>
              <a:rPr lang="en-US" sz="1800" dirty="0">
                <a:solidFill>
                  <a:schemeClr val="tx1"/>
                </a:solidFill>
              </a:rPr>
              <a:t> where governance and public welfare were discussed.</a:t>
            </a:r>
            <a:endParaRPr lang="en-US" sz="1600" dirty="0"/>
          </a:p>
        </p:txBody>
      </p:sp>
      <p:sp>
        <p:nvSpPr>
          <p:cNvPr id="8" name="card 2"/>
          <p:cNvSpPr/>
          <p:nvPr/>
        </p:nvSpPr>
        <p:spPr>
          <a:xfrm>
            <a:off x="4328160" y="1371600"/>
            <a:ext cx="3505200" cy="2286000"/>
          </a:xfrm>
          <a:prstGeom prst="roundRect">
            <a:avLst>
              <a:gd name="adj" fmla="val 4800"/>
            </a:avLst>
          </a:prstGeom>
          <a:solidFill>
            <a:schemeClr val="bg2"/>
          </a:solidFill>
          <a:ln w="12700">
            <a:solidFill>
              <a:schemeClr val="bg2"/>
            </a:solidFill>
            <a:prstDash val="solid"/>
          </a:ln>
        </p:spPr>
      </p:sp>
      <p:sp>
        <p:nvSpPr>
          <p:cNvPr id="9" name="card 2 disc"/>
          <p:cNvSpPr/>
          <p:nvPr/>
        </p:nvSpPr>
        <p:spPr>
          <a:xfrm>
            <a:off x="4556760" y="1600200"/>
            <a:ext cx="566928" cy="566928"/>
          </a:xfrm>
          <a:prstGeom prst="ellipse">
            <a:avLst/>
          </a:prstGeom>
          <a:solidFill>
            <a:schemeClr val="accent2"/>
          </a:solidFill>
          <a:ln w="12700">
            <a:solidFill>
              <a:schemeClr val="accent2"/>
            </a:solidFill>
            <a:prstDash val="solid"/>
          </a:ln>
        </p:spPr>
      </p:sp>
      <p:pic>
        <p:nvPicPr>
          <p:cNvPr id="10" name="card 2 glyph" descr="preencoded.png">    </p:cNvPr>
          <p:cNvPicPr>
            <a:picLocks noChangeAspect="1"/>
          </p:cNvPicPr>
          <p:nvPr/>
        </p:nvPicPr>
        <p:blipFill>
          <a:blip r:embed="rId2"/>
          <a:stretch>
            <a:fillRect/>
          </a:stretch>
        </p:blipFill>
        <p:spPr>
          <a:xfrm>
            <a:off x="4681484" y="1724924"/>
            <a:ext cx="317480" cy="317480"/>
          </a:xfrm>
          <a:prstGeom prst="rect">
            <a:avLst/>
          </a:prstGeom>
        </p:spPr>
      </p:pic>
      <p:sp>
        <p:nvSpPr>
          <p:cNvPr id="11" name="Text 7"/>
          <p:cNvSpPr txBox="1"/>
          <p:nvPr/>
        </p:nvSpPr>
        <p:spPr>
          <a:xfrm>
            <a:off x="5260848" y="160020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Rajadharma</a:t>
            </a:r>
            <a:endParaRPr lang="en-US" sz="1800" dirty="0"/>
          </a:p>
        </p:txBody>
      </p:sp>
      <p:sp>
        <p:nvSpPr>
          <p:cNvPr id="12" name="Text 8"/>
          <p:cNvSpPr txBox="1"/>
          <p:nvPr/>
        </p:nvSpPr>
        <p:spPr>
          <a:xfrm>
            <a:off x="4556760" y="2276856"/>
            <a:ext cx="3048000" cy="1243584"/>
          </a:xfrm>
          <a:prstGeom prst="rect">
            <a:avLst/>
          </a:prstGeom>
          <a:noFill/>
          <a:ln/>
        </p:spPr>
        <p:txBody>
          <a:bodyPr wrap="square" lIns="0" tIns="0" rIns="0" bIns="0" rtlCol="0" anchor="t"/>
          <a:lstStyle/>
          <a:p>
            <a:pPr indent="0" marL="0">
              <a:buNone/>
            </a:pPr>
            <a:r>
              <a:rPr lang="en-US" sz="1800" dirty="0">
                <a:solidFill>
                  <a:schemeClr val="tx1"/>
                </a:solidFill>
              </a:rPr>
              <a:t>A ruler's highest duty: protect the people and promote welfare by upholding Dharma.</a:t>
            </a:r>
            <a:endParaRPr lang="en-US" sz="1600" dirty="0"/>
          </a:p>
        </p:txBody>
      </p:sp>
      <p:sp>
        <p:nvSpPr>
          <p:cNvPr id="13" name="card 3"/>
          <p:cNvSpPr/>
          <p:nvPr/>
        </p:nvSpPr>
        <p:spPr>
          <a:xfrm>
            <a:off x="8107680" y="1371600"/>
            <a:ext cx="3505200" cy="2286000"/>
          </a:xfrm>
          <a:prstGeom prst="roundRect">
            <a:avLst>
              <a:gd name="adj" fmla="val 4800"/>
            </a:avLst>
          </a:prstGeom>
          <a:solidFill>
            <a:schemeClr val="bg2"/>
          </a:solidFill>
          <a:ln w="12700">
            <a:solidFill>
              <a:schemeClr val="bg2"/>
            </a:solidFill>
            <a:prstDash val="solid"/>
          </a:ln>
        </p:spPr>
      </p:sp>
      <p:sp>
        <p:nvSpPr>
          <p:cNvPr id="14" name="card 3 disc"/>
          <p:cNvSpPr/>
          <p:nvPr/>
        </p:nvSpPr>
        <p:spPr>
          <a:xfrm>
            <a:off x="8336280" y="1600200"/>
            <a:ext cx="566928" cy="566928"/>
          </a:xfrm>
          <a:prstGeom prst="ellipse">
            <a:avLst/>
          </a:prstGeom>
          <a:solidFill>
            <a:schemeClr val="accent4"/>
          </a:solidFill>
          <a:ln w="12700">
            <a:solidFill>
              <a:schemeClr val="accent4"/>
            </a:solidFill>
            <a:prstDash val="solid"/>
          </a:ln>
        </p:spPr>
      </p:sp>
      <p:pic>
        <p:nvPicPr>
          <p:cNvPr id="15" name="card 3 glyph" descr="preencoded.png">    </p:cNvPr>
          <p:cNvPicPr>
            <a:picLocks noChangeAspect="1"/>
          </p:cNvPicPr>
          <p:nvPr/>
        </p:nvPicPr>
        <p:blipFill>
          <a:blip r:embed="rId3"/>
          <a:stretch>
            <a:fillRect/>
          </a:stretch>
        </p:blipFill>
        <p:spPr>
          <a:xfrm>
            <a:off x="8461004" y="1724924"/>
            <a:ext cx="317480" cy="317480"/>
          </a:xfrm>
          <a:prstGeom prst="rect">
            <a:avLst/>
          </a:prstGeom>
        </p:spPr>
      </p:pic>
      <p:sp>
        <p:nvSpPr>
          <p:cNvPr id="16" name="Text 11"/>
          <p:cNvSpPr txBox="1"/>
          <p:nvPr/>
        </p:nvSpPr>
        <p:spPr>
          <a:xfrm>
            <a:off x="9040368" y="160020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Ram Rajya</a:t>
            </a:r>
            <a:endParaRPr lang="en-US" sz="1800" dirty="0"/>
          </a:p>
        </p:txBody>
      </p:sp>
      <p:sp>
        <p:nvSpPr>
          <p:cNvPr id="17" name="Text 12"/>
          <p:cNvSpPr txBox="1"/>
          <p:nvPr/>
        </p:nvSpPr>
        <p:spPr>
          <a:xfrm>
            <a:off x="8336280" y="2276856"/>
            <a:ext cx="3048000" cy="1243584"/>
          </a:xfrm>
          <a:prstGeom prst="rect">
            <a:avLst/>
          </a:prstGeom>
          <a:noFill/>
          <a:ln/>
        </p:spPr>
        <p:txBody>
          <a:bodyPr wrap="square" lIns="0" tIns="0" rIns="0" bIns="0" rtlCol="0" anchor="t"/>
          <a:lstStyle/>
          <a:p>
            <a:pPr indent="0" marL="0">
              <a:buNone/>
            </a:pPr>
            <a:r>
              <a:rPr lang="en-US" sz="1800" dirty="0">
                <a:solidFill>
                  <a:schemeClr val="tx1"/>
                </a:solidFill>
              </a:rPr>
              <a:t>Gandhi's ideal: honesty, transparency, compassion, welfare and people first.</a:t>
            </a:r>
            <a:endParaRPr lang="en-US" sz="1600" dirty="0"/>
          </a:p>
        </p:txBody>
      </p:sp>
      <p:sp>
        <p:nvSpPr>
          <p:cNvPr id="18" name="card 4"/>
          <p:cNvSpPr/>
          <p:nvPr/>
        </p:nvSpPr>
        <p:spPr>
          <a:xfrm>
            <a:off x="548640" y="3931920"/>
            <a:ext cx="3505200" cy="2286000"/>
          </a:xfrm>
          <a:prstGeom prst="roundRect">
            <a:avLst>
              <a:gd name="adj" fmla="val 4800"/>
            </a:avLst>
          </a:prstGeom>
          <a:solidFill>
            <a:schemeClr val="bg2"/>
          </a:solidFill>
          <a:ln w="12700">
            <a:solidFill>
              <a:schemeClr val="bg2"/>
            </a:solidFill>
            <a:prstDash val="solid"/>
          </a:ln>
        </p:spPr>
      </p:sp>
      <p:sp>
        <p:nvSpPr>
          <p:cNvPr id="19" name="card 4 disc"/>
          <p:cNvSpPr/>
          <p:nvPr/>
        </p:nvSpPr>
        <p:spPr>
          <a:xfrm>
            <a:off x="777240" y="4160520"/>
            <a:ext cx="566928" cy="566928"/>
          </a:xfrm>
          <a:prstGeom prst="ellipse">
            <a:avLst/>
          </a:prstGeom>
          <a:solidFill>
            <a:schemeClr val="accent5"/>
          </a:solidFill>
          <a:ln w="12700">
            <a:solidFill>
              <a:schemeClr val="accent5"/>
            </a:solidFill>
            <a:prstDash val="solid"/>
          </a:ln>
        </p:spPr>
      </p:sp>
      <p:pic>
        <p:nvPicPr>
          <p:cNvPr id="20" name="card 4 glyph" descr="preencoded.png">    </p:cNvPr>
          <p:cNvPicPr>
            <a:picLocks noChangeAspect="1"/>
          </p:cNvPicPr>
          <p:nvPr/>
        </p:nvPicPr>
        <p:blipFill>
          <a:blip r:embed="rId4"/>
          <a:stretch>
            <a:fillRect/>
          </a:stretch>
        </p:blipFill>
        <p:spPr>
          <a:xfrm>
            <a:off x="901964" y="4285244"/>
            <a:ext cx="317480" cy="317480"/>
          </a:xfrm>
          <a:prstGeom prst="rect">
            <a:avLst/>
          </a:prstGeom>
        </p:spPr>
      </p:pic>
      <p:sp>
        <p:nvSpPr>
          <p:cNvPr id="21" name="Text 15"/>
          <p:cNvSpPr txBox="1"/>
          <p:nvPr/>
        </p:nvSpPr>
        <p:spPr>
          <a:xfrm>
            <a:off x="1481328" y="416052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Satyameva Jayate</a:t>
            </a:r>
            <a:endParaRPr lang="en-US" sz="1800" dirty="0"/>
          </a:p>
        </p:txBody>
      </p:sp>
      <p:sp>
        <p:nvSpPr>
          <p:cNvPr id="22" name="Text 16"/>
          <p:cNvSpPr txBox="1"/>
          <p:nvPr/>
        </p:nvSpPr>
        <p:spPr>
          <a:xfrm>
            <a:off x="777240" y="4837176"/>
            <a:ext cx="3048000" cy="1243584"/>
          </a:xfrm>
          <a:prstGeom prst="rect">
            <a:avLst/>
          </a:prstGeom>
          <a:noFill/>
          <a:ln/>
        </p:spPr>
        <p:txBody>
          <a:bodyPr wrap="square" lIns="0" tIns="0" rIns="0" bIns="0" rtlCol="0" anchor="t"/>
          <a:lstStyle/>
          <a:p>
            <a:pPr indent="0" marL="0">
              <a:buNone/>
            </a:pPr>
            <a:r>
              <a:rPr lang="en-US" sz="1800" dirty="0">
                <a:solidFill>
                  <a:schemeClr val="tx1"/>
                </a:solidFill>
              </a:rPr>
              <a:t>National motto, 'Truth alone triumphs', from the </a:t>
            </a:r>
            <a:r>
              <a:rPr lang="en-US" sz="1800" b="1" dirty="0">
                <a:solidFill>
                  <a:schemeClr val="tx1"/>
                </a:solidFill>
              </a:rPr>
              <a:t>Mundaka Upanishad</a:t>
            </a:r>
            <a:r>
              <a:rPr lang="en-US" sz="1800" dirty="0">
                <a:solidFill>
                  <a:schemeClr val="tx1"/>
                </a:solidFill>
              </a:rPr>
              <a:t>.</a:t>
            </a:r>
            <a:endParaRPr lang="en-US" sz="1600" dirty="0"/>
          </a:p>
        </p:txBody>
      </p:sp>
      <p:sp>
        <p:nvSpPr>
          <p:cNvPr id="23" name="card 5"/>
          <p:cNvSpPr/>
          <p:nvPr/>
        </p:nvSpPr>
        <p:spPr>
          <a:xfrm>
            <a:off x="4328160" y="3931920"/>
            <a:ext cx="3505200" cy="2286000"/>
          </a:xfrm>
          <a:prstGeom prst="roundRect">
            <a:avLst>
              <a:gd name="adj" fmla="val 4800"/>
            </a:avLst>
          </a:prstGeom>
          <a:solidFill>
            <a:schemeClr val="bg2"/>
          </a:solidFill>
          <a:ln w="12700">
            <a:solidFill>
              <a:schemeClr val="bg2"/>
            </a:solidFill>
            <a:prstDash val="solid"/>
          </a:ln>
        </p:spPr>
      </p:sp>
      <p:sp>
        <p:nvSpPr>
          <p:cNvPr id="24" name="card 5 disc"/>
          <p:cNvSpPr/>
          <p:nvPr/>
        </p:nvSpPr>
        <p:spPr>
          <a:xfrm>
            <a:off x="4556760" y="4160520"/>
            <a:ext cx="566928" cy="566928"/>
          </a:xfrm>
          <a:prstGeom prst="ellipse">
            <a:avLst/>
          </a:prstGeom>
          <a:solidFill>
            <a:schemeClr val="accent6"/>
          </a:solidFill>
          <a:ln w="12700">
            <a:solidFill>
              <a:schemeClr val="accent6"/>
            </a:solidFill>
            <a:prstDash val="solid"/>
          </a:ln>
        </p:spPr>
      </p:sp>
      <p:pic>
        <p:nvPicPr>
          <p:cNvPr id="25" name="card 5 glyph" descr="preencoded.png">    </p:cNvPr>
          <p:cNvPicPr>
            <a:picLocks noChangeAspect="1"/>
          </p:cNvPicPr>
          <p:nvPr/>
        </p:nvPicPr>
        <p:blipFill>
          <a:blip r:embed="rId5"/>
          <a:stretch>
            <a:fillRect/>
          </a:stretch>
        </p:blipFill>
        <p:spPr>
          <a:xfrm>
            <a:off x="4681484" y="4285244"/>
            <a:ext cx="317480" cy="317480"/>
          </a:xfrm>
          <a:prstGeom prst="rect">
            <a:avLst/>
          </a:prstGeom>
        </p:spPr>
      </p:pic>
      <p:sp>
        <p:nvSpPr>
          <p:cNvPr id="26" name="Text 19"/>
          <p:cNvSpPr txBox="1"/>
          <p:nvPr/>
        </p:nvSpPr>
        <p:spPr>
          <a:xfrm>
            <a:off x="5260848" y="416052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Yato Dharmastato Jayah</a:t>
            </a:r>
            <a:endParaRPr lang="en-US" sz="1800" dirty="0"/>
          </a:p>
        </p:txBody>
      </p:sp>
      <p:sp>
        <p:nvSpPr>
          <p:cNvPr id="27" name="Text 20"/>
          <p:cNvSpPr txBox="1"/>
          <p:nvPr/>
        </p:nvSpPr>
        <p:spPr>
          <a:xfrm>
            <a:off x="4556760" y="4837176"/>
            <a:ext cx="3048000" cy="1243584"/>
          </a:xfrm>
          <a:prstGeom prst="rect">
            <a:avLst/>
          </a:prstGeom>
          <a:noFill/>
          <a:ln/>
        </p:spPr>
        <p:txBody>
          <a:bodyPr wrap="square" lIns="0" tIns="0" rIns="0" bIns="0" rtlCol="0" anchor="t"/>
          <a:lstStyle/>
          <a:p>
            <a:pPr indent="0" marL="0">
              <a:buNone/>
            </a:pPr>
            <a:r>
              <a:rPr lang="en-US" sz="1800" dirty="0">
                <a:solidFill>
                  <a:schemeClr val="tx1"/>
                </a:solidFill>
              </a:rPr>
              <a:t>Supreme Court motto from the Mahabharata: 'Where there is Dharma, there is victory'.</a:t>
            </a:r>
            <a:endParaRPr lang="en-US" sz="1600" dirty="0"/>
          </a:p>
        </p:txBody>
      </p:sp>
      <p:sp>
        <p:nvSpPr>
          <p:cNvPr id="28" name="card 6"/>
          <p:cNvSpPr/>
          <p:nvPr/>
        </p:nvSpPr>
        <p:spPr>
          <a:xfrm>
            <a:off x="8107680" y="3931920"/>
            <a:ext cx="3505200" cy="2286000"/>
          </a:xfrm>
          <a:prstGeom prst="roundRect">
            <a:avLst>
              <a:gd name="adj" fmla="val 4800"/>
            </a:avLst>
          </a:prstGeom>
          <a:solidFill>
            <a:schemeClr val="bg2"/>
          </a:solidFill>
          <a:ln w="12700">
            <a:solidFill>
              <a:schemeClr val="bg2"/>
            </a:solidFill>
            <a:prstDash val="solid"/>
          </a:ln>
        </p:spPr>
      </p:sp>
      <p:sp>
        <p:nvSpPr>
          <p:cNvPr id="29" name="card 6 disc"/>
          <p:cNvSpPr/>
          <p:nvPr/>
        </p:nvSpPr>
        <p:spPr>
          <a:xfrm>
            <a:off x="8336280" y="4160520"/>
            <a:ext cx="566928" cy="566928"/>
          </a:xfrm>
          <a:prstGeom prst="ellipse">
            <a:avLst/>
          </a:prstGeom>
          <a:solidFill>
            <a:schemeClr val="accent1"/>
          </a:solidFill>
          <a:ln w="12700">
            <a:solidFill>
              <a:schemeClr val="accent1"/>
            </a:solidFill>
            <a:prstDash val="solid"/>
          </a:ln>
        </p:spPr>
      </p:sp>
      <p:pic>
        <p:nvPicPr>
          <p:cNvPr id="30" name="card 6 glyph" descr="preencoded.png">    </p:cNvPr>
          <p:cNvPicPr>
            <a:picLocks noChangeAspect="1"/>
          </p:cNvPicPr>
          <p:nvPr/>
        </p:nvPicPr>
        <p:blipFill>
          <a:blip r:embed="rId6"/>
          <a:stretch>
            <a:fillRect/>
          </a:stretch>
        </p:blipFill>
        <p:spPr>
          <a:xfrm>
            <a:off x="8461004" y="4285244"/>
            <a:ext cx="317480" cy="317480"/>
          </a:xfrm>
          <a:prstGeom prst="rect">
            <a:avLst/>
          </a:prstGeom>
        </p:spPr>
      </p:pic>
      <p:sp>
        <p:nvSpPr>
          <p:cNvPr id="31" name="Text 23"/>
          <p:cNvSpPr txBox="1"/>
          <p:nvPr/>
        </p:nvSpPr>
        <p:spPr>
          <a:xfrm>
            <a:off x="9040368" y="416052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The Sengol</a:t>
            </a:r>
            <a:endParaRPr lang="en-US" sz="1800" dirty="0"/>
          </a:p>
        </p:txBody>
      </p:sp>
      <p:sp>
        <p:nvSpPr>
          <p:cNvPr id="32" name="Text 24"/>
          <p:cNvSpPr txBox="1"/>
          <p:nvPr/>
        </p:nvSpPr>
        <p:spPr>
          <a:xfrm>
            <a:off x="8336280" y="4837176"/>
            <a:ext cx="3048000" cy="1243584"/>
          </a:xfrm>
          <a:prstGeom prst="rect">
            <a:avLst/>
          </a:prstGeom>
          <a:noFill/>
          <a:ln/>
        </p:spPr>
        <p:txBody>
          <a:bodyPr wrap="square" lIns="0" tIns="0" rIns="0" bIns="0" rtlCol="0" anchor="t"/>
          <a:lstStyle/>
          <a:p>
            <a:pPr indent="0" marL="0">
              <a:buNone/>
            </a:pPr>
            <a:r>
              <a:rPr lang="en-US" sz="1800" dirty="0">
                <a:solidFill>
                  <a:schemeClr val="tx1"/>
                </a:solidFill>
              </a:rPr>
              <a:t>Chola symbol of righteous rule; given to Nehru in 1947, placed in the new Parliament in 2023.</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E2761"/>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Source Detective: Kautilya's Arthashastra</a:t>
            </a:r>
            <a:endParaRPr lang="en-US" sz="3600" dirty="0"/>
          </a:p>
        </p:txBody>
      </p:sp>
      <p:sp>
        <p:nvSpPr>
          <p:cNvPr id="3" name="source card"/>
          <p:cNvSpPr/>
          <p:nvPr/>
        </p:nvSpPr>
        <p:spPr>
          <a:xfrm>
            <a:off x="548640" y="1371600"/>
            <a:ext cx="6309360" cy="4846320"/>
          </a:xfrm>
          <a:prstGeom prst="roundRect">
            <a:avLst>
              <a:gd name="adj" fmla="val 2264"/>
            </a:avLst>
          </a:prstGeom>
          <a:solidFill>
            <a:schemeClr val="tx2"/>
          </a:solidFill>
          <a:ln w="12700">
            <a:solidFill>
              <a:schemeClr val="tx2"/>
            </a:solidFill>
            <a:prstDash val="solid"/>
          </a:ln>
          <a:effectLst>
            <a:outerShdw sx="100000" sy="100000" kx="0" ky="0" algn="bl" rotWithShape="0" blurRad="101600" dist="25400" dir="5400000">
              <a:srgbClr val="000000">
                <a:alpha val="14000"/>
              </a:srgbClr>
            </a:outerShdw>
          </a:effectLst>
        </p:spPr>
      </p:sp>
      <p:pic>
        <p:nvPicPr>
          <p:cNvPr id="4" name="source icon" descr="preencoded.png">    </p:cNvPr>
          <p:cNvPicPr>
            <a:picLocks noChangeAspect="1"/>
          </p:cNvPicPr>
          <p:nvPr/>
        </p:nvPicPr>
        <p:blipFill>
          <a:blip r:embed="rId1"/>
          <a:stretch>
            <a:fillRect/>
          </a:stretch>
        </p:blipFill>
        <p:spPr>
          <a:xfrm>
            <a:off x="868680" y="1645920"/>
            <a:ext cx="502920" cy="502920"/>
          </a:xfrm>
          <a:prstGeom prst="rect">
            <a:avLst/>
          </a:prstGeom>
        </p:spPr>
      </p:pic>
      <p:sp>
        <p:nvSpPr>
          <p:cNvPr id="5" name="Text 2"/>
          <p:cNvSpPr txBox="1"/>
          <p:nvPr/>
        </p:nvSpPr>
        <p:spPr>
          <a:xfrm>
            <a:off x="1508760" y="1645920"/>
            <a:ext cx="5029200" cy="502920"/>
          </a:xfrm>
          <a:prstGeom prst="rect">
            <a:avLst/>
          </a:prstGeom>
          <a:noFill/>
          <a:ln/>
        </p:spPr>
        <p:txBody>
          <a:bodyPr wrap="square" lIns="0" tIns="0" rIns="0" bIns="0" rtlCol="0" anchor="ctr"/>
          <a:lstStyle/>
          <a:p>
            <a:pPr indent="0" marL="0">
              <a:buNone/>
            </a:pPr>
            <a:r>
              <a:rPr lang="en-US" sz="1400" b="1" spc="200" kern="0" dirty="0">
                <a:solidFill>
                  <a:schemeClr val="accent3"/>
                </a:solidFill>
              </a:rPr>
              <a:t>SOURCE DETECTIVE</a:t>
            </a:r>
            <a:endParaRPr lang="en-US" sz="1400" dirty="0"/>
          </a:p>
        </p:txBody>
      </p:sp>
      <p:sp>
        <p:nvSpPr>
          <p:cNvPr id="6" name="Text 3"/>
          <p:cNvSpPr txBox="1"/>
          <p:nvPr/>
        </p:nvSpPr>
        <p:spPr>
          <a:xfrm>
            <a:off x="868680" y="2331720"/>
            <a:ext cx="5669280" cy="3246120"/>
          </a:xfrm>
          <a:prstGeom prst="rect">
            <a:avLst/>
          </a:prstGeom>
          <a:noFill/>
          <a:ln/>
        </p:spPr>
        <p:txBody>
          <a:bodyPr wrap="square" lIns="0" tIns="0" rIns="0" bIns="0" rtlCol="0" anchor="t"/>
          <a:lstStyle/>
          <a:p>
            <a:pPr indent="0" marL="0">
              <a:buNone/>
            </a:pPr>
            <a:r>
              <a:rPr lang="en-US" sz="2100" dirty="0">
                <a:solidFill>
                  <a:schemeClr val="bg1"/>
                </a:solidFill>
              </a:rPr>
              <a:t>प्रजासुखे सुखं राज्ञः प्रजानां च हिते हितम्</a:t>
            </a:r>
            <a:endParaRPr lang="en-US" sz="2100" dirty="0"/>
          </a:p>
          <a:p>
            <a:pPr indent="0" marL="0">
              <a:buNone/>
            </a:pPr>
            <a:r>
              <a:rPr lang="en-US" sz="2100" dirty="0">
                <a:solidFill>
                  <a:schemeClr val="bg1"/>
                </a:solidFill>
              </a:rPr>
              <a:t>Prajāsukhe sukhaṁ rājñaḥ prajānāṁ cha hite hitam</a:t>
            </a:r>
            <a:endParaRPr lang="en-US" sz="2100" dirty="0"/>
          </a:p>
          <a:p>
            <a:pPr indent="0" marL="0">
              <a:buNone/>
            </a:pPr>
            <a:endParaRPr lang="en-US" sz="2100" dirty="0"/>
          </a:p>
          <a:p>
            <a:pPr indent="0" marL="0">
              <a:buNone/>
            </a:pPr>
            <a:r>
              <a:rPr lang="en-US" sz="2100" dirty="0">
                <a:solidFill>
                  <a:schemeClr val="bg1"/>
                </a:solidFill>
              </a:rPr>
              <a:t>'In the happiness of the people lies the happiness of the ruler, and in the interest of the people lies the interest of the ruler.'</a:t>
            </a:r>
            <a:endParaRPr lang="en-US" sz="2100" dirty="0"/>
          </a:p>
        </p:txBody>
      </p:sp>
      <p:sp>
        <p:nvSpPr>
          <p:cNvPr id="7" name="Text 4"/>
          <p:cNvSpPr txBox="1"/>
          <p:nvPr/>
        </p:nvSpPr>
        <p:spPr>
          <a:xfrm>
            <a:off x="868680" y="5623560"/>
            <a:ext cx="5669280" cy="457200"/>
          </a:xfrm>
          <a:prstGeom prst="rect">
            <a:avLst/>
          </a:prstGeom>
          <a:noFill/>
          <a:ln/>
        </p:spPr>
        <p:txBody>
          <a:bodyPr wrap="square" lIns="0" tIns="0" rIns="0" bIns="0" rtlCol="0" anchor="b"/>
          <a:lstStyle/>
          <a:p>
            <a:pPr indent="0" marL="0">
              <a:buNone/>
            </a:pPr>
            <a:r>
              <a:rPr lang="en-US" sz="1200" dirty="0">
                <a:solidFill>
                  <a:schemeClr val="bg2"/>
                </a:solidFill>
              </a:rPr>
              <a:t>Kautilya, Arthashastra (as quoted in the textbook)</a:t>
            </a:r>
            <a:endParaRPr lang="en-US" sz="1200" dirty="0"/>
          </a:p>
        </p:txBody>
      </p:sp>
      <p:sp>
        <p:nvSpPr>
          <p:cNvPr id="8" name="tasks card"/>
          <p:cNvSpPr/>
          <p:nvPr/>
        </p:nvSpPr>
        <p:spPr>
          <a:xfrm>
            <a:off x="7132320" y="1371600"/>
            <a:ext cx="4480560" cy="4846320"/>
          </a:xfrm>
          <a:prstGeom prst="roundRect">
            <a:avLst>
              <a:gd name="adj" fmla="val 2449"/>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9" name="Text 6"/>
          <p:cNvSpPr txBox="1"/>
          <p:nvPr/>
        </p:nvSpPr>
        <p:spPr>
          <a:xfrm>
            <a:off x="7406640" y="1600200"/>
            <a:ext cx="3931920" cy="457200"/>
          </a:xfrm>
          <a:prstGeom prst="rect">
            <a:avLst/>
          </a:prstGeom>
          <a:noFill/>
          <a:ln/>
        </p:spPr>
        <p:txBody>
          <a:bodyPr wrap="square" lIns="0" tIns="0" rIns="0" bIns="0" rtlCol="0" anchor="ctr"/>
          <a:lstStyle/>
          <a:p>
            <a:pPr indent="0" marL="0">
              <a:buNone/>
            </a:pPr>
            <a:r>
              <a:rPr lang="en-US" sz="2000" b="1" dirty="0">
                <a:solidFill>
                  <a:schemeClr val="accent1"/>
                </a:solidFill>
              </a:rPr>
              <a:t>Your task</a:t>
            </a:r>
            <a:endParaRPr lang="en-US" sz="2000" dirty="0"/>
          </a:p>
        </p:txBody>
      </p:sp>
      <p:sp>
        <p:nvSpPr>
          <p:cNvPr id="10" name="task 1 badge"/>
          <p:cNvSpPr/>
          <p:nvPr/>
        </p:nvSpPr>
        <p:spPr>
          <a:xfrm>
            <a:off x="7406640" y="2212848"/>
            <a:ext cx="384048" cy="384048"/>
          </a:xfrm>
          <a:prstGeom prst="ellipse">
            <a:avLst/>
          </a:prstGeom>
          <a:solidFill>
            <a:schemeClr val="accent1"/>
          </a:solidFill>
          <a:ln w="12700">
            <a:solidFill>
              <a:schemeClr val="accent1"/>
            </a:solidFill>
            <a:prstDash val="solid"/>
          </a:ln>
        </p:spPr>
      </p:sp>
      <p:sp>
        <p:nvSpPr>
          <p:cNvPr id="11" name="Text 8"/>
          <p:cNvSpPr txBox="1"/>
          <p:nvPr/>
        </p:nvSpPr>
        <p:spPr>
          <a:xfrm>
            <a:off x="7406640" y="221284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2" name="Text 9"/>
          <p:cNvSpPr txBox="1"/>
          <p:nvPr/>
        </p:nvSpPr>
        <p:spPr>
          <a:xfrm>
            <a:off x="7955280" y="2194560"/>
            <a:ext cx="3474720" cy="1115568"/>
          </a:xfrm>
          <a:prstGeom prst="rect">
            <a:avLst/>
          </a:prstGeom>
          <a:noFill/>
          <a:ln/>
        </p:spPr>
        <p:txBody>
          <a:bodyPr wrap="square" lIns="0" tIns="0" rIns="0" bIns="0" rtlCol="0" anchor="t"/>
          <a:lstStyle/>
          <a:p>
            <a:pPr indent="0" marL="0">
              <a:buNone/>
            </a:pPr>
            <a:r>
              <a:rPr lang="en-US" sz="1600" dirty="0">
                <a:solidFill>
                  <a:schemeClr val="tx1"/>
                </a:solidFill>
              </a:rPr>
              <a:t>What, according to Kautilya, should a ruler care about most?</a:t>
            </a:r>
            <a:endParaRPr lang="en-US" sz="1600" dirty="0"/>
          </a:p>
        </p:txBody>
      </p:sp>
      <p:sp>
        <p:nvSpPr>
          <p:cNvPr id="13" name="task 2 badge"/>
          <p:cNvSpPr/>
          <p:nvPr/>
        </p:nvSpPr>
        <p:spPr>
          <a:xfrm>
            <a:off x="7406640" y="3401568"/>
            <a:ext cx="384048" cy="384048"/>
          </a:xfrm>
          <a:prstGeom prst="ellipse">
            <a:avLst/>
          </a:prstGeom>
          <a:solidFill>
            <a:schemeClr val="accent1"/>
          </a:solidFill>
          <a:ln w="12700">
            <a:solidFill>
              <a:schemeClr val="accent1"/>
            </a:solidFill>
            <a:prstDash val="solid"/>
          </a:ln>
        </p:spPr>
      </p:sp>
      <p:sp>
        <p:nvSpPr>
          <p:cNvPr id="14" name="Text 11"/>
          <p:cNvSpPr txBox="1"/>
          <p:nvPr/>
        </p:nvSpPr>
        <p:spPr>
          <a:xfrm>
            <a:off x="7406640" y="340156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5" name="Text 12"/>
          <p:cNvSpPr txBox="1"/>
          <p:nvPr/>
        </p:nvSpPr>
        <p:spPr>
          <a:xfrm>
            <a:off x="7955280" y="3383280"/>
            <a:ext cx="3474720" cy="1115568"/>
          </a:xfrm>
          <a:prstGeom prst="rect">
            <a:avLst/>
          </a:prstGeom>
          <a:noFill/>
          <a:ln/>
        </p:spPr>
        <p:txBody>
          <a:bodyPr wrap="square" lIns="0" tIns="0" rIns="0" bIns="0" rtlCol="0" anchor="t"/>
          <a:lstStyle/>
          <a:p>
            <a:pPr indent="0" marL="0">
              <a:buNone/>
            </a:pPr>
            <a:r>
              <a:rPr lang="en-US" sz="1600" dirty="0">
                <a:solidFill>
                  <a:schemeClr val="tx1"/>
                </a:solidFill>
              </a:rPr>
              <a:t>How is this idea similar to </a:t>
            </a:r>
            <a:r>
              <a:rPr lang="en-US" sz="1600" b="1" dirty="0">
                <a:solidFill>
                  <a:schemeClr val="tx1"/>
                </a:solidFill>
              </a:rPr>
              <a:t>welfare-oriented</a:t>
            </a:r>
            <a:r>
              <a:rPr lang="en-US" sz="1600" dirty="0">
                <a:solidFill>
                  <a:schemeClr val="tx1"/>
                </a:solidFill>
              </a:rPr>
              <a:t> democratic governance?</a:t>
            </a:r>
            <a:endParaRPr lang="en-US" sz="1600" dirty="0"/>
          </a:p>
        </p:txBody>
      </p:sp>
      <p:sp>
        <p:nvSpPr>
          <p:cNvPr id="16" name="task 3 badge"/>
          <p:cNvSpPr/>
          <p:nvPr/>
        </p:nvSpPr>
        <p:spPr>
          <a:xfrm>
            <a:off x="7406640" y="4590288"/>
            <a:ext cx="384048" cy="384048"/>
          </a:xfrm>
          <a:prstGeom prst="ellipse">
            <a:avLst/>
          </a:prstGeom>
          <a:solidFill>
            <a:schemeClr val="accent1"/>
          </a:solidFill>
          <a:ln w="12700">
            <a:solidFill>
              <a:schemeClr val="accent1"/>
            </a:solidFill>
            <a:prstDash val="solid"/>
          </a:ln>
        </p:spPr>
      </p:sp>
      <p:sp>
        <p:nvSpPr>
          <p:cNvPr id="17" name="Text 14"/>
          <p:cNvSpPr txBox="1"/>
          <p:nvPr/>
        </p:nvSpPr>
        <p:spPr>
          <a:xfrm>
            <a:off x="7406640" y="459028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8" name="Text 15"/>
          <p:cNvSpPr txBox="1"/>
          <p:nvPr/>
        </p:nvSpPr>
        <p:spPr>
          <a:xfrm>
            <a:off x="7955280" y="4572000"/>
            <a:ext cx="3474720" cy="1115568"/>
          </a:xfrm>
          <a:prstGeom prst="rect">
            <a:avLst/>
          </a:prstGeom>
          <a:noFill/>
          <a:ln/>
        </p:spPr>
        <p:txBody>
          <a:bodyPr wrap="square" lIns="0" tIns="0" rIns="0" bIns="0" rtlCol="0" anchor="t"/>
          <a:lstStyle/>
          <a:p>
            <a:pPr indent="0" marL="0">
              <a:buNone/>
            </a:pPr>
            <a:r>
              <a:rPr lang="en-US" sz="1600" dirty="0">
                <a:solidFill>
                  <a:schemeClr val="tx1"/>
                </a:solidFill>
              </a:rPr>
              <a:t>Name one government scheme that reflects this idea.</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E2761"/>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Features of Good Governance</a:t>
            </a:r>
            <a:endParaRPr lang="en-US" sz="3600" dirty="0"/>
          </a:p>
        </p:txBody>
      </p:sp>
      <p:sp>
        <p:nvSpPr>
          <p:cNvPr id="3" name="card 1"/>
          <p:cNvSpPr/>
          <p:nvPr/>
        </p:nvSpPr>
        <p:spPr>
          <a:xfrm>
            <a:off x="548640" y="1371600"/>
            <a:ext cx="2560320" cy="1988820"/>
          </a:xfrm>
          <a:prstGeom prst="roundRect">
            <a:avLst>
              <a:gd name="adj" fmla="val 5517"/>
            </a:avLst>
          </a:prstGeom>
          <a:solidFill>
            <a:schemeClr val="bg2"/>
          </a:solidFill>
          <a:ln w="12700">
            <a:solidFill>
              <a:schemeClr val="bg2"/>
            </a:solidFill>
            <a:prstDash val="solid"/>
          </a:ln>
        </p:spPr>
      </p:sp>
      <p:sp>
        <p:nvSpPr>
          <p:cNvPr id="4" name="card 1 disc"/>
          <p:cNvSpPr/>
          <p:nvPr/>
        </p:nvSpPr>
        <p:spPr>
          <a:xfrm>
            <a:off x="731520" y="1554480"/>
            <a:ext cx="457200" cy="457200"/>
          </a:xfrm>
          <a:prstGeom prst="ellipse">
            <a:avLst/>
          </a:prstGeom>
          <a:solidFill>
            <a:schemeClr val="accent1"/>
          </a:solidFill>
          <a:ln w="12700">
            <a:solidFill>
              <a:schemeClr val="accent1"/>
            </a:solidFill>
            <a:prstDash val="solid"/>
          </a:ln>
        </p:spPr>
      </p:sp>
      <p:pic>
        <p:nvPicPr>
          <p:cNvPr id="5" name="card 1 glyph" descr="preencoded.png">    </p:cNvPr>
          <p:cNvPicPr>
            <a:picLocks noChangeAspect="1"/>
          </p:cNvPicPr>
          <p:nvPr/>
        </p:nvPicPr>
        <p:blipFill>
          <a:blip r:embed="rId1"/>
          <a:stretch>
            <a:fillRect/>
          </a:stretch>
        </p:blipFill>
        <p:spPr>
          <a:xfrm>
            <a:off x="832104" y="1655064"/>
            <a:ext cx="256032" cy="256032"/>
          </a:xfrm>
          <a:prstGeom prst="rect">
            <a:avLst/>
          </a:prstGeom>
        </p:spPr>
      </p:pic>
      <p:sp>
        <p:nvSpPr>
          <p:cNvPr id="6" name="Text 3"/>
          <p:cNvSpPr txBox="1"/>
          <p:nvPr/>
        </p:nvSpPr>
        <p:spPr>
          <a:xfrm>
            <a:off x="1325880" y="1554480"/>
            <a:ext cx="1600200" cy="457200"/>
          </a:xfrm>
          <a:prstGeom prst="rect">
            <a:avLst/>
          </a:prstGeom>
          <a:noFill/>
          <a:ln/>
        </p:spPr>
        <p:txBody>
          <a:bodyPr wrap="square" lIns="0" tIns="0" rIns="0" bIns="0" rtlCol="0" anchor="ctr"/>
          <a:lstStyle/>
          <a:p>
            <a:pPr indent="0" marL="0">
              <a:buNone/>
            </a:pPr>
            <a:r>
              <a:rPr lang="en-US" sz="1500" b="1" dirty="0">
                <a:solidFill>
                  <a:schemeClr val="tx2"/>
                </a:solidFill>
              </a:rPr>
              <a:t>Rule of law</a:t>
            </a:r>
            <a:endParaRPr lang="en-US" sz="1500" dirty="0"/>
          </a:p>
        </p:txBody>
      </p:sp>
      <p:sp>
        <p:nvSpPr>
          <p:cNvPr id="7" name="Text 4"/>
          <p:cNvSpPr txBox="1"/>
          <p:nvPr/>
        </p:nvSpPr>
        <p:spPr>
          <a:xfrm>
            <a:off x="731520" y="2121408"/>
            <a:ext cx="2194560" cy="1101852"/>
          </a:xfrm>
          <a:prstGeom prst="rect">
            <a:avLst/>
          </a:prstGeom>
          <a:noFill/>
          <a:ln/>
        </p:spPr>
        <p:txBody>
          <a:bodyPr wrap="square" lIns="0" tIns="0" rIns="0" bIns="0" rtlCol="0" anchor="t"/>
          <a:lstStyle/>
          <a:p>
            <a:pPr indent="0" marL="0">
              <a:buNone/>
            </a:pPr>
            <a:r>
              <a:rPr lang="en-US" sz="1800" dirty="0">
                <a:solidFill>
                  <a:schemeClr val="tx1"/>
                </a:solidFill>
              </a:rPr>
              <a:t>Everyone is equal before the law.</a:t>
            </a:r>
            <a:endParaRPr lang="en-US" sz="1600" dirty="0"/>
          </a:p>
        </p:txBody>
      </p:sp>
      <p:sp>
        <p:nvSpPr>
          <p:cNvPr id="8" name="card 2"/>
          <p:cNvSpPr/>
          <p:nvPr/>
        </p:nvSpPr>
        <p:spPr>
          <a:xfrm>
            <a:off x="3383280" y="1371600"/>
            <a:ext cx="2560320" cy="1988820"/>
          </a:xfrm>
          <a:prstGeom prst="roundRect">
            <a:avLst>
              <a:gd name="adj" fmla="val 5517"/>
            </a:avLst>
          </a:prstGeom>
          <a:solidFill>
            <a:schemeClr val="bg2"/>
          </a:solidFill>
          <a:ln w="12700">
            <a:solidFill>
              <a:schemeClr val="bg2"/>
            </a:solidFill>
            <a:prstDash val="solid"/>
          </a:ln>
        </p:spPr>
      </p:sp>
      <p:sp>
        <p:nvSpPr>
          <p:cNvPr id="9" name="card 2 disc"/>
          <p:cNvSpPr/>
          <p:nvPr/>
        </p:nvSpPr>
        <p:spPr>
          <a:xfrm>
            <a:off x="3566160" y="1554480"/>
            <a:ext cx="457200" cy="457200"/>
          </a:xfrm>
          <a:prstGeom prst="ellipse">
            <a:avLst/>
          </a:prstGeom>
          <a:solidFill>
            <a:schemeClr val="accent2"/>
          </a:solidFill>
          <a:ln w="12700">
            <a:solidFill>
              <a:schemeClr val="accent2"/>
            </a:solidFill>
            <a:prstDash val="solid"/>
          </a:ln>
        </p:spPr>
      </p:sp>
      <p:pic>
        <p:nvPicPr>
          <p:cNvPr id="10" name="card 2 glyph" descr="preencoded.png">    </p:cNvPr>
          <p:cNvPicPr>
            <a:picLocks noChangeAspect="1"/>
          </p:cNvPicPr>
          <p:nvPr/>
        </p:nvPicPr>
        <p:blipFill>
          <a:blip r:embed="rId2"/>
          <a:stretch>
            <a:fillRect/>
          </a:stretch>
        </p:blipFill>
        <p:spPr>
          <a:xfrm>
            <a:off x="3666744" y="1655064"/>
            <a:ext cx="256032" cy="256032"/>
          </a:xfrm>
          <a:prstGeom prst="rect">
            <a:avLst/>
          </a:prstGeom>
        </p:spPr>
      </p:pic>
      <p:sp>
        <p:nvSpPr>
          <p:cNvPr id="11" name="Text 7"/>
          <p:cNvSpPr txBox="1"/>
          <p:nvPr/>
        </p:nvSpPr>
        <p:spPr>
          <a:xfrm>
            <a:off x="4160520" y="1554480"/>
            <a:ext cx="1600200" cy="457200"/>
          </a:xfrm>
          <a:prstGeom prst="rect">
            <a:avLst/>
          </a:prstGeom>
          <a:noFill/>
          <a:ln/>
        </p:spPr>
        <p:txBody>
          <a:bodyPr wrap="square" lIns="0" tIns="0" rIns="0" bIns="0" rtlCol="0" anchor="ctr"/>
          <a:lstStyle/>
          <a:p>
            <a:pPr indent="0" marL="0">
              <a:buNone/>
            </a:pPr>
            <a:r>
              <a:rPr lang="en-US" sz="1500" b="1" dirty="0">
                <a:solidFill>
                  <a:schemeClr val="tx2"/>
                </a:solidFill>
              </a:rPr>
              <a:t>Participation</a:t>
            </a:r>
            <a:endParaRPr lang="en-US" sz="1500" dirty="0"/>
          </a:p>
        </p:txBody>
      </p:sp>
      <p:sp>
        <p:nvSpPr>
          <p:cNvPr id="12" name="Text 8"/>
          <p:cNvSpPr txBox="1"/>
          <p:nvPr/>
        </p:nvSpPr>
        <p:spPr>
          <a:xfrm>
            <a:off x="3566160" y="2121408"/>
            <a:ext cx="2194560" cy="1101852"/>
          </a:xfrm>
          <a:prstGeom prst="rect">
            <a:avLst/>
          </a:prstGeom>
          <a:noFill/>
          <a:ln/>
        </p:spPr>
        <p:txBody>
          <a:bodyPr wrap="square" lIns="0" tIns="0" rIns="0" bIns="0" rtlCol="0" anchor="t"/>
          <a:lstStyle/>
          <a:p>
            <a:pPr indent="0" marL="0">
              <a:buNone/>
            </a:pPr>
            <a:r>
              <a:rPr lang="en-US" sz="1800" dirty="0">
                <a:solidFill>
                  <a:schemeClr val="tx1"/>
                </a:solidFill>
              </a:rPr>
              <a:t>Citizens take part in decision-making.</a:t>
            </a:r>
            <a:endParaRPr lang="en-US" sz="1600" dirty="0"/>
          </a:p>
        </p:txBody>
      </p:sp>
      <p:sp>
        <p:nvSpPr>
          <p:cNvPr id="13" name="card 3"/>
          <p:cNvSpPr/>
          <p:nvPr/>
        </p:nvSpPr>
        <p:spPr>
          <a:xfrm>
            <a:off x="6217920" y="1371600"/>
            <a:ext cx="2560320" cy="1988820"/>
          </a:xfrm>
          <a:prstGeom prst="roundRect">
            <a:avLst>
              <a:gd name="adj" fmla="val 5517"/>
            </a:avLst>
          </a:prstGeom>
          <a:solidFill>
            <a:schemeClr val="bg2"/>
          </a:solidFill>
          <a:ln w="12700">
            <a:solidFill>
              <a:schemeClr val="bg2"/>
            </a:solidFill>
            <a:prstDash val="solid"/>
          </a:ln>
        </p:spPr>
      </p:sp>
      <p:sp>
        <p:nvSpPr>
          <p:cNvPr id="14" name="card 3 disc"/>
          <p:cNvSpPr/>
          <p:nvPr/>
        </p:nvSpPr>
        <p:spPr>
          <a:xfrm>
            <a:off x="6400800" y="1554480"/>
            <a:ext cx="457200" cy="457200"/>
          </a:xfrm>
          <a:prstGeom prst="ellipse">
            <a:avLst/>
          </a:prstGeom>
          <a:solidFill>
            <a:schemeClr val="accent4"/>
          </a:solidFill>
          <a:ln w="12700">
            <a:solidFill>
              <a:schemeClr val="accent4"/>
            </a:solidFill>
            <a:prstDash val="solid"/>
          </a:ln>
        </p:spPr>
      </p:sp>
      <p:pic>
        <p:nvPicPr>
          <p:cNvPr id="15" name="card 3 glyph" descr="preencoded.png">    </p:cNvPr>
          <p:cNvPicPr>
            <a:picLocks noChangeAspect="1"/>
          </p:cNvPicPr>
          <p:nvPr/>
        </p:nvPicPr>
        <p:blipFill>
          <a:blip r:embed="rId3"/>
          <a:stretch>
            <a:fillRect/>
          </a:stretch>
        </p:blipFill>
        <p:spPr>
          <a:xfrm>
            <a:off x="6501384" y="1655064"/>
            <a:ext cx="256032" cy="256032"/>
          </a:xfrm>
          <a:prstGeom prst="rect">
            <a:avLst/>
          </a:prstGeom>
        </p:spPr>
      </p:pic>
      <p:sp>
        <p:nvSpPr>
          <p:cNvPr id="16" name="Text 11"/>
          <p:cNvSpPr txBox="1"/>
          <p:nvPr/>
        </p:nvSpPr>
        <p:spPr>
          <a:xfrm>
            <a:off x="6995160" y="1554480"/>
            <a:ext cx="1600200" cy="457200"/>
          </a:xfrm>
          <a:prstGeom prst="rect">
            <a:avLst/>
          </a:prstGeom>
          <a:noFill/>
          <a:ln/>
        </p:spPr>
        <p:txBody>
          <a:bodyPr wrap="square" lIns="0" tIns="0" rIns="0" bIns="0" rtlCol="0" anchor="ctr"/>
          <a:lstStyle/>
          <a:p>
            <a:pPr indent="0" marL="0">
              <a:buNone/>
            </a:pPr>
            <a:r>
              <a:rPr lang="en-US" sz="1500" b="1" dirty="0">
                <a:solidFill>
                  <a:schemeClr val="tx2"/>
                </a:solidFill>
              </a:rPr>
              <a:t>Accountability</a:t>
            </a:r>
            <a:endParaRPr lang="en-US" sz="1500" dirty="0"/>
          </a:p>
        </p:txBody>
      </p:sp>
      <p:sp>
        <p:nvSpPr>
          <p:cNvPr id="17" name="Text 12"/>
          <p:cNvSpPr txBox="1"/>
          <p:nvPr/>
        </p:nvSpPr>
        <p:spPr>
          <a:xfrm>
            <a:off x="6400800" y="2121408"/>
            <a:ext cx="2194560" cy="1101852"/>
          </a:xfrm>
          <a:prstGeom prst="rect">
            <a:avLst/>
          </a:prstGeom>
          <a:noFill/>
          <a:ln/>
        </p:spPr>
        <p:txBody>
          <a:bodyPr wrap="square" lIns="0" tIns="0" rIns="0" bIns="0" rtlCol="0" anchor="t"/>
          <a:lstStyle/>
          <a:p>
            <a:pPr indent="0" marL="0">
              <a:buNone/>
            </a:pPr>
            <a:r>
              <a:rPr lang="en-US" sz="1800" dirty="0">
                <a:solidFill>
                  <a:schemeClr val="tx1"/>
                </a:solidFill>
              </a:rPr>
              <a:t>Officials answer for their actions.</a:t>
            </a:r>
            <a:endParaRPr lang="en-US" sz="1600" dirty="0"/>
          </a:p>
        </p:txBody>
      </p:sp>
      <p:sp>
        <p:nvSpPr>
          <p:cNvPr id="18" name="card 4"/>
          <p:cNvSpPr/>
          <p:nvPr/>
        </p:nvSpPr>
        <p:spPr>
          <a:xfrm>
            <a:off x="9052560" y="1371600"/>
            <a:ext cx="2560320" cy="1988820"/>
          </a:xfrm>
          <a:prstGeom prst="roundRect">
            <a:avLst>
              <a:gd name="adj" fmla="val 5517"/>
            </a:avLst>
          </a:prstGeom>
          <a:solidFill>
            <a:schemeClr val="bg2"/>
          </a:solidFill>
          <a:ln w="12700">
            <a:solidFill>
              <a:schemeClr val="bg2"/>
            </a:solidFill>
            <a:prstDash val="solid"/>
          </a:ln>
        </p:spPr>
      </p:sp>
      <p:sp>
        <p:nvSpPr>
          <p:cNvPr id="19" name="card 4 disc"/>
          <p:cNvSpPr/>
          <p:nvPr/>
        </p:nvSpPr>
        <p:spPr>
          <a:xfrm>
            <a:off x="9235440" y="1554480"/>
            <a:ext cx="457200" cy="457200"/>
          </a:xfrm>
          <a:prstGeom prst="ellipse">
            <a:avLst/>
          </a:prstGeom>
          <a:solidFill>
            <a:schemeClr val="accent5"/>
          </a:solidFill>
          <a:ln w="12700">
            <a:solidFill>
              <a:schemeClr val="accent5"/>
            </a:solidFill>
            <a:prstDash val="solid"/>
          </a:ln>
        </p:spPr>
      </p:sp>
      <p:pic>
        <p:nvPicPr>
          <p:cNvPr id="20" name="card 4 glyph" descr="preencoded.png">    </p:cNvPr>
          <p:cNvPicPr>
            <a:picLocks noChangeAspect="1"/>
          </p:cNvPicPr>
          <p:nvPr/>
        </p:nvPicPr>
        <p:blipFill>
          <a:blip r:embed="rId4"/>
          <a:stretch>
            <a:fillRect/>
          </a:stretch>
        </p:blipFill>
        <p:spPr>
          <a:xfrm>
            <a:off x="9336024" y="1655064"/>
            <a:ext cx="256032" cy="256032"/>
          </a:xfrm>
          <a:prstGeom prst="rect">
            <a:avLst/>
          </a:prstGeom>
        </p:spPr>
      </p:pic>
      <p:sp>
        <p:nvSpPr>
          <p:cNvPr id="21" name="Text 15"/>
          <p:cNvSpPr txBox="1"/>
          <p:nvPr/>
        </p:nvSpPr>
        <p:spPr>
          <a:xfrm>
            <a:off x="9829800" y="1554480"/>
            <a:ext cx="1600200" cy="457200"/>
          </a:xfrm>
          <a:prstGeom prst="rect">
            <a:avLst/>
          </a:prstGeom>
          <a:noFill/>
          <a:ln/>
        </p:spPr>
        <p:txBody>
          <a:bodyPr wrap="square" lIns="0" tIns="0" rIns="0" bIns="0" rtlCol="0" anchor="ctr"/>
          <a:lstStyle/>
          <a:p>
            <a:pPr indent="0" marL="0">
              <a:buNone/>
            </a:pPr>
            <a:r>
              <a:rPr lang="en-US" sz="1500" b="1" dirty="0">
                <a:solidFill>
                  <a:schemeClr val="tx2"/>
                </a:solidFill>
              </a:rPr>
              <a:t>Transparency</a:t>
            </a:r>
            <a:endParaRPr lang="en-US" sz="1500" dirty="0"/>
          </a:p>
        </p:txBody>
      </p:sp>
      <p:sp>
        <p:nvSpPr>
          <p:cNvPr id="22" name="Text 16"/>
          <p:cNvSpPr txBox="1"/>
          <p:nvPr/>
        </p:nvSpPr>
        <p:spPr>
          <a:xfrm>
            <a:off x="9235440" y="2121408"/>
            <a:ext cx="2194560" cy="1101852"/>
          </a:xfrm>
          <a:prstGeom prst="rect">
            <a:avLst/>
          </a:prstGeom>
          <a:noFill/>
          <a:ln/>
        </p:spPr>
        <p:txBody>
          <a:bodyPr wrap="square" lIns="0" tIns="0" rIns="0" bIns="0" rtlCol="0" anchor="t"/>
          <a:lstStyle/>
          <a:p>
            <a:pPr indent="0" marL="0">
              <a:buNone/>
            </a:pPr>
            <a:r>
              <a:rPr lang="en-US" sz="1800" dirty="0">
                <a:solidFill>
                  <a:schemeClr val="tx1"/>
                </a:solidFill>
              </a:rPr>
              <a:t>Decisions are open and accessible.</a:t>
            </a:r>
            <a:endParaRPr lang="en-US" sz="1600" dirty="0"/>
          </a:p>
        </p:txBody>
      </p:sp>
      <p:sp>
        <p:nvSpPr>
          <p:cNvPr id="23" name="card 5"/>
          <p:cNvSpPr/>
          <p:nvPr/>
        </p:nvSpPr>
        <p:spPr>
          <a:xfrm>
            <a:off x="548640" y="3634740"/>
            <a:ext cx="2560320" cy="1988820"/>
          </a:xfrm>
          <a:prstGeom prst="roundRect">
            <a:avLst>
              <a:gd name="adj" fmla="val 5517"/>
            </a:avLst>
          </a:prstGeom>
          <a:solidFill>
            <a:schemeClr val="bg2"/>
          </a:solidFill>
          <a:ln w="12700">
            <a:solidFill>
              <a:schemeClr val="bg2"/>
            </a:solidFill>
            <a:prstDash val="solid"/>
          </a:ln>
        </p:spPr>
      </p:sp>
      <p:sp>
        <p:nvSpPr>
          <p:cNvPr id="24" name="card 5 disc"/>
          <p:cNvSpPr/>
          <p:nvPr/>
        </p:nvSpPr>
        <p:spPr>
          <a:xfrm>
            <a:off x="731520" y="3817620"/>
            <a:ext cx="457200" cy="457200"/>
          </a:xfrm>
          <a:prstGeom prst="ellipse">
            <a:avLst/>
          </a:prstGeom>
          <a:solidFill>
            <a:schemeClr val="accent6"/>
          </a:solidFill>
          <a:ln w="12700">
            <a:solidFill>
              <a:schemeClr val="accent6"/>
            </a:solidFill>
            <a:prstDash val="solid"/>
          </a:ln>
        </p:spPr>
      </p:sp>
      <p:pic>
        <p:nvPicPr>
          <p:cNvPr id="25" name="card 5 glyph" descr="preencoded.png">    </p:cNvPr>
          <p:cNvPicPr>
            <a:picLocks noChangeAspect="1"/>
          </p:cNvPicPr>
          <p:nvPr/>
        </p:nvPicPr>
        <p:blipFill>
          <a:blip r:embed="rId5"/>
          <a:stretch>
            <a:fillRect/>
          </a:stretch>
        </p:blipFill>
        <p:spPr>
          <a:xfrm>
            <a:off x="832104" y="3918204"/>
            <a:ext cx="256032" cy="256032"/>
          </a:xfrm>
          <a:prstGeom prst="rect">
            <a:avLst/>
          </a:prstGeom>
        </p:spPr>
      </p:pic>
      <p:sp>
        <p:nvSpPr>
          <p:cNvPr id="26" name="Text 19"/>
          <p:cNvSpPr txBox="1"/>
          <p:nvPr/>
        </p:nvSpPr>
        <p:spPr>
          <a:xfrm>
            <a:off x="1325880" y="3817620"/>
            <a:ext cx="1600200" cy="457200"/>
          </a:xfrm>
          <a:prstGeom prst="rect">
            <a:avLst/>
          </a:prstGeom>
          <a:noFill/>
          <a:ln/>
        </p:spPr>
        <p:txBody>
          <a:bodyPr wrap="square" lIns="0" tIns="0" rIns="0" bIns="0" rtlCol="0" anchor="ctr"/>
          <a:lstStyle/>
          <a:p>
            <a:pPr indent="0" marL="0">
              <a:buNone/>
            </a:pPr>
            <a:r>
              <a:rPr lang="en-US" sz="1500" b="1" dirty="0">
                <a:solidFill>
                  <a:schemeClr val="tx2"/>
                </a:solidFill>
              </a:rPr>
              <a:t>Effectiveness</a:t>
            </a:r>
            <a:endParaRPr lang="en-US" sz="1500" dirty="0"/>
          </a:p>
        </p:txBody>
      </p:sp>
      <p:sp>
        <p:nvSpPr>
          <p:cNvPr id="27" name="Text 20"/>
          <p:cNvSpPr txBox="1"/>
          <p:nvPr/>
        </p:nvSpPr>
        <p:spPr>
          <a:xfrm>
            <a:off x="731520" y="4384548"/>
            <a:ext cx="2194560" cy="1101852"/>
          </a:xfrm>
          <a:prstGeom prst="rect">
            <a:avLst/>
          </a:prstGeom>
          <a:noFill/>
          <a:ln/>
        </p:spPr>
        <p:txBody>
          <a:bodyPr wrap="square" lIns="0" tIns="0" rIns="0" bIns="0" rtlCol="0" anchor="t"/>
          <a:lstStyle/>
          <a:p>
            <a:pPr indent="0" marL="0">
              <a:buNone/>
            </a:pPr>
            <a:r>
              <a:rPr lang="en-US" sz="1800" dirty="0">
                <a:solidFill>
                  <a:schemeClr val="tx1"/>
                </a:solidFill>
              </a:rPr>
              <a:t>Public resources are used wisely.</a:t>
            </a:r>
            <a:endParaRPr lang="en-US" sz="1600" dirty="0"/>
          </a:p>
        </p:txBody>
      </p:sp>
      <p:sp>
        <p:nvSpPr>
          <p:cNvPr id="28" name="card 6"/>
          <p:cNvSpPr/>
          <p:nvPr/>
        </p:nvSpPr>
        <p:spPr>
          <a:xfrm>
            <a:off x="3383280" y="3634740"/>
            <a:ext cx="2560320" cy="1988820"/>
          </a:xfrm>
          <a:prstGeom prst="roundRect">
            <a:avLst>
              <a:gd name="adj" fmla="val 5517"/>
            </a:avLst>
          </a:prstGeom>
          <a:solidFill>
            <a:schemeClr val="bg2"/>
          </a:solidFill>
          <a:ln w="12700">
            <a:solidFill>
              <a:schemeClr val="bg2"/>
            </a:solidFill>
            <a:prstDash val="solid"/>
          </a:ln>
        </p:spPr>
      </p:sp>
      <p:sp>
        <p:nvSpPr>
          <p:cNvPr id="29" name="card 6 disc"/>
          <p:cNvSpPr/>
          <p:nvPr/>
        </p:nvSpPr>
        <p:spPr>
          <a:xfrm>
            <a:off x="3566160" y="3817620"/>
            <a:ext cx="457200" cy="457200"/>
          </a:xfrm>
          <a:prstGeom prst="ellipse">
            <a:avLst/>
          </a:prstGeom>
          <a:solidFill>
            <a:schemeClr val="accent1"/>
          </a:solidFill>
          <a:ln w="12700">
            <a:solidFill>
              <a:schemeClr val="accent1"/>
            </a:solidFill>
            <a:prstDash val="solid"/>
          </a:ln>
        </p:spPr>
      </p:sp>
      <p:pic>
        <p:nvPicPr>
          <p:cNvPr id="30" name="card 6 glyph" descr="preencoded.png">    </p:cNvPr>
          <p:cNvPicPr>
            <a:picLocks noChangeAspect="1"/>
          </p:cNvPicPr>
          <p:nvPr/>
        </p:nvPicPr>
        <p:blipFill>
          <a:blip r:embed="rId6"/>
          <a:stretch>
            <a:fillRect/>
          </a:stretch>
        </p:blipFill>
        <p:spPr>
          <a:xfrm>
            <a:off x="3666744" y="3918204"/>
            <a:ext cx="256032" cy="256032"/>
          </a:xfrm>
          <a:prstGeom prst="rect">
            <a:avLst/>
          </a:prstGeom>
        </p:spPr>
      </p:pic>
      <p:sp>
        <p:nvSpPr>
          <p:cNvPr id="31" name="Text 23"/>
          <p:cNvSpPr txBox="1"/>
          <p:nvPr/>
        </p:nvSpPr>
        <p:spPr>
          <a:xfrm>
            <a:off x="4160520" y="3817620"/>
            <a:ext cx="1600200" cy="457200"/>
          </a:xfrm>
          <a:prstGeom prst="rect">
            <a:avLst/>
          </a:prstGeom>
          <a:noFill/>
          <a:ln/>
        </p:spPr>
        <p:txBody>
          <a:bodyPr wrap="square" lIns="0" tIns="0" rIns="0" bIns="0" rtlCol="0" anchor="ctr"/>
          <a:lstStyle/>
          <a:p>
            <a:pPr indent="0" marL="0">
              <a:buNone/>
            </a:pPr>
            <a:r>
              <a:rPr lang="en-US" sz="1500" b="1" dirty="0">
                <a:solidFill>
                  <a:schemeClr val="tx2"/>
                </a:solidFill>
              </a:rPr>
              <a:t>Responsiveness</a:t>
            </a:r>
            <a:endParaRPr lang="en-US" sz="1500" dirty="0"/>
          </a:p>
        </p:txBody>
      </p:sp>
      <p:sp>
        <p:nvSpPr>
          <p:cNvPr id="32" name="Text 24"/>
          <p:cNvSpPr txBox="1"/>
          <p:nvPr/>
        </p:nvSpPr>
        <p:spPr>
          <a:xfrm>
            <a:off x="3566160" y="4384548"/>
            <a:ext cx="2194560" cy="1101852"/>
          </a:xfrm>
          <a:prstGeom prst="rect">
            <a:avLst/>
          </a:prstGeom>
          <a:noFill/>
          <a:ln/>
        </p:spPr>
        <p:txBody>
          <a:bodyPr wrap="square" lIns="0" tIns="0" rIns="0" bIns="0" rtlCol="0" anchor="t"/>
          <a:lstStyle/>
          <a:p>
            <a:pPr indent="0" marL="0">
              <a:buNone/>
            </a:pPr>
            <a:r>
              <a:rPr lang="en-US" sz="1800" dirty="0">
                <a:solidFill>
                  <a:schemeClr val="tx1"/>
                </a:solidFill>
              </a:rPr>
              <a:t>Government addresses people's needs.</a:t>
            </a:r>
            <a:endParaRPr lang="en-US" sz="1600" dirty="0"/>
          </a:p>
        </p:txBody>
      </p:sp>
      <p:sp>
        <p:nvSpPr>
          <p:cNvPr id="33" name="card 7"/>
          <p:cNvSpPr/>
          <p:nvPr/>
        </p:nvSpPr>
        <p:spPr>
          <a:xfrm>
            <a:off x="6217920" y="3634740"/>
            <a:ext cx="2560320" cy="1988820"/>
          </a:xfrm>
          <a:prstGeom prst="roundRect">
            <a:avLst>
              <a:gd name="adj" fmla="val 5517"/>
            </a:avLst>
          </a:prstGeom>
          <a:solidFill>
            <a:schemeClr val="bg2"/>
          </a:solidFill>
          <a:ln w="12700">
            <a:solidFill>
              <a:schemeClr val="bg2"/>
            </a:solidFill>
            <a:prstDash val="solid"/>
          </a:ln>
        </p:spPr>
      </p:sp>
      <p:sp>
        <p:nvSpPr>
          <p:cNvPr id="34" name="card 7 disc"/>
          <p:cNvSpPr/>
          <p:nvPr/>
        </p:nvSpPr>
        <p:spPr>
          <a:xfrm>
            <a:off x="6400800" y="3817620"/>
            <a:ext cx="457200" cy="457200"/>
          </a:xfrm>
          <a:prstGeom prst="ellipse">
            <a:avLst/>
          </a:prstGeom>
          <a:solidFill>
            <a:schemeClr val="accent1"/>
          </a:solidFill>
          <a:ln w="12700">
            <a:solidFill>
              <a:schemeClr val="accent1"/>
            </a:solidFill>
            <a:prstDash val="solid"/>
          </a:ln>
        </p:spPr>
      </p:sp>
      <p:pic>
        <p:nvPicPr>
          <p:cNvPr id="35" name="card 7 glyph" descr="preencoded.png">    </p:cNvPr>
          <p:cNvPicPr>
            <a:picLocks noChangeAspect="1"/>
          </p:cNvPicPr>
          <p:nvPr/>
        </p:nvPicPr>
        <p:blipFill>
          <a:blip r:embed="rId7"/>
          <a:stretch>
            <a:fillRect/>
          </a:stretch>
        </p:blipFill>
        <p:spPr>
          <a:xfrm>
            <a:off x="6501384" y="3918204"/>
            <a:ext cx="256032" cy="256032"/>
          </a:xfrm>
          <a:prstGeom prst="rect">
            <a:avLst/>
          </a:prstGeom>
        </p:spPr>
      </p:pic>
      <p:sp>
        <p:nvSpPr>
          <p:cNvPr id="36" name="Text 27"/>
          <p:cNvSpPr txBox="1"/>
          <p:nvPr/>
        </p:nvSpPr>
        <p:spPr>
          <a:xfrm>
            <a:off x="6995160" y="3817620"/>
            <a:ext cx="1600200" cy="457200"/>
          </a:xfrm>
          <a:prstGeom prst="rect">
            <a:avLst/>
          </a:prstGeom>
          <a:noFill/>
          <a:ln/>
        </p:spPr>
        <p:txBody>
          <a:bodyPr wrap="square" lIns="0" tIns="0" rIns="0" bIns="0" rtlCol="0" anchor="ctr"/>
          <a:lstStyle/>
          <a:p>
            <a:pPr indent="0" marL="0">
              <a:buNone/>
            </a:pPr>
            <a:r>
              <a:rPr lang="en-US" sz="1500" b="1" dirty="0">
                <a:solidFill>
                  <a:schemeClr val="tx2"/>
                </a:solidFill>
              </a:rPr>
              <a:t>Inclusiveness</a:t>
            </a:r>
            <a:endParaRPr lang="en-US" sz="1500" dirty="0"/>
          </a:p>
        </p:txBody>
      </p:sp>
      <p:sp>
        <p:nvSpPr>
          <p:cNvPr id="37" name="Text 28"/>
          <p:cNvSpPr txBox="1"/>
          <p:nvPr/>
        </p:nvSpPr>
        <p:spPr>
          <a:xfrm>
            <a:off x="6400800" y="4384548"/>
            <a:ext cx="2194560" cy="1101852"/>
          </a:xfrm>
          <a:prstGeom prst="rect">
            <a:avLst/>
          </a:prstGeom>
          <a:noFill/>
          <a:ln/>
        </p:spPr>
        <p:txBody>
          <a:bodyPr wrap="square" lIns="0" tIns="0" rIns="0" bIns="0" rtlCol="0" anchor="t"/>
          <a:lstStyle/>
          <a:p>
            <a:pPr indent="0" marL="0">
              <a:buNone/>
            </a:pPr>
            <a:r>
              <a:rPr lang="en-US" sz="1800" dirty="0">
                <a:solidFill>
                  <a:schemeClr val="tx1"/>
                </a:solidFill>
              </a:rPr>
              <a:t>Every citizen has equal opportunities.</a:t>
            </a:r>
            <a:endParaRPr lang="en-US" sz="1600" dirty="0"/>
          </a:p>
        </p:txBody>
      </p:sp>
      <p:sp>
        <p:nvSpPr>
          <p:cNvPr id="38" name="footnote band"/>
          <p:cNvSpPr/>
          <p:nvPr/>
        </p:nvSpPr>
        <p:spPr>
          <a:xfrm>
            <a:off x="548640" y="5760720"/>
            <a:ext cx="11064240" cy="502920"/>
          </a:xfrm>
          <a:prstGeom prst="roundRect">
            <a:avLst>
              <a:gd name="adj" fmla="val 14545"/>
            </a:avLst>
          </a:prstGeom>
          <a:solidFill>
            <a:schemeClr val="tx2"/>
          </a:solidFill>
          <a:ln w="12700">
            <a:solidFill>
              <a:schemeClr val="tx2"/>
            </a:solidFill>
            <a:prstDash val="solid"/>
          </a:ln>
        </p:spPr>
      </p:sp>
      <p:sp>
        <p:nvSpPr>
          <p:cNvPr id="39" name="Text 30"/>
          <p:cNvSpPr txBox="1"/>
          <p:nvPr/>
        </p:nvSpPr>
        <p:spPr>
          <a:xfrm>
            <a:off x="777240" y="5760720"/>
            <a:ext cx="10607040" cy="502920"/>
          </a:xfrm>
          <a:prstGeom prst="rect">
            <a:avLst/>
          </a:prstGeom>
          <a:noFill/>
          <a:ln/>
        </p:spPr>
        <p:txBody>
          <a:bodyPr wrap="square" lIns="0" tIns="0" rIns="0" bIns="0" rtlCol="0" anchor="ctr"/>
          <a:lstStyle/>
          <a:p>
            <a:pPr indent="0" marL="0">
              <a:buNone/>
            </a:pPr>
            <a:r>
              <a:rPr lang="en-US" sz="1500" dirty="0">
                <a:solidFill>
                  <a:schemeClr val="bg1"/>
                </a:solidFill>
              </a:rPr>
              <a:t>Good governance is a </a:t>
            </a:r>
            <a:r>
              <a:rPr lang="en-US" sz="1500" b="1" dirty="0">
                <a:solidFill>
                  <a:schemeClr val="bg1"/>
                </a:solidFill>
              </a:rPr>
              <a:t>partnership</a:t>
            </a:r>
            <a:r>
              <a:rPr lang="en-US" sz="1500" dirty="0">
                <a:solidFill>
                  <a:schemeClr val="bg1"/>
                </a:solidFill>
              </a:rPr>
              <a:t> between the government and citizens.</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E2761"/>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Everyone Has a Role</a:t>
            </a:r>
            <a:endParaRPr lang="en-US" sz="3600" dirty="0"/>
          </a:p>
        </p:txBody>
      </p:sp>
      <p:sp>
        <p:nvSpPr>
          <p:cNvPr id="3" name="card 1"/>
          <p:cNvSpPr/>
          <p:nvPr/>
        </p:nvSpPr>
        <p:spPr>
          <a:xfrm>
            <a:off x="548640" y="1371600"/>
            <a:ext cx="3505200" cy="2286000"/>
          </a:xfrm>
          <a:prstGeom prst="roundRect">
            <a:avLst>
              <a:gd name="adj" fmla="val 4800"/>
            </a:avLst>
          </a:prstGeom>
          <a:solidFill>
            <a:schemeClr val="bg2"/>
          </a:solidFill>
          <a:ln w="12700">
            <a:solidFill>
              <a:schemeClr val="bg2"/>
            </a:solidFill>
            <a:prstDash val="solid"/>
          </a:ln>
        </p:spPr>
      </p:sp>
      <p:sp>
        <p:nvSpPr>
          <p:cNvPr id="4" name="card 1 disc"/>
          <p:cNvSpPr/>
          <p:nvPr/>
        </p:nvSpPr>
        <p:spPr>
          <a:xfrm>
            <a:off x="777240" y="1600200"/>
            <a:ext cx="566928" cy="566928"/>
          </a:xfrm>
          <a:prstGeom prst="ellipse">
            <a:avLst/>
          </a:prstGeom>
          <a:solidFill>
            <a:schemeClr val="accent1"/>
          </a:solidFill>
          <a:ln w="12700">
            <a:solidFill>
              <a:schemeClr val="accent1"/>
            </a:solidFill>
            <a:prstDash val="solid"/>
          </a:ln>
        </p:spPr>
      </p:sp>
      <p:pic>
        <p:nvPicPr>
          <p:cNvPr id="5" name="card 1 glyph" descr="preencoded.png">    </p:cNvPr>
          <p:cNvPicPr>
            <a:picLocks noChangeAspect="1"/>
          </p:cNvPicPr>
          <p:nvPr/>
        </p:nvPicPr>
        <p:blipFill>
          <a:blip r:embed="rId1"/>
          <a:stretch>
            <a:fillRect/>
          </a:stretch>
        </p:blipFill>
        <p:spPr>
          <a:xfrm>
            <a:off x="901964" y="1724924"/>
            <a:ext cx="317480" cy="317480"/>
          </a:xfrm>
          <a:prstGeom prst="rect">
            <a:avLst/>
          </a:prstGeom>
        </p:spPr>
      </p:pic>
      <p:sp>
        <p:nvSpPr>
          <p:cNvPr id="6" name="Text 3"/>
          <p:cNvSpPr txBox="1"/>
          <p:nvPr/>
        </p:nvSpPr>
        <p:spPr>
          <a:xfrm>
            <a:off x="1481328" y="160020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Government</a:t>
            </a:r>
            <a:endParaRPr lang="en-US" sz="1800" dirty="0"/>
          </a:p>
        </p:txBody>
      </p:sp>
      <p:sp>
        <p:nvSpPr>
          <p:cNvPr id="7" name="Text 4"/>
          <p:cNvSpPr txBox="1"/>
          <p:nvPr/>
        </p:nvSpPr>
        <p:spPr>
          <a:xfrm>
            <a:off x="777240" y="2276856"/>
            <a:ext cx="3048000" cy="1243584"/>
          </a:xfrm>
          <a:prstGeom prst="rect">
            <a:avLst/>
          </a:prstGeom>
          <a:noFill/>
          <a:ln/>
        </p:spPr>
        <p:txBody>
          <a:bodyPr wrap="square" lIns="0" tIns="0" rIns="0" bIns="0" rtlCol="0" anchor="t"/>
          <a:lstStyle/>
          <a:p>
            <a:pPr indent="0" marL="0">
              <a:buNone/>
            </a:pPr>
            <a:r>
              <a:rPr lang="en-US" sz="1800" dirty="0">
                <a:solidFill>
                  <a:schemeClr val="tx1"/>
                </a:solidFill>
              </a:rPr>
              <a:t>Makes laws and policies and provides public services.</a:t>
            </a:r>
            <a:endParaRPr lang="en-US" sz="1600" dirty="0"/>
          </a:p>
        </p:txBody>
      </p:sp>
      <p:sp>
        <p:nvSpPr>
          <p:cNvPr id="8" name="card 2"/>
          <p:cNvSpPr/>
          <p:nvPr/>
        </p:nvSpPr>
        <p:spPr>
          <a:xfrm>
            <a:off x="4328160" y="1371600"/>
            <a:ext cx="3505200" cy="2286000"/>
          </a:xfrm>
          <a:prstGeom prst="roundRect">
            <a:avLst>
              <a:gd name="adj" fmla="val 4800"/>
            </a:avLst>
          </a:prstGeom>
          <a:solidFill>
            <a:schemeClr val="bg2"/>
          </a:solidFill>
          <a:ln w="12700">
            <a:solidFill>
              <a:schemeClr val="bg2"/>
            </a:solidFill>
            <a:prstDash val="solid"/>
          </a:ln>
        </p:spPr>
      </p:sp>
      <p:sp>
        <p:nvSpPr>
          <p:cNvPr id="9" name="card 2 disc"/>
          <p:cNvSpPr/>
          <p:nvPr/>
        </p:nvSpPr>
        <p:spPr>
          <a:xfrm>
            <a:off x="4556760" y="1600200"/>
            <a:ext cx="566928" cy="566928"/>
          </a:xfrm>
          <a:prstGeom prst="ellipse">
            <a:avLst/>
          </a:prstGeom>
          <a:solidFill>
            <a:schemeClr val="accent2"/>
          </a:solidFill>
          <a:ln w="12700">
            <a:solidFill>
              <a:schemeClr val="accent2"/>
            </a:solidFill>
            <a:prstDash val="solid"/>
          </a:ln>
        </p:spPr>
      </p:sp>
      <p:pic>
        <p:nvPicPr>
          <p:cNvPr id="10" name="card 2 glyph" descr="preencoded.png">    </p:cNvPr>
          <p:cNvPicPr>
            <a:picLocks noChangeAspect="1"/>
          </p:cNvPicPr>
          <p:nvPr/>
        </p:nvPicPr>
        <p:blipFill>
          <a:blip r:embed="rId2"/>
          <a:stretch>
            <a:fillRect/>
          </a:stretch>
        </p:blipFill>
        <p:spPr>
          <a:xfrm>
            <a:off x="4681484" y="1724924"/>
            <a:ext cx="317480" cy="317480"/>
          </a:xfrm>
          <a:prstGeom prst="rect">
            <a:avLst/>
          </a:prstGeom>
        </p:spPr>
      </p:pic>
      <p:sp>
        <p:nvSpPr>
          <p:cNvPr id="11" name="Text 7"/>
          <p:cNvSpPr txBox="1"/>
          <p:nvPr/>
        </p:nvSpPr>
        <p:spPr>
          <a:xfrm>
            <a:off x="5260848" y="160020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Citizens</a:t>
            </a:r>
            <a:endParaRPr lang="en-US" sz="1800" dirty="0"/>
          </a:p>
        </p:txBody>
      </p:sp>
      <p:sp>
        <p:nvSpPr>
          <p:cNvPr id="12" name="Text 8"/>
          <p:cNvSpPr txBox="1"/>
          <p:nvPr/>
        </p:nvSpPr>
        <p:spPr>
          <a:xfrm>
            <a:off x="4556760" y="2276856"/>
            <a:ext cx="3048000" cy="1243584"/>
          </a:xfrm>
          <a:prstGeom prst="rect">
            <a:avLst/>
          </a:prstGeom>
          <a:noFill/>
          <a:ln/>
        </p:spPr>
        <p:txBody>
          <a:bodyPr wrap="square" lIns="0" tIns="0" rIns="0" bIns="0" rtlCol="0" anchor="t"/>
          <a:lstStyle/>
          <a:p>
            <a:pPr indent="0" marL="0">
              <a:buNone/>
            </a:pPr>
            <a:r>
              <a:rPr lang="en-US" sz="1800" dirty="0">
                <a:solidFill>
                  <a:schemeClr val="tx1"/>
                </a:solidFill>
              </a:rPr>
              <a:t>Elect representatives, follow the law and take part in public life.</a:t>
            </a:r>
            <a:endParaRPr lang="en-US" sz="1600" dirty="0"/>
          </a:p>
        </p:txBody>
      </p:sp>
      <p:sp>
        <p:nvSpPr>
          <p:cNvPr id="13" name="card 3"/>
          <p:cNvSpPr/>
          <p:nvPr/>
        </p:nvSpPr>
        <p:spPr>
          <a:xfrm>
            <a:off x="8107680" y="1371600"/>
            <a:ext cx="3505200" cy="2286000"/>
          </a:xfrm>
          <a:prstGeom prst="roundRect">
            <a:avLst>
              <a:gd name="adj" fmla="val 4800"/>
            </a:avLst>
          </a:prstGeom>
          <a:solidFill>
            <a:schemeClr val="bg2"/>
          </a:solidFill>
          <a:ln w="12700">
            <a:solidFill>
              <a:schemeClr val="bg2"/>
            </a:solidFill>
            <a:prstDash val="solid"/>
          </a:ln>
        </p:spPr>
      </p:sp>
      <p:sp>
        <p:nvSpPr>
          <p:cNvPr id="14" name="card 3 disc"/>
          <p:cNvSpPr/>
          <p:nvPr/>
        </p:nvSpPr>
        <p:spPr>
          <a:xfrm>
            <a:off x="8336280" y="1600200"/>
            <a:ext cx="566928" cy="566928"/>
          </a:xfrm>
          <a:prstGeom prst="ellipse">
            <a:avLst/>
          </a:prstGeom>
          <a:solidFill>
            <a:schemeClr val="accent4"/>
          </a:solidFill>
          <a:ln w="12700">
            <a:solidFill>
              <a:schemeClr val="accent4"/>
            </a:solidFill>
            <a:prstDash val="solid"/>
          </a:ln>
        </p:spPr>
      </p:sp>
      <p:pic>
        <p:nvPicPr>
          <p:cNvPr id="15" name="card 3 glyph" descr="preencoded.png">    </p:cNvPr>
          <p:cNvPicPr>
            <a:picLocks noChangeAspect="1"/>
          </p:cNvPicPr>
          <p:nvPr/>
        </p:nvPicPr>
        <p:blipFill>
          <a:blip r:embed="rId3"/>
          <a:stretch>
            <a:fillRect/>
          </a:stretch>
        </p:blipFill>
        <p:spPr>
          <a:xfrm>
            <a:off x="8461004" y="1724924"/>
            <a:ext cx="317480" cy="317480"/>
          </a:xfrm>
          <a:prstGeom prst="rect">
            <a:avLst/>
          </a:prstGeom>
        </p:spPr>
      </p:pic>
      <p:sp>
        <p:nvSpPr>
          <p:cNvPr id="16" name="Text 11"/>
          <p:cNvSpPr txBox="1"/>
          <p:nvPr/>
        </p:nvSpPr>
        <p:spPr>
          <a:xfrm>
            <a:off x="9040368" y="160020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Media</a:t>
            </a:r>
            <a:endParaRPr lang="en-US" sz="1800" dirty="0"/>
          </a:p>
        </p:txBody>
      </p:sp>
      <p:sp>
        <p:nvSpPr>
          <p:cNvPr id="17" name="Text 12"/>
          <p:cNvSpPr txBox="1"/>
          <p:nvPr/>
        </p:nvSpPr>
        <p:spPr>
          <a:xfrm>
            <a:off x="8336280" y="2276856"/>
            <a:ext cx="3048000" cy="1243584"/>
          </a:xfrm>
          <a:prstGeom prst="rect">
            <a:avLst/>
          </a:prstGeom>
          <a:noFill/>
          <a:ln/>
        </p:spPr>
        <p:txBody>
          <a:bodyPr wrap="square" lIns="0" tIns="0" rIns="0" bIns="0" rtlCol="0" anchor="t"/>
          <a:lstStyle/>
          <a:p>
            <a:pPr indent="0" marL="0">
              <a:buNone/>
            </a:pPr>
            <a:r>
              <a:rPr lang="en-US" sz="1800" dirty="0">
                <a:solidFill>
                  <a:schemeClr val="tx1"/>
                </a:solidFill>
              </a:rPr>
              <a:t>Helps people understand public issues and raises important matters.</a:t>
            </a:r>
            <a:endParaRPr lang="en-US" sz="1600" dirty="0"/>
          </a:p>
        </p:txBody>
      </p:sp>
      <p:sp>
        <p:nvSpPr>
          <p:cNvPr id="18" name="card 4"/>
          <p:cNvSpPr/>
          <p:nvPr/>
        </p:nvSpPr>
        <p:spPr>
          <a:xfrm>
            <a:off x="548640" y="3931920"/>
            <a:ext cx="3505200" cy="2286000"/>
          </a:xfrm>
          <a:prstGeom prst="roundRect">
            <a:avLst>
              <a:gd name="adj" fmla="val 4800"/>
            </a:avLst>
          </a:prstGeom>
          <a:solidFill>
            <a:schemeClr val="bg2"/>
          </a:solidFill>
          <a:ln w="12700">
            <a:solidFill>
              <a:schemeClr val="bg2"/>
            </a:solidFill>
            <a:prstDash val="solid"/>
          </a:ln>
        </p:spPr>
      </p:sp>
      <p:sp>
        <p:nvSpPr>
          <p:cNvPr id="19" name="card 4 disc"/>
          <p:cNvSpPr/>
          <p:nvPr/>
        </p:nvSpPr>
        <p:spPr>
          <a:xfrm>
            <a:off x="777240" y="4160520"/>
            <a:ext cx="566928" cy="566928"/>
          </a:xfrm>
          <a:prstGeom prst="ellipse">
            <a:avLst/>
          </a:prstGeom>
          <a:solidFill>
            <a:schemeClr val="accent5"/>
          </a:solidFill>
          <a:ln w="12700">
            <a:solidFill>
              <a:schemeClr val="accent5"/>
            </a:solidFill>
            <a:prstDash val="solid"/>
          </a:ln>
        </p:spPr>
      </p:sp>
      <p:pic>
        <p:nvPicPr>
          <p:cNvPr id="20" name="card 4 glyph" descr="preencoded.png">    </p:cNvPr>
          <p:cNvPicPr>
            <a:picLocks noChangeAspect="1"/>
          </p:cNvPicPr>
          <p:nvPr/>
        </p:nvPicPr>
        <p:blipFill>
          <a:blip r:embed="rId4"/>
          <a:stretch>
            <a:fillRect/>
          </a:stretch>
        </p:blipFill>
        <p:spPr>
          <a:xfrm>
            <a:off x="901964" y="4285244"/>
            <a:ext cx="317480" cy="317480"/>
          </a:xfrm>
          <a:prstGeom prst="rect">
            <a:avLst/>
          </a:prstGeom>
        </p:spPr>
      </p:pic>
      <p:sp>
        <p:nvSpPr>
          <p:cNvPr id="21" name="Text 15"/>
          <p:cNvSpPr txBox="1"/>
          <p:nvPr/>
        </p:nvSpPr>
        <p:spPr>
          <a:xfrm>
            <a:off x="1481328" y="416052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Civil society</a:t>
            </a:r>
            <a:endParaRPr lang="en-US" sz="1800" dirty="0"/>
          </a:p>
        </p:txBody>
      </p:sp>
      <p:sp>
        <p:nvSpPr>
          <p:cNvPr id="22" name="Text 16"/>
          <p:cNvSpPr txBox="1"/>
          <p:nvPr/>
        </p:nvSpPr>
        <p:spPr>
          <a:xfrm>
            <a:off x="777240" y="4837176"/>
            <a:ext cx="3048000" cy="1243584"/>
          </a:xfrm>
          <a:prstGeom prst="rect">
            <a:avLst/>
          </a:prstGeom>
          <a:noFill/>
          <a:ln/>
        </p:spPr>
        <p:txBody>
          <a:bodyPr wrap="square" lIns="0" tIns="0" rIns="0" bIns="0" rtlCol="0" anchor="t"/>
          <a:lstStyle/>
          <a:p>
            <a:pPr indent="0" marL="0">
              <a:buNone/>
            </a:pPr>
            <a:r>
              <a:rPr lang="en-US" sz="1800" dirty="0">
                <a:solidFill>
                  <a:schemeClr val="tx1"/>
                </a:solidFill>
              </a:rPr>
              <a:t>Works with communities and raises awareness of social concerns.</a:t>
            </a:r>
            <a:endParaRPr lang="en-US" sz="1600" dirty="0"/>
          </a:p>
        </p:txBody>
      </p:sp>
      <p:sp>
        <p:nvSpPr>
          <p:cNvPr id="23" name="card 5"/>
          <p:cNvSpPr/>
          <p:nvPr/>
        </p:nvSpPr>
        <p:spPr>
          <a:xfrm>
            <a:off x="4328160" y="3931920"/>
            <a:ext cx="3505200" cy="2286000"/>
          </a:xfrm>
          <a:prstGeom prst="roundRect">
            <a:avLst>
              <a:gd name="adj" fmla="val 4800"/>
            </a:avLst>
          </a:prstGeom>
          <a:solidFill>
            <a:schemeClr val="bg2"/>
          </a:solidFill>
          <a:ln w="12700">
            <a:solidFill>
              <a:schemeClr val="bg2"/>
            </a:solidFill>
            <a:prstDash val="solid"/>
          </a:ln>
        </p:spPr>
      </p:sp>
      <p:sp>
        <p:nvSpPr>
          <p:cNvPr id="24" name="card 5 disc"/>
          <p:cNvSpPr/>
          <p:nvPr/>
        </p:nvSpPr>
        <p:spPr>
          <a:xfrm>
            <a:off x="4556760" y="4160520"/>
            <a:ext cx="566928" cy="566928"/>
          </a:xfrm>
          <a:prstGeom prst="ellipse">
            <a:avLst/>
          </a:prstGeom>
          <a:solidFill>
            <a:schemeClr val="accent6"/>
          </a:solidFill>
          <a:ln w="12700">
            <a:solidFill>
              <a:schemeClr val="accent6"/>
            </a:solidFill>
            <a:prstDash val="solid"/>
          </a:ln>
        </p:spPr>
      </p:sp>
      <p:pic>
        <p:nvPicPr>
          <p:cNvPr id="25" name="card 5 glyph" descr="preencoded.png">    </p:cNvPr>
          <p:cNvPicPr>
            <a:picLocks noChangeAspect="1"/>
          </p:cNvPicPr>
          <p:nvPr/>
        </p:nvPicPr>
        <p:blipFill>
          <a:blip r:embed="rId5"/>
          <a:stretch>
            <a:fillRect/>
          </a:stretch>
        </p:blipFill>
        <p:spPr>
          <a:xfrm>
            <a:off x="4681484" y="4285244"/>
            <a:ext cx="317480" cy="317480"/>
          </a:xfrm>
          <a:prstGeom prst="rect">
            <a:avLst/>
          </a:prstGeom>
        </p:spPr>
      </p:pic>
      <p:sp>
        <p:nvSpPr>
          <p:cNvPr id="26" name="Text 19"/>
          <p:cNvSpPr txBox="1"/>
          <p:nvPr/>
        </p:nvSpPr>
        <p:spPr>
          <a:xfrm>
            <a:off x="5260848" y="416052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Private sector</a:t>
            </a:r>
            <a:endParaRPr lang="en-US" sz="1800" dirty="0"/>
          </a:p>
        </p:txBody>
      </p:sp>
      <p:sp>
        <p:nvSpPr>
          <p:cNvPr id="27" name="Text 20"/>
          <p:cNvSpPr txBox="1"/>
          <p:nvPr/>
        </p:nvSpPr>
        <p:spPr>
          <a:xfrm>
            <a:off x="4556760" y="4837176"/>
            <a:ext cx="3048000" cy="1243584"/>
          </a:xfrm>
          <a:prstGeom prst="rect">
            <a:avLst/>
          </a:prstGeom>
          <a:noFill/>
          <a:ln/>
        </p:spPr>
        <p:txBody>
          <a:bodyPr wrap="square" lIns="0" tIns="0" rIns="0" bIns="0" rtlCol="0" anchor="t"/>
          <a:lstStyle/>
          <a:p>
            <a:pPr indent="0" marL="0">
              <a:buNone/>
            </a:pPr>
            <a:r>
              <a:rPr lang="en-US" sz="1800" dirty="0">
                <a:solidFill>
                  <a:schemeClr val="tx1"/>
                </a:solidFill>
              </a:rPr>
              <a:t>Contributes through economic activity and innovation.</a:t>
            </a:r>
            <a:endParaRPr lang="en-US" sz="1600" dirty="0"/>
          </a:p>
        </p:txBody>
      </p:sp>
      <p:sp>
        <p:nvSpPr>
          <p:cNvPr id="28" name="card 6"/>
          <p:cNvSpPr/>
          <p:nvPr/>
        </p:nvSpPr>
        <p:spPr>
          <a:xfrm>
            <a:off x="8107680" y="3931920"/>
            <a:ext cx="3505200" cy="2286000"/>
          </a:xfrm>
          <a:prstGeom prst="roundRect">
            <a:avLst>
              <a:gd name="adj" fmla="val 4800"/>
            </a:avLst>
          </a:prstGeom>
          <a:solidFill>
            <a:schemeClr val="bg2"/>
          </a:solidFill>
          <a:ln w="12700">
            <a:solidFill>
              <a:schemeClr val="bg2"/>
            </a:solidFill>
            <a:prstDash val="solid"/>
          </a:ln>
        </p:spPr>
      </p:sp>
      <p:sp>
        <p:nvSpPr>
          <p:cNvPr id="29" name="card 6 disc"/>
          <p:cNvSpPr/>
          <p:nvPr/>
        </p:nvSpPr>
        <p:spPr>
          <a:xfrm>
            <a:off x="8336280" y="4160520"/>
            <a:ext cx="566928" cy="566928"/>
          </a:xfrm>
          <a:prstGeom prst="ellipse">
            <a:avLst/>
          </a:prstGeom>
          <a:solidFill>
            <a:schemeClr val="accent1"/>
          </a:solidFill>
          <a:ln w="12700">
            <a:solidFill>
              <a:schemeClr val="accent1"/>
            </a:solidFill>
            <a:prstDash val="solid"/>
          </a:ln>
        </p:spPr>
      </p:sp>
      <p:pic>
        <p:nvPicPr>
          <p:cNvPr id="30" name="card 6 glyph" descr="preencoded.png">    </p:cNvPr>
          <p:cNvPicPr>
            <a:picLocks noChangeAspect="1"/>
          </p:cNvPicPr>
          <p:nvPr/>
        </p:nvPicPr>
        <p:blipFill>
          <a:blip r:embed="rId6"/>
          <a:stretch>
            <a:fillRect/>
          </a:stretch>
        </p:blipFill>
        <p:spPr>
          <a:xfrm>
            <a:off x="8461004" y="4285244"/>
            <a:ext cx="317480" cy="317480"/>
          </a:xfrm>
          <a:prstGeom prst="rect">
            <a:avLst/>
          </a:prstGeom>
        </p:spPr>
      </p:pic>
      <p:sp>
        <p:nvSpPr>
          <p:cNvPr id="31" name="Text 23"/>
          <p:cNvSpPr txBox="1"/>
          <p:nvPr/>
        </p:nvSpPr>
        <p:spPr>
          <a:xfrm>
            <a:off x="9040368" y="416052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Students like you</a:t>
            </a:r>
            <a:endParaRPr lang="en-US" sz="1800" dirty="0"/>
          </a:p>
        </p:txBody>
      </p:sp>
      <p:sp>
        <p:nvSpPr>
          <p:cNvPr id="32" name="Text 24"/>
          <p:cNvSpPr txBox="1"/>
          <p:nvPr/>
        </p:nvSpPr>
        <p:spPr>
          <a:xfrm>
            <a:off x="8336280" y="4837176"/>
            <a:ext cx="3048000" cy="1243584"/>
          </a:xfrm>
          <a:prstGeom prst="rect">
            <a:avLst/>
          </a:prstGeom>
          <a:noFill/>
          <a:ln/>
        </p:spPr>
        <p:txBody>
          <a:bodyPr wrap="square" lIns="0" tIns="0" rIns="0" bIns="0" rtlCol="0" anchor="t"/>
          <a:lstStyle/>
          <a:p>
            <a:pPr indent="0" marL="0">
              <a:buNone/>
            </a:pPr>
            <a:r>
              <a:rPr lang="en-US" sz="1800" dirty="0">
                <a:solidFill>
                  <a:schemeClr val="tx1"/>
                </a:solidFill>
              </a:rPr>
              <a:t>Follow rules, save resources, volunteer and give honest feedback.</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E2761"/>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Challenges to Good Governance</a:t>
            </a:r>
            <a:endParaRPr lang="en-US" sz="3600" dirty="0"/>
          </a:p>
        </p:txBody>
      </p:sp>
      <p:sp>
        <p:nvSpPr>
          <p:cNvPr id="3" name="card 1"/>
          <p:cNvSpPr/>
          <p:nvPr/>
        </p:nvSpPr>
        <p:spPr>
          <a:xfrm>
            <a:off x="548640" y="1371600"/>
            <a:ext cx="5394960" cy="1988820"/>
          </a:xfrm>
          <a:prstGeom prst="roundRect">
            <a:avLst>
              <a:gd name="adj" fmla="val 5517"/>
            </a:avLst>
          </a:prstGeom>
          <a:solidFill>
            <a:schemeClr val="bg2"/>
          </a:solidFill>
          <a:ln w="12700">
            <a:solidFill>
              <a:schemeClr val="bg2"/>
            </a:solidFill>
            <a:prstDash val="solid"/>
          </a:ln>
        </p:spPr>
      </p:sp>
      <p:sp>
        <p:nvSpPr>
          <p:cNvPr id="4" name="card 1 disc"/>
          <p:cNvSpPr/>
          <p:nvPr/>
        </p:nvSpPr>
        <p:spPr>
          <a:xfrm>
            <a:off x="777240" y="1600200"/>
            <a:ext cx="566928" cy="566928"/>
          </a:xfrm>
          <a:prstGeom prst="ellipse">
            <a:avLst/>
          </a:prstGeom>
          <a:solidFill>
            <a:schemeClr val="accent1"/>
          </a:solidFill>
          <a:ln w="12700">
            <a:solidFill>
              <a:schemeClr val="accent1"/>
            </a:solidFill>
            <a:prstDash val="solid"/>
          </a:ln>
        </p:spPr>
      </p:sp>
      <p:pic>
        <p:nvPicPr>
          <p:cNvPr id="5" name="card 1 glyph" descr="preencoded.png">    </p:cNvPr>
          <p:cNvPicPr>
            <a:picLocks noChangeAspect="1"/>
          </p:cNvPicPr>
          <p:nvPr/>
        </p:nvPicPr>
        <p:blipFill>
          <a:blip r:embed="rId1"/>
          <a:stretch>
            <a:fillRect/>
          </a:stretch>
        </p:blipFill>
        <p:spPr>
          <a:xfrm>
            <a:off x="901964" y="1724924"/>
            <a:ext cx="317480" cy="317480"/>
          </a:xfrm>
          <a:prstGeom prst="rect">
            <a:avLst/>
          </a:prstGeom>
        </p:spPr>
      </p:pic>
      <p:sp>
        <p:nvSpPr>
          <p:cNvPr id="6" name="Text 3"/>
          <p:cNvSpPr txBox="1"/>
          <p:nvPr/>
        </p:nvSpPr>
        <p:spPr>
          <a:xfrm>
            <a:off x="1481328" y="1600200"/>
            <a:ext cx="4233672" cy="566928"/>
          </a:xfrm>
          <a:prstGeom prst="rect">
            <a:avLst/>
          </a:prstGeom>
          <a:noFill/>
          <a:ln/>
        </p:spPr>
        <p:txBody>
          <a:bodyPr wrap="square" lIns="0" tIns="0" rIns="0" bIns="0" rtlCol="0" anchor="ctr"/>
          <a:lstStyle/>
          <a:p>
            <a:pPr indent="0" marL="0">
              <a:buNone/>
            </a:pPr>
            <a:r>
              <a:rPr lang="en-US" sz="1800" b="1" dirty="0">
                <a:solidFill>
                  <a:schemeClr val="tx2"/>
                </a:solidFill>
              </a:rPr>
              <a:t>Weak coordination</a:t>
            </a:r>
            <a:endParaRPr lang="en-US" sz="1800" dirty="0"/>
          </a:p>
        </p:txBody>
      </p:sp>
      <p:sp>
        <p:nvSpPr>
          <p:cNvPr id="7" name="Text 4"/>
          <p:cNvSpPr txBox="1"/>
          <p:nvPr/>
        </p:nvSpPr>
        <p:spPr>
          <a:xfrm>
            <a:off x="777240" y="2276856"/>
            <a:ext cx="4937760" cy="946404"/>
          </a:xfrm>
          <a:prstGeom prst="rect">
            <a:avLst/>
          </a:prstGeom>
          <a:noFill/>
          <a:ln/>
        </p:spPr>
        <p:txBody>
          <a:bodyPr wrap="square" lIns="0" tIns="0" rIns="0" bIns="0" rtlCol="0" anchor="t"/>
          <a:lstStyle/>
          <a:p>
            <a:pPr indent="0" marL="0">
              <a:buNone/>
            </a:pPr>
            <a:r>
              <a:rPr lang="en-US" sz="1800" dirty="0">
                <a:solidFill>
                  <a:schemeClr val="tx1"/>
                </a:solidFill>
              </a:rPr>
              <a:t>Departments that don't work together slow down programmes.</a:t>
            </a:r>
            <a:endParaRPr lang="en-US" sz="1600" dirty="0"/>
          </a:p>
        </p:txBody>
      </p:sp>
      <p:sp>
        <p:nvSpPr>
          <p:cNvPr id="8" name="card 2"/>
          <p:cNvSpPr/>
          <p:nvPr/>
        </p:nvSpPr>
        <p:spPr>
          <a:xfrm>
            <a:off x="6217920" y="1371600"/>
            <a:ext cx="5394960" cy="1988820"/>
          </a:xfrm>
          <a:prstGeom prst="roundRect">
            <a:avLst>
              <a:gd name="adj" fmla="val 5517"/>
            </a:avLst>
          </a:prstGeom>
          <a:solidFill>
            <a:schemeClr val="bg2"/>
          </a:solidFill>
          <a:ln w="12700">
            <a:solidFill>
              <a:schemeClr val="bg2"/>
            </a:solidFill>
            <a:prstDash val="solid"/>
          </a:ln>
        </p:spPr>
      </p:sp>
      <p:sp>
        <p:nvSpPr>
          <p:cNvPr id="9" name="card 2 disc"/>
          <p:cNvSpPr/>
          <p:nvPr/>
        </p:nvSpPr>
        <p:spPr>
          <a:xfrm>
            <a:off x="6446520" y="1600200"/>
            <a:ext cx="566928" cy="566928"/>
          </a:xfrm>
          <a:prstGeom prst="ellipse">
            <a:avLst/>
          </a:prstGeom>
          <a:solidFill>
            <a:schemeClr val="accent2"/>
          </a:solidFill>
          <a:ln w="12700">
            <a:solidFill>
              <a:schemeClr val="accent2"/>
            </a:solidFill>
            <a:prstDash val="solid"/>
          </a:ln>
        </p:spPr>
      </p:sp>
      <p:pic>
        <p:nvPicPr>
          <p:cNvPr id="10" name="card 2 glyph" descr="preencoded.png">    </p:cNvPr>
          <p:cNvPicPr>
            <a:picLocks noChangeAspect="1"/>
          </p:cNvPicPr>
          <p:nvPr/>
        </p:nvPicPr>
        <p:blipFill>
          <a:blip r:embed="rId2"/>
          <a:stretch>
            <a:fillRect/>
          </a:stretch>
        </p:blipFill>
        <p:spPr>
          <a:xfrm>
            <a:off x="6571244" y="1724924"/>
            <a:ext cx="317480" cy="317480"/>
          </a:xfrm>
          <a:prstGeom prst="rect">
            <a:avLst/>
          </a:prstGeom>
        </p:spPr>
      </p:pic>
      <p:sp>
        <p:nvSpPr>
          <p:cNvPr id="11" name="Text 7"/>
          <p:cNvSpPr txBox="1"/>
          <p:nvPr/>
        </p:nvSpPr>
        <p:spPr>
          <a:xfrm>
            <a:off x="7150608" y="1600200"/>
            <a:ext cx="4233672" cy="566928"/>
          </a:xfrm>
          <a:prstGeom prst="rect">
            <a:avLst/>
          </a:prstGeom>
          <a:noFill/>
          <a:ln/>
        </p:spPr>
        <p:txBody>
          <a:bodyPr wrap="square" lIns="0" tIns="0" rIns="0" bIns="0" rtlCol="0" anchor="ctr"/>
          <a:lstStyle/>
          <a:p>
            <a:pPr indent="0" marL="0">
              <a:buNone/>
            </a:pPr>
            <a:r>
              <a:rPr lang="en-US" sz="1800" b="1" dirty="0">
                <a:solidFill>
                  <a:schemeClr val="tx2"/>
                </a:solidFill>
              </a:rPr>
              <a:t>Unequal access</a:t>
            </a:r>
            <a:endParaRPr lang="en-US" sz="1800" dirty="0"/>
          </a:p>
        </p:txBody>
      </p:sp>
      <p:sp>
        <p:nvSpPr>
          <p:cNvPr id="12" name="Text 8"/>
          <p:cNvSpPr txBox="1"/>
          <p:nvPr/>
        </p:nvSpPr>
        <p:spPr>
          <a:xfrm>
            <a:off x="6446520" y="2276856"/>
            <a:ext cx="4937760" cy="946404"/>
          </a:xfrm>
          <a:prstGeom prst="rect">
            <a:avLst/>
          </a:prstGeom>
          <a:noFill/>
          <a:ln/>
        </p:spPr>
        <p:txBody>
          <a:bodyPr wrap="square" lIns="0" tIns="0" rIns="0" bIns="0" rtlCol="0" anchor="t"/>
          <a:lstStyle/>
          <a:p>
            <a:pPr indent="0" marL="0">
              <a:buNone/>
            </a:pPr>
            <a:r>
              <a:rPr lang="en-US" sz="1800" dirty="0">
                <a:solidFill>
                  <a:schemeClr val="tx1"/>
                </a:solidFill>
              </a:rPr>
              <a:t>Social, economic or geographical barriers leave some people behind.</a:t>
            </a:r>
            <a:endParaRPr lang="en-US" sz="1600" dirty="0"/>
          </a:p>
        </p:txBody>
      </p:sp>
      <p:sp>
        <p:nvSpPr>
          <p:cNvPr id="13" name="card 3"/>
          <p:cNvSpPr/>
          <p:nvPr/>
        </p:nvSpPr>
        <p:spPr>
          <a:xfrm>
            <a:off x="548640" y="3634740"/>
            <a:ext cx="5394960" cy="1988820"/>
          </a:xfrm>
          <a:prstGeom prst="roundRect">
            <a:avLst>
              <a:gd name="adj" fmla="val 5517"/>
            </a:avLst>
          </a:prstGeom>
          <a:solidFill>
            <a:schemeClr val="bg2"/>
          </a:solidFill>
          <a:ln w="12700">
            <a:solidFill>
              <a:schemeClr val="bg2"/>
            </a:solidFill>
            <a:prstDash val="solid"/>
          </a:ln>
        </p:spPr>
      </p:sp>
      <p:sp>
        <p:nvSpPr>
          <p:cNvPr id="14" name="card 3 disc"/>
          <p:cNvSpPr/>
          <p:nvPr/>
        </p:nvSpPr>
        <p:spPr>
          <a:xfrm>
            <a:off x="777240" y="3863340"/>
            <a:ext cx="566928" cy="566928"/>
          </a:xfrm>
          <a:prstGeom prst="ellipse">
            <a:avLst/>
          </a:prstGeom>
          <a:solidFill>
            <a:schemeClr val="accent4"/>
          </a:solidFill>
          <a:ln w="12700">
            <a:solidFill>
              <a:schemeClr val="accent4"/>
            </a:solidFill>
            <a:prstDash val="solid"/>
          </a:ln>
        </p:spPr>
      </p:sp>
      <p:pic>
        <p:nvPicPr>
          <p:cNvPr id="15" name="card 3 glyph" descr="preencoded.png">    </p:cNvPr>
          <p:cNvPicPr>
            <a:picLocks noChangeAspect="1"/>
          </p:cNvPicPr>
          <p:nvPr/>
        </p:nvPicPr>
        <p:blipFill>
          <a:blip r:embed="rId3"/>
          <a:stretch>
            <a:fillRect/>
          </a:stretch>
        </p:blipFill>
        <p:spPr>
          <a:xfrm>
            <a:off x="901964" y="3988064"/>
            <a:ext cx="317480" cy="317480"/>
          </a:xfrm>
          <a:prstGeom prst="rect">
            <a:avLst/>
          </a:prstGeom>
        </p:spPr>
      </p:pic>
      <p:sp>
        <p:nvSpPr>
          <p:cNvPr id="16" name="Text 11"/>
          <p:cNvSpPr txBox="1"/>
          <p:nvPr/>
        </p:nvSpPr>
        <p:spPr>
          <a:xfrm>
            <a:off x="1481328" y="3863340"/>
            <a:ext cx="4233672" cy="566928"/>
          </a:xfrm>
          <a:prstGeom prst="rect">
            <a:avLst/>
          </a:prstGeom>
          <a:noFill/>
          <a:ln/>
        </p:spPr>
        <p:txBody>
          <a:bodyPr wrap="square" lIns="0" tIns="0" rIns="0" bIns="0" rtlCol="0" anchor="ctr"/>
          <a:lstStyle/>
          <a:p>
            <a:pPr indent="0" marL="0">
              <a:buNone/>
            </a:pPr>
            <a:r>
              <a:rPr lang="en-US" sz="1800" b="1" dirty="0">
                <a:solidFill>
                  <a:schemeClr val="tx2"/>
                </a:solidFill>
              </a:rPr>
              <a:t>Misuse of office</a:t>
            </a:r>
            <a:endParaRPr lang="en-US" sz="1800" dirty="0"/>
          </a:p>
        </p:txBody>
      </p:sp>
      <p:sp>
        <p:nvSpPr>
          <p:cNvPr id="17" name="Text 12"/>
          <p:cNvSpPr txBox="1"/>
          <p:nvPr/>
        </p:nvSpPr>
        <p:spPr>
          <a:xfrm>
            <a:off x="777240" y="4539996"/>
            <a:ext cx="4937760" cy="946404"/>
          </a:xfrm>
          <a:prstGeom prst="rect">
            <a:avLst/>
          </a:prstGeom>
          <a:noFill/>
          <a:ln/>
        </p:spPr>
        <p:txBody>
          <a:bodyPr wrap="square" lIns="0" tIns="0" rIns="0" bIns="0" rtlCol="0" anchor="t"/>
          <a:lstStyle/>
          <a:p>
            <a:pPr indent="0" marL="0">
              <a:buNone/>
            </a:pPr>
            <a:r>
              <a:rPr lang="en-US" sz="1800" dirty="0">
                <a:solidFill>
                  <a:schemeClr val="tx1"/>
                </a:solidFill>
              </a:rPr>
              <a:t>Malpractices stop benefits from reaching people.</a:t>
            </a:r>
            <a:endParaRPr lang="en-US" sz="1600" dirty="0"/>
          </a:p>
        </p:txBody>
      </p:sp>
      <p:sp>
        <p:nvSpPr>
          <p:cNvPr id="18" name="card 4"/>
          <p:cNvSpPr/>
          <p:nvPr/>
        </p:nvSpPr>
        <p:spPr>
          <a:xfrm>
            <a:off x="6217920" y="3634740"/>
            <a:ext cx="5394960" cy="1988820"/>
          </a:xfrm>
          <a:prstGeom prst="roundRect">
            <a:avLst>
              <a:gd name="adj" fmla="val 5517"/>
            </a:avLst>
          </a:prstGeom>
          <a:solidFill>
            <a:schemeClr val="bg2"/>
          </a:solidFill>
          <a:ln w="12700">
            <a:solidFill>
              <a:schemeClr val="bg2"/>
            </a:solidFill>
            <a:prstDash val="solid"/>
          </a:ln>
        </p:spPr>
      </p:sp>
      <p:sp>
        <p:nvSpPr>
          <p:cNvPr id="19" name="card 4 disc"/>
          <p:cNvSpPr/>
          <p:nvPr/>
        </p:nvSpPr>
        <p:spPr>
          <a:xfrm>
            <a:off x="6446520" y="3863340"/>
            <a:ext cx="566928" cy="566928"/>
          </a:xfrm>
          <a:prstGeom prst="ellipse">
            <a:avLst/>
          </a:prstGeom>
          <a:solidFill>
            <a:schemeClr val="accent5"/>
          </a:solidFill>
          <a:ln w="12700">
            <a:solidFill>
              <a:schemeClr val="accent5"/>
            </a:solidFill>
            <a:prstDash val="solid"/>
          </a:ln>
        </p:spPr>
      </p:sp>
      <p:pic>
        <p:nvPicPr>
          <p:cNvPr id="20" name="card 4 glyph" descr="preencoded.png">    </p:cNvPr>
          <p:cNvPicPr>
            <a:picLocks noChangeAspect="1"/>
          </p:cNvPicPr>
          <p:nvPr/>
        </p:nvPicPr>
        <p:blipFill>
          <a:blip r:embed="rId4"/>
          <a:stretch>
            <a:fillRect/>
          </a:stretch>
        </p:blipFill>
        <p:spPr>
          <a:xfrm>
            <a:off x="6571244" y="3988064"/>
            <a:ext cx="317480" cy="317480"/>
          </a:xfrm>
          <a:prstGeom prst="rect">
            <a:avLst/>
          </a:prstGeom>
        </p:spPr>
      </p:pic>
      <p:sp>
        <p:nvSpPr>
          <p:cNvPr id="21" name="Text 15"/>
          <p:cNvSpPr txBox="1"/>
          <p:nvPr/>
        </p:nvSpPr>
        <p:spPr>
          <a:xfrm>
            <a:off x="7150608" y="3863340"/>
            <a:ext cx="4233672" cy="566928"/>
          </a:xfrm>
          <a:prstGeom prst="rect">
            <a:avLst/>
          </a:prstGeom>
          <a:noFill/>
          <a:ln/>
        </p:spPr>
        <p:txBody>
          <a:bodyPr wrap="square" lIns="0" tIns="0" rIns="0" bIns="0" rtlCol="0" anchor="ctr"/>
          <a:lstStyle/>
          <a:p>
            <a:pPr indent="0" marL="0">
              <a:buNone/>
            </a:pPr>
            <a:r>
              <a:rPr lang="en-US" sz="1800" b="1" dirty="0">
                <a:solidFill>
                  <a:schemeClr val="tx2"/>
                </a:solidFill>
              </a:rPr>
              <a:t>Fake news</a:t>
            </a:r>
            <a:endParaRPr lang="en-US" sz="1800" dirty="0"/>
          </a:p>
        </p:txBody>
      </p:sp>
      <p:sp>
        <p:nvSpPr>
          <p:cNvPr id="22" name="Text 16"/>
          <p:cNvSpPr txBox="1"/>
          <p:nvPr/>
        </p:nvSpPr>
        <p:spPr>
          <a:xfrm>
            <a:off x="6446520" y="4539996"/>
            <a:ext cx="4937760" cy="946404"/>
          </a:xfrm>
          <a:prstGeom prst="rect">
            <a:avLst/>
          </a:prstGeom>
          <a:noFill/>
          <a:ln/>
        </p:spPr>
        <p:txBody>
          <a:bodyPr wrap="square" lIns="0" tIns="0" rIns="0" bIns="0" rtlCol="0" anchor="t"/>
          <a:lstStyle/>
          <a:p>
            <a:pPr indent="0" marL="0">
              <a:buNone/>
            </a:pPr>
            <a:r>
              <a:rPr lang="en-US" sz="1800" dirty="0">
                <a:solidFill>
                  <a:schemeClr val="tx1"/>
                </a:solidFill>
              </a:rPr>
              <a:t>Misinformation confuses people and harms trust.</a:t>
            </a:r>
            <a:endParaRPr lang="en-US" sz="1600" dirty="0"/>
          </a:p>
        </p:txBody>
      </p:sp>
      <p:sp>
        <p:nvSpPr>
          <p:cNvPr id="23" name="footnote band"/>
          <p:cNvSpPr/>
          <p:nvPr/>
        </p:nvSpPr>
        <p:spPr>
          <a:xfrm>
            <a:off x="548640" y="5760720"/>
            <a:ext cx="11064240" cy="502920"/>
          </a:xfrm>
          <a:prstGeom prst="roundRect">
            <a:avLst>
              <a:gd name="adj" fmla="val 14545"/>
            </a:avLst>
          </a:prstGeom>
          <a:solidFill>
            <a:schemeClr val="tx2"/>
          </a:solidFill>
          <a:ln w="12700">
            <a:solidFill>
              <a:schemeClr val="tx2"/>
            </a:solidFill>
            <a:prstDash val="solid"/>
          </a:ln>
        </p:spPr>
      </p:sp>
      <p:sp>
        <p:nvSpPr>
          <p:cNvPr id="24" name="Text 18"/>
          <p:cNvSpPr txBox="1"/>
          <p:nvPr/>
        </p:nvSpPr>
        <p:spPr>
          <a:xfrm>
            <a:off x="777240" y="5760720"/>
            <a:ext cx="10607040" cy="502920"/>
          </a:xfrm>
          <a:prstGeom prst="rect">
            <a:avLst/>
          </a:prstGeom>
          <a:noFill/>
          <a:ln/>
        </p:spPr>
        <p:txBody>
          <a:bodyPr wrap="square" lIns="0" tIns="0" rIns="0" bIns="0" rtlCol="0" anchor="ctr"/>
          <a:lstStyle/>
          <a:p>
            <a:pPr indent="0" marL="0">
              <a:buNone/>
            </a:pPr>
            <a:r>
              <a:rPr lang="en-US" sz="1500" dirty="0">
                <a:solidFill>
                  <a:schemeClr val="bg1"/>
                </a:solidFill>
              </a:rPr>
              <a:t>Solutions: effective institutions, responsible officials, </a:t>
            </a:r>
            <a:r>
              <a:rPr lang="en-US" sz="1500" b="1" dirty="0">
                <a:solidFill>
                  <a:schemeClr val="bg1"/>
                </a:solidFill>
              </a:rPr>
              <a:t>active citizens</a:t>
            </a:r>
            <a:r>
              <a:rPr lang="en-US" sz="1500" dirty="0">
                <a:solidFill>
                  <a:schemeClr val="bg1"/>
                </a:solidFill>
              </a:rPr>
              <a:t>, and </a:t>
            </a:r>
            <a:r>
              <a:rPr lang="en-US" sz="1500" b="1" dirty="0">
                <a:solidFill>
                  <a:schemeClr val="bg1"/>
                </a:solidFill>
              </a:rPr>
              <a:t>e-governance</a:t>
            </a:r>
            <a:r>
              <a:rPr lang="en-US" sz="1500" dirty="0">
                <a:solidFill>
                  <a:schemeClr val="bg1"/>
                </a:solidFill>
              </a:rPr>
              <a:t>.</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E2761"/>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Activity: Clean City Detectives</a:t>
            </a:r>
            <a:endParaRPr lang="en-US" sz="3600" dirty="0"/>
          </a:p>
        </p:txBody>
      </p:sp>
      <p:sp>
        <p:nvSpPr>
          <p:cNvPr id="3" name="activity info card"/>
          <p:cNvSpPr/>
          <p:nvPr/>
        </p:nvSpPr>
        <p:spPr>
          <a:xfrm>
            <a:off x="548640" y="1371600"/>
            <a:ext cx="3657600" cy="4846320"/>
          </a:xfrm>
          <a:prstGeom prst="roundRect">
            <a:avLst>
              <a:gd name="adj" fmla="val 3000"/>
            </a:avLst>
          </a:prstGeom>
          <a:solidFill>
            <a:schemeClr val="tx2"/>
          </a:solidFill>
          <a:ln w="12700">
            <a:solidFill>
              <a:schemeClr val="tx2"/>
            </a:solidFill>
            <a:prstDash val="solid"/>
          </a:ln>
          <a:effectLst>
            <a:outerShdw sx="100000" sy="100000" kx="0" ky="0" algn="bl" rotWithShape="0" blurRad="101600" dist="25400" dir="5400000">
              <a:srgbClr val="000000">
                <a:alpha val="14000"/>
              </a:srgbClr>
            </a:outerShdw>
          </a:effectLst>
        </p:spPr>
      </p:sp>
      <p:sp>
        <p:nvSpPr>
          <p:cNvPr id="4" name="activity disc"/>
          <p:cNvSpPr/>
          <p:nvPr/>
        </p:nvSpPr>
        <p:spPr>
          <a:xfrm>
            <a:off x="868680" y="1691640"/>
            <a:ext cx="914400" cy="914400"/>
          </a:xfrm>
          <a:prstGeom prst="ellipse">
            <a:avLst/>
          </a:prstGeom>
          <a:solidFill>
            <a:schemeClr val="accent3"/>
          </a:solidFill>
          <a:ln w="12700">
            <a:solidFill>
              <a:schemeClr val="accent3"/>
            </a:solidFill>
            <a:prstDash val="solid"/>
          </a:ln>
        </p:spPr>
      </p:sp>
      <p:pic>
        <p:nvPicPr>
          <p:cNvPr id="5" name="activity glyph" descr="preencoded.png">    </p:cNvPr>
          <p:cNvPicPr>
            <a:picLocks noChangeAspect="1"/>
          </p:cNvPicPr>
          <p:nvPr/>
        </p:nvPicPr>
        <p:blipFill>
          <a:blip r:embed="rId1"/>
          <a:stretch>
            <a:fillRect/>
          </a:stretch>
        </p:blipFill>
        <p:spPr>
          <a:xfrm>
            <a:off x="1069848" y="1892808"/>
            <a:ext cx="512064" cy="512064"/>
          </a:xfrm>
          <a:prstGeom prst="rect">
            <a:avLst/>
          </a:prstGeom>
        </p:spPr>
      </p:pic>
      <p:sp>
        <p:nvSpPr>
          <p:cNvPr id="6" name="Text 3"/>
          <p:cNvSpPr txBox="1"/>
          <p:nvPr/>
        </p:nvSpPr>
        <p:spPr>
          <a:xfrm>
            <a:off x="1965960" y="1737360"/>
            <a:ext cx="2103120" cy="365760"/>
          </a:xfrm>
          <a:prstGeom prst="rect">
            <a:avLst/>
          </a:prstGeom>
          <a:noFill/>
          <a:ln/>
        </p:spPr>
        <p:txBody>
          <a:bodyPr wrap="square" lIns="0" tIns="0" rIns="0" bIns="0" rtlCol="0" anchor="ctr"/>
          <a:lstStyle/>
          <a:p>
            <a:pPr indent="0" marL="0">
              <a:buNone/>
            </a:pPr>
            <a:r>
              <a:rPr lang="en-US" sz="1300" b="1" spc="200" kern="0" dirty="0">
                <a:solidFill>
                  <a:schemeClr val="accent3"/>
                </a:solidFill>
              </a:rPr>
              <a:t>PROJECT</a:t>
            </a:r>
            <a:endParaRPr lang="en-US" sz="1300" dirty="0"/>
          </a:p>
        </p:txBody>
      </p:sp>
      <p:sp>
        <p:nvSpPr>
          <p:cNvPr id="7" name="Text 4"/>
          <p:cNvSpPr txBox="1"/>
          <p:nvPr/>
        </p:nvSpPr>
        <p:spPr>
          <a:xfrm>
            <a:off x="1965960" y="2103120"/>
            <a:ext cx="2103120" cy="640080"/>
          </a:xfrm>
          <a:prstGeom prst="rect">
            <a:avLst/>
          </a:prstGeom>
          <a:noFill/>
          <a:ln/>
        </p:spPr>
        <p:txBody>
          <a:bodyPr wrap="square" lIns="0" tIns="0" rIns="0" bIns="0" rtlCol="0" anchor="t"/>
          <a:lstStyle/>
          <a:p>
            <a:pPr indent="0" marL="0">
              <a:buNone/>
            </a:pPr>
            <a:r>
              <a:rPr lang="en-US" sz="1800" b="1" dirty="0">
                <a:solidFill>
                  <a:schemeClr val="bg1"/>
                </a:solidFill>
              </a:rPr>
              <a:t>What makes a city clean?</a:t>
            </a:r>
            <a:endParaRPr lang="en-US" sz="1800" dirty="0"/>
          </a:p>
        </p:txBody>
      </p:sp>
      <p:pic>
        <p:nvPicPr>
          <p:cNvPr id="8" name="Time icon" descr="preencoded.png">    </p:cNvPr>
          <p:cNvPicPr>
            <a:picLocks noChangeAspect="1"/>
          </p:cNvPicPr>
          <p:nvPr/>
        </p:nvPicPr>
        <p:blipFill>
          <a:blip r:embed="rId2"/>
          <a:stretch>
            <a:fillRect/>
          </a:stretch>
        </p:blipFill>
        <p:spPr>
          <a:xfrm>
            <a:off x="868680" y="3063240"/>
            <a:ext cx="347472" cy="347472"/>
          </a:xfrm>
          <a:prstGeom prst="rect">
            <a:avLst/>
          </a:prstGeom>
        </p:spPr>
      </p:pic>
      <p:sp>
        <p:nvSpPr>
          <p:cNvPr id="9" name="Text 5"/>
          <p:cNvSpPr txBox="1"/>
          <p:nvPr/>
        </p:nvSpPr>
        <p:spPr>
          <a:xfrm>
            <a:off x="1371600" y="3017520"/>
            <a:ext cx="2651760" cy="914400"/>
          </a:xfrm>
          <a:prstGeom prst="rect">
            <a:avLst/>
          </a:prstGeom>
          <a:noFill/>
          <a:ln/>
        </p:spPr>
        <p:txBody>
          <a:bodyPr wrap="square" lIns="0" tIns="0" rIns="0" bIns="0" rtlCol="0" anchor="t"/>
          <a:lstStyle/>
          <a:p>
            <a:pPr indent="0" marL="0">
              <a:buNone/>
            </a:pPr>
            <a:r>
              <a:rPr lang="en-US" sz="1400" b="1" dirty="0">
                <a:solidFill>
                  <a:schemeClr val="accent3"/>
                </a:solidFill>
              </a:rPr>
              <a:t>Time: </a:t>
            </a:r>
            <a:r>
              <a:rPr lang="en-US" sz="1400" dirty="0">
                <a:solidFill>
                  <a:schemeClr val="bg1"/>
                </a:solidFill>
              </a:rPr>
              <a:t>1 week + 5 min presentation</a:t>
            </a:r>
            <a:endParaRPr lang="en-US" sz="1400" dirty="0"/>
          </a:p>
        </p:txBody>
      </p:sp>
      <p:pic>
        <p:nvPicPr>
          <p:cNvPr id="10" name="Group icon" descr="preencoded.png">    </p:cNvPr>
          <p:cNvPicPr>
            <a:picLocks noChangeAspect="1"/>
          </p:cNvPicPr>
          <p:nvPr/>
        </p:nvPicPr>
        <p:blipFill>
          <a:blip r:embed="rId3"/>
          <a:stretch>
            <a:fillRect/>
          </a:stretch>
        </p:blipFill>
        <p:spPr>
          <a:xfrm>
            <a:off x="868680" y="3703320"/>
            <a:ext cx="347472" cy="347472"/>
          </a:xfrm>
          <a:prstGeom prst="rect">
            <a:avLst/>
          </a:prstGeom>
        </p:spPr>
      </p:pic>
      <p:sp>
        <p:nvSpPr>
          <p:cNvPr id="11" name="Text 6"/>
          <p:cNvSpPr txBox="1"/>
          <p:nvPr/>
        </p:nvSpPr>
        <p:spPr>
          <a:xfrm>
            <a:off x="1371600" y="3657600"/>
            <a:ext cx="2651760" cy="914400"/>
          </a:xfrm>
          <a:prstGeom prst="rect">
            <a:avLst/>
          </a:prstGeom>
          <a:noFill/>
          <a:ln/>
        </p:spPr>
        <p:txBody>
          <a:bodyPr wrap="square" lIns="0" tIns="0" rIns="0" bIns="0" rtlCol="0" anchor="t"/>
          <a:lstStyle/>
          <a:p>
            <a:pPr indent="0" marL="0">
              <a:buNone/>
            </a:pPr>
            <a:r>
              <a:rPr lang="en-US" sz="1400" b="1" dirty="0">
                <a:solidFill>
                  <a:schemeClr val="accent3"/>
                </a:solidFill>
              </a:rPr>
              <a:t>Group: </a:t>
            </a:r>
            <a:r>
              <a:rPr lang="en-US" sz="1400" dirty="0">
                <a:solidFill>
                  <a:schemeClr val="bg1"/>
                </a:solidFill>
              </a:rPr>
              <a:t>Groups of 5</a:t>
            </a:r>
            <a:endParaRPr lang="en-US" sz="1400" dirty="0"/>
          </a:p>
        </p:txBody>
      </p:sp>
      <p:pic>
        <p:nvPicPr>
          <p:cNvPr id="12" name="You need icon" descr="preencoded.png">    </p:cNvPr>
          <p:cNvPicPr>
            <a:picLocks noChangeAspect="1"/>
          </p:cNvPicPr>
          <p:nvPr/>
        </p:nvPicPr>
        <p:blipFill>
          <a:blip r:embed="rId4"/>
          <a:stretch>
            <a:fillRect/>
          </a:stretch>
        </p:blipFill>
        <p:spPr>
          <a:xfrm>
            <a:off x="868680" y="4343400"/>
            <a:ext cx="347472" cy="347472"/>
          </a:xfrm>
          <a:prstGeom prst="rect">
            <a:avLst/>
          </a:prstGeom>
        </p:spPr>
      </p:pic>
      <p:sp>
        <p:nvSpPr>
          <p:cNvPr id="13" name="Text 7"/>
          <p:cNvSpPr txBox="1"/>
          <p:nvPr/>
        </p:nvSpPr>
        <p:spPr>
          <a:xfrm>
            <a:off x="1371600" y="4297680"/>
            <a:ext cx="2651760" cy="914400"/>
          </a:xfrm>
          <a:prstGeom prst="rect">
            <a:avLst/>
          </a:prstGeom>
          <a:noFill/>
          <a:ln/>
        </p:spPr>
        <p:txBody>
          <a:bodyPr wrap="square" lIns="0" tIns="0" rIns="0" bIns="0" rtlCol="0" anchor="t"/>
          <a:lstStyle/>
          <a:p>
            <a:pPr indent="0" marL="0">
              <a:buNone/>
            </a:pPr>
            <a:r>
              <a:rPr lang="en-US" sz="1400" b="1" dirty="0">
                <a:solidFill>
                  <a:schemeClr val="accent3"/>
                </a:solidFill>
              </a:rPr>
              <a:t>You need: </a:t>
            </a:r>
            <a:r>
              <a:rPr lang="en-US" sz="1400" dirty="0">
                <a:solidFill>
                  <a:schemeClr val="bg1"/>
                </a:solidFill>
              </a:rPr>
              <a:t>Internet or newspapers, chart paper or slides</a:t>
            </a:r>
            <a:endParaRPr lang="en-US" sz="1400" dirty="0"/>
          </a:p>
        </p:txBody>
      </p:sp>
      <p:sp>
        <p:nvSpPr>
          <p:cNvPr id="14" name="activity steps card"/>
          <p:cNvSpPr/>
          <p:nvPr/>
        </p:nvSpPr>
        <p:spPr>
          <a:xfrm>
            <a:off x="4526280" y="1371600"/>
            <a:ext cx="7086600" cy="4846320"/>
          </a:xfrm>
          <a:prstGeom prst="roundRect">
            <a:avLst>
              <a:gd name="adj" fmla="val 2264"/>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15" name="Text 9"/>
          <p:cNvSpPr txBox="1"/>
          <p:nvPr/>
        </p:nvSpPr>
        <p:spPr>
          <a:xfrm>
            <a:off x="4846320" y="1600200"/>
            <a:ext cx="6400800" cy="457200"/>
          </a:xfrm>
          <a:prstGeom prst="rect">
            <a:avLst/>
          </a:prstGeom>
          <a:noFill/>
          <a:ln/>
        </p:spPr>
        <p:txBody>
          <a:bodyPr wrap="square" lIns="0" tIns="0" rIns="0" bIns="0" rtlCol="0" anchor="ctr"/>
          <a:lstStyle/>
          <a:p>
            <a:pPr indent="0" marL="0">
              <a:buNone/>
            </a:pPr>
            <a:r>
              <a:rPr lang="en-US" sz="2000" b="1" dirty="0">
                <a:solidFill>
                  <a:schemeClr val="accent1"/>
                </a:solidFill>
              </a:rPr>
              <a:t>How to play</a:t>
            </a:r>
            <a:endParaRPr lang="en-US" sz="2000" dirty="0"/>
          </a:p>
        </p:txBody>
      </p:sp>
      <p:sp>
        <p:nvSpPr>
          <p:cNvPr id="16" name="step 1 badge"/>
          <p:cNvSpPr/>
          <p:nvPr/>
        </p:nvSpPr>
        <p:spPr>
          <a:xfrm>
            <a:off x="4846320" y="2212848"/>
            <a:ext cx="384048" cy="384048"/>
          </a:xfrm>
          <a:prstGeom prst="ellipse">
            <a:avLst/>
          </a:prstGeom>
          <a:solidFill>
            <a:schemeClr val="accent1"/>
          </a:solidFill>
          <a:ln w="12700">
            <a:solidFill>
              <a:schemeClr val="accent1"/>
            </a:solidFill>
            <a:prstDash val="solid"/>
          </a:ln>
        </p:spPr>
      </p:sp>
      <p:sp>
        <p:nvSpPr>
          <p:cNvPr id="17" name="Text 11"/>
          <p:cNvSpPr txBox="1"/>
          <p:nvPr/>
        </p:nvSpPr>
        <p:spPr>
          <a:xfrm>
            <a:off x="4846320" y="221284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8" name="Text 12"/>
          <p:cNvSpPr txBox="1"/>
          <p:nvPr/>
        </p:nvSpPr>
        <p:spPr>
          <a:xfrm>
            <a:off x="5394960" y="2194560"/>
            <a:ext cx="5943600" cy="493776"/>
          </a:xfrm>
          <a:prstGeom prst="rect">
            <a:avLst/>
          </a:prstGeom>
          <a:noFill/>
          <a:ln/>
        </p:spPr>
        <p:txBody>
          <a:bodyPr wrap="square" lIns="0" tIns="0" rIns="0" bIns="0" rtlCol="0" anchor="t"/>
          <a:lstStyle/>
          <a:p>
            <a:pPr indent="0" marL="0">
              <a:buNone/>
            </a:pPr>
            <a:r>
              <a:rPr lang="en-US" sz="1500" dirty="0">
                <a:solidFill>
                  <a:schemeClr val="tx1"/>
                </a:solidFill>
              </a:rPr>
              <a:t>Pick </a:t>
            </a:r>
            <a:r>
              <a:rPr lang="en-US" sz="1500" b="1" dirty="0">
                <a:solidFill>
                  <a:schemeClr val="tx1"/>
                </a:solidFill>
              </a:rPr>
              <a:t>two award-winning clean cities</a:t>
            </a:r>
            <a:r>
              <a:rPr lang="en-US" sz="1500" dirty="0">
                <a:solidFill>
                  <a:schemeClr val="tx1"/>
                </a:solidFill>
              </a:rPr>
              <a:t> (one from another region).</a:t>
            </a:r>
            <a:endParaRPr lang="en-US" sz="1600" dirty="0"/>
          </a:p>
        </p:txBody>
      </p:sp>
      <p:sp>
        <p:nvSpPr>
          <p:cNvPr id="19" name="step 2 badge"/>
          <p:cNvSpPr/>
          <p:nvPr/>
        </p:nvSpPr>
        <p:spPr>
          <a:xfrm>
            <a:off x="4846320" y="2752344"/>
            <a:ext cx="384048" cy="384048"/>
          </a:xfrm>
          <a:prstGeom prst="ellipse">
            <a:avLst/>
          </a:prstGeom>
          <a:solidFill>
            <a:schemeClr val="accent1"/>
          </a:solidFill>
          <a:ln w="12700">
            <a:solidFill>
              <a:schemeClr val="accent1"/>
            </a:solidFill>
            <a:prstDash val="solid"/>
          </a:ln>
        </p:spPr>
      </p:sp>
      <p:sp>
        <p:nvSpPr>
          <p:cNvPr id="20" name="Text 14"/>
          <p:cNvSpPr txBox="1"/>
          <p:nvPr/>
        </p:nvSpPr>
        <p:spPr>
          <a:xfrm>
            <a:off x="4846320" y="2752344"/>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21" name="Text 15"/>
          <p:cNvSpPr txBox="1"/>
          <p:nvPr/>
        </p:nvSpPr>
        <p:spPr>
          <a:xfrm>
            <a:off x="5394960" y="2734056"/>
            <a:ext cx="5943600" cy="493776"/>
          </a:xfrm>
          <a:prstGeom prst="rect">
            <a:avLst/>
          </a:prstGeom>
          <a:noFill/>
          <a:ln/>
        </p:spPr>
        <p:txBody>
          <a:bodyPr wrap="square" lIns="0" tIns="0" rIns="0" bIns="0" rtlCol="0" anchor="t"/>
          <a:lstStyle/>
          <a:p>
            <a:pPr indent="0" marL="0">
              <a:buNone/>
            </a:pPr>
            <a:r>
              <a:rPr lang="en-US" sz="1500" dirty="0">
                <a:solidFill>
                  <a:schemeClr val="tx1"/>
                </a:solidFill>
              </a:rPr>
              <a:t>Find the role of </a:t>
            </a:r>
            <a:r>
              <a:rPr lang="en-US" sz="1500" b="1" dirty="0">
                <a:solidFill>
                  <a:schemeClr val="tx1"/>
                </a:solidFill>
              </a:rPr>
              <a:t>local, state and national</a:t>
            </a:r>
            <a:r>
              <a:rPr lang="en-US" sz="1500" dirty="0">
                <a:solidFill>
                  <a:schemeClr val="tx1"/>
                </a:solidFill>
              </a:rPr>
              <a:t> agencies.</a:t>
            </a:r>
            <a:endParaRPr lang="en-US" sz="1600" dirty="0"/>
          </a:p>
        </p:txBody>
      </p:sp>
      <p:sp>
        <p:nvSpPr>
          <p:cNvPr id="22" name="step 3 badge"/>
          <p:cNvSpPr/>
          <p:nvPr/>
        </p:nvSpPr>
        <p:spPr>
          <a:xfrm>
            <a:off x="4846320" y="3291840"/>
            <a:ext cx="384048" cy="384048"/>
          </a:xfrm>
          <a:prstGeom prst="ellipse">
            <a:avLst/>
          </a:prstGeom>
          <a:solidFill>
            <a:schemeClr val="accent1"/>
          </a:solidFill>
          <a:ln w="12700">
            <a:solidFill>
              <a:schemeClr val="accent1"/>
            </a:solidFill>
            <a:prstDash val="solid"/>
          </a:ln>
        </p:spPr>
      </p:sp>
      <p:sp>
        <p:nvSpPr>
          <p:cNvPr id="23" name="Text 17"/>
          <p:cNvSpPr txBox="1"/>
          <p:nvPr/>
        </p:nvSpPr>
        <p:spPr>
          <a:xfrm>
            <a:off x="4846320" y="329184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24" name="Text 18"/>
          <p:cNvSpPr txBox="1"/>
          <p:nvPr/>
        </p:nvSpPr>
        <p:spPr>
          <a:xfrm>
            <a:off x="5394960" y="3273552"/>
            <a:ext cx="5943600" cy="493776"/>
          </a:xfrm>
          <a:prstGeom prst="rect">
            <a:avLst/>
          </a:prstGeom>
          <a:noFill/>
          <a:ln/>
        </p:spPr>
        <p:txBody>
          <a:bodyPr wrap="square" lIns="0" tIns="0" rIns="0" bIns="0" rtlCol="0" anchor="t"/>
          <a:lstStyle/>
          <a:p>
            <a:pPr indent="0" marL="0">
              <a:buNone/>
            </a:pPr>
            <a:r>
              <a:rPr lang="en-US" sz="1500" dirty="0">
                <a:solidFill>
                  <a:schemeClr val="tx1"/>
                </a:solidFill>
              </a:rPr>
              <a:t>Find the role of </a:t>
            </a:r>
            <a:r>
              <a:rPr lang="en-US" sz="1500" b="1" dirty="0">
                <a:solidFill>
                  <a:schemeClr val="tx1"/>
                </a:solidFill>
              </a:rPr>
              <a:t>residents, market associations and NGOs</a:t>
            </a:r>
            <a:r>
              <a:rPr lang="en-US" sz="1500" dirty="0">
                <a:solidFill>
                  <a:schemeClr val="tx1"/>
                </a:solidFill>
              </a:rPr>
              <a:t>.</a:t>
            </a:r>
            <a:endParaRPr lang="en-US" sz="1600" dirty="0"/>
          </a:p>
        </p:txBody>
      </p:sp>
      <p:sp>
        <p:nvSpPr>
          <p:cNvPr id="25" name="step 4 badge"/>
          <p:cNvSpPr/>
          <p:nvPr/>
        </p:nvSpPr>
        <p:spPr>
          <a:xfrm>
            <a:off x="4846320" y="3831336"/>
            <a:ext cx="384048" cy="384048"/>
          </a:xfrm>
          <a:prstGeom prst="ellipse">
            <a:avLst/>
          </a:prstGeom>
          <a:solidFill>
            <a:schemeClr val="accent1"/>
          </a:solidFill>
          <a:ln w="12700">
            <a:solidFill>
              <a:schemeClr val="accent1"/>
            </a:solidFill>
            <a:prstDash val="solid"/>
          </a:ln>
        </p:spPr>
      </p:sp>
      <p:sp>
        <p:nvSpPr>
          <p:cNvPr id="26" name="Text 20"/>
          <p:cNvSpPr txBox="1"/>
          <p:nvPr/>
        </p:nvSpPr>
        <p:spPr>
          <a:xfrm>
            <a:off x="4846320" y="3831336"/>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7" name="Text 21"/>
          <p:cNvSpPr txBox="1"/>
          <p:nvPr/>
        </p:nvSpPr>
        <p:spPr>
          <a:xfrm>
            <a:off x="5394960" y="3813048"/>
            <a:ext cx="5943600" cy="493776"/>
          </a:xfrm>
          <a:prstGeom prst="rect">
            <a:avLst/>
          </a:prstGeom>
          <a:noFill/>
          <a:ln/>
        </p:spPr>
        <p:txBody>
          <a:bodyPr wrap="square" lIns="0" tIns="0" rIns="0" bIns="0" rtlCol="0" anchor="t"/>
          <a:lstStyle/>
          <a:p>
            <a:pPr indent="0" marL="0">
              <a:buNone/>
            </a:pPr>
            <a:r>
              <a:rPr lang="en-US" sz="1500" dirty="0">
                <a:solidFill>
                  <a:schemeClr val="tx1"/>
                </a:solidFill>
              </a:rPr>
              <a:t>List the steps they take to </a:t>
            </a:r>
            <a:r>
              <a:rPr lang="en-US" sz="1500" b="1" dirty="0">
                <a:solidFill>
                  <a:schemeClr val="tx1"/>
                </a:solidFill>
              </a:rPr>
              <a:t>stay</a:t>
            </a:r>
            <a:r>
              <a:rPr lang="en-US" sz="1500" dirty="0">
                <a:solidFill>
                  <a:schemeClr val="tx1"/>
                </a:solidFill>
              </a:rPr>
              <a:t> clean.</a:t>
            </a:r>
            <a:endParaRPr lang="en-US" sz="1600" dirty="0"/>
          </a:p>
        </p:txBody>
      </p:sp>
      <p:sp>
        <p:nvSpPr>
          <p:cNvPr id="28" name="step 5 badge"/>
          <p:cNvSpPr/>
          <p:nvPr/>
        </p:nvSpPr>
        <p:spPr>
          <a:xfrm>
            <a:off x="4846320" y="4370832"/>
            <a:ext cx="384048" cy="384048"/>
          </a:xfrm>
          <a:prstGeom prst="ellipse">
            <a:avLst/>
          </a:prstGeom>
          <a:solidFill>
            <a:schemeClr val="accent1"/>
          </a:solidFill>
          <a:ln w="12700">
            <a:solidFill>
              <a:schemeClr val="accent1"/>
            </a:solidFill>
            <a:prstDash val="solid"/>
          </a:ln>
        </p:spPr>
      </p:sp>
      <p:sp>
        <p:nvSpPr>
          <p:cNvPr id="29" name="Text 23"/>
          <p:cNvSpPr txBox="1"/>
          <p:nvPr/>
        </p:nvSpPr>
        <p:spPr>
          <a:xfrm>
            <a:off x="4846320" y="4370832"/>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30" name="Text 24"/>
          <p:cNvSpPr txBox="1"/>
          <p:nvPr/>
        </p:nvSpPr>
        <p:spPr>
          <a:xfrm>
            <a:off x="5394960" y="4352544"/>
            <a:ext cx="5943600" cy="493776"/>
          </a:xfrm>
          <a:prstGeom prst="rect">
            <a:avLst/>
          </a:prstGeom>
          <a:noFill/>
          <a:ln/>
        </p:spPr>
        <p:txBody>
          <a:bodyPr wrap="square" lIns="0" tIns="0" rIns="0" bIns="0" rtlCol="0" anchor="t"/>
          <a:lstStyle/>
          <a:p>
            <a:pPr indent="0" marL="0">
              <a:buNone/>
            </a:pPr>
            <a:r>
              <a:rPr lang="en-US" sz="1500" dirty="0">
                <a:solidFill>
                  <a:schemeClr val="tx1"/>
                </a:solidFill>
              </a:rPr>
              <a:t>Present their </a:t>
            </a:r>
            <a:r>
              <a:rPr lang="en-US" sz="1500" b="1" dirty="0">
                <a:solidFill>
                  <a:schemeClr val="tx1"/>
                </a:solidFill>
              </a:rPr>
              <a:t>'good governance model'</a:t>
            </a:r>
            <a:r>
              <a:rPr lang="en-US" sz="1500" dirty="0">
                <a:solidFill>
                  <a:schemeClr val="tx1"/>
                </a:solidFill>
              </a:rPr>
              <a:t> to the class.</a:t>
            </a:r>
            <a:endParaRPr lang="en-US" sz="1600" dirty="0"/>
          </a:p>
        </p:txBody>
      </p:sp>
      <p:sp>
        <p:nvSpPr>
          <p:cNvPr id="31" name="outcome band"/>
          <p:cNvSpPr/>
          <p:nvPr/>
        </p:nvSpPr>
        <p:spPr>
          <a:xfrm>
            <a:off x="4846320" y="5074920"/>
            <a:ext cx="6446520" cy="914400"/>
          </a:xfrm>
          <a:prstGeom prst="roundRect">
            <a:avLst>
              <a:gd name="adj" fmla="val 8000"/>
            </a:avLst>
          </a:prstGeom>
          <a:solidFill>
            <a:schemeClr val="bg2"/>
          </a:solidFill>
          <a:ln w="12700">
            <a:solidFill>
              <a:schemeClr val="bg2"/>
            </a:solidFill>
            <a:prstDash val="solid"/>
          </a:ln>
        </p:spPr>
      </p:sp>
      <p:sp>
        <p:nvSpPr>
          <p:cNvPr id="32" name="Text 26"/>
          <p:cNvSpPr txBox="1"/>
          <p:nvPr/>
        </p:nvSpPr>
        <p:spPr>
          <a:xfrm>
            <a:off x="5029200" y="5074920"/>
            <a:ext cx="6126480" cy="914400"/>
          </a:xfrm>
          <a:prstGeom prst="rect">
            <a:avLst/>
          </a:prstGeom>
          <a:noFill/>
          <a:ln/>
        </p:spPr>
        <p:txBody>
          <a:bodyPr wrap="square" lIns="0" tIns="0" rIns="0" bIns="0" rtlCol="0" anchor="ctr"/>
          <a:lstStyle/>
          <a:p>
            <a:pPr indent="0" marL="0">
              <a:buNone/>
            </a:pPr>
            <a:r>
              <a:rPr lang="en-US" sz="1400" b="1" dirty="0">
                <a:solidFill>
                  <a:schemeClr val="tx2"/>
                </a:solidFill>
              </a:rPr>
              <a:t>Learning link:</a:t>
            </a:r>
            <a:r>
              <a:rPr lang="en-US" sz="1400" dirty="0">
                <a:solidFill>
                  <a:schemeClr val="tx2"/>
                </a:solidFill>
              </a:rPr>
              <a:t> Clean cities show coordination, participation and accountability in action.</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E2761"/>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E-Governance: Technology for Better Governance</a:t>
            </a:r>
            <a:endParaRPr lang="en-US" sz="3600" dirty="0"/>
          </a:p>
        </p:txBody>
      </p:sp>
      <p:sp>
        <p:nvSpPr>
          <p:cNvPr id="3" name="Text 1"/>
          <p:cNvSpPr txBox="1"/>
          <p:nvPr/>
        </p:nvSpPr>
        <p:spPr>
          <a:xfrm>
            <a:off x="548640" y="1280160"/>
            <a:ext cx="11064240" cy="594360"/>
          </a:xfrm>
          <a:prstGeom prst="rect">
            <a:avLst/>
          </a:prstGeom>
          <a:noFill/>
          <a:ln/>
        </p:spPr>
        <p:txBody>
          <a:bodyPr wrap="square" lIns="0" tIns="0" rIns="0" bIns="0" rtlCol="0" anchor="ctr"/>
          <a:lstStyle/>
          <a:p>
            <a:pPr indent="0" marL="0">
              <a:buNone/>
            </a:pPr>
            <a:r>
              <a:rPr lang="en-US" sz="1700" dirty="0">
                <a:solidFill>
                  <a:schemeClr val="tx1"/>
                </a:solidFill>
              </a:rPr>
              <a:t>Using </a:t>
            </a:r>
            <a:r>
              <a:rPr lang="en-US" sz="1700" b="1" dirty="0">
                <a:solidFill>
                  <a:schemeClr val="tx1"/>
                </a:solidFill>
              </a:rPr>
              <a:t>digital technology</a:t>
            </a:r>
            <a:r>
              <a:rPr lang="en-US" sz="1700" dirty="0">
                <a:solidFill>
                  <a:schemeClr val="tx1"/>
                </a:solidFill>
              </a:rPr>
              <a:t> to deliver services, share information and receive feedback, with less paperwork and fewer office visits.</a:t>
            </a:r>
            <a:endParaRPr lang="en-US" sz="1600" dirty="0"/>
          </a:p>
        </p:txBody>
      </p:sp>
      <p:graphicFrame>
        <p:nvGraphicFramePr>
          <p:cNvPr id="14" name="table"/>
          <p:cNvGraphicFramePr>
            <a:graphicFrameLocks noGrp="1"/>
          </p:cNvGraphicFramePr>
          <p:nvPr>
            <p:extLst>
              <p:ext uri="{D42A27DB-BD31-4B8C-83A1-F6EECF244321}">
                <p14:modId xmlns:p14="http://schemas.microsoft.com/office/powerpoint/2010/main" val="1579011935"/>
              </p:ext>
            </p:extLst>
          </p:nvPr>
        </p:nvGraphicFramePr>
        <p:xfrm>
          <a:off x="548640" y="2011680"/>
          <a:ext cx="11064240" cy="914400"/>
        </p:xfrm>
        <a:graphic>
          <a:graphicData uri="http://schemas.openxmlformats.org/drawingml/2006/table">
            <a:tbl>
              <a:tblPr/>
              <a:tblGrid>
                <a:gridCol w="2194560"/>
                <a:gridCol w="8869680"/>
              </a:tblGrid>
              <a:tr h="50292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Initiative</a:t>
                      </a:r>
                      <a:endParaRPr lang="en-US" sz="1500" dirty="0">
                        <a:latin typeface="Calibri" charset="0"/>
                        <a:ea typeface="Calibri" charset="0"/>
                        <a:cs typeface="Calibri" charset="0"/>
                      </a:endParaRPr>
                    </a:p>
                  </a:txBody>
                  <a:tcPr marL="73152" marR="73152" marT="73152" marB="73152" anchor="ctr">
                    <a:lnL w="9525" cap="flat" cmpd="sng" algn="ctr">
                      <a:solidFill>
                        <a:srgbClr val="EBEEF8"/>
                      </a:solidFill>
                      <a:prstDash val="solid"/>
                      <a:round/>
                      <a:headEnd type="none" w="med" len="med"/>
                      <a:tailEnd type="none" w="med" len="med"/>
                    </a:lnL>
                    <a:lnR w="9525" cap="flat" cmpd="sng" algn="ctr">
                      <a:solidFill>
                        <a:srgbClr val="EBEEF8"/>
                      </a:solidFill>
                      <a:prstDash val="solid"/>
                      <a:round/>
                      <a:headEnd type="none" w="med" len="med"/>
                      <a:tailEnd type="none" w="med" len="med"/>
                    </a:lnR>
                    <a:lnT w="9525" cap="flat" cmpd="sng" algn="ctr">
                      <a:solidFill>
                        <a:srgbClr val="EBEEF8"/>
                      </a:solidFill>
                      <a:prstDash val="solid"/>
                      <a:round/>
                      <a:headEnd type="none" w="med" len="med"/>
                      <a:tailEnd type="none" w="med" len="med"/>
                    </a:lnT>
                    <a:lnB w="9525" cap="flat" cmpd="sng" algn="ctr">
                      <a:solidFill>
                        <a:srgbClr val="EBEEF8"/>
                      </a:solidFill>
                      <a:prstDash val="solid"/>
                      <a:round/>
                      <a:headEnd type="none" w="med" len="med"/>
                      <a:tailEnd type="none" w="med" len="med"/>
                    </a:lnB>
                    <a:solidFill>
                      <a:srgbClr val="3949AB"/>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What it does</a:t>
                      </a:r>
                      <a:endParaRPr lang="en-US" sz="1500" dirty="0">
                        <a:latin typeface="Calibri" charset="0"/>
                        <a:ea typeface="Calibri" charset="0"/>
                        <a:cs typeface="Calibri" charset="0"/>
                      </a:endParaRPr>
                    </a:p>
                  </a:txBody>
                  <a:tcPr marL="73152" marR="73152" marT="73152" marB="73152" anchor="ctr">
                    <a:lnL w="9525" cap="flat" cmpd="sng" algn="ctr">
                      <a:solidFill>
                        <a:srgbClr val="EBEEF8"/>
                      </a:solidFill>
                      <a:prstDash val="solid"/>
                      <a:round/>
                      <a:headEnd type="none" w="med" len="med"/>
                      <a:tailEnd type="none" w="med" len="med"/>
                    </a:lnL>
                    <a:lnR w="9525" cap="flat" cmpd="sng" algn="ctr">
                      <a:solidFill>
                        <a:srgbClr val="EBEEF8"/>
                      </a:solidFill>
                      <a:prstDash val="solid"/>
                      <a:round/>
                      <a:headEnd type="none" w="med" len="med"/>
                      <a:tailEnd type="none" w="med" len="med"/>
                    </a:lnR>
                    <a:lnT w="9525" cap="flat" cmpd="sng" algn="ctr">
                      <a:solidFill>
                        <a:srgbClr val="EBEEF8"/>
                      </a:solidFill>
                      <a:prstDash val="solid"/>
                      <a:round/>
                      <a:headEnd type="none" w="med" len="med"/>
                      <a:tailEnd type="none" w="med" len="med"/>
                    </a:lnT>
                    <a:lnB w="9525" cap="flat" cmpd="sng" algn="ctr">
                      <a:solidFill>
                        <a:srgbClr val="EBEEF8"/>
                      </a:solidFill>
                      <a:prstDash val="solid"/>
                      <a:round/>
                      <a:headEnd type="none" w="med" len="med"/>
                      <a:tailEnd type="none" w="med" len="med"/>
                    </a:lnB>
                    <a:solidFill>
                      <a:srgbClr val="3949AB"/>
                    </a:solidFill>
                  </a:tcPr>
                </a:tc>
              </a:tr>
              <a:tr h="502920">
                <a:tc>
                  <a:txBody>
                    <a:bodyPr/>
                    <a:lstStyle/>
                    <a:p>
                      <a:pPr indent="0" marL="0">
                        <a:buNone/>
                      </a:pPr>
                      <a:r>
                        <a:rPr lang="en-US" sz="1500" dirty="0">
                          <a:solidFill>
                            <a:srgbClr val="1F2328"/>
                          </a:solidFill>
                          <a:latin typeface="Calibri" pitchFamily="34" charset="0"/>
                          <a:ea typeface="Calibri" pitchFamily="34" charset="-122"/>
                          <a:cs typeface="Calibri" pitchFamily="34" charset="-120"/>
                        </a:rPr>
                        <a:t>UMANG</a:t>
                      </a:r>
                      <a:endParaRPr lang="en-US" sz="1500" dirty="0">
                        <a:latin typeface="Calibri" charset="0"/>
                        <a:ea typeface="Calibri" charset="0"/>
                        <a:cs typeface="Calibri" charset="0"/>
                      </a:endParaRPr>
                    </a:p>
                  </a:txBody>
                  <a:tcPr marL="73152" marR="73152" marT="73152" marB="73152" anchor="ctr">
                    <a:lnL w="9525" cap="flat" cmpd="sng" algn="ctr">
                      <a:solidFill>
                        <a:srgbClr val="EBEEF8"/>
                      </a:solidFill>
                      <a:prstDash val="solid"/>
                      <a:round/>
                      <a:headEnd type="none" w="med" len="med"/>
                      <a:tailEnd type="none" w="med" len="med"/>
                    </a:lnL>
                    <a:lnR w="9525" cap="flat" cmpd="sng" algn="ctr">
                      <a:solidFill>
                        <a:srgbClr val="EBEEF8"/>
                      </a:solidFill>
                      <a:prstDash val="solid"/>
                      <a:round/>
                      <a:headEnd type="none" w="med" len="med"/>
                      <a:tailEnd type="none" w="med" len="med"/>
                    </a:lnR>
                    <a:lnT w="9525" cap="flat" cmpd="sng" algn="ctr">
                      <a:solidFill>
                        <a:srgbClr val="EBEEF8"/>
                      </a:solidFill>
                      <a:prstDash val="solid"/>
                      <a:round/>
                      <a:headEnd type="none" w="med" len="med"/>
                      <a:tailEnd type="none" w="med" len="med"/>
                    </a:lnT>
                    <a:lnB w="9525" cap="flat" cmpd="sng" algn="ctr">
                      <a:solidFill>
                        <a:srgbClr val="EBEEF8"/>
                      </a:solidFill>
                      <a:prstDash val="solid"/>
                      <a:round/>
                      <a:headEnd type="none" w="med" len="med"/>
                      <a:tailEnd type="none" w="med" len="med"/>
                    </a:lnB>
                    <a:solidFill>
                      <a:srgbClr val="EBEEF8"/>
                    </a:solidFill>
                  </a:tcPr>
                </a:tc>
                <a:tc>
                  <a:txBody>
                    <a:bodyPr/>
                    <a:lstStyle/>
                    <a:p>
                      <a:pPr indent="0" marL="0">
                        <a:buNone/>
                      </a:pPr>
                      <a:r>
                        <a:rPr lang="en-US" sz="1500" dirty="0">
                          <a:solidFill>
                            <a:srgbClr val="1F2328"/>
                          </a:solidFill>
                          <a:latin typeface="Calibri" pitchFamily="34" charset="0"/>
                          <a:ea typeface="Calibri" pitchFamily="34" charset="-122"/>
                          <a:cs typeface="Calibri" pitchFamily="34" charset="-120"/>
                        </a:rPr>
                        <a:t>One mobile app to use many central and state government services</a:t>
                      </a:r>
                      <a:endParaRPr lang="en-US" sz="1500" dirty="0">
                        <a:latin typeface="Calibri" charset="0"/>
                        <a:ea typeface="Calibri" charset="0"/>
                        <a:cs typeface="Calibri" charset="0"/>
                      </a:endParaRPr>
                    </a:p>
                  </a:txBody>
                  <a:tcPr marL="73152" marR="73152" marT="73152" marB="73152" anchor="ctr">
                    <a:lnL w="9525" cap="flat" cmpd="sng" algn="ctr">
                      <a:solidFill>
                        <a:srgbClr val="EBEEF8"/>
                      </a:solidFill>
                      <a:prstDash val="solid"/>
                      <a:round/>
                      <a:headEnd type="none" w="med" len="med"/>
                      <a:tailEnd type="none" w="med" len="med"/>
                    </a:lnL>
                    <a:lnR w="9525" cap="flat" cmpd="sng" algn="ctr">
                      <a:solidFill>
                        <a:srgbClr val="EBEEF8"/>
                      </a:solidFill>
                      <a:prstDash val="solid"/>
                      <a:round/>
                      <a:headEnd type="none" w="med" len="med"/>
                      <a:tailEnd type="none" w="med" len="med"/>
                    </a:lnR>
                    <a:lnT w="9525" cap="flat" cmpd="sng" algn="ctr">
                      <a:solidFill>
                        <a:srgbClr val="EBEEF8"/>
                      </a:solidFill>
                      <a:prstDash val="solid"/>
                      <a:round/>
                      <a:headEnd type="none" w="med" len="med"/>
                      <a:tailEnd type="none" w="med" len="med"/>
                    </a:lnT>
                    <a:lnB w="9525" cap="flat" cmpd="sng" algn="ctr">
                      <a:solidFill>
                        <a:srgbClr val="EBEEF8"/>
                      </a:solidFill>
                      <a:prstDash val="solid"/>
                      <a:round/>
                      <a:headEnd type="none" w="med" len="med"/>
                      <a:tailEnd type="none" w="med" len="med"/>
                    </a:lnB>
                    <a:solidFill>
                      <a:srgbClr val="EBEEF8"/>
                    </a:solidFill>
                  </a:tcPr>
                </a:tc>
              </a:tr>
              <a:tr h="502920">
                <a:tc>
                  <a:txBody>
                    <a:bodyPr/>
                    <a:lstStyle/>
                    <a:p>
                      <a:pPr indent="0" marL="0">
                        <a:buNone/>
                      </a:pPr>
                      <a:r>
                        <a:rPr lang="en-US" sz="1500" dirty="0">
                          <a:solidFill>
                            <a:srgbClr val="1F2328"/>
                          </a:solidFill>
                          <a:latin typeface="Calibri" pitchFamily="34" charset="0"/>
                          <a:ea typeface="Calibri" pitchFamily="34" charset="-122"/>
                          <a:cs typeface="Calibri" pitchFamily="34" charset="-120"/>
                        </a:rPr>
                        <a:t>Aadhaar</a:t>
                      </a:r>
                      <a:endParaRPr lang="en-US" sz="1500" dirty="0">
                        <a:latin typeface="Calibri" charset="0"/>
                        <a:ea typeface="Calibri" charset="0"/>
                        <a:cs typeface="Calibri" charset="0"/>
                      </a:endParaRPr>
                    </a:p>
                  </a:txBody>
                  <a:tcPr marL="73152" marR="73152" marT="73152" marB="73152" anchor="ctr">
                    <a:lnL w="9525" cap="flat" cmpd="sng" algn="ctr">
                      <a:solidFill>
                        <a:srgbClr val="EBEEF8"/>
                      </a:solidFill>
                      <a:prstDash val="solid"/>
                      <a:round/>
                      <a:headEnd type="none" w="med" len="med"/>
                      <a:tailEnd type="none" w="med" len="med"/>
                    </a:lnL>
                    <a:lnR w="9525" cap="flat" cmpd="sng" algn="ctr">
                      <a:solidFill>
                        <a:srgbClr val="EBEEF8"/>
                      </a:solidFill>
                      <a:prstDash val="solid"/>
                      <a:round/>
                      <a:headEnd type="none" w="med" len="med"/>
                      <a:tailEnd type="none" w="med" len="med"/>
                    </a:lnR>
                    <a:lnT w="9525" cap="flat" cmpd="sng" algn="ctr">
                      <a:solidFill>
                        <a:srgbClr val="EBEEF8"/>
                      </a:solidFill>
                      <a:prstDash val="solid"/>
                      <a:round/>
                      <a:headEnd type="none" w="med" len="med"/>
                      <a:tailEnd type="none" w="med" len="med"/>
                    </a:lnT>
                    <a:lnB w="9525" cap="flat" cmpd="sng" algn="ctr">
                      <a:solidFill>
                        <a:srgbClr val="EBEEF8"/>
                      </a:solidFill>
                      <a:prstDash val="solid"/>
                      <a:round/>
                      <a:headEnd type="none" w="med" len="med"/>
                      <a:tailEnd type="none" w="med" len="med"/>
                    </a:lnB>
                    <a:solidFill>
                      <a:srgbClr val="FFFFFF"/>
                    </a:solidFill>
                  </a:tcPr>
                </a:tc>
                <a:tc>
                  <a:txBody>
                    <a:bodyPr/>
                    <a:lstStyle/>
                    <a:p>
                      <a:pPr indent="0" marL="0">
                        <a:buNone/>
                      </a:pPr>
                      <a:r>
                        <a:rPr lang="en-US" sz="1500" dirty="0">
                          <a:solidFill>
                            <a:srgbClr val="1F2328"/>
                          </a:solidFill>
                          <a:latin typeface="Calibri" pitchFamily="34" charset="0"/>
                          <a:ea typeface="Calibri" pitchFamily="34" charset="-122"/>
                          <a:cs typeface="Calibri" pitchFamily="34" charset="-120"/>
                        </a:rPr>
                        <a:t>A 12-digit unique ID based on biometrics, used for identity and direct benefit transfers</a:t>
                      </a:r>
                      <a:endParaRPr lang="en-US" sz="1500" dirty="0">
                        <a:latin typeface="Calibri" charset="0"/>
                        <a:ea typeface="Calibri" charset="0"/>
                        <a:cs typeface="Calibri" charset="0"/>
                      </a:endParaRPr>
                    </a:p>
                  </a:txBody>
                  <a:tcPr marL="73152" marR="73152" marT="73152" marB="73152" anchor="ctr">
                    <a:lnL w="9525" cap="flat" cmpd="sng" algn="ctr">
                      <a:solidFill>
                        <a:srgbClr val="EBEEF8"/>
                      </a:solidFill>
                      <a:prstDash val="solid"/>
                      <a:round/>
                      <a:headEnd type="none" w="med" len="med"/>
                      <a:tailEnd type="none" w="med" len="med"/>
                    </a:lnL>
                    <a:lnR w="9525" cap="flat" cmpd="sng" algn="ctr">
                      <a:solidFill>
                        <a:srgbClr val="EBEEF8"/>
                      </a:solidFill>
                      <a:prstDash val="solid"/>
                      <a:round/>
                      <a:headEnd type="none" w="med" len="med"/>
                      <a:tailEnd type="none" w="med" len="med"/>
                    </a:lnR>
                    <a:lnT w="9525" cap="flat" cmpd="sng" algn="ctr">
                      <a:solidFill>
                        <a:srgbClr val="EBEEF8"/>
                      </a:solidFill>
                      <a:prstDash val="solid"/>
                      <a:round/>
                      <a:headEnd type="none" w="med" len="med"/>
                      <a:tailEnd type="none" w="med" len="med"/>
                    </a:lnT>
                    <a:lnB w="9525" cap="flat" cmpd="sng" algn="ctr">
                      <a:solidFill>
                        <a:srgbClr val="EBEEF8"/>
                      </a:solidFill>
                      <a:prstDash val="solid"/>
                      <a:round/>
                      <a:headEnd type="none" w="med" len="med"/>
                      <a:tailEnd type="none" w="med" len="med"/>
                    </a:lnB>
                    <a:solidFill>
                      <a:srgbClr val="FFFFFF"/>
                    </a:solidFill>
                  </a:tcPr>
                </a:tc>
              </a:tr>
              <a:tr h="502920">
                <a:tc>
                  <a:txBody>
                    <a:bodyPr/>
                    <a:lstStyle/>
                    <a:p>
                      <a:pPr indent="0" marL="0">
                        <a:buNone/>
                      </a:pPr>
                      <a:r>
                        <a:rPr lang="en-US" sz="1500" dirty="0">
                          <a:solidFill>
                            <a:srgbClr val="1F2328"/>
                          </a:solidFill>
                          <a:latin typeface="Calibri" pitchFamily="34" charset="0"/>
                          <a:ea typeface="Calibri" pitchFamily="34" charset="-122"/>
                          <a:cs typeface="Calibri" pitchFamily="34" charset="-120"/>
                        </a:rPr>
                        <a:t>GeM</a:t>
                      </a:r>
                      <a:endParaRPr lang="en-US" sz="1500" dirty="0">
                        <a:latin typeface="Calibri" charset="0"/>
                        <a:ea typeface="Calibri" charset="0"/>
                        <a:cs typeface="Calibri" charset="0"/>
                      </a:endParaRPr>
                    </a:p>
                  </a:txBody>
                  <a:tcPr marL="73152" marR="73152" marT="73152" marB="73152" anchor="ctr">
                    <a:lnL w="9525" cap="flat" cmpd="sng" algn="ctr">
                      <a:solidFill>
                        <a:srgbClr val="EBEEF8"/>
                      </a:solidFill>
                      <a:prstDash val="solid"/>
                      <a:round/>
                      <a:headEnd type="none" w="med" len="med"/>
                      <a:tailEnd type="none" w="med" len="med"/>
                    </a:lnL>
                    <a:lnR w="9525" cap="flat" cmpd="sng" algn="ctr">
                      <a:solidFill>
                        <a:srgbClr val="EBEEF8"/>
                      </a:solidFill>
                      <a:prstDash val="solid"/>
                      <a:round/>
                      <a:headEnd type="none" w="med" len="med"/>
                      <a:tailEnd type="none" w="med" len="med"/>
                    </a:lnR>
                    <a:lnT w="9525" cap="flat" cmpd="sng" algn="ctr">
                      <a:solidFill>
                        <a:srgbClr val="EBEEF8"/>
                      </a:solidFill>
                      <a:prstDash val="solid"/>
                      <a:round/>
                      <a:headEnd type="none" w="med" len="med"/>
                      <a:tailEnd type="none" w="med" len="med"/>
                    </a:lnT>
                    <a:lnB w="9525" cap="flat" cmpd="sng" algn="ctr">
                      <a:solidFill>
                        <a:srgbClr val="EBEEF8"/>
                      </a:solidFill>
                      <a:prstDash val="solid"/>
                      <a:round/>
                      <a:headEnd type="none" w="med" len="med"/>
                      <a:tailEnd type="none" w="med" len="med"/>
                    </a:lnB>
                    <a:solidFill>
                      <a:srgbClr val="EBEEF8"/>
                    </a:solidFill>
                  </a:tcPr>
                </a:tc>
                <a:tc>
                  <a:txBody>
                    <a:bodyPr/>
                    <a:lstStyle/>
                    <a:p>
                      <a:pPr indent="0" marL="0">
                        <a:buNone/>
                      </a:pPr>
                      <a:r>
                        <a:rPr lang="en-US" sz="1500" dirty="0">
                          <a:solidFill>
                            <a:srgbClr val="1F2328"/>
                          </a:solidFill>
                          <a:latin typeface="Calibri" pitchFamily="34" charset="0"/>
                          <a:ea typeface="Calibri" pitchFamily="34" charset="-122"/>
                          <a:cs typeface="Calibri" pitchFamily="34" charset="-120"/>
                        </a:rPr>
                        <a:t>Government e-Marketplace: offices buy goods and services online, transparently</a:t>
                      </a:r>
                      <a:endParaRPr lang="en-US" sz="1500" dirty="0">
                        <a:latin typeface="Calibri" charset="0"/>
                        <a:ea typeface="Calibri" charset="0"/>
                        <a:cs typeface="Calibri" charset="0"/>
                      </a:endParaRPr>
                    </a:p>
                  </a:txBody>
                  <a:tcPr marL="73152" marR="73152" marT="73152" marB="73152" anchor="ctr">
                    <a:lnL w="9525" cap="flat" cmpd="sng" algn="ctr">
                      <a:solidFill>
                        <a:srgbClr val="EBEEF8"/>
                      </a:solidFill>
                      <a:prstDash val="solid"/>
                      <a:round/>
                      <a:headEnd type="none" w="med" len="med"/>
                      <a:tailEnd type="none" w="med" len="med"/>
                    </a:lnL>
                    <a:lnR w="9525" cap="flat" cmpd="sng" algn="ctr">
                      <a:solidFill>
                        <a:srgbClr val="EBEEF8"/>
                      </a:solidFill>
                      <a:prstDash val="solid"/>
                      <a:round/>
                      <a:headEnd type="none" w="med" len="med"/>
                      <a:tailEnd type="none" w="med" len="med"/>
                    </a:lnR>
                    <a:lnT w="9525" cap="flat" cmpd="sng" algn="ctr">
                      <a:solidFill>
                        <a:srgbClr val="EBEEF8"/>
                      </a:solidFill>
                      <a:prstDash val="solid"/>
                      <a:round/>
                      <a:headEnd type="none" w="med" len="med"/>
                      <a:tailEnd type="none" w="med" len="med"/>
                    </a:lnT>
                    <a:lnB w="9525" cap="flat" cmpd="sng" algn="ctr">
                      <a:solidFill>
                        <a:srgbClr val="EBEEF8"/>
                      </a:solidFill>
                      <a:prstDash val="solid"/>
                      <a:round/>
                      <a:headEnd type="none" w="med" len="med"/>
                      <a:tailEnd type="none" w="med" len="med"/>
                    </a:lnB>
                    <a:solidFill>
                      <a:srgbClr val="EBEEF8"/>
                    </a:solidFill>
                  </a:tcPr>
                </a:tc>
              </a:tr>
              <a:tr h="502920">
                <a:tc>
                  <a:txBody>
                    <a:bodyPr/>
                    <a:lstStyle/>
                    <a:p>
                      <a:pPr indent="0" marL="0">
                        <a:buNone/>
                      </a:pPr>
                      <a:r>
                        <a:rPr lang="en-US" sz="1500" dirty="0">
                          <a:solidFill>
                            <a:srgbClr val="1F2328"/>
                          </a:solidFill>
                          <a:latin typeface="Calibri" pitchFamily="34" charset="0"/>
                          <a:ea typeface="Calibri" pitchFamily="34" charset="-122"/>
                          <a:cs typeface="Calibri" pitchFamily="34" charset="-120"/>
                        </a:rPr>
                        <a:t>DigiLocker</a:t>
                      </a:r>
                      <a:endParaRPr lang="en-US" sz="1500" dirty="0">
                        <a:latin typeface="Calibri" charset="0"/>
                        <a:ea typeface="Calibri" charset="0"/>
                        <a:cs typeface="Calibri" charset="0"/>
                      </a:endParaRPr>
                    </a:p>
                  </a:txBody>
                  <a:tcPr marL="73152" marR="73152" marT="73152" marB="73152" anchor="ctr">
                    <a:lnL w="9525" cap="flat" cmpd="sng" algn="ctr">
                      <a:solidFill>
                        <a:srgbClr val="EBEEF8"/>
                      </a:solidFill>
                      <a:prstDash val="solid"/>
                      <a:round/>
                      <a:headEnd type="none" w="med" len="med"/>
                      <a:tailEnd type="none" w="med" len="med"/>
                    </a:lnL>
                    <a:lnR w="9525" cap="flat" cmpd="sng" algn="ctr">
                      <a:solidFill>
                        <a:srgbClr val="EBEEF8"/>
                      </a:solidFill>
                      <a:prstDash val="solid"/>
                      <a:round/>
                      <a:headEnd type="none" w="med" len="med"/>
                      <a:tailEnd type="none" w="med" len="med"/>
                    </a:lnR>
                    <a:lnT w="9525" cap="flat" cmpd="sng" algn="ctr">
                      <a:solidFill>
                        <a:srgbClr val="EBEEF8"/>
                      </a:solidFill>
                      <a:prstDash val="solid"/>
                      <a:round/>
                      <a:headEnd type="none" w="med" len="med"/>
                      <a:tailEnd type="none" w="med" len="med"/>
                    </a:lnT>
                    <a:lnB w="9525" cap="flat" cmpd="sng" algn="ctr">
                      <a:solidFill>
                        <a:srgbClr val="EBEEF8"/>
                      </a:solidFill>
                      <a:prstDash val="solid"/>
                      <a:round/>
                      <a:headEnd type="none" w="med" len="med"/>
                      <a:tailEnd type="none" w="med" len="med"/>
                    </a:lnB>
                    <a:solidFill>
                      <a:srgbClr val="FFFFFF"/>
                    </a:solidFill>
                  </a:tcPr>
                </a:tc>
                <a:tc>
                  <a:txBody>
                    <a:bodyPr/>
                    <a:lstStyle/>
                    <a:p>
                      <a:pPr indent="0" marL="0">
                        <a:buNone/>
                      </a:pPr>
                      <a:r>
                        <a:rPr lang="en-US" sz="1500" dirty="0">
                          <a:solidFill>
                            <a:srgbClr val="1F2328"/>
                          </a:solidFill>
                          <a:latin typeface="Calibri" pitchFamily="34" charset="0"/>
                          <a:ea typeface="Calibri" pitchFamily="34" charset="-122"/>
                          <a:cs typeface="Calibri" pitchFamily="34" charset="-120"/>
                        </a:rPr>
                        <a:t>Store and share official documents (marksheets, licences) digitally</a:t>
                      </a:r>
                      <a:endParaRPr lang="en-US" sz="1500" dirty="0">
                        <a:latin typeface="Calibri" charset="0"/>
                        <a:ea typeface="Calibri" charset="0"/>
                        <a:cs typeface="Calibri" charset="0"/>
                      </a:endParaRPr>
                    </a:p>
                  </a:txBody>
                  <a:tcPr marL="73152" marR="73152" marT="73152" marB="73152" anchor="ctr">
                    <a:lnL w="9525" cap="flat" cmpd="sng" algn="ctr">
                      <a:solidFill>
                        <a:srgbClr val="EBEEF8"/>
                      </a:solidFill>
                      <a:prstDash val="solid"/>
                      <a:round/>
                      <a:headEnd type="none" w="med" len="med"/>
                      <a:tailEnd type="none" w="med" len="med"/>
                    </a:lnL>
                    <a:lnR w="9525" cap="flat" cmpd="sng" algn="ctr">
                      <a:solidFill>
                        <a:srgbClr val="EBEEF8"/>
                      </a:solidFill>
                      <a:prstDash val="solid"/>
                      <a:round/>
                      <a:headEnd type="none" w="med" len="med"/>
                      <a:tailEnd type="none" w="med" len="med"/>
                    </a:lnR>
                    <a:lnT w="9525" cap="flat" cmpd="sng" algn="ctr">
                      <a:solidFill>
                        <a:srgbClr val="EBEEF8"/>
                      </a:solidFill>
                      <a:prstDash val="solid"/>
                      <a:round/>
                      <a:headEnd type="none" w="med" len="med"/>
                      <a:tailEnd type="none" w="med" len="med"/>
                    </a:lnT>
                    <a:lnB w="9525" cap="flat" cmpd="sng" algn="ctr">
                      <a:solidFill>
                        <a:srgbClr val="EBEEF8"/>
                      </a:solidFill>
                      <a:prstDash val="solid"/>
                      <a:round/>
                      <a:headEnd type="none" w="med" len="med"/>
                      <a:tailEnd type="none" w="med" len="med"/>
                    </a:lnB>
                    <a:solidFill>
                      <a:srgbClr val="FFFFFF"/>
                    </a:solidFill>
                  </a:tcPr>
                </a:tc>
              </a:tr>
              <a:tr h="502920">
                <a:tc>
                  <a:txBody>
                    <a:bodyPr/>
                    <a:lstStyle/>
                    <a:p>
                      <a:pPr indent="0" marL="0">
                        <a:buNone/>
                      </a:pPr>
                      <a:r>
                        <a:rPr lang="en-US" sz="1500" dirty="0">
                          <a:solidFill>
                            <a:srgbClr val="1F2328"/>
                          </a:solidFill>
                          <a:latin typeface="Calibri" pitchFamily="34" charset="0"/>
                          <a:ea typeface="Calibri" pitchFamily="34" charset="-122"/>
                          <a:cs typeface="Calibri" pitchFamily="34" charset="-120"/>
                        </a:rPr>
                        <a:t>CPGRAMS</a:t>
                      </a:r>
                      <a:endParaRPr lang="en-US" sz="1500" dirty="0">
                        <a:latin typeface="Calibri" charset="0"/>
                        <a:ea typeface="Calibri" charset="0"/>
                        <a:cs typeface="Calibri" charset="0"/>
                      </a:endParaRPr>
                    </a:p>
                  </a:txBody>
                  <a:tcPr marL="73152" marR="73152" marT="73152" marB="73152" anchor="ctr">
                    <a:lnL w="9525" cap="flat" cmpd="sng" algn="ctr">
                      <a:solidFill>
                        <a:srgbClr val="EBEEF8"/>
                      </a:solidFill>
                      <a:prstDash val="solid"/>
                      <a:round/>
                      <a:headEnd type="none" w="med" len="med"/>
                      <a:tailEnd type="none" w="med" len="med"/>
                    </a:lnL>
                    <a:lnR w="9525" cap="flat" cmpd="sng" algn="ctr">
                      <a:solidFill>
                        <a:srgbClr val="EBEEF8"/>
                      </a:solidFill>
                      <a:prstDash val="solid"/>
                      <a:round/>
                      <a:headEnd type="none" w="med" len="med"/>
                      <a:tailEnd type="none" w="med" len="med"/>
                    </a:lnR>
                    <a:lnT w="9525" cap="flat" cmpd="sng" algn="ctr">
                      <a:solidFill>
                        <a:srgbClr val="EBEEF8"/>
                      </a:solidFill>
                      <a:prstDash val="solid"/>
                      <a:round/>
                      <a:headEnd type="none" w="med" len="med"/>
                      <a:tailEnd type="none" w="med" len="med"/>
                    </a:lnT>
                    <a:lnB w="9525" cap="flat" cmpd="sng" algn="ctr">
                      <a:solidFill>
                        <a:srgbClr val="EBEEF8"/>
                      </a:solidFill>
                      <a:prstDash val="solid"/>
                      <a:round/>
                      <a:headEnd type="none" w="med" len="med"/>
                      <a:tailEnd type="none" w="med" len="med"/>
                    </a:lnB>
                    <a:solidFill>
                      <a:srgbClr val="EBEEF8"/>
                    </a:solidFill>
                  </a:tcPr>
                </a:tc>
                <a:tc>
                  <a:txBody>
                    <a:bodyPr/>
                    <a:lstStyle/>
                    <a:p>
                      <a:pPr indent="0" marL="0">
                        <a:buNone/>
                      </a:pPr>
                      <a:r>
                        <a:rPr lang="en-US" sz="1500" dirty="0">
                          <a:solidFill>
                            <a:srgbClr val="1F2328"/>
                          </a:solidFill>
                          <a:latin typeface="Calibri" pitchFamily="34" charset="0"/>
                          <a:ea typeface="Calibri" pitchFamily="34" charset="-122"/>
                          <a:cs typeface="Calibri" pitchFamily="34" charset="-120"/>
                        </a:rPr>
                        <a:t>File and track complaints (grievances) with government departments online</a:t>
                      </a:r>
                      <a:endParaRPr lang="en-US" sz="1500" dirty="0">
                        <a:latin typeface="Calibri" charset="0"/>
                        <a:ea typeface="Calibri" charset="0"/>
                        <a:cs typeface="Calibri" charset="0"/>
                      </a:endParaRPr>
                    </a:p>
                  </a:txBody>
                  <a:tcPr marL="73152" marR="73152" marT="73152" marB="73152" anchor="ctr">
                    <a:lnL w="9525" cap="flat" cmpd="sng" algn="ctr">
                      <a:solidFill>
                        <a:srgbClr val="EBEEF8"/>
                      </a:solidFill>
                      <a:prstDash val="solid"/>
                      <a:round/>
                      <a:headEnd type="none" w="med" len="med"/>
                      <a:tailEnd type="none" w="med" len="med"/>
                    </a:lnL>
                    <a:lnR w="9525" cap="flat" cmpd="sng" algn="ctr">
                      <a:solidFill>
                        <a:srgbClr val="EBEEF8"/>
                      </a:solidFill>
                      <a:prstDash val="solid"/>
                      <a:round/>
                      <a:headEnd type="none" w="med" len="med"/>
                      <a:tailEnd type="none" w="med" len="med"/>
                    </a:lnR>
                    <a:lnT w="9525" cap="flat" cmpd="sng" algn="ctr">
                      <a:solidFill>
                        <a:srgbClr val="EBEEF8"/>
                      </a:solidFill>
                      <a:prstDash val="solid"/>
                      <a:round/>
                      <a:headEnd type="none" w="med" len="med"/>
                      <a:tailEnd type="none" w="med" len="med"/>
                    </a:lnT>
                    <a:lnB w="9525" cap="flat" cmpd="sng" algn="ctr">
                      <a:solidFill>
                        <a:srgbClr val="EBEEF8"/>
                      </a:solidFill>
                      <a:prstDash val="solid"/>
                      <a:round/>
                      <a:headEnd type="none" w="med" len="med"/>
                      <a:tailEnd type="none" w="med" len="med"/>
                    </a:lnB>
                    <a:solidFill>
                      <a:srgbClr val="EBEEF8"/>
                    </a:solidFill>
                  </a:tcPr>
                </a:tc>
              </a:tr>
              <a:tr h="502920">
                <a:tc>
                  <a:txBody>
                    <a:bodyPr/>
                    <a:lstStyle/>
                    <a:p>
                      <a:pPr indent="0" marL="0">
                        <a:buNone/>
                      </a:pPr>
                      <a:r>
                        <a:rPr lang="en-US" sz="1500" dirty="0">
                          <a:solidFill>
                            <a:srgbClr val="1F2328"/>
                          </a:solidFill>
                          <a:latin typeface="Calibri" pitchFamily="34" charset="0"/>
                          <a:ea typeface="Calibri" pitchFamily="34" charset="-122"/>
                          <a:cs typeface="Calibri" pitchFamily="34" charset="-120"/>
                        </a:rPr>
                        <a:t>APAAR</a:t>
                      </a:r>
                      <a:endParaRPr lang="en-US" sz="1500" dirty="0">
                        <a:latin typeface="Calibri" charset="0"/>
                        <a:ea typeface="Calibri" charset="0"/>
                        <a:cs typeface="Calibri" charset="0"/>
                      </a:endParaRPr>
                    </a:p>
                  </a:txBody>
                  <a:tcPr marL="73152" marR="73152" marT="73152" marB="73152" anchor="ctr">
                    <a:lnL w="9525" cap="flat" cmpd="sng" algn="ctr">
                      <a:solidFill>
                        <a:srgbClr val="EBEEF8"/>
                      </a:solidFill>
                      <a:prstDash val="solid"/>
                      <a:round/>
                      <a:headEnd type="none" w="med" len="med"/>
                      <a:tailEnd type="none" w="med" len="med"/>
                    </a:lnL>
                    <a:lnR w="9525" cap="flat" cmpd="sng" algn="ctr">
                      <a:solidFill>
                        <a:srgbClr val="EBEEF8"/>
                      </a:solidFill>
                      <a:prstDash val="solid"/>
                      <a:round/>
                      <a:headEnd type="none" w="med" len="med"/>
                      <a:tailEnd type="none" w="med" len="med"/>
                    </a:lnR>
                    <a:lnT w="9525" cap="flat" cmpd="sng" algn="ctr">
                      <a:solidFill>
                        <a:srgbClr val="EBEEF8"/>
                      </a:solidFill>
                      <a:prstDash val="solid"/>
                      <a:round/>
                      <a:headEnd type="none" w="med" len="med"/>
                      <a:tailEnd type="none" w="med" len="med"/>
                    </a:lnT>
                    <a:lnB w="9525" cap="flat" cmpd="sng" algn="ctr">
                      <a:solidFill>
                        <a:srgbClr val="EBEEF8"/>
                      </a:solidFill>
                      <a:prstDash val="solid"/>
                      <a:round/>
                      <a:headEnd type="none" w="med" len="med"/>
                      <a:tailEnd type="none" w="med" len="med"/>
                    </a:lnB>
                    <a:solidFill>
                      <a:srgbClr val="FFFFFF"/>
                    </a:solidFill>
                  </a:tcPr>
                </a:tc>
                <a:tc>
                  <a:txBody>
                    <a:bodyPr/>
                    <a:lstStyle/>
                    <a:p>
                      <a:pPr indent="0" marL="0">
                        <a:buNone/>
                      </a:pPr>
                      <a:r>
                        <a:rPr lang="en-US" sz="1500" dirty="0">
                          <a:solidFill>
                            <a:srgbClr val="1F2328"/>
                          </a:solidFill>
                          <a:latin typeface="Calibri" pitchFamily="34" charset="0"/>
                          <a:ea typeface="Calibri" pitchFamily="34" charset="-122"/>
                          <a:cs typeface="Calibri" pitchFamily="34" charset="-120"/>
                        </a:rPr>
                        <a:t>'One Nation, One Student ID': a lifelong digital record of a student's academic work</a:t>
                      </a:r>
                      <a:endParaRPr lang="en-US" sz="1500" dirty="0">
                        <a:latin typeface="Calibri" charset="0"/>
                        <a:ea typeface="Calibri" charset="0"/>
                        <a:cs typeface="Calibri" charset="0"/>
                      </a:endParaRPr>
                    </a:p>
                  </a:txBody>
                  <a:tcPr marL="73152" marR="73152" marT="73152" marB="73152" anchor="ctr">
                    <a:lnL w="9525" cap="flat" cmpd="sng" algn="ctr">
                      <a:solidFill>
                        <a:srgbClr val="EBEEF8"/>
                      </a:solidFill>
                      <a:prstDash val="solid"/>
                      <a:round/>
                      <a:headEnd type="none" w="med" len="med"/>
                      <a:tailEnd type="none" w="med" len="med"/>
                    </a:lnL>
                    <a:lnR w="9525" cap="flat" cmpd="sng" algn="ctr">
                      <a:solidFill>
                        <a:srgbClr val="EBEEF8"/>
                      </a:solidFill>
                      <a:prstDash val="solid"/>
                      <a:round/>
                      <a:headEnd type="none" w="med" len="med"/>
                      <a:tailEnd type="none" w="med" len="med"/>
                    </a:lnR>
                    <a:lnT w="9525" cap="flat" cmpd="sng" algn="ctr">
                      <a:solidFill>
                        <a:srgbClr val="EBEEF8"/>
                      </a:solidFill>
                      <a:prstDash val="solid"/>
                      <a:round/>
                      <a:headEnd type="none" w="med" len="med"/>
                      <a:tailEnd type="none" w="med" len="med"/>
                    </a:lnT>
                    <a:lnB w="9525" cap="flat" cmpd="sng" algn="ctr">
                      <a:solidFill>
                        <a:srgbClr val="EBEEF8"/>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E2761"/>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Activity: Life Before and After E-Governance</a:t>
            </a:r>
            <a:endParaRPr lang="en-US" sz="3600" dirty="0"/>
          </a:p>
        </p:txBody>
      </p:sp>
      <p:sp>
        <p:nvSpPr>
          <p:cNvPr id="3" name="activity info card"/>
          <p:cNvSpPr/>
          <p:nvPr/>
        </p:nvSpPr>
        <p:spPr>
          <a:xfrm>
            <a:off x="548640" y="1371600"/>
            <a:ext cx="3657600" cy="4846320"/>
          </a:xfrm>
          <a:prstGeom prst="roundRect">
            <a:avLst>
              <a:gd name="adj" fmla="val 3000"/>
            </a:avLst>
          </a:prstGeom>
          <a:solidFill>
            <a:schemeClr val="tx2"/>
          </a:solidFill>
          <a:ln w="12700">
            <a:solidFill>
              <a:schemeClr val="tx2"/>
            </a:solidFill>
            <a:prstDash val="solid"/>
          </a:ln>
          <a:effectLst>
            <a:outerShdw sx="100000" sy="100000" kx="0" ky="0" algn="bl" rotWithShape="0" blurRad="101600" dist="25400" dir="5400000">
              <a:srgbClr val="000000">
                <a:alpha val="14000"/>
              </a:srgbClr>
            </a:outerShdw>
          </a:effectLst>
        </p:spPr>
      </p:sp>
      <p:sp>
        <p:nvSpPr>
          <p:cNvPr id="4" name="activity disc"/>
          <p:cNvSpPr/>
          <p:nvPr/>
        </p:nvSpPr>
        <p:spPr>
          <a:xfrm>
            <a:off x="868680" y="1691640"/>
            <a:ext cx="914400" cy="914400"/>
          </a:xfrm>
          <a:prstGeom prst="ellipse">
            <a:avLst/>
          </a:prstGeom>
          <a:solidFill>
            <a:schemeClr val="accent3"/>
          </a:solidFill>
          <a:ln w="12700">
            <a:solidFill>
              <a:schemeClr val="accent3"/>
            </a:solidFill>
            <a:prstDash val="solid"/>
          </a:ln>
        </p:spPr>
      </p:sp>
      <p:pic>
        <p:nvPicPr>
          <p:cNvPr id="5" name="activity glyph" descr="preencoded.png">    </p:cNvPr>
          <p:cNvPicPr>
            <a:picLocks noChangeAspect="1"/>
          </p:cNvPicPr>
          <p:nvPr/>
        </p:nvPicPr>
        <p:blipFill>
          <a:blip r:embed="rId1"/>
          <a:stretch>
            <a:fillRect/>
          </a:stretch>
        </p:blipFill>
        <p:spPr>
          <a:xfrm>
            <a:off x="1069848" y="1892808"/>
            <a:ext cx="512064" cy="512064"/>
          </a:xfrm>
          <a:prstGeom prst="rect">
            <a:avLst/>
          </a:prstGeom>
        </p:spPr>
      </p:pic>
      <p:sp>
        <p:nvSpPr>
          <p:cNvPr id="6" name="Text 3"/>
          <p:cNvSpPr txBox="1"/>
          <p:nvPr/>
        </p:nvSpPr>
        <p:spPr>
          <a:xfrm>
            <a:off x="1965960" y="1737360"/>
            <a:ext cx="2103120" cy="365760"/>
          </a:xfrm>
          <a:prstGeom prst="rect">
            <a:avLst/>
          </a:prstGeom>
          <a:noFill/>
          <a:ln/>
        </p:spPr>
        <p:txBody>
          <a:bodyPr wrap="square" lIns="0" tIns="0" rIns="0" bIns="0" rtlCol="0" anchor="ctr"/>
          <a:lstStyle/>
          <a:p>
            <a:pPr indent="0" marL="0">
              <a:buNone/>
            </a:pPr>
            <a:r>
              <a:rPr lang="en-US" sz="1300" b="1" spc="200" kern="0" dirty="0">
                <a:solidFill>
                  <a:schemeClr val="accent3"/>
                </a:solidFill>
              </a:rPr>
              <a:t>INTERVIEW</a:t>
            </a:r>
            <a:endParaRPr lang="en-US" sz="1300" dirty="0"/>
          </a:p>
        </p:txBody>
      </p:sp>
      <p:sp>
        <p:nvSpPr>
          <p:cNvPr id="7" name="Text 4"/>
          <p:cNvSpPr txBox="1"/>
          <p:nvPr/>
        </p:nvSpPr>
        <p:spPr>
          <a:xfrm>
            <a:off x="1965960" y="2103120"/>
            <a:ext cx="2103120" cy="640080"/>
          </a:xfrm>
          <a:prstGeom prst="rect">
            <a:avLst/>
          </a:prstGeom>
          <a:noFill/>
          <a:ln/>
        </p:spPr>
        <p:txBody>
          <a:bodyPr wrap="square" lIns="0" tIns="0" rIns="0" bIns="0" rtlCol="0" anchor="t"/>
          <a:lstStyle/>
          <a:p>
            <a:pPr indent="0" marL="0">
              <a:buNone/>
            </a:pPr>
            <a:r>
              <a:rPr lang="en-US" sz="1800" b="1" dirty="0">
                <a:solidFill>
                  <a:schemeClr val="bg1"/>
                </a:solidFill>
              </a:rPr>
              <a:t>Then and now</a:t>
            </a:r>
            <a:endParaRPr lang="en-US" sz="1800" dirty="0"/>
          </a:p>
        </p:txBody>
      </p:sp>
      <p:pic>
        <p:nvPicPr>
          <p:cNvPr id="8" name="Time icon" descr="preencoded.png">    </p:cNvPr>
          <p:cNvPicPr>
            <a:picLocks noChangeAspect="1"/>
          </p:cNvPicPr>
          <p:nvPr/>
        </p:nvPicPr>
        <p:blipFill>
          <a:blip r:embed="rId2"/>
          <a:stretch>
            <a:fillRect/>
          </a:stretch>
        </p:blipFill>
        <p:spPr>
          <a:xfrm>
            <a:off x="868680" y="3063240"/>
            <a:ext cx="347472" cy="347472"/>
          </a:xfrm>
          <a:prstGeom prst="rect">
            <a:avLst/>
          </a:prstGeom>
        </p:spPr>
      </p:pic>
      <p:sp>
        <p:nvSpPr>
          <p:cNvPr id="9" name="Text 5"/>
          <p:cNvSpPr txBox="1"/>
          <p:nvPr/>
        </p:nvSpPr>
        <p:spPr>
          <a:xfrm>
            <a:off x="1371600" y="3017520"/>
            <a:ext cx="2651760" cy="914400"/>
          </a:xfrm>
          <a:prstGeom prst="rect">
            <a:avLst/>
          </a:prstGeom>
          <a:noFill/>
          <a:ln/>
        </p:spPr>
        <p:txBody>
          <a:bodyPr wrap="square" lIns="0" tIns="0" rIns="0" bIns="0" rtlCol="0" anchor="t"/>
          <a:lstStyle/>
          <a:p>
            <a:pPr indent="0" marL="0">
              <a:buNone/>
            </a:pPr>
            <a:r>
              <a:rPr lang="en-US" sz="1400" b="1" dirty="0">
                <a:solidFill>
                  <a:schemeClr val="accent3"/>
                </a:solidFill>
              </a:rPr>
              <a:t>Time: </a:t>
            </a:r>
            <a:r>
              <a:rPr lang="en-US" sz="1400" dirty="0">
                <a:solidFill>
                  <a:schemeClr val="bg1"/>
                </a:solidFill>
              </a:rPr>
              <a:t>1 week + 20 min sharing</a:t>
            </a:r>
            <a:endParaRPr lang="en-US" sz="1400" dirty="0"/>
          </a:p>
        </p:txBody>
      </p:sp>
      <p:pic>
        <p:nvPicPr>
          <p:cNvPr id="10" name="Group icon" descr="preencoded.png">    </p:cNvPr>
          <p:cNvPicPr>
            <a:picLocks noChangeAspect="1"/>
          </p:cNvPicPr>
          <p:nvPr/>
        </p:nvPicPr>
        <p:blipFill>
          <a:blip r:embed="rId3"/>
          <a:stretch>
            <a:fillRect/>
          </a:stretch>
        </p:blipFill>
        <p:spPr>
          <a:xfrm>
            <a:off x="868680" y="3703320"/>
            <a:ext cx="347472" cy="347472"/>
          </a:xfrm>
          <a:prstGeom prst="rect">
            <a:avLst/>
          </a:prstGeom>
        </p:spPr>
      </p:pic>
      <p:sp>
        <p:nvSpPr>
          <p:cNvPr id="11" name="Text 6"/>
          <p:cNvSpPr txBox="1"/>
          <p:nvPr/>
        </p:nvSpPr>
        <p:spPr>
          <a:xfrm>
            <a:off x="1371600" y="3657600"/>
            <a:ext cx="2651760" cy="914400"/>
          </a:xfrm>
          <a:prstGeom prst="rect">
            <a:avLst/>
          </a:prstGeom>
          <a:noFill/>
          <a:ln/>
        </p:spPr>
        <p:txBody>
          <a:bodyPr wrap="square" lIns="0" tIns="0" rIns="0" bIns="0" rtlCol="0" anchor="t"/>
          <a:lstStyle/>
          <a:p>
            <a:pPr indent="0" marL="0">
              <a:buNone/>
            </a:pPr>
            <a:r>
              <a:rPr lang="en-US" sz="1400" b="1" dirty="0">
                <a:solidFill>
                  <a:schemeClr val="accent3"/>
                </a:solidFill>
              </a:rPr>
              <a:t>Group: </a:t>
            </a:r>
            <a:r>
              <a:rPr lang="en-US" sz="1400" dirty="0">
                <a:solidFill>
                  <a:schemeClr val="bg1"/>
                </a:solidFill>
              </a:rPr>
              <a:t>5 groups</a:t>
            </a:r>
            <a:endParaRPr lang="en-US" sz="1400" dirty="0"/>
          </a:p>
        </p:txBody>
      </p:sp>
      <p:pic>
        <p:nvPicPr>
          <p:cNvPr id="12" name="You need icon" descr="preencoded.png">    </p:cNvPr>
          <p:cNvPicPr>
            <a:picLocks noChangeAspect="1"/>
          </p:cNvPicPr>
          <p:nvPr/>
        </p:nvPicPr>
        <p:blipFill>
          <a:blip r:embed="rId4"/>
          <a:stretch>
            <a:fillRect/>
          </a:stretch>
        </p:blipFill>
        <p:spPr>
          <a:xfrm>
            <a:off x="868680" y="4343400"/>
            <a:ext cx="347472" cy="347472"/>
          </a:xfrm>
          <a:prstGeom prst="rect">
            <a:avLst/>
          </a:prstGeom>
        </p:spPr>
      </p:pic>
      <p:sp>
        <p:nvSpPr>
          <p:cNvPr id="13" name="Text 7"/>
          <p:cNvSpPr txBox="1"/>
          <p:nvPr/>
        </p:nvSpPr>
        <p:spPr>
          <a:xfrm>
            <a:off x="1371600" y="4297680"/>
            <a:ext cx="2651760" cy="914400"/>
          </a:xfrm>
          <a:prstGeom prst="rect">
            <a:avLst/>
          </a:prstGeom>
          <a:noFill/>
          <a:ln/>
        </p:spPr>
        <p:txBody>
          <a:bodyPr wrap="square" lIns="0" tIns="0" rIns="0" bIns="0" rtlCol="0" anchor="t"/>
          <a:lstStyle/>
          <a:p>
            <a:pPr indent="0" marL="0">
              <a:buNone/>
            </a:pPr>
            <a:r>
              <a:rPr lang="en-US" sz="1400" b="1" dirty="0">
                <a:solidFill>
                  <a:schemeClr val="accent3"/>
                </a:solidFill>
              </a:rPr>
              <a:t>You need: </a:t>
            </a:r>
            <a:r>
              <a:rPr lang="en-US" sz="1400" dirty="0">
                <a:solidFill>
                  <a:schemeClr val="bg1"/>
                </a:solidFill>
              </a:rPr>
              <a:t>Question sheet, notebook</a:t>
            </a:r>
            <a:endParaRPr lang="en-US" sz="1400" dirty="0"/>
          </a:p>
        </p:txBody>
      </p:sp>
      <p:sp>
        <p:nvSpPr>
          <p:cNvPr id="14" name="activity steps card"/>
          <p:cNvSpPr/>
          <p:nvPr/>
        </p:nvSpPr>
        <p:spPr>
          <a:xfrm>
            <a:off x="4526280" y="1371600"/>
            <a:ext cx="7086600" cy="4846320"/>
          </a:xfrm>
          <a:prstGeom prst="roundRect">
            <a:avLst>
              <a:gd name="adj" fmla="val 2264"/>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15" name="Text 9"/>
          <p:cNvSpPr txBox="1"/>
          <p:nvPr/>
        </p:nvSpPr>
        <p:spPr>
          <a:xfrm>
            <a:off x="4846320" y="1600200"/>
            <a:ext cx="6400800" cy="457200"/>
          </a:xfrm>
          <a:prstGeom prst="rect">
            <a:avLst/>
          </a:prstGeom>
          <a:noFill/>
          <a:ln/>
        </p:spPr>
        <p:txBody>
          <a:bodyPr wrap="square" lIns="0" tIns="0" rIns="0" bIns="0" rtlCol="0" anchor="ctr"/>
          <a:lstStyle/>
          <a:p>
            <a:pPr indent="0" marL="0">
              <a:buNone/>
            </a:pPr>
            <a:r>
              <a:rPr lang="en-US" sz="2000" b="1" dirty="0">
                <a:solidFill>
                  <a:schemeClr val="accent1"/>
                </a:solidFill>
              </a:rPr>
              <a:t>How to play</a:t>
            </a:r>
            <a:endParaRPr lang="en-US" sz="2000" dirty="0"/>
          </a:p>
        </p:txBody>
      </p:sp>
      <p:sp>
        <p:nvSpPr>
          <p:cNvPr id="16" name="step 1 badge"/>
          <p:cNvSpPr/>
          <p:nvPr/>
        </p:nvSpPr>
        <p:spPr>
          <a:xfrm>
            <a:off x="4846320" y="2212848"/>
            <a:ext cx="384048" cy="384048"/>
          </a:xfrm>
          <a:prstGeom prst="ellipse">
            <a:avLst/>
          </a:prstGeom>
          <a:solidFill>
            <a:schemeClr val="accent1"/>
          </a:solidFill>
          <a:ln w="12700">
            <a:solidFill>
              <a:schemeClr val="accent1"/>
            </a:solidFill>
            <a:prstDash val="solid"/>
          </a:ln>
        </p:spPr>
      </p:sp>
      <p:sp>
        <p:nvSpPr>
          <p:cNvPr id="17" name="Text 11"/>
          <p:cNvSpPr txBox="1"/>
          <p:nvPr/>
        </p:nvSpPr>
        <p:spPr>
          <a:xfrm>
            <a:off x="4846320" y="221284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8" name="Text 12"/>
          <p:cNvSpPr txBox="1"/>
          <p:nvPr/>
        </p:nvSpPr>
        <p:spPr>
          <a:xfrm>
            <a:off x="5394960" y="2194560"/>
            <a:ext cx="5943600" cy="493776"/>
          </a:xfrm>
          <a:prstGeom prst="rect">
            <a:avLst/>
          </a:prstGeom>
          <a:noFill/>
          <a:ln/>
        </p:spPr>
        <p:txBody>
          <a:bodyPr wrap="square" lIns="0" tIns="0" rIns="0" bIns="0" rtlCol="0" anchor="t"/>
          <a:lstStyle/>
          <a:p>
            <a:pPr indent="0" marL="0">
              <a:buNone/>
            </a:pPr>
            <a:r>
              <a:rPr lang="en-US" sz="1400" dirty="0">
                <a:solidFill>
                  <a:schemeClr val="tx1"/>
                </a:solidFill>
              </a:rPr>
              <a:t>Each group interviews one: </a:t>
            </a:r>
            <a:r>
              <a:rPr lang="en-US" sz="1400" b="1" dirty="0">
                <a:solidFill>
                  <a:schemeClr val="tx1"/>
                </a:solidFill>
              </a:rPr>
              <a:t>seniors, teachers, guards, office staff, parents</a:t>
            </a:r>
            <a:r>
              <a:rPr lang="en-US" sz="1400" dirty="0">
                <a:solidFill>
                  <a:schemeClr val="tx1"/>
                </a:solidFill>
              </a:rPr>
              <a:t>.</a:t>
            </a:r>
            <a:endParaRPr lang="en-US" sz="1600" dirty="0"/>
          </a:p>
        </p:txBody>
      </p:sp>
      <p:sp>
        <p:nvSpPr>
          <p:cNvPr id="19" name="step 2 badge"/>
          <p:cNvSpPr/>
          <p:nvPr/>
        </p:nvSpPr>
        <p:spPr>
          <a:xfrm>
            <a:off x="4846320" y="2752344"/>
            <a:ext cx="384048" cy="384048"/>
          </a:xfrm>
          <a:prstGeom prst="ellipse">
            <a:avLst/>
          </a:prstGeom>
          <a:solidFill>
            <a:schemeClr val="accent1"/>
          </a:solidFill>
          <a:ln w="12700">
            <a:solidFill>
              <a:schemeClr val="accent1"/>
            </a:solidFill>
            <a:prstDash val="solid"/>
          </a:ln>
        </p:spPr>
      </p:sp>
      <p:sp>
        <p:nvSpPr>
          <p:cNvPr id="20" name="Text 14"/>
          <p:cNvSpPr txBox="1"/>
          <p:nvPr/>
        </p:nvSpPr>
        <p:spPr>
          <a:xfrm>
            <a:off x="4846320" y="2752344"/>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21" name="Text 15"/>
          <p:cNvSpPr txBox="1"/>
          <p:nvPr/>
        </p:nvSpPr>
        <p:spPr>
          <a:xfrm>
            <a:off x="5394960" y="2734056"/>
            <a:ext cx="5943600" cy="493776"/>
          </a:xfrm>
          <a:prstGeom prst="rect">
            <a:avLst/>
          </a:prstGeom>
          <a:noFill/>
          <a:ln/>
        </p:spPr>
        <p:txBody>
          <a:bodyPr wrap="square" lIns="0" tIns="0" rIns="0" bIns="0" rtlCol="0" anchor="t"/>
          <a:lstStyle/>
          <a:p>
            <a:pPr indent="0" marL="0">
              <a:buNone/>
            </a:pPr>
            <a:r>
              <a:rPr lang="en-US" sz="1400" dirty="0">
                <a:solidFill>
                  <a:schemeClr val="tx1"/>
                </a:solidFill>
              </a:rPr>
              <a:t>Ask about: birth certificate, admit card, marksheets, salary, tickets, vehicle registration.</a:t>
            </a:r>
            <a:endParaRPr lang="en-US" sz="1600" dirty="0"/>
          </a:p>
        </p:txBody>
      </p:sp>
      <p:sp>
        <p:nvSpPr>
          <p:cNvPr id="22" name="step 3 badge"/>
          <p:cNvSpPr/>
          <p:nvPr/>
        </p:nvSpPr>
        <p:spPr>
          <a:xfrm>
            <a:off x="4846320" y="3291840"/>
            <a:ext cx="384048" cy="384048"/>
          </a:xfrm>
          <a:prstGeom prst="ellipse">
            <a:avLst/>
          </a:prstGeom>
          <a:solidFill>
            <a:schemeClr val="accent1"/>
          </a:solidFill>
          <a:ln w="12700">
            <a:solidFill>
              <a:schemeClr val="accent1"/>
            </a:solidFill>
            <a:prstDash val="solid"/>
          </a:ln>
        </p:spPr>
      </p:sp>
      <p:sp>
        <p:nvSpPr>
          <p:cNvPr id="23" name="Text 17"/>
          <p:cNvSpPr txBox="1"/>
          <p:nvPr/>
        </p:nvSpPr>
        <p:spPr>
          <a:xfrm>
            <a:off x="4846320" y="329184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24" name="Text 18"/>
          <p:cNvSpPr txBox="1"/>
          <p:nvPr/>
        </p:nvSpPr>
        <p:spPr>
          <a:xfrm>
            <a:off x="5394960" y="3273552"/>
            <a:ext cx="5943600" cy="493776"/>
          </a:xfrm>
          <a:prstGeom prst="rect">
            <a:avLst/>
          </a:prstGeom>
          <a:noFill/>
          <a:ln/>
        </p:spPr>
        <p:txBody>
          <a:bodyPr wrap="square" lIns="0" tIns="0" rIns="0" bIns="0" rtlCol="0" anchor="t"/>
          <a:lstStyle/>
          <a:p>
            <a:pPr indent="0" marL="0">
              <a:buNone/>
            </a:pPr>
            <a:r>
              <a:rPr lang="en-US" sz="1400" dirty="0">
                <a:solidFill>
                  <a:schemeClr val="tx1"/>
                </a:solidFill>
              </a:rPr>
              <a:t>What problems did they face </a:t>
            </a:r>
            <a:r>
              <a:rPr lang="en-US" sz="1400" b="1" dirty="0">
                <a:solidFill>
                  <a:schemeClr val="tx1"/>
                </a:solidFill>
              </a:rPr>
              <a:t>before</a:t>
            </a:r>
            <a:r>
              <a:rPr lang="en-US" sz="1400" dirty="0">
                <a:solidFill>
                  <a:schemeClr val="tx1"/>
                </a:solidFill>
              </a:rPr>
              <a:t> e-governance?</a:t>
            </a:r>
            <a:endParaRPr lang="en-US" sz="1600" dirty="0"/>
          </a:p>
        </p:txBody>
      </p:sp>
      <p:sp>
        <p:nvSpPr>
          <p:cNvPr id="25" name="step 4 badge"/>
          <p:cNvSpPr/>
          <p:nvPr/>
        </p:nvSpPr>
        <p:spPr>
          <a:xfrm>
            <a:off x="4846320" y="3831336"/>
            <a:ext cx="384048" cy="384048"/>
          </a:xfrm>
          <a:prstGeom prst="ellipse">
            <a:avLst/>
          </a:prstGeom>
          <a:solidFill>
            <a:schemeClr val="accent1"/>
          </a:solidFill>
          <a:ln w="12700">
            <a:solidFill>
              <a:schemeClr val="accent1"/>
            </a:solidFill>
            <a:prstDash val="solid"/>
          </a:ln>
        </p:spPr>
      </p:sp>
      <p:sp>
        <p:nvSpPr>
          <p:cNvPr id="26" name="Text 20"/>
          <p:cNvSpPr txBox="1"/>
          <p:nvPr/>
        </p:nvSpPr>
        <p:spPr>
          <a:xfrm>
            <a:off x="4846320" y="3831336"/>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7" name="Text 21"/>
          <p:cNvSpPr txBox="1"/>
          <p:nvPr/>
        </p:nvSpPr>
        <p:spPr>
          <a:xfrm>
            <a:off x="5394960" y="3813048"/>
            <a:ext cx="5943600" cy="493776"/>
          </a:xfrm>
          <a:prstGeom prst="rect">
            <a:avLst/>
          </a:prstGeom>
          <a:noFill/>
          <a:ln/>
        </p:spPr>
        <p:txBody>
          <a:bodyPr wrap="square" lIns="0" tIns="0" rIns="0" bIns="0" rtlCol="0" anchor="t"/>
          <a:lstStyle/>
          <a:p>
            <a:pPr indent="0" marL="0">
              <a:buNone/>
            </a:pPr>
            <a:r>
              <a:rPr lang="en-US" sz="1400" dirty="0">
                <a:solidFill>
                  <a:schemeClr val="tx1"/>
                </a:solidFill>
              </a:rPr>
              <a:t>Is it easier </a:t>
            </a:r>
            <a:r>
              <a:rPr lang="en-US" sz="1400" b="1" dirty="0">
                <a:solidFill>
                  <a:schemeClr val="tx1"/>
                </a:solidFill>
              </a:rPr>
              <a:t>now</a:t>
            </a:r>
            <a:r>
              <a:rPr lang="en-US" sz="1400" dirty="0">
                <a:solidFill>
                  <a:schemeClr val="tx1"/>
                </a:solidFill>
              </a:rPr>
              <a:t>? Do they have a smartphone and internet?</a:t>
            </a:r>
            <a:endParaRPr lang="en-US" sz="1600" dirty="0"/>
          </a:p>
        </p:txBody>
      </p:sp>
      <p:sp>
        <p:nvSpPr>
          <p:cNvPr id="28" name="step 5 badge"/>
          <p:cNvSpPr/>
          <p:nvPr/>
        </p:nvSpPr>
        <p:spPr>
          <a:xfrm>
            <a:off x="4846320" y="4370832"/>
            <a:ext cx="384048" cy="384048"/>
          </a:xfrm>
          <a:prstGeom prst="ellipse">
            <a:avLst/>
          </a:prstGeom>
          <a:solidFill>
            <a:schemeClr val="accent1"/>
          </a:solidFill>
          <a:ln w="12700">
            <a:solidFill>
              <a:schemeClr val="accent1"/>
            </a:solidFill>
            <a:prstDash val="solid"/>
          </a:ln>
        </p:spPr>
      </p:sp>
      <p:sp>
        <p:nvSpPr>
          <p:cNvPr id="29" name="Text 23"/>
          <p:cNvSpPr txBox="1"/>
          <p:nvPr/>
        </p:nvSpPr>
        <p:spPr>
          <a:xfrm>
            <a:off x="4846320" y="4370832"/>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30" name="Text 24"/>
          <p:cNvSpPr txBox="1"/>
          <p:nvPr/>
        </p:nvSpPr>
        <p:spPr>
          <a:xfrm>
            <a:off x="5394960" y="4352544"/>
            <a:ext cx="5943600" cy="493776"/>
          </a:xfrm>
          <a:prstGeom prst="rect">
            <a:avLst/>
          </a:prstGeom>
          <a:noFill/>
          <a:ln/>
        </p:spPr>
        <p:txBody>
          <a:bodyPr wrap="square" lIns="0" tIns="0" rIns="0" bIns="0" rtlCol="0" anchor="t"/>
          <a:lstStyle/>
          <a:p>
            <a:pPr indent="0" marL="0">
              <a:buNone/>
            </a:pPr>
            <a:r>
              <a:rPr lang="en-US" sz="1400" dirty="0">
                <a:solidFill>
                  <a:schemeClr val="tx1"/>
                </a:solidFill>
              </a:rPr>
              <a:t>Make a 'Then vs Now' chart for the class wall.</a:t>
            </a:r>
            <a:endParaRPr lang="en-US" sz="1600" dirty="0"/>
          </a:p>
        </p:txBody>
      </p:sp>
      <p:sp>
        <p:nvSpPr>
          <p:cNvPr id="31" name="outcome band"/>
          <p:cNvSpPr/>
          <p:nvPr/>
        </p:nvSpPr>
        <p:spPr>
          <a:xfrm>
            <a:off x="4846320" y="5074920"/>
            <a:ext cx="6446520" cy="914400"/>
          </a:xfrm>
          <a:prstGeom prst="roundRect">
            <a:avLst>
              <a:gd name="adj" fmla="val 8000"/>
            </a:avLst>
          </a:prstGeom>
          <a:solidFill>
            <a:schemeClr val="bg2"/>
          </a:solidFill>
          <a:ln w="12700">
            <a:solidFill>
              <a:schemeClr val="bg2"/>
            </a:solidFill>
            <a:prstDash val="solid"/>
          </a:ln>
        </p:spPr>
      </p:sp>
      <p:sp>
        <p:nvSpPr>
          <p:cNvPr id="32" name="Text 26"/>
          <p:cNvSpPr txBox="1"/>
          <p:nvPr/>
        </p:nvSpPr>
        <p:spPr>
          <a:xfrm>
            <a:off x="5029200" y="5074920"/>
            <a:ext cx="6126480" cy="914400"/>
          </a:xfrm>
          <a:prstGeom prst="rect">
            <a:avLst/>
          </a:prstGeom>
          <a:noFill/>
          <a:ln/>
        </p:spPr>
        <p:txBody>
          <a:bodyPr wrap="square" lIns="0" tIns="0" rIns="0" bIns="0" rtlCol="0" anchor="ctr"/>
          <a:lstStyle/>
          <a:p>
            <a:pPr indent="0" marL="0">
              <a:buNone/>
            </a:pPr>
            <a:r>
              <a:rPr lang="en-US" sz="1400" b="1" dirty="0">
                <a:solidFill>
                  <a:schemeClr val="tx2"/>
                </a:solidFill>
              </a:rPr>
              <a:t>Learning link:</a:t>
            </a:r>
            <a:r>
              <a:rPr lang="en-US" sz="1400" dirty="0">
                <a:solidFill>
                  <a:schemeClr val="tx2"/>
                </a:solidFill>
              </a:rPr>
              <a:t> Technology can make services faster and more transparent, but only if everyone can use it.</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E2761"/>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731520" y="2011680"/>
            <a:ext cx="7772400" cy="457200"/>
          </a:xfrm>
          <a:prstGeom prst="rect">
            <a:avLst/>
          </a:prstGeom>
          <a:noFill/>
          <a:ln/>
        </p:spPr>
        <p:txBody>
          <a:bodyPr wrap="square" lIns="0" tIns="0" rIns="0" bIns="0" rtlCol="0"/>
          <a:lstStyle/>
          <a:p>
            <a:pPr indent="0" marL="0">
              <a:buNone/>
            </a:pPr>
            <a:r>
              <a:rPr lang="en-US" sz="1800" b="1" spc="300" kern="0" dirty="0">
                <a:solidFill>
                  <a:schemeClr val="bg2"/>
                </a:solidFill>
              </a:rPr>
              <a:t>PART 2</a:t>
            </a:r>
            <a:endParaRPr lang="en-US" sz="1800" dirty="0"/>
          </a:p>
        </p:txBody>
      </p:sp>
      <p:sp>
        <p:nvSpPr>
          <p:cNvPr id="3" name="Text 0"/>
          <p:cNvSpPr/>
          <p:nvPr>
            <p:ph idx="101" type="title" hasCustomPrompt="1"/>
          </p:nvPr>
        </p:nvSpPr>
        <p:spPr>
          <a:xfrm>
            <a:off x="731520" y="2514600"/>
            <a:ext cx="7772400" cy="1463040"/>
          </a:xfrm>
          <a:prstGeom prst="rect">
            <a:avLst/>
          </a:prstGeom>
          <a:noFill/>
          <a:ln/>
        </p:spPr>
        <p:txBody>
          <a:bodyPr wrap="square" lIns="0" tIns="0" rIns="0" bIns="0" rtlCol="0" anchor="t"/>
          <a:lstStyle/>
          <a:p>
            <a:pPr algn="l" indent="0" marL="0">
              <a:buNone/>
            </a:pPr>
            <a:r>
              <a:rPr lang="en-US" sz="4400" b="1" dirty="0">
                <a:solidFill>
                  <a:schemeClr val="bg1"/>
                </a:solidFill>
              </a:rPr>
              <a:t>Public Policy: Turning Ideas into Action</a:t>
            </a:r>
            <a:endParaRPr lang="en-US" sz="4400" dirty="0"/>
          </a:p>
        </p:txBody>
      </p:sp>
      <p:sp>
        <p:nvSpPr>
          <p:cNvPr id="4" name="Text 0"/>
          <p:cNvSpPr/>
          <p:nvPr>
            <p:ph idx="102" type="body" hasCustomPrompt="1"/>
          </p:nvPr>
        </p:nvSpPr>
        <p:spPr>
          <a:xfrm>
            <a:off x="731520" y="4069080"/>
            <a:ext cx="7772400" cy="1097280"/>
          </a:xfrm>
          <a:prstGeom prst="rect">
            <a:avLst/>
          </a:prstGeom>
          <a:noFill/>
          <a:ln/>
        </p:spPr>
        <p:txBody>
          <a:bodyPr wrap="square" lIns="0" tIns="0" rIns="0" bIns="0" rtlCol="0" anchor="t"/>
          <a:lstStyle/>
          <a:p>
            <a:pPr indent="0" marL="0">
              <a:buNone/>
            </a:pPr>
            <a:r>
              <a:rPr lang="en-US" sz="1800" dirty="0">
                <a:solidFill>
                  <a:schemeClr val="bg1"/>
                </a:solidFill>
              </a:rPr>
              <a:t>From roads and traffic lights to clean water and vaccines.</a:t>
            </a:r>
            <a:endParaRPr lang="en-US" sz="1800" dirty="0"/>
          </a:p>
        </p:txBody>
      </p:sp>
      <p:sp>
        <p:nvSpPr>
          <p:cNvPr id="5" name="section disc"/>
          <p:cNvSpPr/>
          <p:nvPr/>
        </p:nvSpPr>
        <p:spPr>
          <a:xfrm>
            <a:off x="9006840" y="1828800"/>
            <a:ext cx="2560320" cy="2560320"/>
          </a:xfrm>
          <a:prstGeom prst="ellipse">
            <a:avLst/>
          </a:prstGeom>
          <a:solidFill>
            <a:schemeClr val="tx2"/>
          </a:solidFill>
          <a:ln w="25400">
            <a:solidFill>
              <a:schemeClr val="bg1"/>
            </a:solidFill>
            <a:prstDash val="solid"/>
          </a:ln>
        </p:spPr>
      </p:sp>
      <p:pic>
        <p:nvPicPr>
          <p:cNvPr id="6" name="section icon" descr="preencoded.png">    </p:cNvPr>
          <p:cNvPicPr>
            <a:picLocks noChangeAspect="1"/>
          </p:cNvPicPr>
          <p:nvPr/>
        </p:nvPicPr>
        <p:blipFill>
          <a:blip r:embed="rId1"/>
          <a:stretch>
            <a:fillRect/>
          </a:stretch>
        </p:blipFill>
        <p:spPr>
          <a:xfrm>
            <a:off x="9601200" y="2423160"/>
            <a:ext cx="1371600" cy="13716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A Policy Close to Home: Plastic-Free Campus</a:t>
            </a:r>
            <a:endParaRPr lang="en-US" sz="3600" dirty="0"/>
          </a:p>
        </p:txBody>
      </p:sp>
      <p:sp>
        <p:nvSpPr>
          <p:cNvPr id="3" name="Text 1"/>
          <p:cNvSpPr txBox="1"/>
          <p:nvPr/>
        </p:nvSpPr>
        <p:spPr>
          <a:xfrm>
            <a:off x="548640" y="1280160"/>
            <a:ext cx="11064240" cy="594360"/>
          </a:xfrm>
          <a:prstGeom prst="rect">
            <a:avLst/>
          </a:prstGeom>
          <a:noFill/>
          <a:ln/>
        </p:spPr>
        <p:txBody>
          <a:bodyPr wrap="square" lIns="0" tIns="0" rIns="0" bIns="0" rtlCol="0" anchor="ctr"/>
          <a:lstStyle/>
          <a:p>
            <a:pPr indent="0" marL="0">
              <a:buNone/>
            </a:pPr>
            <a:r>
              <a:rPr lang="en-US" sz="1700" b="1" dirty="0">
                <a:solidFill>
                  <a:schemeClr val="tx1"/>
                </a:solidFill>
              </a:rPr>
              <a:t>Public policy</a:t>
            </a:r>
            <a:r>
              <a:rPr lang="en-US" sz="1700" dirty="0">
                <a:solidFill>
                  <a:schemeClr val="tx1"/>
                </a:solidFill>
              </a:rPr>
              <a:t> is a course of action adopted by the government to solve public problems and promote welfare: </a:t>
            </a:r>
            <a:r>
              <a:rPr lang="en-US" sz="1700" b="1" dirty="0">
                <a:solidFill>
                  <a:schemeClr val="tx1"/>
                </a:solidFill>
              </a:rPr>
              <a:t>what, why, who, how</a:t>
            </a:r>
            <a:r>
              <a:rPr lang="en-US" sz="1700" dirty="0">
                <a:solidFill>
                  <a:schemeClr val="tx1"/>
                </a:solidFill>
              </a:rPr>
              <a:t>, and how success is measured.</a:t>
            </a:r>
            <a:endParaRPr lang="en-US" sz="1600" dirty="0"/>
          </a:p>
        </p:txBody>
      </p:sp>
      <p:sp>
        <p:nvSpPr>
          <p:cNvPr id="4" name="step 1 card"/>
          <p:cNvSpPr/>
          <p:nvPr/>
        </p:nvSpPr>
        <p:spPr>
          <a:xfrm>
            <a:off x="548640" y="2057400"/>
            <a:ext cx="2457450" cy="4160520"/>
          </a:xfrm>
          <a:prstGeom prst="roundRect">
            <a:avLst>
              <a:gd name="adj" fmla="val 4465"/>
            </a:avLst>
          </a:prstGeom>
          <a:solidFill>
            <a:schemeClr val="bg2"/>
          </a:solidFill>
          <a:ln w="12700">
            <a:solidFill>
              <a:schemeClr val="bg2"/>
            </a:solidFill>
            <a:prstDash val="solid"/>
          </a:ln>
        </p:spPr>
      </p:sp>
      <p:sp>
        <p:nvSpPr>
          <p:cNvPr id="5" name="step 1 disc"/>
          <p:cNvSpPr/>
          <p:nvPr/>
        </p:nvSpPr>
        <p:spPr>
          <a:xfrm>
            <a:off x="1343025" y="2331720"/>
            <a:ext cx="868680" cy="868680"/>
          </a:xfrm>
          <a:prstGeom prst="ellipse">
            <a:avLst/>
          </a:prstGeom>
          <a:solidFill>
            <a:schemeClr val="accent1"/>
          </a:solidFill>
          <a:ln w="12700">
            <a:solidFill>
              <a:schemeClr val="accent1"/>
            </a:solidFill>
            <a:prstDash val="solid"/>
          </a:ln>
        </p:spPr>
      </p:sp>
      <p:pic>
        <p:nvPicPr>
          <p:cNvPr id="6" name="step 1 glyph" descr="preencoded.png">    </p:cNvPr>
          <p:cNvPicPr>
            <a:picLocks noChangeAspect="1"/>
          </p:cNvPicPr>
          <p:nvPr/>
        </p:nvPicPr>
        <p:blipFill>
          <a:blip r:embed="rId1"/>
          <a:stretch>
            <a:fillRect/>
          </a:stretch>
        </p:blipFill>
        <p:spPr>
          <a:xfrm>
            <a:off x="1534135" y="2522830"/>
            <a:ext cx="486461" cy="486461"/>
          </a:xfrm>
          <a:prstGeom prst="rect">
            <a:avLst/>
          </a:prstGeom>
        </p:spPr>
      </p:pic>
      <p:sp>
        <p:nvSpPr>
          <p:cNvPr id="7" name="Text 4"/>
          <p:cNvSpPr txBox="1"/>
          <p:nvPr/>
        </p:nvSpPr>
        <p:spPr>
          <a:xfrm>
            <a:off x="685800" y="3291840"/>
            <a:ext cx="2183130" cy="685800"/>
          </a:xfrm>
          <a:prstGeom prst="rect">
            <a:avLst/>
          </a:prstGeom>
          <a:noFill/>
          <a:ln/>
        </p:spPr>
        <p:txBody>
          <a:bodyPr wrap="square" lIns="0" tIns="0" rIns="0" bIns="0" rtlCol="0" anchor="ctr"/>
          <a:lstStyle/>
          <a:p>
            <a:pPr algn="ctr" indent="0" marL="0">
              <a:buNone/>
            </a:pPr>
            <a:r>
              <a:rPr lang="en-US" sz="1700" b="1" dirty="0">
                <a:solidFill>
                  <a:schemeClr val="tx2"/>
                </a:solidFill>
              </a:rPr>
              <a:t>1. The problem</a:t>
            </a:r>
            <a:endParaRPr lang="en-US" sz="1700" dirty="0"/>
          </a:p>
        </p:txBody>
      </p:sp>
      <p:sp>
        <p:nvSpPr>
          <p:cNvPr id="8" name="Text 5"/>
          <p:cNvSpPr txBox="1"/>
          <p:nvPr/>
        </p:nvSpPr>
        <p:spPr>
          <a:xfrm>
            <a:off x="731520" y="4023360"/>
            <a:ext cx="2091690" cy="2057400"/>
          </a:xfrm>
          <a:prstGeom prst="rect">
            <a:avLst/>
          </a:prstGeom>
          <a:noFill/>
          <a:ln/>
        </p:spPr>
        <p:txBody>
          <a:bodyPr wrap="square" lIns="0" tIns="0" rIns="0" bIns="0" rtlCol="0" anchor="t"/>
          <a:lstStyle/>
          <a:p>
            <a:pPr algn="l" indent="0" marL="0">
              <a:buNone/>
            </a:pPr>
            <a:r>
              <a:rPr lang="en-US" sz="1700" dirty="0">
                <a:solidFill>
                  <a:schemeClr val="tx1"/>
                </a:solidFill>
              </a:rPr>
              <a:t>Students bring single-use plastic every day; the campus gets dirty.</a:t>
            </a:r>
            <a:endParaRPr lang="en-US" sz="1600" dirty="0"/>
          </a:p>
        </p:txBody>
      </p:sp>
      <p:sp>
        <p:nvSpPr>
          <p:cNvPr id="9" name="arrow 1"/>
          <p:cNvSpPr/>
          <p:nvPr/>
        </p:nvSpPr>
        <p:spPr>
          <a:xfrm>
            <a:off x="3060954" y="2619756"/>
            <a:ext cx="301752" cy="292608"/>
          </a:xfrm>
          <a:prstGeom prst="rightArrow">
            <a:avLst/>
          </a:prstGeom>
          <a:solidFill>
            <a:schemeClr val="accent3"/>
          </a:solidFill>
          <a:ln w="12700">
            <a:solidFill>
              <a:schemeClr val="accent3"/>
            </a:solidFill>
            <a:prstDash val="solid"/>
          </a:ln>
        </p:spPr>
      </p:sp>
      <p:sp>
        <p:nvSpPr>
          <p:cNvPr id="10" name="step 2 card"/>
          <p:cNvSpPr/>
          <p:nvPr/>
        </p:nvSpPr>
        <p:spPr>
          <a:xfrm>
            <a:off x="3417570" y="2057400"/>
            <a:ext cx="2457450" cy="4160520"/>
          </a:xfrm>
          <a:prstGeom prst="roundRect">
            <a:avLst>
              <a:gd name="adj" fmla="val 4465"/>
            </a:avLst>
          </a:prstGeom>
          <a:solidFill>
            <a:schemeClr val="bg2"/>
          </a:solidFill>
          <a:ln w="12700">
            <a:solidFill>
              <a:schemeClr val="bg2"/>
            </a:solidFill>
            <a:prstDash val="solid"/>
          </a:ln>
        </p:spPr>
      </p:sp>
      <p:sp>
        <p:nvSpPr>
          <p:cNvPr id="11" name="step 2 disc"/>
          <p:cNvSpPr/>
          <p:nvPr/>
        </p:nvSpPr>
        <p:spPr>
          <a:xfrm>
            <a:off x="4211955" y="2331720"/>
            <a:ext cx="868680" cy="868680"/>
          </a:xfrm>
          <a:prstGeom prst="ellipse">
            <a:avLst/>
          </a:prstGeom>
          <a:solidFill>
            <a:schemeClr val="accent2"/>
          </a:solidFill>
          <a:ln w="12700">
            <a:solidFill>
              <a:schemeClr val="accent2"/>
            </a:solidFill>
            <a:prstDash val="solid"/>
          </a:ln>
        </p:spPr>
      </p:sp>
      <p:pic>
        <p:nvPicPr>
          <p:cNvPr id="12" name="step 2 glyph" descr="preencoded.png">    </p:cNvPr>
          <p:cNvPicPr>
            <a:picLocks noChangeAspect="1"/>
          </p:cNvPicPr>
          <p:nvPr/>
        </p:nvPicPr>
        <p:blipFill>
          <a:blip r:embed="rId2"/>
          <a:stretch>
            <a:fillRect/>
          </a:stretch>
        </p:blipFill>
        <p:spPr>
          <a:xfrm>
            <a:off x="4403065" y="2522830"/>
            <a:ext cx="486461" cy="486461"/>
          </a:xfrm>
          <a:prstGeom prst="rect">
            <a:avLst/>
          </a:prstGeom>
        </p:spPr>
      </p:pic>
      <p:sp>
        <p:nvSpPr>
          <p:cNvPr id="13" name="Text 9"/>
          <p:cNvSpPr txBox="1"/>
          <p:nvPr/>
        </p:nvSpPr>
        <p:spPr>
          <a:xfrm>
            <a:off x="3554730" y="3291840"/>
            <a:ext cx="2183130" cy="685800"/>
          </a:xfrm>
          <a:prstGeom prst="rect">
            <a:avLst/>
          </a:prstGeom>
          <a:noFill/>
          <a:ln/>
        </p:spPr>
        <p:txBody>
          <a:bodyPr wrap="square" lIns="0" tIns="0" rIns="0" bIns="0" rtlCol="0" anchor="ctr"/>
          <a:lstStyle/>
          <a:p>
            <a:pPr algn="ctr" indent="0" marL="0">
              <a:buNone/>
            </a:pPr>
            <a:r>
              <a:rPr lang="en-US" sz="1700" b="1" dirty="0">
                <a:solidFill>
                  <a:schemeClr val="tx2"/>
                </a:solidFill>
              </a:rPr>
              <a:t>2. Discuss</a:t>
            </a:r>
            <a:endParaRPr lang="en-US" sz="1700" dirty="0"/>
          </a:p>
        </p:txBody>
      </p:sp>
      <p:sp>
        <p:nvSpPr>
          <p:cNvPr id="14" name="Text 10"/>
          <p:cNvSpPr txBox="1"/>
          <p:nvPr/>
        </p:nvSpPr>
        <p:spPr>
          <a:xfrm>
            <a:off x="3600450" y="4023360"/>
            <a:ext cx="2091690" cy="2057400"/>
          </a:xfrm>
          <a:prstGeom prst="rect">
            <a:avLst/>
          </a:prstGeom>
          <a:noFill/>
          <a:ln/>
        </p:spPr>
        <p:txBody>
          <a:bodyPr wrap="square" lIns="0" tIns="0" rIns="0" bIns="0" rtlCol="0" anchor="t"/>
          <a:lstStyle/>
          <a:p>
            <a:pPr algn="l" indent="0" marL="0">
              <a:buNone/>
            </a:pPr>
            <a:r>
              <a:rPr lang="en-US" sz="1700" dirty="0">
                <a:solidFill>
                  <a:schemeClr val="tx1"/>
                </a:solidFill>
              </a:rPr>
              <a:t>The principal consults teachers, students and parents.</a:t>
            </a:r>
            <a:endParaRPr lang="en-US" sz="1600" dirty="0"/>
          </a:p>
        </p:txBody>
      </p:sp>
      <p:sp>
        <p:nvSpPr>
          <p:cNvPr id="15" name="arrow 2"/>
          <p:cNvSpPr/>
          <p:nvPr/>
        </p:nvSpPr>
        <p:spPr>
          <a:xfrm>
            <a:off x="5929884" y="2619756"/>
            <a:ext cx="301752" cy="292608"/>
          </a:xfrm>
          <a:prstGeom prst="rightArrow">
            <a:avLst/>
          </a:prstGeom>
          <a:solidFill>
            <a:schemeClr val="accent3"/>
          </a:solidFill>
          <a:ln w="12700">
            <a:solidFill>
              <a:schemeClr val="accent3"/>
            </a:solidFill>
            <a:prstDash val="solid"/>
          </a:ln>
        </p:spPr>
      </p:sp>
      <p:sp>
        <p:nvSpPr>
          <p:cNvPr id="16" name="step 3 card"/>
          <p:cNvSpPr/>
          <p:nvPr/>
        </p:nvSpPr>
        <p:spPr>
          <a:xfrm>
            <a:off x="6286500" y="2057400"/>
            <a:ext cx="2457450" cy="4160520"/>
          </a:xfrm>
          <a:prstGeom prst="roundRect">
            <a:avLst>
              <a:gd name="adj" fmla="val 4465"/>
            </a:avLst>
          </a:prstGeom>
          <a:solidFill>
            <a:schemeClr val="bg2"/>
          </a:solidFill>
          <a:ln w="12700">
            <a:solidFill>
              <a:schemeClr val="bg2"/>
            </a:solidFill>
            <a:prstDash val="solid"/>
          </a:ln>
        </p:spPr>
      </p:sp>
      <p:sp>
        <p:nvSpPr>
          <p:cNvPr id="17" name="step 3 disc"/>
          <p:cNvSpPr/>
          <p:nvPr/>
        </p:nvSpPr>
        <p:spPr>
          <a:xfrm>
            <a:off x="7080885" y="2331720"/>
            <a:ext cx="868680" cy="868680"/>
          </a:xfrm>
          <a:prstGeom prst="ellipse">
            <a:avLst/>
          </a:prstGeom>
          <a:solidFill>
            <a:schemeClr val="accent1"/>
          </a:solidFill>
          <a:ln w="12700">
            <a:solidFill>
              <a:schemeClr val="accent1"/>
            </a:solidFill>
            <a:prstDash val="solid"/>
          </a:ln>
        </p:spPr>
      </p:sp>
      <p:pic>
        <p:nvPicPr>
          <p:cNvPr id="18" name="step 3 glyph" descr="preencoded.png">    </p:cNvPr>
          <p:cNvPicPr>
            <a:picLocks noChangeAspect="1"/>
          </p:cNvPicPr>
          <p:nvPr/>
        </p:nvPicPr>
        <p:blipFill>
          <a:blip r:embed="rId3"/>
          <a:stretch>
            <a:fillRect/>
          </a:stretch>
        </p:blipFill>
        <p:spPr>
          <a:xfrm>
            <a:off x="7271995" y="2522830"/>
            <a:ext cx="486461" cy="486461"/>
          </a:xfrm>
          <a:prstGeom prst="rect">
            <a:avLst/>
          </a:prstGeom>
        </p:spPr>
      </p:pic>
      <p:sp>
        <p:nvSpPr>
          <p:cNvPr id="19" name="Text 14"/>
          <p:cNvSpPr txBox="1"/>
          <p:nvPr/>
        </p:nvSpPr>
        <p:spPr>
          <a:xfrm>
            <a:off x="6423660" y="3291840"/>
            <a:ext cx="2183130" cy="685800"/>
          </a:xfrm>
          <a:prstGeom prst="rect">
            <a:avLst/>
          </a:prstGeom>
          <a:noFill/>
          <a:ln/>
        </p:spPr>
        <p:txBody>
          <a:bodyPr wrap="square" lIns="0" tIns="0" rIns="0" bIns="0" rtlCol="0" anchor="ctr"/>
          <a:lstStyle/>
          <a:p>
            <a:pPr algn="ctr" indent="0" marL="0">
              <a:buNone/>
            </a:pPr>
            <a:r>
              <a:rPr lang="en-US" sz="1700" b="1" dirty="0">
                <a:solidFill>
                  <a:schemeClr val="tx2"/>
                </a:solidFill>
              </a:rPr>
              <a:t>3. Decide</a:t>
            </a:r>
            <a:endParaRPr lang="en-US" sz="1700" dirty="0"/>
          </a:p>
        </p:txBody>
      </p:sp>
      <p:sp>
        <p:nvSpPr>
          <p:cNvPr id="20" name="Text 15"/>
          <p:cNvSpPr txBox="1"/>
          <p:nvPr/>
        </p:nvSpPr>
        <p:spPr>
          <a:xfrm>
            <a:off x="6469380" y="4023360"/>
            <a:ext cx="2091690" cy="2057400"/>
          </a:xfrm>
          <a:prstGeom prst="rect">
            <a:avLst/>
          </a:prstGeom>
          <a:noFill/>
          <a:ln/>
        </p:spPr>
        <p:txBody>
          <a:bodyPr wrap="square" lIns="0" tIns="0" rIns="0" bIns="0" rtlCol="0" anchor="t"/>
          <a:lstStyle/>
          <a:p>
            <a:pPr algn="l" indent="0" marL="0">
              <a:buNone/>
            </a:pPr>
            <a:r>
              <a:rPr lang="en-US" sz="1700" dirty="0">
                <a:solidFill>
                  <a:schemeClr val="tx1"/>
                </a:solidFill>
              </a:rPr>
              <a:t>Reusable bottles, no plastic bags, segregation bins, monthly awareness drives.</a:t>
            </a:r>
            <a:endParaRPr lang="en-US" sz="1600" dirty="0"/>
          </a:p>
        </p:txBody>
      </p:sp>
      <p:sp>
        <p:nvSpPr>
          <p:cNvPr id="21" name="arrow 3"/>
          <p:cNvSpPr/>
          <p:nvPr/>
        </p:nvSpPr>
        <p:spPr>
          <a:xfrm>
            <a:off x="8798814" y="2619756"/>
            <a:ext cx="301752" cy="292608"/>
          </a:xfrm>
          <a:prstGeom prst="rightArrow">
            <a:avLst/>
          </a:prstGeom>
          <a:solidFill>
            <a:schemeClr val="accent3"/>
          </a:solidFill>
          <a:ln w="12700">
            <a:solidFill>
              <a:schemeClr val="accent3"/>
            </a:solidFill>
            <a:prstDash val="solid"/>
          </a:ln>
        </p:spPr>
      </p:sp>
      <p:sp>
        <p:nvSpPr>
          <p:cNvPr id="22" name="step 4 card"/>
          <p:cNvSpPr/>
          <p:nvPr/>
        </p:nvSpPr>
        <p:spPr>
          <a:xfrm>
            <a:off x="9155430" y="2057400"/>
            <a:ext cx="2457450" cy="4160520"/>
          </a:xfrm>
          <a:prstGeom prst="roundRect">
            <a:avLst>
              <a:gd name="adj" fmla="val 4465"/>
            </a:avLst>
          </a:prstGeom>
          <a:solidFill>
            <a:schemeClr val="bg2"/>
          </a:solidFill>
          <a:ln w="12700">
            <a:solidFill>
              <a:schemeClr val="bg2"/>
            </a:solidFill>
            <a:prstDash val="solid"/>
          </a:ln>
        </p:spPr>
      </p:sp>
      <p:sp>
        <p:nvSpPr>
          <p:cNvPr id="23" name="step 4 disc"/>
          <p:cNvSpPr/>
          <p:nvPr/>
        </p:nvSpPr>
        <p:spPr>
          <a:xfrm>
            <a:off x="9949815" y="2331720"/>
            <a:ext cx="868680" cy="868680"/>
          </a:xfrm>
          <a:prstGeom prst="ellipse">
            <a:avLst/>
          </a:prstGeom>
          <a:solidFill>
            <a:schemeClr val="accent2"/>
          </a:solidFill>
          <a:ln w="12700">
            <a:solidFill>
              <a:schemeClr val="accent2"/>
            </a:solidFill>
            <a:prstDash val="solid"/>
          </a:ln>
        </p:spPr>
      </p:sp>
      <p:pic>
        <p:nvPicPr>
          <p:cNvPr id="24" name="step 4 glyph" descr="preencoded.png">    </p:cNvPr>
          <p:cNvPicPr>
            <a:picLocks noChangeAspect="1"/>
          </p:cNvPicPr>
          <p:nvPr/>
        </p:nvPicPr>
        <p:blipFill>
          <a:blip r:embed="rId4"/>
          <a:stretch>
            <a:fillRect/>
          </a:stretch>
        </p:blipFill>
        <p:spPr>
          <a:xfrm>
            <a:off x="10140925" y="2522830"/>
            <a:ext cx="486461" cy="486461"/>
          </a:xfrm>
          <a:prstGeom prst="rect">
            <a:avLst/>
          </a:prstGeom>
        </p:spPr>
      </p:pic>
      <p:sp>
        <p:nvSpPr>
          <p:cNvPr id="25" name="Text 19"/>
          <p:cNvSpPr txBox="1"/>
          <p:nvPr/>
        </p:nvSpPr>
        <p:spPr>
          <a:xfrm>
            <a:off x="9292590" y="3291840"/>
            <a:ext cx="2183130" cy="685800"/>
          </a:xfrm>
          <a:prstGeom prst="rect">
            <a:avLst/>
          </a:prstGeom>
          <a:noFill/>
          <a:ln/>
        </p:spPr>
        <p:txBody>
          <a:bodyPr wrap="square" lIns="0" tIns="0" rIns="0" bIns="0" rtlCol="0" anchor="ctr"/>
          <a:lstStyle/>
          <a:p>
            <a:pPr algn="ctr" indent="0" marL="0">
              <a:buNone/>
            </a:pPr>
            <a:r>
              <a:rPr lang="en-US" sz="1700" b="1" dirty="0">
                <a:solidFill>
                  <a:schemeClr val="tx2"/>
                </a:solidFill>
              </a:rPr>
              <a:t>4. Monitor and improve</a:t>
            </a:r>
            <a:endParaRPr lang="en-US" sz="1700" dirty="0"/>
          </a:p>
        </p:txBody>
      </p:sp>
      <p:sp>
        <p:nvSpPr>
          <p:cNvPr id="26" name="Text 20"/>
          <p:cNvSpPr txBox="1"/>
          <p:nvPr/>
        </p:nvSpPr>
        <p:spPr>
          <a:xfrm>
            <a:off x="9338310" y="4023360"/>
            <a:ext cx="2091690" cy="2057400"/>
          </a:xfrm>
          <a:prstGeom prst="rect">
            <a:avLst/>
          </a:prstGeom>
          <a:noFill/>
          <a:ln/>
        </p:spPr>
        <p:txBody>
          <a:bodyPr wrap="square" lIns="0" tIns="0" rIns="0" bIns="0" rtlCol="0" anchor="t"/>
          <a:lstStyle/>
          <a:p>
            <a:pPr algn="l" indent="0" marL="0">
              <a:buNone/>
            </a:pPr>
            <a:r>
              <a:rPr lang="en-US" sz="1700" dirty="0">
                <a:solidFill>
                  <a:schemeClr val="tx1"/>
                </a:solidFill>
              </a:rPr>
              <a:t>Teachers monitor; feedback is used to improve the policy.</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E2761"/>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What Makes a Policy 'Public'?</a:t>
            </a:r>
            <a:endParaRPr lang="en-US" sz="3600" dirty="0"/>
          </a:p>
        </p:txBody>
      </p:sp>
      <p:sp>
        <p:nvSpPr>
          <p:cNvPr id="3" name="spoke 1"/>
          <p:cNvSpPr/>
          <p:nvPr/>
        </p:nvSpPr>
        <p:spPr>
          <a:xfrm>
            <a:off x="6099048" y="1984248"/>
            <a:ext cx="914" cy="1828800"/>
          </a:xfrm>
          <a:prstGeom prst="line">
            <a:avLst/>
          </a:prstGeom>
          <a:noFill/>
          <a:ln w="25400">
            <a:solidFill>
              <a:schemeClr val="accent3"/>
            </a:solidFill>
            <a:prstDash val="solid"/>
          </a:ln>
        </p:spPr>
      </p:sp>
      <p:sp>
        <p:nvSpPr>
          <p:cNvPr id="4" name="spoke 2"/>
          <p:cNvSpPr/>
          <p:nvPr/>
        </p:nvSpPr>
        <p:spPr>
          <a:xfrm flipV="1">
            <a:off x="6099048" y="3247918"/>
            <a:ext cx="3739478" cy="565130"/>
          </a:xfrm>
          <a:prstGeom prst="line">
            <a:avLst/>
          </a:prstGeom>
          <a:noFill/>
          <a:ln w="25400">
            <a:solidFill>
              <a:schemeClr val="accent3"/>
            </a:solidFill>
            <a:prstDash val="solid"/>
          </a:ln>
        </p:spPr>
      </p:sp>
      <p:sp>
        <p:nvSpPr>
          <p:cNvPr id="5" name="spoke 3"/>
          <p:cNvSpPr/>
          <p:nvPr/>
        </p:nvSpPr>
        <p:spPr>
          <a:xfrm>
            <a:off x="6099048" y="3813048"/>
            <a:ext cx="2311125" cy="1479530"/>
          </a:xfrm>
          <a:prstGeom prst="line">
            <a:avLst/>
          </a:prstGeom>
          <a:noFill/>
          <a:ln w="25400">
            <a:solidFill>
              <a:schemeClr val="accent3"/>
            </a:solidFill>
            <a:prstDash val="solid"/>
          </a:ln>
        </p:spPr>
      </p:sp>
      <p:sp>
        <p:nvSpPr>
          <p:cNvPr id="6" name="spoke 4"/>
          <p:cNvSpPr/>
          <p:nvPr/>
        </p:nvSpPr>
        <p:spPr>
          <a:xfrm flipV="1">
            <a:off x="3787923" y="3813048"/>
            <a:ext cx="2311125" cy="1479530"/>
          </a:xfrm>
          <a:prstGeom prst="line">
            <a:avLst/>
          </a:prstGeom>
          <a:noFill/>
          <a:ln w="25400">
            <a:solidFill>
              <a:schemeClr val="accent3"/>
            </a:solidFill>
            <a:prstDash val="solid"/>
          </a:ln>
        </p:spPr>
      </p:sp>
      <p:sp>
        <p:nvSpPr>
          <p:cNvPr id="7" name="spoke 5"/>
          <p:cNvSpPr/>
          <p:nvPr/>
        </p:nvSpPr>
        <p:spPr>
          <a:xfrm>
            <a:off x="2359570" y="3247918"/>
            <a:ext cx="3739478" cy="565130"/>
          </a:xfrm>
          <a:prstGeom prst="line">
            <a:avLst/>
          </a:prstGeom>
          <a:noFill/>
          <a:ln w="25400">
            <a:solidFill>
              <a:schemeClr val="accent3"/>
            </a:solidFill>
            <a:prstDash val="solid"/>
          </a:ln>
        </p:spPr>
      </p:sp>
      <p:sp>
        <p:nvSpPr>
          <p:cNvPr id="8" name="wheel centre"/>
          <p:cNvSpPr/>
          <p:nvPr/>
        </p:nvSpPr>
        <p:spPr>
          <a:xfrm>
            <a:off x="5093208" y="2958084"/>
            <a:ext cx="2011680" cy="1709928"/>
          </a:xfrm>
          <a:prstGeom prst="ellipse">
            <a:avLst/>
          </a:prstGeom>
          <a:solidFill>
            <a:schemeClr val="tx2"/>
          </a:solidFill>
          <a:ln w="38100">
            <a:solidFill>
              <a:schemeClr val="bg1"/>
            </a:solidFill>
            <a:prstDash val="solid"/>
          </a:ln>
        </p:spPr>
      </p:sp>
      <p:sp>
        <p:nvSpPr>
          <p:cNvPr id="9" name="Text 7"/>
          <p:cNvSpPr txBox="1"/>
          <p:nvPr/>
        </p:nvSpPr>
        <p:spPr>
          <a:xfrm>
            <a:off x="5184648" y="2958084"/>
            <a:ext cx="1828800" cy="1709928"/>
          </a:xfrm>
          <a:prstGeom prst="rect">
            <a:avLst/>
          </a:prstGeom>
          <a:noFill/>
          <a:ln/>
        </p:spPr>
        <p:txBody>
          <a:bodyPr wrap="square" lIns="0" tIns="0" rIns="0" bIns="0" rtlCol="0" anchor="ctr"/>
          <a:lstStyle/>
          <a:p>
            <a:pPr algn="ctr" indent="0" marL="0">
              <a:buNone/>
            </a:pPr>
            <a:r>
              <a:rPr lang="en-US" sz="1700" b="1" dirty="0">
                <a:solidFill>
                  <a:schemeClr val="bg1"/>
                </a:solidFill>
                <a:latin typeface="Cambria" pitchFamily="34" charset="0"/>
                <a:ea typeface="Cambria" pitchFamily="34" charset="-122"/>
                <a:cs typeface="Cambria" pitchFamily="34" charset="-120"/>
              </a:rPr>
              <a:t>Public Policy</a:t>
            </a:r>
            <a:endParaRPr lang="en-US" sz="1700" dirty="0"/>
          </a:p>
        </p:txBody>
      </p:sp>
      <p:sp>
        <p:nvSpPr>
          <p:cNvPr id="10" name="node 1"/>
          <p:cNvSpPr/>
          <p:nvPr/>
        </p:nvSpPr>
        <p:spPr>
          <a:xfrm>
            <a:off x="4453128" y="1367028"/>
            <a:ext cx="3291840" cy="1234440"/>
          </a:xfrm>
          <a:prstGeom prst="roundRect">
            <a:avLst>
              <a:gd name="adj" fmla="val 8889"/>
            </a:avLst>
          </a:prstGeom>
          <a:solidFill>
            <a:schemeClr val="bg2"/>
          </a:solidFill>
          <a:ln w="12700">
            <a:solidFill>
              <a:schemeClr val="bg2"/>
            </a:solidFill>
            <a:prstDash val="solid"/>
          </a:ln>
        </p:spPr>
      </p:sp>
      <p:sp>
        <p:nvSpPr>
          <p:cNvPr id="11" name="Text 9"/>
          <p:cNvSpPr txBox="1"/>
          <p:nvPr/>
        </p:nvSpPr>
        <p:spPr>
          <a:xfrm>
            <a:off x="4617720" y="1440180"/>
            <a:ext cx="3017520" cy="1106424"/>
          </a:xfrm>
          <a:prstGeom prst="rect">
            <a:avLst/>
          </a:prstGeom>
          <a:noFill/>
          <a:ln/>
        </p:spPr>
        <p:txBody>
          <a:bodyPr wrap="square" lIns="0" tIns="0" rIns="0" bIns="0" rtlCol="0" anchor="ctr"/>
          <a:lstStyle/>
          <a:p>
            <a:pPr indent="0" marL="0">
              <a:buNone/>
            </a:pPr>
            <a:r>
              <a:rPr lang="en-US" sz="1600" b="1" dirty="0">
                <a:solidFill>
                  <a:schemeClr val="accent1"/>
                </a:solidFill>
              </a:rPr>
              <a:t>Exists for everyone</a:t>
            </a:r>
            <a:endParaRPr lang="en-US" sz="1600" dirty="0"/>
          </a:p>
          <a:p>
            <a:pPr indent="0" marL="0">
              <a:buNone/>
            </a:pPr>
            <a:r>
              <a:rPr lang="en-US" sz="1600" dirty="0">
                <a:solidFill>
                  <a:schemeClr val="tx1"/>
                </a:solidFill>
              </a:rPr>
              <a:t>Addresses issues that concern society as a whole</a:t>
            </a:r>
            <a:endParaRPr lang="en-US" sz="1600" dirty="0"/>
          </a:p>
        </p:txBody>
      </p:sp>
      <p:sp>
        <p:nvSpPr>
          <p:cNvPr id="12" name="node 2"/>
          <p:cNvSpPr/>
          <p:nvPr/>
        </p:nvSpPr>
        <p:spPr>
          <a:xfrm>
            <a:off x="8192606" y="2630698"/>
            <a:ext cx="3291840" cy="1234440"/>
          </a:xfrm>
          <a:prstGeom prst="roundRect">
            <a:avLst>
              <a:gd name="adj" fmla="val 8889"/>
            </a:avLst>
          </a:prstGeom>
          <a:solidFill>
            <a:schemeClr val="bg2"/>
          </a:solidFill>
          <a:ln w="12700">
            <a:solidFill>
              <a:schemeClr val="bg2"/>
            </a:solidFill>
            <a:prstDash val="solid"/>
          </a:ln>
        </p:spPr>
      </p:sp>
      <p:sp>
        <p:nvSpPr>
          <p:cNvPr id="13" name="Text 11"/>
          <p:cNvSpPr txBox="1"/>
          <p:nvPr/>
        </p:nvSpPr>
        <p:spPr>
          <a:xfrm>
            <a:off x="8357198" y="2703850"/>
            <a:ext cx="3017520" cy="1106424"/>
          </a:xfrm>
          <a:prstGeom prst="rect">
            <a:avLst/>
          </a:prstGeom>
          <a:noFill/>
          <a:ln/>
        </p:spPr>
        <p:txBody>
          <a:bodyPr wrap="square" lIns="0" tIns="0" rIns="0" bIns="0" rtlCol="0" anchor="ctr"/>
          <a:lstStyle/>
          <a:p>
            <a:pPr indent="0" marL="0">
              <a:buNone/>
            </a:pPr>
            <a:r>
              <a:rPr lang="en-US" sz="1600" b="1" dirty="0">
                <a:solidFill>
                  <a:schemeClr val="accent2"/>
                </a:solidFill>
              </a:rPr>
              <a:t>Promotes public welfare</a:t>
            </a:r>
            <a:endParaRPr lang="en-US" sz="1600" dirty="0"/>
          </a:p>
          <a:p>
            <a:pPr indent="0" marL="0">
              <a:buNone/>
            </a:pPr>
            <a:r>
              <a:rPr lang="en-US" sz="1600" dirty="0">
                <a:solidFill>
                  <a:schemeClr val="tx1"/>
                </a:solidFill>
              </a:rPr>
              <a:t>Education, health, transport, safety, environment</a:t>
            </a:r>
            <a:endParaRPr lang="en-US" sz="1600" dirty="0"/>
          </a:p>
        </p:txBody>
      </p:sp>
      <p:sp>
        <p:nvSpPr>
          <p:cNvPr id="14" name="node 3"/>
          <p:cNvSpPr/>
          <p:nvPr/>
        </p:nvSpPr>
        <p:spPr>
          <a:xfrm>
            <a:off x="6764253" y="4675358"/>
            <a:ext cx="3291840" cy="1234440"/>
          </a:xfrm>
          <a:prstGeom prst="roundRect">
            <a:avLst>
              <a:gd name="adj" fmla="val 8889"/>
            </a:avLst>
          </a:prstGeom>
          <a:solidFill>
            <a:schemeClr val="bg2"/>
          </a:solidFill>
          <a:ln w="12700">
            <a:solidFill>
              <a:schemeClr val="bg2"/>
            </a:solidFill>
            <a:prstDash val="solid"/>
          </a:ln>
        </p:spPr>
      </p:sp>
      <p:sp>
        <p:nvSpPr>
          <p:cNvPr id="15" name="Text 13"/>
          <p:cNvSpPr txBox="1"/>
          <p:nvPr/>
        </p:nvSpPr>
        <p:spPr>
          <a:xfrm>
            <a:off x="6928845" y="4748510"/>
            <a:ext cx="3017520" cy="1106424"/>
          </a:xfrm>
          <a:prstGeom prst="rect">
            <a:avLst/>
          </a:prstGeom>
          <a:noFill/>
          <a:ln/>
        </p:spPr>
        <p:txBody>
          <a:bodyPr wrap="square" lIns="0" tIns="0" rIns="0" bIns="0" rtlCol="0" anchor="ctr"/>
          <a:lstStyle/>
          <a:p>
            <a:pPr indent="0" marL="0">
              <a:buNone/>
            </a:pPr>
            <a:r>
              <a:rPr lang="en-US" sz="1600" b="1" dirty="0">
                <a:solidFill>
                  <a:schemeClr val="accent4"/>
                </a:solidFill>
              </a:rPr>
              <a:t>Formulated by government</a:t>
            </a:r>
            <a:endParaRPr lang="en-US" sz="1600" dirty="0"/>
          </a:p>
          <a:p>
            <a:pPr indent="0" marL="0">
              <a:buNone/>
            </a:pPr>
            <a:r>
              <a:rPr lang="en-US" sz="1600" dirty="0">
                <a:solidFill>
                  <a:schemeClr val="tx1"/>
                </a:solidFill>
              </a:rPr>
              <a:t>Made and carried out by public institutions</a:t>
            </a:r>
            <a:endParaRPr lang="en-US" sz="1600" dirty="0"/>
          </a:p>
        </p:txBody>
      </p:sp>
      <p:sp>
        <p:nvSpPr>
          <p:cNvPr id="16" name="node 4"/>
          <p:cNvSpPr/>
          <p:nvPr/>
        </p:nvSpPr>
        <p:spPr>
          <a:xfrm>
            <a:off x="2142003" y="4675358"/>
            <a:ext cx="3291840" cy="1234440"/>
          </a:xfrm>
          <a:prstGeom prst="roundRect">
            <a:avLst>
              <a:gd name="adj" fmla="val 8889"/>
            </a:avLst>
          </a:prstGeom>
          <a:solidFill>
            <a:schemeClr val="bg2"/>
          </a:solidFill>
          <a:ln w="12700">
            <a:solidFill>
              <a:schemeClr val="bg2"/>
            </a:solidFill>
            <a:prstDash val="solid"/>
          </a:ln>
        </p:spPr>
      </p:sp>
      <p:sp>
        <p:nvSpPr>
          <p:cNvPr id="17" name="Text 15"/>
          <p:cNvSpPr txBox="1"/>
          <p:nvPr/>
        </p:nvSpPr>
        <p:spPr>
          <a:xfrm>
            <a:off x="2306595" y="4748510"/>
            <a:ext cx="3017520" cy="1106424"/>
          </a:xfrm>
          <a:prstGeom prst="rect">
            <a:avLst/>
          </a:prstGeom>
          <a:noFill/>
          <a:ln/>
        </p:spPr>
        <p:txBody>
          <a:bodyPr wrap="square" lIns="0" tIns="0" rIns="0" bIns="0" rtlCol="0" anchor="ctr"/>
          <a:lstStyle/>
          <a:p>
            <a:pPr indent="0" marL="0">
              <a:buNone/>
            </a:pPr>
            <a:r>
              <a:rPr lang="en-US" sz="1600" b="1" dirty="0">
                <a:solidFill>
                  <a:schemeClr val="accent5"/>
                </a:solidFill>
              </a:rPr>
              <a:t>Uses public resources</a:t>
            </a:r>
            <a:endParaRPr lang="en-US" sz="1600" dirty="0"/>
          </a:p>
          <a:p>
            <a:pPr indent="0" marL="0">
              <a:buNone/>
            </a:pPr>
            <a:r>
              <a:rPr lang="en-US" sz="1600" dirty="0">
                <a:solidFill>
                  <a:schemeClr val="tx1"/>
                </a:solidFill>
              </a:rPr>
              <a:t>Often funded by taxes collected from people</a:t>
            </a:r>
            <a:endParaRPr lang="en-US" sz="1600" dirty="0"/>
          </a:p>
        </p:txBody>
      </p:sp>
      <p:sp>
        <p:nvSpPr>
          <p:cNvPr id="18" name="node 5"/>
          <p:cNvSpPr/>
          <p:nvPr/>
        </p:nvSpPr>
        <p:spPr>
          <a:xfrm>
            <a:off x="713650" y="2630698"/>
            <a:ext cx="3291840" cy="1234440"/>
          </a:xfrm>
          <a:prstGeom prst="roundRect">
            <a:avLst>
              <a:gd name="adj" fmla="val 8889"/>
            </a:avLst>
          </a:prstGeom>
          <a:solidFill>
            <a:schemeClr val="bg2"/>
          </a:solidFill>
          <a:ln w="12700">
            <a:solidFill>
              <a:schemeClr val="bg2"/>
            </a:solidFill>
            <a:prstDash val="solid"/>
          </a:ln>
        </p:spPr>
      </p:sp>
      <p:sp>
        <p:nvSpPr>
          <p:cNvPr id="19" name="Text 17"/>
          <p:cNvSpPr txBox="1"/>
          <p:nvPr/>
        </p:nvSpPr>
        <p:spPr>
          <a:xfrm>
            <a:off x="878242" y="2703850"/>
            <a:ext cx="3017520" cy="1106424"/>
          </a:xfrm>
          <a:prstGeom prst="rect">
            <a:avLst/>
          </a:prstGeom>
          <a:noFill/>
          <a:ln/>
        </p:spPr>
        <p:txBody>
          <a:bodyPr wrap="square" lIns="0" tIns="0" rIns="0" bIns="0" rtlCol="0" anchor="ctr"/>
          <a:lstStyle/>
          <a:p>
            <a:pPr indent="0" marL="0">
              <a:buNone/>
            </a:pPr>
            <a:r>
              <a:rPr lang="en-US" sz="1600" b="1" dirty="0">
                <a:solidFill>
                  <a:schemeClr val="accent6"/>
                </a:solidFill>
              </a:rPr>
              <a:t>Citizens participate</a:t>
            </a:r>
            <a:endParaRPr lang="en-US" sz="1600" dirty="0"/>
          </a:p>
          <a:p>
            <a:pPr indent="0" marL="0">
              <a:buNone/>
            </a:pPr>
            <a:r>
              <a:rPr lang="en-US" sz="1600" dirty="0">
                <a:solidFill>
                  <a:schemeClr val="tx1"/>
                </a:solidFill>
              </a:rPr>
              <a:t>People raise issues, give suggestions and feedback</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E2761"/>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Game: Policy or Public Policy?</a:t>
            </a:r>
            <a:endParaRPr lang="en-US" sz="3600" dirty="0"/>
          </a:p>
        </p:txBody>
      </p:sp>
      <p:sp>
        <p:nvSpPr>
          <p:cNvPr id="3" name="statement 1"/>
          <p:cNvSpPr/>
          <p:nvPr/>
        </p:nvSpPr>
        <p:spPr>
          <a:xfrm>
            <a:off x="548640" y="1371600"/>
            <a:ext cx="11064240" cy="670560"/>
          </a:xfrm>
          <a:prstGeom prst="roundRect">
            <a:avLst>
              <a:gd name="adj" fmla="val 16364"/>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4" name="Text 2"/>
          <p:cNvSpPr txBox="1"/>
          <p:nvPr/>
        </p:nvSpPr>
        <p:spPr>
          <a:xfrm>
            <a:off x="822960" y="1371600"/>
            <a:ext cx="8595360" cy="670560"/>
          </a:xfrm>
          <a:prstGeom prst="rect">
            <a:avLst/>
          </a:prstGeom>
          <a:noFill/>
          <a:ln/>
        </p:spPr>
        <p:txBody>
          <a:bodyPr wrap="square" lIns="0" tIns="0" rIns="0" bIns="0" rtlCol="0" anchor="ctr"/>
          <a:lstStyle/>
          <a:p>
            <a:pPr indent="0" marL="0">
              <a:buNone/>
            </a:pPr>
            <a:r>
              <a:rPr lang="en-US" sz="1700" dirty="0">
                <a:solidFill>
                  <a:schemeClr val="tx1"/>
                </a:solidFill>
              </a:rPr>
              <a:t>1.  The government introduces a sports policy.</a:t>
            </a:r>
            <a:endParaRPr lang="en-US" sz="1700" dirty="0"/>
          </a:p>
        </p:txBody>
      </p:sp>
      <p:sp>
        <p:nvSpPr>
          <p:cNvPr id="5" name="vote 1"/>
          <p:cNvSpPr/>
          <p:nvPr/>
        </p:nvSpPr>
        <p:spPr>
          <a:xfrm>
            <a:off x="9646920" y="1478280"/>
            <a:ext cx="1737360" cy="457200"/>
          </a:xfrm>
          <a:prstGeom prst="roundRect">
            <a:avLst>
              <a:gd name="adj" fmla="val 50000"/>
            </a:avLst>
          </a:prstGeom>
          <a:solidFill>
            <a:schemeClr val="bg2"/>
          </a:solidFill>
          <a:ln w="12700">
            <a:solidFill>
              <a:schemeClr val="bg2"/>
            </a:solidFill>
            <a:prstDash val="solid"/>
          </a:ln>
        </p:spPr>
      </p:sp>
      <p:sp>
        <p:nvSpPr>
          <p:cNvPr id="6" name="Text 4"/>
          <p:cNvSpPr txBox="1"/>
          <p:nvPr/>
        </p:nvSpPr>
        <p:spPr>
          <a:xfrm>
            <a:off x="9646920" y="1478280"/>
            <a:ext cx="1737360" cy="457200"/>
          </a:xfrm>
          <a:prstGeom prst="rect">
            <a:avLst/>
          </a:prstGeom>
          <a:noFill/>
          <a:ln/>
        </p:spPr>
        <p:txBody>
          <a:bodyPr wrap="square" lIns="0" tIns="0" rIns="0" bIns="0" rtlCol="0" anchor="ctr"/>
          <a:lstStyle/>
          <a:p>
            <a:pPr algn="ctr" indent="0" marL="0">
              <a:buNone/>
            </a:pPr>
            <a:r>
              <a:rPr lang="en-US" sz="1300" b="1" dirty="0">
                <a:solidFill>
                  <a:schemeClr val="tx2"/>
                </a:solidFill>
              </a:rPr>
              <a:t>Policy / Public</a:t>
            </a:r>
            <a:endParaRPr lang="en-US" sz="1300" dirty="0"/>
          </a:p>
        </p:txBody>
      </p:sp>
      <p:sp>
        <p:nvSpPr>
          <p:cNvPr id="7" name="statement 2"/>
          <p:cNvSpPr/>
          <p:nvPr/>
        </p:nvSpPr>
        <p:spPr>
          <a:xfrm>
            <a:off x="548640" y="2179320"/>
            <a:ext cx="11064240" cy="670560"/>
          </a:xfrm>
          <a:prstGeom prst="roundRect">
            <a:avLst>
              <a:gd name="adj" fmla="val 16364"/>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8" name="Text 6"/>
          <p:cNvSpPr txBox="1"/>
          <p:nvPr/>
        </p:nvSpPr>
        <p:spPr>
          <a:xfrm>
            <a:off x="822960" y="2179320"/>
            <a:ext cx="8595360" cy="670560"/>
          </a:xfrm>
          <a:prstGeom prst="rect">
            <a:avLst/>
          </a:prstGeom>
          <a:noFill/>
          <a:ln/>
        </p:spPr>
        <p:txBody>
          <a:bodyPr wrap="square" lIns="0" tIns="0" rIns="0" bIns="0" rtlCol="0" anchor="ctr"/>
          <a:lstStyle/>
          <a:p>
            <a:pPr indent="0" marL="0">
              <a:buNone/>
            </a:pPr>
            <a:r>
              <a:rPr lang="en-US" sz="1700" dirty="0">
                <a:solidFill>
                  <a:schemeClr val="tx1"/>
                </a:solidFill>
              </a:rPr>
              <a:t>2.  The government launches a campaign to give safe drinking water to every household.</a:t>
            </a:r>
            <a:endParaRPr lang="en-US" sz="1700" dirty="0"/>
          </a:p>
        </p:txBody>
      </p:sp>
      <p:sp>
        <p:nvSpPr>
          <p:cNvPr id="9" name="vote 2"/>
          <p:cNvSpPr/>
          <p:nvPr/>
        </p:nvSpPr>
        <p:spPr>
          <a:xfrm>
            <a:off x="9646920" y="2286000"/>
            <a:ext cx="1737360" cy="457200"/>
          </a:xfrm>
          <a:prstGeom prst="roundRect">
            <a:avLst>
              <a:gd name="adj" fmla="val 50000"/>
            </a:avLst>
          </a:prstGeom>
          <a:solidFill>
            <a:schemeClr val="bg2"/>
          </a:solidFill>
          <a:ln w="12700">
            <a:solidFill>
              <a:schemeClr val="bg2"/>
            </a:solidFill>
            <a:prstDash val="solid"/>
          </a:ln>
        </p:spPr>
      </p:sp>
      <p:sp>
        <p:nvSpPr>
          <p:cNvPr id="10" name="Text 8"/>
          <p:cNvSpPr txBox="1"/>
          <p:nvPr/>
        </p:nvSpPr>
        <p:spPr>
          <a:xfrm>
            <a:off x="9646920" y="2286000"/>
            <a:ext cx="1737360" cy="457200"/>
          </a:xfrm>
          <a:prstGeom prst="rect">
            <a:avLst/>
          </a:prstGeom>
          <a:noFill/>
          <a:ln/>
        </p:spPr>
        <p:txBody>
          <a:bodyPr wrap="square" lIns="0" tIns="0" rIns="0" bIns="0" rtlCol="0" anchor="ctr"/>
          <a:lstStyle/>
          <a:p>
            <a:pPr algn="ctr" indent="0" marL="0">
              <a:buNone/>
            </a:pPr>
            <a:r>
              <a:rPr lang="en-US" sz="1300" b="1" dirty="0">
                <a:solidFill>
                  <a:schemeClr val="tx2"/>
                </a:solidFill>
              </a:rPr>
              <a:t>Policy / Public</a:t>
            </a:r>
            <a:endParaRPr lang="en-US" sz="1300" dirty="0"/>
          </a:p>
        </p:txBody>
      </p:sp>
      <p:sp>
        <p:nvSpPr>
          <p:cNvPr id="11" name="statement 3"/>
          <p:cNvSpPr/>
          <p:nvPr/>
        </p:nvSpPr>
        <p:spPr>
          <a:xfrm>
            <a:off x="548640" y="2987040"/>
            <a:ext cx="11064240" cy="670560"/>
          </a:xfrm>
          <a:prstGeom prst="roundRect">
            <a:avLst>
              <a:gd name="adj" fmla="val 16364"/>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12" name="Text 10"/>
          <p:cNvSpPr txBox="1"/>
          <p:nvPr/>
        </p:nvSpPr>
        <p:spPr>
          <a:xfrm>
            <a:off x="822960" y="2987040"/>
            <a:ext cx="8595360" cy="670560"/>
          </a:xfrm>
          <a:prstGeom prst="rect">
            <a:avLst/>
          </a:prstGeom>
          <a:noFill/>
          <a:ln/>
        </p:spPr>
        <p:txBody>
          <a:bodyPr wrap="square" lIns="0" tIns="0" rIns="0" bIns="0" rtlCol="0" anchor="ctr"/>
          <a:lstStyle/>
          <a:p>
            <a:pPr indent="0" marL="0">
              <a:buNone/>
            </a:pPr>
            <a:r>
              <a:rPr lang="en-US" sz="1700" dirty="0">
                <a:solidFill>
                  <a:schemeClr val="tx1"/>
                </a:solidFill>
              </a:rPr>
              <a:t>3.  A company lets employees work from home twice a week.</a:t>
            </a:r>
            <a:endParaRPr lang="en-US" sz="1700" dirty="0"/>
          </a:p>
        </p:txBody>
      </p:sp>
      <p:sp>
        <p:nvSpPr>
          <p:cNvPr id="13" name="vote 3"/>
          <p:cNvSpPr/>
          <p:nvPr/>
        </p:nvSpPr>
        <p:spPr>
          <a:xfrm>
            <a:off x="9646920" y="3093720"/>
            <a:ext cx="1737360" cy="457200"/>
          </a:xfrm>
          <a:prstGeom prst="roundRect">
            <a:avLst>
              <a:gd name="adj" fmla="val 50000"/>
            </a:avLst>
          </a:prstGeom>
          <a:solidFill>
            <a:schemeClr val="bg2"/>
          </a:solidFill>
          <a:ln w="12700">
            <a:solidFill>
              <a:schemeClr val="bg2"/>
            </a:solidFill>
            <a:prstDash val="solid"/>
          </a:ln>
        </p:spPr>
      </p:sp>
      <p:sp>
        <p:nvSpPr>
          <p:cNvPr id="14" name="Text 12"/>
          <p:cNvSpPr txBox="1"/>
          <p:nvPr/>
        </p:nvSpPr>
        <p:spPr>
          <a:xfrm>
            <a:off x="9646920" y="3093720"/>
            <a:ext cx="1737360" cy="457200"/>
          </a:xfrm>
          <a:prstGeom prst="rect">
            <a:avLst/>
          </a:prstGeom>
          <a:noFill/>
          <a:ln/>
        </p:spPr>
        <p:txBody>
          <a:bodyPr wrap="square" lIns="0" tIns="0" rIns="0" bIns="0" rtlCol="0" anchor="ctr"/>
          <a:lstStyle/>
          <a:p>
            <a:pPr algn="ctr" indent="0" marL="0">
              <a:buNone/>
            </a:pPr>
            <a:r>
              <a:rPr lang="en-US" sz="1300" b="1" dirty="0">
                <a:solidFill>
                  <a:schemeClr val="tx2"/>
                </a:solidFill>
              </a:rPr>
              <a:t>Policy / Public</a:t>
            </a:r>
            <a:endParaRPr lang="en-US" sz="1300" dirty="0"/>
          </a:p>
        </p:txBody>
      </p:sp>
      <p:sp>
        <p:nvSpPr>
          <p:cNvPr id="15" name="statement 4"/>
          <p:cNvSpPr/>
          <p:nvPr/>
        </p:nvSpPr>
        <p:spPr>
          <a:xfrm>
            <a:off x="548640" y="3794760"/>
            <a:ext cx="11064240" cy="670560"/>
          </a:xfrm>
          <a:prstGeom prst="roundRect">
            <a:avLst>
              <a:gd name="adj" fmla="val 16364"/>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16" name="Text 14"/>
          <p:cNvSpPr txBox="1"/>
          <p:nvPr/>
        </p:nvSpPr>
        <p:spPr>
          <a:xfrm>
            <a:off x="822960" y="3794760"/>
            <a:ext cx="8595360" cy="670560"/>
          </a:xfrm>
          <a:prstGeom prst="rect">
            <a:avLst/>
          </a:prstGeom>
          <a:noFill/>
          <a:ln/>
        </p:spPr>
        <p:txBody>
          <a:bodyPr wrap="square" lIns="0" tIns="0" rIns="0" bIns="0" rtlCol="0" anchor="ctr"/>
          <a:lstStyle/>
          <a:p>
            <a:pPr indent="0" marL="0">
              <a:buNone/>
            </a:pPr>
            <a:r>
              <a:rPr lang="en-US" sz="1700" dirty="0">
                <a:solidFill>
                  <a:schemeClr val="tx1"/>
                </a:solidFill>
              </a:rPr>
              <a:t>4.  A municipality introduces waste segregation in the city.</a:t>
            </a:r>
            <a:endParaRPr lang="en-US" sz="1700" dirty="0"/>
          </a:p>
        </p:txBody>
      </p:sp>
      <p:sp>
        <p:nvSpPr>
          <p:cNvPr id="17" name="vote 4"/>
          <p:cNvSpPr/>
          <p:nvPr/>
        </p:nvSpPr>
        <p:spPr>
          <a:xfrm>
            <a:off x="9646920" y="3901440"/>
            <a:ext cx="1737360" cy="457200"/>
          </a:xfrm>
          <a:prstGeom prst="roundRect">
            <a:avLst>
              <a:gd name="adj" fmla="val 50000"/>
            </a:avLst>
          </a:prstGeom>
          <a:solidFill>
            <a:schemeClr val="bg2"/>
          </a:solidFill>
          <a:ln w="12700">
            <a:solidFill>
              <a:schemeClr val="bg2"/>
            </a:solidFill>
            <a:prstDash val="solid"/>
          </a:ln>
        </p:spPr>
      </p:sp>
      <p:sp>
        <p:nvSpPr>
          <p:cNvPr id="18" name="Text 16"/>
          <p:cNvSpPr txBox="1"/>
          <p:nvPr/>
        </p:nvSpPr>
        <p:spPr>
          <a:xfrm>
            <a:off x="9646920" y="3901440"/>
            <a:ext cx="1737360" cy="457200"/>
          </a:xfrm>
          <a:prstGeom prst="rect">
            <a:avLst/>
          </a:prstGeom>
          <a:noFill/>
          <a:ln/>
        </p:spPr>
        <p:txBody>
          <a:bodyPr wrap="square" lIns="0" tIns="0" rIns="0" bIns="0" rtlCol="0" anchor="ctr"/>
          <a:lstStyle/>
          <a:p>
            <a:pPr algn="ctr" indent="0" marL="0">
              <a:buNone/>
            </a:pPr>
            <a:r>
              <a:rPr lang="en-US" sz="1300" b="1" dirty="0">
                <a:solidFill>
                  <a:schemeClr val="tx2"/>
                </a:solidFill>
              </a:rPr>
              <a:t>Policy / Public</a:t>
            </a:r>
            <a:endParaRPr lang="en-US" sz="1300" dirty="0"/>
          </a:p>
        </p:txBody>
      </p:sp>
      <p:sp>
        <p:nvSpPr>
          <p:cNvPr id="19" name="statement 5"/>
          <p:cNvSpPr/>
          <p:nvPr/>
        </p:nvSpPr>
        <p:spPr>
          <a:xfrm>
            <a:off x="548640" y="4602480"/>
            <a:ext cx="11064240" cy="670560"/>
          </a:xfrm>
          <a:prstGeom prst="roundRect">
            <a:avLst>
              <a:gd name="adj" fmla="val 16364"/>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20" name="Text 18"/>
          <p:cNvSpPr txBox="1"/>
          <p:nvPr/>
        </p:nvSpPr>
        <p:spPr>
          <a:xfrm>
            <a:off x="822960" y="4602480"/>
            <a:ext cx="8595360" cy="670560"/>
          </a:xfrm>
          <a:prstGeom prst="rect">
            <a:avLst/>
          </a:prstGeom>
          <a:noFill/>
          <a:ln/>
        </p:spPr>
        <p:txBody>
          <a:bodyPr wrap="square" lIns="0" tIns="0" rIns="0" bIns="0" rtlCol="0" anchor="ctr"/>
          <a:lstStyle/>
          <a:p>
            <a:pPr indent="0" marL="0">
              <a:buNone/>
            </a:pPr>
            <a:r>
              <a:rPr lang="en-US" sz="1700" dirty="0">
                <a:solidFill>
                  <a:schemeClr val="tx1"/>
                </a:solidFill>
              </a:rPr>
              <a:t>5.  A housing society fixes visiting hours for guests.</a:t>
            </a:r>
            <a:endParaRPr lang="en-US" sz="1700" dirty="0"/>
          </a:p>
        </p:txBody>
      </p:sp>
      <p:sp>
        <p:nvSpPr>
          <p:cNvPr id="21" name="vote 5"/>
          <p:cNvSpPr/>
          <p:nvPr/>
        </p:nvSpPr>
        <p:spPr>
          <a:xfrm>
            <a:off x="9646920" y="4709160"/>
            <a:ext cx="1737360" cy="457200"/>
          </a:xfrm>
          <a:prstGeom prst="roundRect">
            <a:avLst>
              <a:gd name="adj" fmla="val 50000"/>
            </a:avLst>
          </a:prstGeom>
          <a:solidFill>
            <a:schemeClr val="bg2"/>
          </a:solidFill>
          <a:ln w="12700">
            <a:solidFill>
              <a:schemeClr val="bg2"/>
            </a:solidFill>
            <a:prstDash val="solid"/>
          </a:ln>
        </p:spPr>
      </p:sp>
      <p:sp>
        <p:nvSpPr>
          <p:cNvPr id="22" name="Text 20"/>
          <p:cNvSpPr txBox="1"/>
          <p:nvPr/>
        </p:nvSpPr>
        <p:spPr>
          <a:xfrm>
            <a:off x="9646920" y="4709160"/>
            <a:ext cx="1737360" cy="457200"/>
          </a:xfrm>
          <a:prstGeom prst="rect">
            <a:avLst/>
          </a:prstGeom>
          <a:noFill/>
          <a:ln/>
        </p:spPr>
        <p:txBody>
          <a:bodyPr wrap="square" lIns="0" tIns="0" rIns="0" bIns="0" rtlCol="0" anchor="ctr"/>
          <a:lstStyle/>
          <a:p>
            <a:pPr algn="ctr" indent="0" marL="0">
              <a:buNone/>
            </a:pPr>
            <a:r>
              <a:rPr lang="en-US" sz="1300" b="1" dirty="0">
                <a:solidFill>
                  <a:schemeClr val="tx2"/>
                </a:solidFill>
              </a:rPr>
              <a:t>Policy / Public</a:t>
            </a:r>
            <a:endParaRPr lang="en-US" sz="1300" dirty="0"/>
          </a:p>
        </p:txBody>
      </p:sp>
      <p:sp>
        <p:nvSpPr>
          <p:cNvPr id="23" name="statement 6"/>
          <p:cNvSpPr/>
          <p:nvPr/>
        </p:nvSpPr>
        <p:spPr>
          <a:xfrm>
            <a:off x="548640" y="5410200"/>
            <a:ext cx="11064240" cy="670560"/>
          </a:xfrm>
          <a:prstGeom prst="roundRect">
            <a:avLst>
              <a:gd name="adj" fmla="val 16364"/>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24" name="Text 22"/>
          <p:cNvSpPr txBox="1"/>
          <p:nvPr/>
        </p:nvSpPr>
        <p:spPr>
          <a:xfrm>
            <a:off x="822960" y="5410200"/>
            <a:ext cx="8595360" cy="670560"/>
          </a:xfrm>
          <a:prstGeom prst="rect">
            <a:avLst/>
          </a:prstGeom>
          <a:noFill/>
          <a:ln/>
        </p:spPr>
        <p:txBody>
          <a:bodyPr wrap="square" lIns="0" tIns="0" rIns="0" bIns="0" rtlCol="0" anchor="ctr"/>
          <a:lstStyle/>
          <a:p>
            <a:pPr indent="0" marL="0">
              <a:buNone/>
            </a:pPr>
            <a:r>
              <a:rPr lang="en-US" sz="1700" dirty="0">
                <a:solidFill>
                  <a:schemeClr val="tx1"/>
                </a:solidFill>
              </a:rPr>
              <a:t>6.  The government introduces free vaccination for children.</a:t>
            </a:r>
            <a:endParaRPr lang="en-US" sz="1700" dirty="0"/>
          </a:p>
        </p:txBody>
      </p:sp>
      <p:sp>
        <p:nvSpPr>
          <p:cNvPr id="25" name="vote 6"/>
          <p:cNvSpPr/>
          <p:nvPr/>
        </p:nvSpPr>
        <p:spPr>
          <a:xfrm>
            <a:off x="9646920" y="5516880"/>
            <a:ext cx="1737360" cy="457200"/>
          </a:xfrm>
          <a:prstGeom prst="roundRect">
            <a:avLst>
              <a:gd name="adj" fmla="val 50000"/>
            </a:avLst>
          </a:prstGeom>
          <a:solidFill>
            <a:schemeClr val="bg2"/>
          </a:solidFill>
          <a:ln w="12700">
            <a:solidFill>
              <a:schemeClr val="bg2"/>
            </a:solidFill>
            <a:prstDash val="solid"/>
          </a:ln>
        </p:spPr>
      </p:sp>
      <p:sp>
        <p:nvSpPr>
          <p:cNvPr id="26" name="Text 24"/>
          <p:cNvSpPr txBox="1"/>
          <p:nvPr/>
        </p:nvSpPr>
        <p:spPr>
          <a:xfrm>
            <a:off x="9646920" y="5516880"/>
            <a:ext cx="1737360" cy="457200"/>
          </a:xfrm>
          <a:prstGeom prst="rect">
            <a:avLst/>
          </a:prstGeom>
          <a:noFill/>
          <a:ln/>
        </p:spPr>
        <p:txBody>
          <a:bodyPr wrap="square" lIns="0" tIns="0" rIns="0" bIns="0" rtlCol="0" anchor="ctr"/>
          <a:lstStyle/>
          <a:p>
            <a:pPr algn="ctr" indent="0" marL="0">
              <a:buNone/>
            </a:pPr>
            <a:r>
              <a:rPr lang="en-US" sz="1300" b="1" dirty="0">
                <a:solidFill>
                  <a:schemeClr val="tx2"/>
                </a:solidFill>
              </a:rPr>
              <a:t>Policy / Public</a:t>
            </a:r>
            <a:endParaRPr lang="en-US" sz="13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E2761"/>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Who Shapes Public Policy?</a:t>
            </a:r>
            <a:endParaRPr lang="en-US" sz="3600" dirty="0"/>
          </a:p>
        </p:txBody>
      </p:sp>
      <p:graphicFrame>
        <p:nvGraphicFramePr>
          <p:cNvPr id="20" name="table"/>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651760"/>
                <a:gridCol w="4023360"/>
                <a:gridCol w="4389120"/>
              </a:tblGrid>
              <a:tr h="64008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Contributor</a:t>
                      </a:r>
                      <a:endParaRPr lang="en-US" sz="1500" dirty="0">
                        <a:latin typeface="Calibri" charset="0"/>
                        <a:ea typeface="Calibri" charset="0"/>
                        <a:cs typeface="Calibri" charset="0"/>
                      </a:endParaRPr>
                    </a:p>
                  </a:txBody>
                  <a:tcPr marL="73152" marR="73152" marT="73152" marB="73152" anchor="ctr">
                    <a:lnL w="9525" cap="flat" cmpd="sng" algn="ctr">
                      <a:solidFill>
                        <a:srgbClr val="EBEEF8"/>
                      </a:solidFill>
                      <a:prstDash val="solid"/>
                      <a:round/>
                      <a:headEnd type="none" w="med" len="med"/>
                      <a:tailEnd type="none" w="med" len="med"/>
                    </a:lnL>
                    <a:lnR w="9525" cap="flat" cmpd="sng" algn="ctr">
                      <a:solidFill>
                        <a:srgbClr val="EBEEF8"/>
                      </a:solidFill>
                      <a:prstDash val="solid"/>
                      <a:round/>
                      <a:headEnd type="none" w="med" len="med"/>
                      <a:tailEnd type="none" w="med" len="med"/>
                    </a:lnR>
                    <a:lnT w="9525" cap="flat" cmpd="sng" algn="ctr">
                      <a:solidFill>
                        <a:srgbClr val="EBEEF8"/>
                      </a:solidFill>
                      <a:prstDash val="solid"/>
                      <a:round/>
                      <a:headEnd type="none" w="med" len="med"/>
                      <a:tailEnd type="none" w="med" len="med"/>
                    </a:lnT>
                    <a:lnB w="9525" cap="flat" cmpd="sng" algn="ctr">
                      <a:solidFill>
                        <a:srgbClr val="EBEEF8"/>
                      </a:solidFill>
                      <a:prstDash val="solid"/>
                      <a:round/>
                      <a:headEnd type="none" w="med" len="med"/>
                      <a:tailEnd type="none" w="med" len="med"/>
                    </a:lnB>
                    <a:solidFill>
                      <a:srgbClr val="3949AB"/>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What they do</a:t>
                      </a:r>
                      <a:endParaRPr lang="en-US" sz="1500" dirty="0">
                        <a:latin typeface="Calibri" charset="0"/>
                        <a:ea typeface="Calibri" charset="0"/>
                        <a:cs typeface="Calibri" charset="0"/>
                      </a:endParaRPr>
                    </a:p>
                  </a:txBody>
                  <a:tcPr marL="73152" marR="73152" marT="73152" marB="73152" anchor="ctr">
                    <a:lnL w="9525" cap="flat" cmpd="sng" algn="ctr">
                      <a:solidFill>
                        <a:srgbClr val="EBEEF8"/>
                      </a:solidFill>
                      <a:prstDash val="solid"/>
                      <a:round/>
                      <a:headEnd type="none" w="med" len="med"/>
                      <a:tailEnd type="none" w="med" len="med"/>
                    </a:lnL>
                    <a:lnR w="9525" cap="flat" cmpd="sng" algn="ctr">
                      <a:solidFill>
                        <a:srgbClr val="EBEEF8"/>
                      </a:solidFill>
                      <a:prstDash val="solid"/>
                      <a:round/>
                      <a:headEnd type="none" w="med" len="med"/>
                      <a:tailEnd type="none" w="med" len="med"/>
                    </a:lnR>
                    <a:lnT w="9525" cap="flat" cmpd="sng" algn="ctr">
                      <a:solidFill>
                        <a:srgbClr val="EBEEF8"/>
                      </a:solidFill>
                      <a:prstDash val="solid"/>
                      <a:round/>
                      <a:headEnd type="none" w="med" len="med"/>
                      <a:tailEnd type="none" w="med" len="med"/>
                    </a:lnT>
                    <a:lnB w="9525" cap="flat" cmpd="sng" algn="ctr">
                      <a:solidFill>
                        <a:srgbClr val="EBEEF8"/>
                      </a:solidFill>
                      <a:prstDash val="solid"/>
                      <a:round/>
                      <a:headEnd type="none" w="med" len="med"/>
                      <a:tailEnd type="none" w="med" len="med"/>
                    </a:lnB>
                    <a:solidFill>
                      <a:srgbClr val="3949AB"/>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Example</a:t>
                      </a:r>
                      <a:endParaRPr lang="en-US" sz="1500" dirty="0">
                        <a:latin typeface="Calibri" charset="0"/>
                        <a:ea typeface="Calibri" charset="0"/>
                        <a:cs typeface="Calibri" charset="0"/>
                      </a:endParaRPr>
                    </a:p>
                  </a:txBody>
                  <a:tcPr marL="73152" marR="73152" marT="73152" marB="73152" anchor="ctr">
                    <a:lnL w="9525" cap="flat" cmpd="sng" algn="ctr">
                      <a:solidFill>
                        <a:srgbClr val="EBEEF8"/>
                      </a:solidFill>
                      <a:prstDash val="solid"/>
                      <a:round/>
                      <a:headEnd type="none" w="med" len="med"/>
                      <a:tailEnd type="none" w="med" len="med"/>
                    </a:lnL>
                    <a:lnR w="9525" cap="flat" cmpd="sng" algn="ctr">
                      <a:solidFill>
                        <a:srgbClr val="EBEEF8"/>
                      </a:solidFill>
                      <a:prstDash val="solid"/>
                      <a:round/>
                      <a:headEnd type="none" w="med" len="med"/>
                      <a:tailEnd type="none" w="med" len="med"/>
                    </a:lnR>
                    <a:lnT w="9525" cap="flat" cmpd="sng" algn="ctr">
                      <a:solidFill>
                        <a:srgbClr val="EBEEF8"/>
                      </a:solidFill>
                      <a:prstDash val="solid"/>
                      <a:round/>
                      <a:headEnd type="none" w="med" len="med"/>
                      <a:tailEnd type="none" w="med" len="med"/>
                    </a:lnT>
                    <a:lnB w="9525" cap="flat" cmpd="sng" algn="ctr">
                      <a:solidFill>
                        <a:srgbClr val="EBEEF8"/>
                      </a:solidFill>
                      <a:prstDash val="solid"/>
                      <a:round/>
                      <a:headEnd type="none" w="med" len="med"/>
                      <a:tailEnd type="none" w="med" len="med"/>
                    </a:lnB>
                    <a:solidFill>
                      <a:srgbClr val="3949AB"/>
                    </a:solidFill>
                  </a:tcPr>
                </a:tc>
              </a:tr>
              <a:tr h="640080">
                <a:tc>
                  <a:txBody>
                    <a:bodyPr/>
                    <a:lstStyle/>
                    <a:p>
                      <a:pPr indent="0" marL="0">
                        <a:buNone/>
                      </a:pPr>
                      <a:r>
                        <a:rPr lang="en-US" sz="1500" dirty="0">
                          <a:solidFill>
                            <a:srgbClr val="1F2328"/>
                          </a:solidFill>
                          <a:latin typeface="Calibri" pitchFamily="34" charset="0"/>
                          <a:ea typeface="Calibri" pitchFamily="34" charset="-122"/>
                          <a:cs typeface="Calibri" pitchFamily="34" charset="-120"/>
                        </a:rPr>
                        <a:t>Citizens</a:t>
                      </a:r>
                      <a:endParaRPr lang="en-US" sz="1500" dirty="0">
                        <a:latin typeface="Calibri" charset="0"/>
                        <a:ea typeface="Calibri" charset="0"/>
                        <a:cs typeface="Calibri" charset="0"/>
                      </a:endParaRPr>
                    </a:p>
                  </a:txBody>
                  <a:tcPr marL="73152" marR="73152" marT="73152" marB="73152" anchor="ctr">
                    <a:lnL w="9525" cap="flat" cmpd="sng" algn="ctr">
                      <a:solidFill>
                        <a:srgbClr val="EBEEF8"/>
                      </a:solidFill>
                      <a:prstDash val="solid"/>
                      <a:round/>
                      <a:headEnd type="none" w="med" len="med"/>
                      <a:tailEnd type="none" w="med" len="med"/>
                    </a:lnL>
                    <a:lnR w="9525" cap="flat" cmpd="sng" algn="ctr">
                      <a:solidFill>
                        <a:srgbClr val="EBEEF8"/>
                      </a:solidFill>
                      <a:prstDash val="solid"/>
                      <a:round/>
                      <a:headEnd type="none" w="med" len="med"/>
                      <a:tailEnd type="none" w="med" len="med"/>
                    </a:lnR>
                    <a:lnT w="9525" cap="flat" cmpd="sng" algn="ctr">
                      <a:solidFill>
                        <a:srgbClr val="EBEEF8"/>
                      </a:solidFill>
                      <a:prstDash val="solid"/>
                      <a:round/>
                      <a:headEnd type="none" w="med" len="med"/>
                      <a:tailEnd type="none" w="med" len="med"/>
                    </a:lnT>
                    <a:lnB w="9525" cap="flat" cmpd="sng" algn="ctr">
                      <a:solidFill>
                        <a:srgbClr val="EBEEF8"/>
                      </a:solidFill>
                      <a:prstDash val="solid"/>
                      <a:round/>
                      <a:headEnd type="none" w="med" len="med"/>
                      <a:tailEnd type="none" w="med" len="med"/>
                    </a:lnB>
                    <a:solidFill>
                      <a:srgbClr val="EBEEF8"/>
                    </a:solidFill>
                  </a:tcPr>
                </a:tc>
                <a:tc>
                  <a:txBody>
                    <a:bodyPr/>
                    <a:lstStyle/>
                    <a:p>
                      <a:pPr indent="0" marL="0">
                        <a:buNone/>
                      </a:pPr>
                      <a:r>
                        <a:rPr lang="en-US" sz="1500" dirty="0">
                          <a:solidFill>
                            <a:srgbClr val="1F2328"/>
                          </a:solidFill>
                          <a:latin typeface="Calibri" pitchFamily="34" charset="0"/>
                          <a:ea typeface="Calibri" pitchFamily="34" charset="-122"/>
                          <a:cs typeface="Calibri" pitchFamily="34" charset="-120"/>
                        </a:rPr>
                        <a:t>Identify problems, vote, suggest, give feedback</a:t>
                      </a:r>
                      <a:endParaRPr lang="en-US" sz="1500" dirty="0">
                        <a:latin typeface="Calibri" charset="0"/>
                        <a:ea typeface="Calibri" charset="0"/>
                        <a:cs typeface="Calibri" charset="0"/>
                      </a:endParaRPr>
                    </a:p>
                  </a:txBody>
                  <a:tcPr marL="73152" marR="73152" marT="73152" marB="73152" anchor="ctr">
                    <a:lnL w="9525" cap="flat" cmpd="sng" algn="ctr">
                      <a:solidFill>
                        <a:srgbClr val="EBEEF8"/>
                      </a:solidFill>
                      <a:prstDash val="solid"/>
                      <a:round/>
                      <a:headEnd type="none" w="med" len="med"/>
                      <a:tailEnd type="none" w="med" len="med"/>
                    </a:lnL>
                    <a:lnR w="9525" cap="flat" cmpd="sng" algn="ctr">
                      <a:solidFill>
                        <a:srgbClr val="EBEEF8"/>
                      </a:solidFill>
                      <a:prstDash val="solid"/>
                      <a:round/>
                      <a:headEnd type="none" w="med" len="med"/>
                      <a:tailEnd type="none" w="med" len="med"/>
                    </a:lnR>
                    <a:lnT w="9525" cap="flat" cmpd="sng" algn="ctr">
                      <a:solidFill>
                        <a:srgbClr val="EBEEF8"/>
                      </a:solidFill>
                      <a:prstDash val="solid"/>
                      <a:round/>
                      <a:headEnd type="none" w="med" len="med"/>
                      <a:tailEnd type="none" w="med" len="med"/>
                    </a:lnT>
                    <a:lnB w="9525" cap="flat" cmpd="sng" algn="ctr">
                      <a:solidFill>
                        <a:srgbClr val="EBEEF8"/>
                      </a:solidFill>
                      <a:prstDash val="solid"/>
                      <a:round/>
                      <a:headEnd type="none" w="med" len="med"/>
                      <a:tailEnd type="none" w="med" len="med"/>
                    </a:lnB>
                    <a:solidFill>
                      <a:srgbClr val="EBEEF8"/>
                    </a:solidFill>
                  </a:tcPr>
                </a:tc>
                <a:tc>
                  <a:txBody>
                    <a:bodyPr/>
                    <a:lstStyle/>
                    <a:p>
                      <a:pPr indent="0" marL="0">
                        <a:buNone/>
                      </a:pPr>
                      <a:r>
                        <a:rPr lang="en-US" sz="1500" dirty="0">
                          <a:solidFill>
                            <a:srgbClr val="1F2328"/>
                          </a:solidFill>
                          <a:latin typeface="Calibri" pitchFamily="34" charset="0"/>
                          <a:ea typeface="Calibri" pitchFamily="34" charset="-122"/>
                          <a:cs typeface="Calibri" pitchFamily="34" charset="-120"/>
                        </a:rPr>
                        <a:t>Residents ask for a zebra crossing near a school</a:t>
                      </a:r>
                      <a:endParaRPr lang="en-US" sz="1500" dirty="0">
                        <a:latin typeface="Calibri" charset="0"/>
                        <a:ea typeface="Calibri" charset="0"/>
                        <a:cs typeface="Calibri" charset="0"/>
                      </a:endParaRPr>
                    </a:p>
                  </a:txBody>
                  <a:tcPr marL="73152" marR="73152" marT="73152" marB="73152" anchor="ctr">
                    <a:lnL w="9525" cap="flat" cmpd="sng" algn="ctr">
                      <a:solidFill>
                        <a:srgbClr val="EBEEF8"/>
                      </a:solidFill>
                      <a:prstDash val="solid"/>
                      <a:round/>
                      <a:headEnd type="none" w="med" len="med"/>
                      <a:tailEnd type="none" w="med" len="med"/>
                    </a:lnL>
                    <a:lnR w="9525" cap="flat" cmpd="sng" algn="ctr">
                      <a:solidFill>
                        <a:srgbClr val="EBEEF8"/>
                      </a:solidFill>
                      <a:prstDash val="solid"/>
                      <a:round/>
                      <a:headEnd type="none" w="med" len="med"/>
                      <a:tailEnd type="none" w="med" len="med"/>
                    </a:lnR>
                    <a:lnT w="9525" cap="flat" cmpd="sng" algn="ctr">
                      <a:solidFill>
                        <a:srgbClr val="EBEEF8"/>
                      </a:solidFill>
                      <a:prstDash val="solid"/>
                      <a:round/>
                      <a:headEnd type="none" w="med" len="med"/>
                      <a:tailEnd type="none" w="med" len="med"/>
                    </a:lnT>
                    <a:lnB w="9525" cap="flat" cmpd="sng" algn="ctr">
                      <a:solidFill>
                        <a:srgbClr val="EBEEF8"/>
                      </a:solidFill>
                      <a:prstDash val="solid"/>
                      <a:round/>
                      <a:headEnd type="none" w="med" len="med"/>
                      <a:tailEnd type="none" w="med" len="med"/>
                    </a:lnB>
                    <a:solidFill>
                      <a:srgbClr val="EBEEF8"/>
                    </a:solidFill>
                  </a:tcPr>
                </a:tc>
              </a:tr>
              <a:tr h="640080">
                <a:tc>
                  <a:txBody>
                    <a:bodyPr/>
                    <a:lstStyle/>
                    <a:p>
                      <a:pPr indent="0" marL="0">
                        <a:buNone/>
                      </a:pPr>
                      <a:r>
                        <a:rPr lang="en-US" sz="1500" dirty="0">
                          <a:solidFill>
                            <a:srgbClr val="1F2328"/>
                          </a:solidFill>
                          <a:latin typeface="Calibri" pitchFamily="34" charset="0"/>
                          <a:ea typeface="Calibri" pitchFamily="34" charset="-122"/>
                          <a:cs typeface="Calibri" pitchFamily="34" charset="-120"/>
                        </a:rPr>
                        <a:t>Elected representatives</a:t>
                      </a:r>
                      <a:endParaRPr lang="en-US" sz="1500" dirty="0">
                        <a:latin typeface="Calibri" charset="0"/>
                        <a:ea typeface="Calibri" charset="0"/>
                        <a:cs typeface="Calibri" charset="0"/>
                      </a:endParaRPr>
                    </a:p>
                  </a:txBody>
                  <a:tcPr marL="73152" marR="73152" marT="73152" marB="73152" anchor="ctr">
                    <a:lnL w="9525" cap="flat" cmpd="sng" algn="ctr">
                      <a:solidFill>
                        <a:srgbClr val="EBEEF8"/>
                      </a:solidFill>
                      <a:prstDash val="solid"/>
                      <a:round/>
                      <a:headEnd type="none" w="med" len="med"/>
                      <a:tailEnd type="none" w="med" len="med"/>
                    </a:lnL>
                    <a:lnR w="9525" cap="flat" cmpd="sng" algn="ctr">
                      <a:solidFill>
                        <a:srgbClr val="EBEEF8"/>
                      </a:solidFill>
                      <a:prstDash val="solid"/>
                      <a:round/>
                      <a:headEnd type="none" w="med" len="med"/>
                      <a:tailEnd type="none" w="med" len="med"/>
                    </a:lnR>
                    <a:lnT w="9525" cap="flat" cmpd="sng" algn="ctr">
                      <a:solidFill>
                        <a:srgbClr val="EBEEF8"/>
                      </a:solidFill>
                      <a:prstDash val="solid"/>
                      <a:round/>
                      <a:headEnd type="none" w="med" len="med"/>
                      <a:tailEnd type="none" w="med" len="med"/>
                    </a:lnT>
                    <a:lnB w="9525" cap="flat" cmpd="sng" algn="ctr">
                      <a:solidFill>
                        <a:srgbClr val="EBEEF8"/>
                      </a:solidFill>
                      <a:prstDash val="solid"/>
                      <a:round/>
                      <a:headEnd type="none" w="med" len="med"/>
                      <a:tailEnd type="none" w="med" len="med"/>
                    </a:lnB>
                    <a:solidFill>
                      <a:srgbClr val="FFFFFF"/>
                    </a:solidFill>
                  </a:tcPr>
                </a:tc>
                <a:tc>
                  <a:txBody>
                    <a:bodyPr/>
                    <a:lstStyle/>
                    <a:p>
                      <a:pPr indent="0" marL="0">
                        <a:buNone/>
                      </a:pPr>
                      <a:r>
                        <a:rPr lang="en-US" sz="1500" dirty="0">
                          <a:solidFill>
                            <a:srgbClr val="1F2328"/>
                          </a:solidFill>
                          <a:latin typeface="Calibri" pitchFamily="34" charset="0"/>
                          <a:ea typeface="Calibri" pitchFamily="34" charset="-122"/>
                          <a:cs typeface="Calibri" pitchFamily="34" charset="-120"/>
                        </a:rPr>
                        <a:t>Raise issues, make laws, approve budgets</a:t>
                      </a:r>
                      <a:endParaRPr lang="en-US" sz="1500" dirty="0">
                        <a:latin typeface="Calibri" charset="0"/>
                        <a:ea typeface="Calibri" charset="0"/>
                        <a:cs typeface="Calibri" charset="0"/>
                      </a:endParaRPr>
                    </a:p>
                  </a:txBody>
                  <a:tcPr marL="73152" marR="73152" marT="73152" marB="73152" anchor="ctr">
                    <a:lnL w="9525" cap="flat" cmpd="sng" algn="ctr">
                      <a:solidFill>
                        <a:srgbClr val="EBEEF8"/>
                      </a:solidFill>
                      <a:prstDash val="solid"/>
                      <a:round/>
                      <a:headEnd type="none" w="med" len="med"/>
                      <a:tailEnd type="none" w="med" len="med"/>
                    </a:lnL>
                    <a:lnR w="9525" cap="flat" cmpd="sng" algn="ctr">
                      <a:solidFill>
                        <a:srgbClr val="EBEEF8"/>
                      </a:solidFill>
                      <a:prstDash val="solid"/>
                      <a:round/>
                      <a:headEnd type="none" w="med" len="med"/>
                      <a:tailEnd type="none" w="med" len="med"/>
                    </a:lnR>
                    <a:lnT w="9525" cap="flat" cmpd="sng" algn="ctr">
                      <a:solidFill>
                        <a:srgbClr val="EBEEF8"/>
                      </a:solidFill>
                      <a:prstDash val="solid"/>
                      <a:round/>
                      <a:headEnd type="none" w="med" len="med"/>
                      <a:tailEnd type="none" w="med" len="med"/>
                    </a:lnT>
                    <a:lnB w="9525" cap="flat" cmpd="sng" algn="ctr">
                      <a:solidFill>
                        <a:srgbClr val="EBEEF8"/>
                      </a:solidFill>
                      <a:prstDash val="solid"/>
                      <a:round/>
                      <a:headEnd type="none" w="med" len="med"/>
                      <a:tailEnd type="none" w="med" len="med"/>
                    </a:lnB>
                    <a:solidFill>
                      <a:srgbClr val="FFFFFF"/>
                    </a:solidFill>
                  </a:tcPr>
                </a:tc>
                <a:tc>
                  <a:txBody>
                    <a:bodyPr/>
                    <a:lstStyle/>
                    <a:p>
                      <a:pPr indent="0" marL="0">
                        <a:buNone/>
                      </a:pPr>
                      <a:r>
                        <a:rPr lang="en-US" sz="1500" dirty="0">
                          <a:solidFill>
                            <a:srgbClr val="1F2328"/>
                          </a:solidFill>
                          <a:latin typeface="Calibri" pitchFamily="34" charset="0"/>
                          <a:ea typeface="Calibri" pitchFamily="34" charset="-122"/>
                          <a:cs typeface="Calibri" pitchFamily="34" charset="-120"/>
                        </a:rPr>
                        <a:t>An MLA raises water shortage in the Assembly</a:t>
                      </a:r>
                      <a:endParaRPr lang="en-US" sz="1500" dirty="0">
                        <a:latin typeface="Calibri" charset="0"/>
                        <a:ea typeface="Calibri" charset="0"/>
                        <a:cs typeface="Calibri" charset="0"/>
                      </a:endParaRPr>
                    </a:p>
                  </a:txBody>
                  <a:tcPr marL="73152" marR="73152" marT="73152" marB="73152" anchor="ctr">
                    <a:lnL w="9525" cap="flat" cmpd="sng" algn="ctr">
                      <a:solidFill>
                        <a:srgbClr val="EBEEF8"/>
                      </a:solidFill>
                      <a:prstDash val="solid"/>
                      <a:round/>
                      <a:headEnd type="none" w="med" len="med"/>
                      <a:tailEnd type="none" w="med" len="med"/>
                    </a:lnL>
                    <a:lnR w="9525" cap="flat" cmpd="sng" algn="ctr">
                      <a:solidFill>
                        <a:srgbClr val="EBEEF8"/>
                      </a:solidFill>
                      <a:prstDash val="solid"/>
                      <a:round/>
                      <a:headEnd type="none" w="med" len="med"/>
                      <a:tailEnd type="none" w="med" len="med"/>
                    </a:lnR>
                    <a:lnT w="9525" cap="flat" cmpd="sng" algn="ctr">
                      <a:solidFill>
                        <a:srgbClr val="EBEEF8"/>
                      </a:solidFill>
                      <a:prstDash val="solid"/>
                      <a:round/>
                      <a:headEnd type="none" w="med" len="med"/>
                      <a:tailEnd type="none" w="med" len="med"/>
                    </a:lnT>
                    <a:lnB w="9525" cap="flat" cmpd="sng" algn="ctr">
                      <a:solidFill>
                        <a:srgbClr val="EBEEF8"/>
                      </a:solidFill>
                      <a:prstDash val="solid"/>
                      <a:round/>
                      <a:headEnd type="none" w="med" len="med"/>
                      <a:tailEnd type="none" w="med" len="med"/>
                    </a:lnB>
                    <a:solidFill>
                      <a:srgbClr val="FFFFFF"/>
                    </a:solidFill>
                  </a:tcPr>
                </a:tc>
              </a:tr>
              <a:tr h="640080">
                <a:tc>
                  <a:txBody>
                    <a:bodyPr/>
                    <a:lstStyle/>
                    <a:p>
                      <a:pPr indent="0" marL="0">
                        <a:buNone/>
                      </a:pPr>
                      <a:r>
                        <a:rPr lang="en-US" sz="1500" dirty="0">
                          <a:solidFill>
                            <a:srgbClr val="1F2328"/>
                          </a:solidFill>
                          <a:latin typeface="Calibri" pitchFamily="34" charset="0"/>
                          <a:ea typeface="Calibri" pitchFamily="34" charset="-122"/>
                          <a:cs typeface="Calibri" pitchFamily="34" charset="-120"/>
                        </a:rPr>
                        <a:t>Government officials</a:t>
                      </a:r>
                      <a:endParaRPr lang="en-US" sz="1500" dirty="0">
                        <a:latin typeface="Calibri" charset="0"/>
                        <a:ea typeface="Calibri" charset="0"/>
                        <a:cs typeface="Calibri" charset="0"/>
                      </a:endParaRPr>
                    </a:p>
                  </a:txBody>
                  <a:tcPr marL="73152" marR="73152" marT="73152" marB="73152" anchor="ctr">
                    <a:lnL w="9525" cap="flat" cmpd="sng" algn="ctr">
                      <a:solidFill>
                        <a:srgbClr val="EBEEF8"/>
                      </a:solidFill>
                      <a:prstDash val="solid"/>
                      <a:round/>
                      <a:headEnd type="none" w="med" len="med"/>
                      <a:tailEnd type="none" w="med" len="med"/>
                    </a:lnL>
                    <a:lnR w="9525" cap="flat" cmpd="sng" algn="ctr">
                      <a:solidFill>
                        <a:srgbClr val="EBEEF8"/>
                      </a:solidFill>
                      <a:prstDash val="solid"/>
                      <a:round/>
                      <a:headEnd type="none" w="med" len="med"/>
                      <a:tailEnd type="none" w="med" len="med"/>
                    </a:lnR>
                    <a:lnT w="9525" cap="flat" cmpd="sng" algn="ctr">
                      <a:solidFill>
                        <a:srgbClr val="EBEEF8"/>
                      </a:solidFill>
                      <a:prstDash val="solid"/>
                      <a:round/>
                      <a:headEnd type="none" w="med" len="med"/>
                      <a:tailEnd type="none" w="med" len="med"/>
                    </a:lnT>
                    <a:lnB w="9525" cap="flat" cmpd="sng" algn="ctr">
                      <a:solidFill>
                        <a:srgbClr val="EBEEF8"/>
                      </a:solidFill>
                      <a:prstDash val="solid"/>
                      <a:round/>
                      <a:headEnd type="none" w="med" len="med"/>
                      <a:tailEnd type="none" w="med" len="med"/>
                    </a:lnB>
                    <a:solidFill>
                      <a:srgbClr val="EBEEF8"/>
                    </a:solidFill>
                  </a:tcPr>
                </a:tc>
                <a:tc>
                  <a:txBody>
                    <a:bodyPr/>
                    <a:lstStyle/>
                    <a:p>
                      <a:pPr indent="0" marL="0">
                        <a:buNone/>
                      </a:pPr>
                      <a:r>
                        <a:rPr lang="en-US" sz="1500" dirty="0">
                          <a:solidFill>
                            <a:srgbClr val="1F2328"/>
                          </a:solidFill>
                          <a:latin typeface="Calibri" pitchFamily="34" charset="0"/>
                          <a:ea typeface="Calibri" pitchFamily="34" charset="-122"/>
                          <a:cs typeface="Calibri" pitchFamily="34" charset="-120"/>
                        </a:rPr>
                        <a:t>Prepare and implement policies, deliver services</a:t>
                      </a:r>
                      <a:endParaRPr lang="en-US" sz="1500" dirty="0">
                        <a:latin typeface="Calibri" charset="0"/>
                        <a:ea typeface="Calibri" charset="0"/>
                        <a:cs typeface="Calibri" charset="0"/>
                      </a:endParaRPr>
                    </a:p>
                  </a:txBody>
                  <a:tcPr marL="73152" marR="73152" marT="73152" marB="73152" anchor="ctr">
                    <a:lnL w="9525" cap="flat" cmpd="sng" algn="ctr">
                      <a:solidFill>
                        <a:srgbClr val="EBEEF8"/>
                      </a:solidFill>
                      <a:prstDash val="solid"/>
                      <a:round/>
                      <a:headEnd type="none" w="med" len="med"/>
                      <a:tailEnd type="none" w="med" len="med"/>
                    </a:lnL>
                    <a:lnR w="9525" cap="flat" cmpd="sng" algn="ctr">
                      <a:solidFill>
                        <a:srgbClr val="EBEEF8"/>
                      </a:solidFill>
                      <a:prstDash val="solid"/>
                      <a:round/>
                      <a:headEnd type="none" w="med" len="med"/>
                      <a:tailEnd type="none" w="med" len="med"/>
                    </a:lnR>
                    <a:lnT w="9525" cap="flat" cmpd="sng" algn="ctr">
                      <a:solidFill>
                        <a:srgbClr val="EBEEF8"/>
                      </a:solidFill>
                      <a:prstDash val="solid"/>
                      <a:round/>
                      <a:headEnd type="none" w="med" len="med"/>
                      <a:tailEnd type="none" w="med" len="med"/>
                    </a:lnT>
                    <a:lnB w="9525" cap="flat" cmpd="sng" algn="ctr">
                      <a:solidFill>
                        <a:srgbClr val="EBEEF8"/>
                      </a:solidFill>
                      <a:prstDash val="solid"/>
                      <a:round/>
                      <a:headEnd type="none" w="med" len="med"/>
                      <a:tailEnd type="none" w="med" len="med"/>
                    </a:lnB>
                    <a:solidFill>
                      <a:srgbClr val="EBEEF8"/>
                    </a:solidFill>
                  </a:tcPr>
                </a:tc>
                <a:tc>
                  <a:txBody>
                    <a:bodyPr/>
                    <a:lstStyle/>
                    <a:p>
                      <a:pPr indent="0" marL="0">
                        <a:buNone/>
                      </a:pPr>
                      <a:r>
                        <a:rPr lang="en-US" sz="1500" dirty="0">
                          <a:solidFill>
                            <a:srgbClr val="1F2328"/>
                          </a:solidFill>
                          <a:latin typeface="Calibri" pitchFamily="34" charset="0"/>
                          <a:ea typeface="Calibri" pitchFamily="34" charset="-122"/>
                          <a:cs typeface="Calibri" pitchFamily="34" charset="-120"/>
                        </a:rPr>
                        <a:t>A District Collector runs a scheme in the district</a:t>
                      </a:r>
                      <a:endParaRPr lang="en-US" sz="1500" dirty="0">
                        <a:latin typeface="Calibri" charset="0"/>
                        <a:ea typeface="Calibri" charset="0"/>
                        <a:cs typeface="Calibri" charset="0"/>
                      </a:endParaRPr>
                    </a:p>
                  </a:txBody>
                  <a:tcPr marL="73152" marR="73152" marT="73152" marB="73152" anchor="ctr">
                    <a:lnL w="9525" cap="flat" cmpd="sng" algn="ctr">
                      <a:solidFill>
                        <a:srgbClr val="EBEEF8"/>
                      </a:solidFill>
                      <a:prstDash val="solid"/>
                      <a:round/>
                      <a:headEnd type="none" w="med" len="med"/>
                      <a:tailEnd type="none" w="med" len="med"/>
                    </a:lnL>
                    <a:lnR w="9525" cap="flat" cmpd="sng" algn="ctr">
                      <a:solidFill>
                        <a:srgbClr val="EBEEF8"/>
                      </a:solidFill>
                      <a:prstDash val="solid"/>
                      <a:round/>
                      <a:headEnd type="none" w="med" len="med"/>
                      <a:tailEnd type="none" w="med" len="med"/>
                    </a:lnR>
                    <a:lnT w="9525" cap="flat" cmpd="sng" algn="ctr">
                      <a:solidFill>
                        <a:srgbClr val="EBEEF8"/>
                      </a:solidFill>
                      <a:prstDash val="solid"/>
                      <a:round/>
                      <a:headEnd type="none" w="med" len="med"/>
                      <a:tailEnd type="none" w="med" len="med"/>
                    </a:lnT>
                    <a:lnB w="9525" cap="flat" cmpd="sng" algn="ctr">
                      <a:solidFill>
                        <a:srgbClr val="EBEEF8"/>
                      </a:solidFill>
                      <a:prstDash val="solid"/>
                      <a:round/>
                      <a:headEnd type="none" w="med" len="med"/>
                      <a:tailEnd type="none" w="med" len="med"/>
                    </a:lnB>
                    <a:solidFill>
                      <a:srgbClr val="EBEEF8"/>
                    </a:solidFill>
                  </a:tcPr>
                </a:tc>
              </a:tr>
              <a:tr h="640080">
                <a:tc>
                  <a:txBody>
                    <a:bodyPr/>
                    <a:lstStyle/>
                    <a:p>
                      <a:pPr indent="0" marL="0">
                        <a:buNone/>
                      </a:pPr>
                      <a:r>
                        <a:rPr lang="en-US" sz="1500" dirty="0">
                          <a:solidFill>
                            <a:srgbClr val="1F2328"/>
                          </a:solidFill>
                          <a:latin typeface="Calibri" pitchFamily="34" charset="0"/>
                          <a:ea typeface="Calibri" pitchFamily="34" charset="-122"/>
                          <a:cs typeface="Calibri" pitchFamily="34" charset="-120"/>
                        </a:rPr>
                        <a:t>Civil society, NGOs, media</a:t>
                      </a:r>
                      <a:endParaRPr lang="en-US" sz="1500" dirty="0">
                        <a:latin typeface="Calibri" charset="0"/>
                        <a:ea typeface="Calibri" charset="0"/>
                        <a:cs typeface="Calibri" charset="0"/>
                      </a:endParaRPr>
                    </a:p>
                  </a:txBody>
                  <a:tcPr marL="73152" marR="73152" marT="73152" marB="73152" anchor="ctr">
                    <a:lnL w="9525" cap="flat" cmpd="sng" algn="ctr">
                      <a:solidFill>
                        <a:srgbClr val="EBEEF8"/>
                      </a:solidFill>
                      <a:prstDash val="solid"/>
                      <a:round/>
                      <a:headEnd type="none" w="med" len="med"/>
                      <a:tailEnd type="none" w="med" len="med"/>
                    </a:lnL>
                    <a:lnR w="9525" cap="flat" cmpd="sng" algn="ctr">
                      <a:solidFill>
                        <a:srgbClr val="EBEEF8"/>
                      </a:solidFill>
                      <a:prstDash val="solid"/>
                      <a:round/>
                      <a:headEnd type="none" w="med" len="med"/>
                      <a:tailEnd type="none" w="med" len="med"/>
                    </a:lnR>
                    <a:lnT w="9525" cap="flat" cmpd="sng" algn="ctr">
                      <a:solidFill>
                        <a:srgbClr val="EBEEF8"/>
                      </a:solidFill>
                      <a:prstDash val="solid"/>
                      <a:round/>
                      <a:headEnd type="none" w="med" len="med"/>
                      <a:tailEnd type="none" w="med" len="med"/>
                    </a:lnT>
                    <a:lnB w="9525" cap="flat" cmpd="sng" algn="ctr">
                      <a:solidFill>
                        <a:srgbClr val="EBEEF8"/>
                      </a:solidFill>
                      <a:prstDash val="solid"/>
                      <a:round/>
                      <a:headEnd type="none" w="med" len="med"/>
                      <a:tailEnd type="none" w="med" len="med"/>
                    </a:lnB>
                    <a:solidFill>
                      <a:srgbClr val="FFFFFF"/>
                    </a:solidFill>
                  </a:tcPr>
                </a:tc>
                <a:tc>
                  <a:txBody>
                    <a:bodyPr/>
                    <a:lstStyle/>
                    <a:p>
                      <a:pPr indent="0" marL="0">
                        <a:buNone/>
                      </a:pPr>
                      <a:r>
                        <a:rPr lang="en-US" sz="1500" dirty="0">
                          <a:solidFill>
                            <a:srgbClr val="1F2328"/>
                          </a:solidFill>
                          <a:latin typeface="Calibri" pitchFamily="34" charset="0"/>
                          <a:ea typeface="Calibri" pitchFamily="34" charset="-122"/>
                          <a:cs typeface="Calibri" pitchFamily="34" charset="-120"/>
                        </a:rPr>
                        <a:t>Study problems, create awareness, monitor</a:t>
                      </a:r>
                      <a:endParaRPr lang="en-US" sz="1500" dirty="0">
                        <a:latin typeface="Calibri" charset="0"/>
                        <a:ea typeface="Calibri" charset="0"/>
                        <a:cs typeface="Calibri" charset="0"/>
                      </a:endParaRPr>
                    </a:p>
                  </a:txBody>
                  <a:tcPr marL="73152" marR="73152" marT="73152" marB="73152" anchor="ctr">
                    <a:lnL w="9525" cap="flat" cmpd="sng" algn="ctr">
                      <a:solidFill>
                        <a:srgbClr val="EBEEF8"/>
                      </a:solidFill>
                      <a:prstDash val="solid"/>
                      <a:round/>
                      <a:headEnd type="none" w="med" len="med"/>
                      <a:tailEnd type="none" w="med" len="med"/>
                    </a:lnL>
                    <a:lnR w="9525" cap="flat" cmpd="sng" algn="ctr">
                      <a:solidFill>
                        <a:srgbClr val="EBEEF8"/>
                      </a:solidFill>
                      <a:prstDash val="solid"/>
                      <a:round/>
                      <a:headEnd type="none" w="med" len="med"/>
                      <a:tailEnd type="none" w="med" len="med"/>
                    </a:lnR>
                    <a:lnT w="9525" cap="flat" cmpd="sng" algn="ctr">
                      <a:solidFill>
                        <a:srgbClr val="EBEEF8"/>
                      </a:solidFill>
                      <a:prstDash val="solid"/>
                      <a:round/>
                      <a:headEnd type="none" w="med" len="med"/>
                      <a:tailEnd type="none" w="med" len="med"/>
                    </a:lnT>
                    <a:lnB w="9525" cap="flat" cmpd="sng" algn="ctr">
                      <a:solidFill>
                        <a:srgbClr val="EBEEF8"/>
                      </a:solidFill>
                      <a:prstDash val="solid"/>
                      <a:round/>
                      <a:headEnd type="none" w="med" len="med"/>
                      <a:tailEnd type="none" w="med" len="med"/>
                    </a:lnB>
                    <a:solidFill>
                      <a:srgbClr val="FFFFFF"/>
                    </a:solidFill>
                  </a:tcPr>
                </a:tc>
                <a:tc>
                  <a:txBody>
                    <a:bodyPr/>
                    <a:lstStyle/>
                    <a:p>
                      <a:pPr indent="0" marL="0">
                        <a:buNone/>
                      </a:pPr>
                      <a:r>
                        <a:rPr lang="en-US" sz="1500" dirty="0">
                          <a:solidFill>
                            <a:srgbClr val="1F2328"/>
                          </a:solidFill>
                          <a:latin typeface="Calibri" pitchFamily="34" charset="0"/>
                          <a:ea typeface="Calibri" pitchFamily="34" charset="-122"/>
                          <a:cs typeface="Calibri" pitchFamily="34" charset="-120"/>
                        </a:rPr>
                        <a:t>An NGO runs a water-conservation campaign</a:t>
                      </a:r>
                      <a:endParaRPr lang="en-US" sz="1500" dirty="0">
                        <a:latin typeface="Calibri" charset="0"/>
                        <a:ea typeface="Calibri" charset="0"/>
                        <a:cs typeface="Calibri" charset="0"/>
                      </a:endParaRPr>
                    </a:p>
                  </a:txBody>
                  <a:tcPr marL="73152" marR="73152" marT="73152" marB="73152" anchor="ctr">
                    <a:lnL w="9525" cap="flat" cmpd="sng" algn="ctr">
                      <a:solidFill>
                        <a:srgbClr val="EBEEF8"/>
                      </a:solidFill>
                      <a:prstDash val="solid"/>
                      <a:round/>
                      <a:headEnd type="none" w="med" len="med"/>
                      <a:tailEnd type="none" w="med" len="med"/>
                    </a:lnL>
                    <a:lnR w="9525" cap="flat" cmpd="sng" algn="ctr">
                      <a:solidFill>
                        <a:srgbClr val="EBEEF8"/>
                      </a:solidFill>
                      <a:prstDash val="solid"/>
                      <a:round/>
                      <a:headEnd type="none" w="med" len="med"/>
                      <a:tailEnd type="none" w="med" len="med"/>
                    </a:lnR>
                    <a:lnT w="9525" cap="flat" cmpd="sng" algn="ctr">
                      <a:solidFill>
                        <a:srgbClr val="EBEEF8"/>
                      </a:solidFill>
                      <a:prstDash val="solid"/>
                      <a:round/>
                      <a:headEnd type="none" w="med" len="med"/>
                      <a:tailEnd type="none" w="med" len="med"/>
                    </a:lnT>
                    <a:lnB w="9525" cap="flat" cmpd="sng" algn="ctr">
                      <a:solidFill>
                        <a:srgbClr val="EBEEF8"/>
                      </a:solidFill>
                      <a:prstDash val="solid"/>
                      <a:round/>
                      <a:headEnd type="none" w="med" len="med"/>
                      <a:tailEnd type="none" w="med" len="med"/>
                    </a:lnB>
                    <a:solidFill>
                      <a:srgbClr val="FFFFFF"/>
                    </a:solidFill>
                  </a:tcPr>
                </a:tc>
              </a:tr>
              <a:tr h="640080">
                <a:tc>
                  <a:txBody>
                    <a:bodyPr/>
                    <a:lstStyle/>
                    <a:p>
                      <a:pPr indent="0" marL="0">
                        <a:buNone/>
                      </a:pPr>
                      <a:r>
                        <a:rPr lang="en-US" sz="1500" dirty="0">
                          <a:solidFill>
                            <a:srgbClr val="1F2328"/>
                          </a:solidFill>
                          <a:latin typeface="Calibri" pitchFamily="34" charset="0"/>
                          <a:ea typeface="Calibri" pitchFamily="34" charset="-122"/>
                          <a:cs typeface="Calibri" pitchFamily="34" charset="-120"/>
                        </a:rPr>
                        <a:t>Private sector</a:t>
                      </a:r>
                      <a:endParaRPr lang="en-US" sz="1500" dirty="0">
                        <a:latin typeface="Calibri" charset="0"/>
                        <a:ea typeface="Calibri" charset="0"/>
                        <a:cs typeface="Calibri" charset="0"/>
                      </a:endParaRPr>
                    </a:p>
                  </a:txBody>
                  <a:tcPr marL="73152" marR="73152" marT="73152" marB="73152" anchor="ctr">
                    <a:lnL w="9525" cap="flat" cmpd="sng" algn="ctr">
                      <a:solidFill>
                        <a:srgbClr val="EBEEF8"/>
                      </a:solidFill>
                      <a:prstDash val="solid"/>
                      <a:round/>
                      <a:headEnd type="none" w="med" len="med"/>
                      <a:tailEnd type="none" w="med" len="med"/>
                    </a:lnL>
                    <a:lnR w="9525" cap="flat" cmpd="sng" algn="ctr">
                      <a:solidFill>
                        <a:srgbClr val="EBEEF8"/>
                      </a:solidFill>
                      <a:prstDash val="solid"/>
                      <a:round/>
                      <a:headEnd type="none" w="med" len="med"/>
                      <a:tailEnd type="none" w="med" len="med"/>
                    </a:lnR>
                    <a:lnT w="9525" cap="flat" cmpd="sng" algn="ctr">
                      <a:solidFill>
                        <a:srgbClr val="EBEEF8"/>
                      </a:solidFill>
                      <a:prstDash val="solid"/>
                      <a:round/>
                      <a:headEnd type="none" w="med" len="med"/>
                      <a:tailEnd type="none" w="med" len="med"/>
                    </a:lnT>
                    <a:lnB w="9525" cap="flat" cmpd="sng" algn="ctr">
                      <a:solidFill>
                        <a:srgbClr val="EBEEF8"/>
                      </a:solidFill>
                      <a:prstDash val="solid"/>
                      <a:round/>
                      <a:headEnd type="none" w="med" len="med"/>
                      <a:tailEnd type="none" w="med" len="med"/>
                    </a:lnB>
                    <a:solidFill>
                      <a:srgbClr val="EBEEF8"/>
                    </a:solidFill>
                  </a:tcPr>
                </a:tc>
                <a:tc>
                  <a:txBody>
                    <a:bodyPr/>
                    <a:lstStyle/>
                    <a:p>
                      <a:pPr indent="0" marL="0">
                        <a:buNone/>
                      </a:pPr>
                      <a:r>
                        <a:rPr lang="en-US" sz="1500" dirty="0">
                          <a:solidFill>
                            <a:srgbClr val="1F2328"/>
                          </a:solidFill>
                          <a:latin typeface="Calibri" pitchFamily="34" charset="0"/>
                          <a:ea typeface="Calibri" pitchFamily="34" charset="-122"/>
                          <a:cs typeface="Calibri" pitchFamily="34" charset="-120"/>
                        </a:rPr>
                        <a:t>Bring know-how, innovation and resources</a:t>
                      </a:r>
                      <a:endParaRPr lang="en-US" sz="1500" dirty="0">
                        <a:latin typeface="Calibri" charset="0"/>
                        <a:ea typeface="Calibri" charset="0"/>
                        <a:cs typeface="Calibri" charset="0"/>
                      </a:endParaRPr>
                    </a:p>
                  </a:txBody>
                  <a:tcPr marL="73152" marR="73152" marT="73152" marB="73152" anchor="ctr">
                    <a:lnL w="9525" cap="flat" cmpd="sng" algn="ctr">
                      <a:solidFill>
                        <a:srgbClr val="EBEEF8"/>
                      </a:solidFill>
                      <a:prstDash val="solid"/>
                      <a:round/>
                      <a:headEnd type="none" w="med" len="med"/>
                      <a:tailEnd type="none" w="med" len="med"/>
                    </a:lnL>
                    <a:lnR w="9525" cap="flat" cmpd="sng" algn="ctr">
                      <a:solidFill>
                        <a:srgbClr val="EBEEF8"/>
                      </a:solidFill>
                      <a:prstDash val="solid"/>
                      <a:round/>
                      <a:headEnd type="none" w="med" len="med"/>
                      <a:tailEnd type="none" w="med" len="med"/>
                    </a:lnR>
                    <a:lnT w="9525" cap="flat" cmpd="sng" algn="ctr">
                      <a:solidFill>
                        <a:srgbClr val="EBEEF8"/>
                      </a:solidFill>
                      <a:prstDash val="solid"/>
                      <a:round/>
                      <a:headEnd type="none" w="med" len="med"/>
                      <a:tailEnd type="none" w="med" len="med"/>
                    </a:lnT>
                    <a:lnB w="9525" cap="flat" cmpd="sng" algn="ctr">
                      <a:solidFill>
                        <a:srgbClr val="EBEEF8"/>
                      </a:solidFill>
                      <a:prstDash val="solid"/>
                      <a:round/>
                      <a:headEnd type="none" w="med" len="med"/>
                      <a:tailEnd type="none" w="med" len="med"/>
                    </a:lnB>
                    <a:solidFill>
                      <a:srgbClr val="EBEEF8"/>
                    </a:solidFill>
                  </a:tcPr>
                </a:tc>
                <a:tc>
                  <a:txBody>
                    <a:bodyPr/>
                    <a:lstStyle/>
                    <a:p>
                      <a:pPr indent="0" marL="0">
                        <a:buNone/>
                      </a:pPr>
                      <a:r>
                        <a:rPr lang="en-US" sz="1500" dirty="0">
                          <a:solidFill>
                            <a:srgbClr val="1F2328"/>
                          </a:solidFill>
                          <a:latin typeface="Calibri" pitchFamily="34" charset="0"/>
                          <a:ea typeface="Calibri" pitchFamily="34" charset="-122"/>
                          <a:cs typeface="Calibri" pitchFamily="34" charset="-120"/>
                        </a:rPr>
                        <a:t>A company installs solar panels in schools (PPP)</a:t>
                      </a:r>
                      <a:endParaRPr lang="en-US" sz="1500" dirty="0">
                        <a:latin typeface="Calibri" charset="0"/>
                        <a:ea typeface="Calibri" charset="0"/>
                        <a:cs typeface="Calibri" charset="0"/>
                      </a:endParaRPr>
                    </a:p>
                  </a:txBody>
                  <a:tcPr marL="73152" marR="73152" marT="73152" marB="73152" anchor="ctr">
                    <a:lnL w="9525" cap="flat" cmpd="sng" algn="ctr">
                      <a:solidFill>
                        <a:srgbClr val="EBEEF8"/>
                      </a:solidFill>
                      <a:prstDash val="solid"/>
                      <a:round/>
                      <a:headEnd type="none" w="med" len="med"/>
                      <a:tailEnd type="none" w="med" len="med"/>
                    </a:lnL>
                    <a:lnR w="9525" cap="flat" cmpd="sng" algn="ctr">
                      <a:solidFill>
                        <a:srgbClr val="EBEEF8"/>
                      </a:solidFill>
                      <a:prstDash val="solid"/>
                      <a:round/>
                      <a:headEnd type="none" w="med" len="med"/>
                      <a:tailEnd type="none" w="med" len="med"/>
                    </a:lnR>
                    <a:lnT w="9525" cap="flat" cmpd="sng" algn="ctr">
                      <a:solidFill>
                        <a:srgbClr val="EBEEF8"/>
                      </a:solidFill>
                      <a:prstDash val="solid"/>
                      <a:round/>
                      <a:headEnd type="none" w="med" len="med"/>
                      <a:tailEnd type="none" w="med" len="med"/>
                    </a:lnT>
                    <a:lnB w="9525" cap="flat" cmpd="sng" algn="ctr">
                      <a:solidFill>
                        <a:srgbClr val="EBEEF8"/>
                      </a:solidFill>
                      <a:prstDash val="solid"/>
                      <a:round/>
                      <a:headEnd type="none" w="med" len="med"/>
                      <a:tailEnd type="none" w="med" len="med"/>
                    </a:lnB>
                    <a:solidFill>
                      <a:srgbClr val="EBEEF8"/>
                    </a:solidFill>
                  </a:tcPr>
                </a:tc>
              </a:tr>
              <a:tr h="640080">
                <a:tc>
                  <a:txBody>
                    <a:bodyPr/>
                    <a:lstStyle/>
                    <a:p>
                      <a:pPr indent="0" marL="0">
                        <a:buNone/>
                      </a:pPr>
                      <a:r>
                        <a:rPr lang="en-US" sz="1500" dirty="0">
                          <a:solidFill>
                            <a:srgbClr val="1F2328"/>
                          </a:solidFill>
                          <a:latin typeface="Calibri" pitchFamily="34" charset="0"/>
                          <a:ea typeface="Calibri" pitchFamily="34" charset="-122"/>
                          <a:cs typeface="Calibri" pitchFamily="34" charset="-120"/>
                        </a:rPr>
                        <a:t>International organisations</a:t>
                      </a:r>
                      <a:endParaRPr lang="en-US" sz="1500" dirty="0">
                        <a:latin typeface="Calibri" charset="0"/>
                        <a:ea typeface="Calibri" charset="0"/>
                        <a:cs typeface="Calibri" charset="0"/>
                      </a:endParaRPr>
                    </a:p>
                  </a:txBody>
                  <a:tcPr marL="73152" marR="73152" marT="73152" marB="73152" anchor="ctr">
                    <a:lnL w="9525" cap="flat" cmpd="sng" algn="ctr">
                      <a:solidFill>
                        <a:srgbClr val="EBEEF8"/>
                      </a:solidFill>
                      <a:prstDash val="solid"/>
                      <a:round/>
                      <a:headEnd type="none" w="med" len="med"/>
                      <a:tailEnd type="none" w="med" len="med"/>
                    </a:lnL>
                    <a:lnR w="9525" cap="flat" cmpd="sng" algn="ctr">
                      <a:solidFill>
                        <a:srgbClr val="EBEEF8"/>
                      </a:solidFill>
                      <a:prstDash val="solid"/>
                      <a:round/>
                      <a:headEnd type="none" w="med" len="med"/>
                      <a:tailEnd type="none" w="med" len="med"/>
                    </a:lnR>
                    <a:lnT w="9525" cap="flat" cmpd="sng" algn="ctr">
                      <a:solidFill>
                        <a:srgbClr val="EBEEF8"/>
                      </a:solidFill>
                      <a:prstDash val="solid"/>
                      <a:round/>
                      <a:headEnd type="none" w="med" len="med"/>
                      <a:tailEnd type="none" w="med" len="med"/>
                    </a:lnT>
                    <a:lnB w="9525" cap="flat" cmpd="sng" algn="ctr">
                      <a:solidFill>
                        <a:srgbClr val="EBEEF8"/>
                      </a:solidFill>
                      <a:prstDash val="solid"/>
                      <a:round/>
                      <a:headEnd type="none" w="med" len="med"/>
                      <a:tailEnd type="none" w="med" len="med"/>
                    </a:lnB>
                    <a:solidFill>
                      <a:srgbClr val="FFFFFF"/>
                    </a:solidFill>
                  </a:tcPr>
                </a:tc>
                <a:tc>
                  <a:txBody>
                    <a:bodyPr/>
                    <a:lstStyle/>
                    <a:p>
                      <a:pPr indent="0" marL="0">
                        <a:buNone/>
                      </a:pPr>
                      <a:r>
                        <a:rPr lang="en-US" sz="1500" dirty="0">
                          <a:solidFill>
                            <a:srgbClr val="1F2328"/>
                          </a:solidFill>
                          <a:latin typeface="Calibri" pitchFamily="34" charset="0"/>
                          <a:ea typeface="Calibri" pitchFamily="34" charset="-122"/>
                          <a:cs typeface="Calibri" pitchFamily="34" charset="-120"/>
                        </a:rPr>
                        <a:t>Share experience, expertise and funds</a:t>
                      </a:r>
                      <a:endParaRPr lang="en-US" sz="1500" dirty="0">
                        <a:latin typeface="Calibri" charset="0"/>
                        <a:ea typeface="Calibri" charset="0"/>
                        <a:cs typeface="Calibri" charset="0"/>
                      </a:endParaRPr>
                    </a:p>
                  </a:txBody>
                  <a:tcPr marL="73152" marR="73152" marT="73152" marB="73152" anchor="ctr">
                    <a:lnL w="9525" cap="flat" cmpd="sng" algn="ctr">
                      <a:solidFill>
                        <a:srgbClr val="EBEEF8"/>
                      </a:solidFill>
                      <a:prstDash val="solid"/>
                      <a:round/>
                      <a:headEnd type="none" w="med" len="med"/>
                      <a:tailEnd type="none" w="med" len="med"/>
                    </a:lnL>
                    <a:lnR w="9525" cap="flat" cmpd="sng" algn="ctr">
                      <a:solidFill>
                        <a:srgbClr val="EBEEF8"/>
                      </a:solidFill>
                      <a:prstDash val="solid"/>
                      <a:round/>
                      <a:headEnd type="none" w="med" len="med"/>
                      <a:tailEnd type="none" w="med" len="med"/>
                    </a:lnR>
                    <a:lnT w="9525" cap="flat" cmpd="sng" algn="ctr">
                      <a:solidFill>
                        <a:srgbClr val="EBEEF8"/>
                      </a:solidFill>
                      <a:prstDash val="solid"/>
                      <a:round/>
                      <a:headEnd type="none" w="med" len="med"/>
                      <a:tailEnd type="none" w="med" len="med"/>
                    </a:lnT>
                    <a:lnB w="9525" cap="flat" cmpd="sng" algn="ctr">
                      <a:solidFill>
                        <a:srgbClr val="EBEEF8"/>
                      </a:solidFill>
                      <a:prstDash val="solid"/>
                      <a:round/>
                      <a:headEnd type="none" w="med" len="med"/>
                      <a:tailEnd type="none" w="med" len="med"/>
                    </a:lnB>
                    <a:solidFill>
                      <a:srgbClr val="FFFFFF"/>
                    </a:solidFill>
                  </a:tcPr>
                </a:tc>
                <a:tc>
                  <a:txBody>
                    <a:bodyPr/>
                    <a:lstStyle/>
                    <a:p>
                      <a:pPr indent="0" marL="0">
                        <a:buNone/>
                      </a:pPr>
                      <a:r>
                        <a:rPr lang="en-US" sz="1500" dirty="0">
                          <a:solidFill>
                            <a:srgbClr val="1F2328"/>
                          </a:solidFill>
                          <a:latin typeface="Calibri" pitchFamily="34" charset="0"/>
                          <a:ea typeface="Calibri" pitchFamily="34" charset="-122"/>
                          <a:cs typeface="Calibri" pitchFamily="34" charset="-120"/>
                        </a:rPr>
                        <a:t>WHO helps countries control infectious diseases</a:t>
                      </a:r>
                      <a:endParaRPr lang="en-US" sz="1500" dirty="0">
                        <a:latin typeface="Calibri" charset="0"/>
                        <a:ea typeface="Calibri" charset="0"/>
                        <a:cs typeface="Calibri" charset="0"/>
                      </a:endParaRPr>
                    </a:p>
                  </a:txBody>
                  <a:tcPr marL="73152" marR="73152" marT="73152" marB="73152" anchor="ctr">
                    <a:lnL w="9525" cap="flat" cmpd="sng" algn="ctr">
                      <a:solidFill>
                        <a:srgbClr val="EBEEF8"/>
                      </a:solidFill>
                      <a:prstDash val="solid"/>
                      <a:round/>
                      <a:headEnd type="none" w="med" len="med"/>
                      <a:tailEnd type="none" w="med" len="med"/>
                    </a:lnL>
                    <a:lnR w="9525" cap="flat" cmpd="sng" algn="ctr">
                      <a:solidFill>
                        <a:srgbClr val="EBEEF8"/>
                      </a:solidFill>
                      <a:prstDash val="solid"/>
                      <a:round/>
                      <a:headEnd type="none" w="med" len="med"/>
                      <a:tailEnd type="none" w="med" len="med"/>
                    </a:lnR>
                    <a:lnT w="9525" cap="flat" cmpd="sng" algn="ctr">
                      <a:solidFill>
                        <a:srgbClr val="EBEEF8"/>
                      </a:solidFill>
                      <a:prstDash val="solid"/>
                      <a:round/>
                      <a:headEnd type="none" w="med" len="med"/>
                      <a:tailEnd type="none" w="med" len="med"/>
                    </a:lnT>
                    <a:lnB w="9525" cap="flat" cmpd="sng" algn="ctr">
                      <a:solidFill>
                        <a:srgbClr val="EBEEF8"/>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E2761"/>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Problem-Solving: Traffic at the School Gate</a:t>
            </a:r>
            <a:endParaRPr lang="en-US" sz="3600" dirty="0"/>
          </a:p>
        </p:txBody>
      </p:sp>
      <p:sp>
        <p:nvSpPr>
          <p:cNvPr id="3" name="activity info card"/>
          <p:cNvSpPr/>
          <p:nvPr/>
        </p:nvSpPr>
        <p:spPr>
          <a:xfrm>
            <a:off x="548640" y="1371600"/>
            <a:ext cx="3657600" cy="4846320"/>
          </a:xfrm>
          <a:prstGeom prst="roundRect">
            <a:avLst>
              <a:gd name="adj" fmla="val 3000"/>
            </a:avLst>
          </a:prstGeom>
          <a:solidFill>
            <a:schemeClr val="tx2"/>
          </a:solidFill>
          <a:ln w="12700">
            <a:solidFill>
              <a:schemeClr val="tx2"/>
            </a:solidFill>
            <a:prstDash val="solid"/>
          </a:ln>
          <a:effectLst>
            <a:outerShdw sx="100000" sy="100000" kx="0" ky="0" algn="bl" rotWithShape="0" blurRad="101600" dist="25400" dir="5400000">
              <a:srgbClr val="000000">
                <a:alpha val="14000"/>
              </a:srgbClr>
            </a:outerShdw>
          </a:effectLst>
        </p:spPr>
      </p:sp>
      <p:sp>
        <p:nvSpPr>
          <p:cNvPr id="4" name="activity disc"/>
          <p:cNvSpPr/>
          <p:nvPr/>
        </p:nvSpPr>
        <p:spPr>
          <a:xfrm>
            <a:off x="868680" y="1691640"/>
            <a:ext cx="914400" cy="914400"/>
          </a:xfrm>
          <a:prstGeom prst="ellipse">
            <a:avLst/>
          </a:prstGeom>
          <a:solidFill>
            <a:schemeClr val="accent3"/>
          </a:solidFill>
          <a:ln w="12700">
            <a:solidFill>
              <a:schemeClr val="accent3"/>
            </a:solidFill>
            <a:prstDash val="solid"/>
          </a:ln>
        </p:spPr>
      </p:sp>
      <p:pic>
        <p:nvPicPr>
          <p:cNvPr id="5" name="activity glyph" descr="preencoded.png">    </p:cNvPr>
          <p:cNvPicPr>
            <a:picLocks noChangeAspect="1"/>
          </p:cNvPicPr>
          <p:nvPr/>
        </p:nvPicPr>
        <p:blipFill>
          <a:blip r:embed="rId1"/>
          <a:stretch>
            <a:fillRect/>
          </a:stretch>
        </p:blipFill>
        <p:spPr>
          <a:xfrm>
            <a:off x="1069848" y="1892808"/>
            <a:ext cx="512064" cy="512064"/>
          </a:xfrm>
          <a:prstGeom prst="rect">
            <a:avLst/>
          </a:prstGeom>
        </p:spPr>
      </p:pic>
      <p:sp>
        <p:nvSpPr>
          <p:cNvPr id="6" name="Text 3"/>
          <p:cNvSpPr txBox="1"/>
          <p:nvPr/>
        </p:nvSpPr>
        <p:spPr>
          <a:xfrm>
            <a:off x="1965960" y="1737360"/>
            <a:ext cx="2103120" cy="365760"/>
          </a:xfrm>
          <a:prstGeom prst="rect">
            <a:avLst/>
          </a:prstGeom>
          <a:noFill/>
          <a:ln/>
        </p:spPr>
        <p:txBody>
          <a:bodyPr wrap="square" lIns="0" tIns="0" rIns="0" bIns="0" rtlCol="0" anchor="ctr"/>
          <a:lstStyle/>
          <a:p>
            <a:pPr indent="0" marL="0">
              <a:buNone/>
            </a:pPr>
            <a:r>
              <a:rPr lang="en-US" sz="1300" b="1" spc="200" kern="0" dirty="0">
                <a:solidFill>
                  <a:schemeClr val="accent3"/>
                </a:solidFill>
              </a:rPr>
              <a:t>DECISION LAB</a:t>
            </a:r>
            <a:endParaRPr lang="en-US" sz="1300" dirty="0"/>
          </a:p>
        </p:txBody>
      </p:sp>
      <p:sp>
        <p:nvSpPr>
          <p:cNvPr id="7" name="Text 4"/>
          <p:cNvSpPr txBox="1"/>
          <p:nvPr/>
        </p:nvSpPr>
        <p:spPr>
          <a:xfrm>
            <a:off x="1965960" y="2103120"/>
            <a:ext cx="2103120" cy="640080"/>
          </a:xfrm>
          <a:prstGeom prst="rect">
            <a:avLst/>
          </a:prstGeom>
          <a:noFill/>
          <a:ln/>
        </p:spPr>
        <p:txBody>
          <a:bodyPr wrap="square" lIns="0" tIns="0" rIns="0" bIns="0" rtlCol="0" anchor="t"/>
          <a:lstStyle/>
          <a:p>
            <a:pPr indent="0" marL="0">
              <a:buNone/>
            </a:pPr>
            <a:r>
              <a:rPr lang="en-US" sz="1800" b="1" dirty="0">
                <a:solidFill>
                  <a:schemeClr val="bg1"/>
                </a:solidFill>
              </a:rPr>
              <a:t>Fix the jam</a:t>
            </a:r>
            <a:endParaRPr lang="en-US" sz="1800" dirty="0"/>
          </a:p>
        </p:txBody>
      </p:sp>
      <p:pic>
        <p:nvPicPr>
          <p:cNvPr id="8" name="Time icon" descr="preencoded.png">    </p:cNvPr>
          <p:cNvPicPr>
            <a:picLocks noChangeAspect="1"/>
          </p:cNvPicPr>
          <p:nvPr/>
        </p:nvPicPr>
        <p:blipFill>
          <a:blip r:embed="rId2"/>
          <a:stretch>
            <a:fillRect/>
          </a:stretch>
        </p:blipFill>
        <p:spPr>
          <a:xfrm>
            <a:off x="868680" y="3063240"/>
            <a:ext cx="347472" cy="347472"/>
          </a:xfrm>
          <a:prstGeom prst="rect">
            <a:avLst/>
          </a:prstGeom>
        </p:spPr>
      </p:pic>
      <p:sp>
        <p:nvSpPr>
          <p:cNvPr id="9" name="Text 5"/>
          <p:cNvSpPr txBox="1"/>
          <p:nvPr/>
        </p:nvSpPr>
        <p:spPr>
          <a:xfrm>
            <a:off x="1371600" y="3017520"/>
            <a:ext cx="2651760" cy="914400"/>
          </a:xfrm>
          <a:prstGeom prst="rect">
            <a:avLst/>
          </a:prstGeom>
          <a:noFill/>
          <a:ln/>
        </p:spPr>
        <p:txBody>
          <a:bodyPr wrap="square" lIns="0" tIns="0" rIns="0" bIns="0" rtlCol="0" anchor="t"/>
          <a:lstStyle/>
          <a:p>
            <a:pPr indent="0" marL="0">
              <a:buNone/>
            </a:pPr>
            <a:r>
              <a:rPr lang="en-US" sz="1400" b="1" dirty="0">
                <a:solidFill>
                  <a:schemeClr val="accent3"/>
                </a:solidFill>
              </a:rPr>
              <a:t>Time: </a:t>
            </a:r>
            <a:r>
              <a:rPr lang="en-US" sz="1400" dirty="0">
                <a:solidFill>
                  <a:schemeClr val="bg1"/>
                </a:solidFill>
              </a:rPr>
              <a:t>25 minutes</a:t>
            </a:r>
            <a:endParaRPr lang="en-US" sz="1400" dirty="0"/>
          </a:p>
        </p:txBody>
      </p:sp>
      <p:pic>
        <p:nvPicPr>
          <p:cNvPr id="10" name="Group icon" descr="preencoded.png">    </p:cNvPr>
          <p:cNvPicPr>
            <a:picLocks noChangeAspect="1"/>
          </p:cNvPicPr>
          <p:nvPr/>
        </p:nvPicPr>
        <p:blipFill>
          <a:blip r:embed="rId3"/>
          <a:stretch>
            <a:fillRect/>
          </a:stretch>
        </p:blipFill>
        <p:spPr>
          <a:xfrm>
            <a:off x="868680" y="3703320"/>
            <a:ext cx="347472" cy="347472"/>
          </a:xfrm>
          <a:prstGeom prst="rect">
            <a:avLst/>
          </a:prstGeom>
        </p:spPr>
      </p:pic>
      <p:sp>
        <p:nvSpPr>
          <p:cNvPr id="11" name="Text 6"/>
          <p:cNvSpPr txBox="1"/>
          <p:nvPr/>
        </p:nvSpPr>
        <p:spPr>
          <a:xfrm>
            <a:off x="1371600" y="3657600"/>
            <a:ext cx="2651760" cy="914400"/>
          </a:xfrm>
          <a:prstGeom prst="rect">
            <a:avLst/>
          </a:prstGeom>
          <a:noFill/>
          <a:ln/>
        </p:spPr>
        <p:txBody>
          <a:bodyPr wrap="square" lIns="0" tIns="0" rIns="0" bIns="0" rtlCol="0" anchor="t"/>
          <a:lstStyle/>
          <a:p>
            <a:pPr indent="0" marL="0">
              <a:buNone/>
            </a:pPr>
            <a:r>
              <a:rPr lang="en-US" sz="1400" b="1" dirty="0">
                <a:solidFill>
                  <a:schemeClr val="accent3"/>
                </a:solidFill>
              </a:rPr>
              <a:t>Group: </a:t>
            </a:r>
            <a:r>
              <a:rPr lang="en-US" sz="1400" dirty="0">
                <a:solidFill>
                  <a:schemeClr val="bg1"/>
                </a:solidFill>
              </a:rPr>
              <a:t>Groups of 5</a:t>
            </a:r>
            <a:endParaRPr lang="en-US" sz="1400" dirty="0"/>
          </a:p>
        </p:txBody>
      </p:sp>
      <p:pic>
        <p:nvPicPr>
          <p:cNvPr id="12" name="You need icon" descr="preencoded.png">    </p:cNvPr>
          <p:cNvPicPr>
            <a:picLocks noChangeAspect="1"/>
          </p:cNvPicPr>
          <p:nvPr/>
        </p:nvPicPr>
        <p:blipFill>
          <a:blip r:embed="rId4"/>
          <a:stretch>
            <a:fillRect/>
          </a:stretch>
        </p:blipFill>
        <p:spPr>
          <a:xfrm>
            <a:off x="868680" y="4343400"/>
            <a:ext cx="347472" cy="347472"/>
          </a:xfrm>
          <a:prstGeom prst="rect">
            <a:avLst/>
          </a:prstGeom>
        </p:spPr>
      </p:pic>
      <p:sp>
        <p:nvSpPr>
          <p:cNvPr id="13" name="Text 7"/>
          <p:cNvSpPr txBox="1"/>
          <p:nvPr/>
        </p:nvSpPr>
        <p:spPr>
          <a:xfrm>
            <a:off x="1371600" y="4297680"/>
            <a:ext cx="2651760" cy="914400"/>
          </a:xfrm>
          <a:prstGeom prst="rect">
            <a:avLst/>
          </a:prstGeom>
          <a:noFill/>
          <a:ln/>
        </p:spPr>
        <p:txBody>
          <a:bodyPr wrap="square" lIns="0" tIns="0" rIns="0" bIns="0" rtlCol="0" anchor="t"/>
          <a:lstStyle/>
          <a:p>
            <a:pPr indent="0" marL="0">
              <a:buNone/>
            </a:pPr>
            <a:r>
              <a:rPr lang="en-US" sz="1400" b="1" dirty="0">
                <a:solidFill>
                  <a:schemeClr val="accent3"/>
                </a:solidFill>
              </a:rPr>
              <a:t>You need: </a:t>
            </a:r>
            <a:r>
              <a:rPr lang="en-US" sz="1400" dirty="0">
                <a:solidFill>
                  <a:schemeClr val="bg1"/>
                </a:solidFill>
              </a:rPr>
              <a:t>Option cards (6 options from the textbook)</a:t>
            </a:r>
            <a:endParaRPr lang="en-US" sz="1400" dirty="0"/>
          </a:p>
        </p:txBody>
      </p:sp>
      <p:sp>
        <p:nvSpPr>
          <p:cNvPr id="14" name="activity steps card"/>
          <p:cNvSpPr/>
          <p:nvPr/>
        </p:nvSpPr>
        <p:spPr>
          <a:xfrm>
            <a:off x="4526280" y="1371600"/>
            <a:ext cx="7086600" cy="4846320"/>
          </a:xfrm>
          <a:prstGeom prst="roundRect">
            <a:avLst>
              <a:gd name="adj" fmla="val 2264"/>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15" name="Text 9"/>
          <p:cNvSpPr txBox="1"/>
          <p:nvPr/>
        </p:nvSpPr>
        <p:spPr>
          <a:xfrm>
            <a:off x="4846320" y="1600200"/>
            <a:ext cx="6400800" cy="457200"/>
          </a:xfrm>
          <a:prstGeom prst="rect">
            <a:avLst/>
          </a:prstGeom>
          <a:noFill/>
          <a:ln/>
        </p:spPr>
        <p:txBody>
          <a:bodyPr wrap="square" lIns="0" tIns="0" rIns="0" bIns="0" rtlCol="0" anchor="ctr"/>
          <a:lstStyle/>
          <a:p>
            <a:pPr indent="0" marL="0">
              <a:buNone/>
            </a:pPr>
            <a:r>
              <a:rPr lang="en-US" sz="2000" b="1" dirty="0">
                <a:solidFill>
                  <a:schemeClr val="accent1"/>
                </a:solidFill>
              </a:rPr>
              <a:t>How to play</a:t>
            </a:r>
            <a:endParaRPr lang="en-US" sz="2000" dirty="0"/>
          </a:p>
        </p:txBody>
      </p:sp>
      <p:sp>
        <p:nvSpPr>
          <p:cNvPr id="16" name="step 1 badge"/>
          <p:cNvSpPr/>
          <p:nvPr/>
        </p:nvSpPr>
        <p:spPr>
          <a:xfrm>
            <a:off x="4846320" y="2212848"/>
            <a:ext cx="384048" cy="384048"/>
          </a:xfrm>
          <a:prstGeom prst="ellipse">
            <a:avLst/>
          </a:prstGeom>
          <a:solidFill>
            <a:schemeClr val="accent1"/>
          </a:solidFill>
          <a:ln w="12700">
            <a:solidFill>
              <a:schemeClr val="accent1"/>
            </a:solidFill>
            <a:prstDash val="solid"/>
          </a:ln>
        </p:spPr>
      </p:sp>
      <p:sp>
        <p:nvSpPr>
          <p:cNvPr id="17" name="Text 11"/>
          <p:cNvSpPr txBox="1"/>
          <p:nvPr/>
        </p:nvSpPr>
        <p:spPr>
          <a:xfrm>
            <a:off x="4846320" y="221284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8" name="Text 12"/>
          <p:cNvSpPr txBox="1"/>
          <p:nvPr/>
        </p:nvSpPr>
        <p:spPr>
          <a:xfrm>
            <a:off x="5394960" y="2194560"/>
            <a:ext cx="5943600" cy="493776"/>
          </a:xfrm>
          <a:prstGeom prst="rect">
            <a:avLst/>
          </a:prstGeom>
          <a:noFill/>
          <a:ln/>
        </p:spPr>
        <p:txBody>
          <a:bodyPr wrap="square" lIns="0" tIns="0" rIns="0" bIns="0" rtlCol="0" anchor="t"/>
          <a:lstStyle/>
          <a:p>
            <a:pPr indent="0" marL="0">
              <a:buNone/>
            </a:pPr>
            <a:r>
              <a:rPr lang="en-US" sz="1400" dirty="0">
                <a:solidFill>
                  <a:schemeClr val="tx1"/>
                </a:solidFill>
              </a:rPr>
              <a:t>Read the 6 options: volunteers, letter, meet principal, new gate, shift pick-up point, change timings.</a:t>
            </a:r>
            <a:endParaRPr lang="en-US" sz="1600" dirty="0"/>
          </a:p>
        </p:txBody>
      </p:sp>
      <p:sp>
        <p:nvSpPr>
          <p:cNvPr id="19" name="step 2 badge"/>
          <p:cNvSpPr/>
          <p:nvPr/>
        </p:nvSpPr>
        <p:spPr>
          <a:xfrm>
            <a:off x="4846320" y="2752344"/>
            <a:ext cx="384048" cy="384048"/>
          </a:xfrm>
          <a:prstGeom prst="ellipse">
            <a:avLst/>
          </a:prstGeom>
          <a:solidFill>
            <a:schemeClr val="accent1"/>
          </a:solidFill>
          <a:ln w="12700">
            <a:solidFill>
              <a:schemeClr val="accent1"/>
            </a:solidFill>
            <a:prstDash val="solid"/>
          </a:ln>
        </p:spPr>
      </p:sp>
      <p:sp>
        <p:nvSpPr>
          <p:cNvPr id="20" name="Text 14"/>
          <p:cNvSpPr txBox="1"/>
          <p:nvPr/>
        </p:nvSpPr>
        <p:spPr>
          <a:xfrm>
            <a:off x="4846320" y="2752344"/>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21" name="Text 15"/>
          <p:cNvSpPr txBox="1"/>
          <p:nvPr/>
        </p:nvSpPr>
        <p:spPr>
          <a:xfrm>
            <a:off x="5394960" y="2734056"/>
            <a:ext cx="5943600" cy="493776"/>
          </a:xfrm>
          <a:prstGeom prst="rect">
            <a:avLst/>
          </a:prstGeom>
          <a:noFill/>
          <a:ln/>
        </p:spPr>
        <p:txBody>
          <a:bodyPr wrap="square" lIns="0" tIns="0" rIns="0" bIns="0" rtlCol="0" anchor="t"/>
          <a:lstStyle/>
          <a:p>
            <a:pPr indent="0" marL="0">
              <a:buNone/>
            </a:pPr>
            <a:r>
              <a:rPr lang="en-US" sz="1400" dirty="0">
                <a:solidFill>
                  <a:schemeClr val="tx1"/>
                </a:solidFill>
              </a:rPr>
              <a:t>Choose </a:t>
            </a:r>
            <a:r>
              <a:rPr lang="en-US" sz="1400" b="1" dirty="0">
                <a:solidFill>
                  <a:schemeClr val="tx1"/>
                </a:solidFill>
              </a:rPr>
              <a:t>one</a:t>
            </a:r>
            <a:r>
              <a:rPr lang="en-US" sz="1400" dirty="0">
                <a:solidFill>
                  <a:schemeClr val="tx1"/>
                </a:solidFill>
              </a:rPr>
              <a:t> option and give reasons.</a:t>
            </a:r>
            <a:endParaRPr lang="en-US" sz="1600" dirty="0"/>
          </a:p>
        </p:txBody>
      </p:sp>
      <p:sp>
        <p:nvSpPr>
          <p:cNvPr id="22" name="step 3 badge"/>
          <p:cNvSpPr/>
          <p:nvPr/>
        </p:nvSpPr>
        <p:spPr>
          <a:xfrm>
            <a:off x="4846320" y="3291840"/>
            <a:ext cx="384048" cy="384048"/>
          </a:xfrm>
          <a:prstGeom prst="ellipse">
            <a:avLst/>
          </a:prstGeom>
          <a:solidFill>
            <a:schemeClr val="accent1"/>
          </a:solidFill>
          <a:ln w="12700">
            <a:solidFill>
              <a:schemeClr val="accent1"/>
            </a:solidFill>
            <a:prstDash val="solid"/>
          </a:ln>
        </p:spPr>
      </p:sp>
      <p:sp>
        <p:nvSpPr>
          <p:cNvPr id="23" name="Text 17"/>
          <p:cNvSpPr txBox="1"/>
          <p:nvPr/>
        </p:nvSpPr>
        <p:spPr>
          <a:xfrm>
            <a:off x="4846320" y="329184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24" name="Text 18"/>
          <p:cNvSpPr txBox="1"/>
          <p:nvPr/>
        </p:nvSpPr>
        <p:spPr>
          <a:xfrm>
            <a:off x="5394960" y="3273552"/>
            <a:ext cx="5943600" cy="493776"/>
          </a:xfrm>
          <a:prstGeom prst="rect">
            <a:avLst/>
          </a:prstGeom>
          <a:noFill/>
          <a:ln/>
        </p:spPr>
        <p:txBody>
          <a:bodyPr wrap="square" lIns="0" tIns="0" rIns="0" bIns="0" rtlCol="0" anchor="t"/>
          <a:lstStyle/>
          <a:p>
            <a:pPr indent="0" marL="0">
              <a:buNone/>
            </a:pPr>
            <a:r>
              <a:rPr lang="en-US" sz="1400" dirty="0">
                <a:solidFill>
                  <a:schemeClr val="tx1"/>
                </a:solidFill>
              </a:rPr>
              <a:t>Suggest a </a:t>
            </a:r>
            <a:r>
              <a:rPr lang="en-US" sz="1400" b="1" dirty="0">
                <a:solidFill>
                  <a:schemeClr val="tx1"/>
                </a:solidFill>
              </a:rPr>
              <a:t>better</a:t>
            </a:r>
            <a:r>
              <a:rPr lang="en-US" sz="1400" dirty="0">
                <a:solidFill>
                  <a:schemeClr val="tx1"/>
                </a:solidFill>
              </a:rPr>
              <a:t> solution if you can.</a:t>
            </a:r>
            <a:endParaRPr lang="en-US" sz="1600" dirty="0"/>
          </a:p>
        </p:txBody>
      </p:sp>
      <p:sp>
        <p:nvSpPr>
          <p:cNvPr id="25" name="step 4 badge"/>
          <p:cNvSpPr/>
          <p:nvPr/>
        </p:nvSpPr>
        <p:spPr>
          <a:xfrm>
            <a:off x="4846320" y="3831336"/>
            <a:ext cx="384048" cy="384048"/>
          </a:xfrm>
          <a:prstGeom prst="ellipse">
            <a:avLst/>
          </a:prstGeom>
          <a:solidFill>
            <a:schemeClr val="accent1"/>
          </a:solidFill>
          <a:ln w="12700">
            <a:solidFill>
              <a:schemeClr val="accent1"/>
            </a:solidFill>
            <a:prstDash val="solid"/>
          </a:ln>
        </p:spPr>
      </p:sp>
      <p:sp>
        <p:nvSpPr>
          <p:cNvPr id="26" name="Text 20"/>
          <p:cNvSpPr txBox="1"/>
          <p:nvPr/>
        </p:nvSpPr>
        <p:spPr>
          <a:xfrm>
            <a:off x="4846320" y="3831336"/>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7" name="Text 21"/>
          <p:cNvSpPr txBox="1"/>
          <p:nvPr/>
        </p:nvSpPr>
        <p:spPr>
          <a:xfrm>
            <a:off x="5394960" y="3813048"/>
            <a:ext cx="5943600" cy="493776"/>
          </a:xfrm>
          <a:prstGeom prst="rect">
            <a:avLst/>
          </a:prstGeom>
          <a:noFill/>
          <a:ln/>
        </p:spPr>
        <p:txBody>
          <a:bodyPr wrap="square" lIns="0" tIns="0" rIns="0" bIns="0" rtlCol="0" anchor="t"/>
          <a:lstStyle/>
          <a:p>
            <a:pPr indent="0" marL="0">
              <a:buNone/>
            </a:pPr>
            <a:r>
              <a:rPr lang="en-US" sz="1400" dirty="0">
                <a:solidFill>
                  <a:schemeClr val="tx1"/>
                </a:solidFill>
              </a:rPr>
              <a:t>Name the </a:t>
            </a:r>
            <a:r>
              <a:rPr lang="en-US" sz="1400" b="1" dirty="0">
                <a:solidFill>
                  <a:schemeClr val="tx1"/>
                </a:solidFill>
              </a:rPr>
              <a:t>stakeholders</a:t>
            </a:r>
            <a:r>
              <a:rPr lang="en-US" sz="1400" dirty="0">
                <a:solidFill>
                  <a:schemeClr val="tx1"/>
                </a:solidFill>
              </a:rPr>
              <a:t> and their roles.</a:t>
            </a:r>
            <a:endParaRPr lang="en-US" sz="1600" dirty="0"/>
          </a:p>
        </p:txBody>
      </p:sp>
      <p:sp>
        <p:nvSpPr>
          <p:cNvPr id="28" name="step 5 badge"/>
          <p:cNvSpPr/>
          <p:nvPr/>
        </p:nvSpPr>
        <p:spPr>
          <a:xfrm>
            <a:off x="4846320" y="4370832"/>
            <a:ext cx="384048" cy="384048"/>
          </a:xfrm>
          <a:prstGeom prst="ellipse">
            <a:avLst/>
          </a:prstGeom>
          <a:solidFill>
            <a:schemeClr val="accent1"/>
          </a:solidFill>
          <a:ln w="12700">
            <a:solidFill>
              <a:schemeClr val="accent1"/>
            </a:solidFill>
            <a:prstDash val="solid"/>
          </a:ln>
        </p:spPr>
      </p:sp>
      <p:sp>
        <p:nvSpPr>
          <p:cNvPr id="29" name="Text 23"/>
          <p:cNvSpPr txBox="1"/>
          <p:nvPr/>
        </p:nvSpPr>
        <p:spPr>
          <a:xfrm>
            <a:off x="4846320" y="4370832"/>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30" name="Text 24"/>
          <p:cNvSpPr txBox="1"/>
          <p:nvPr/>
        </p:nvSpPr>
        <p:spPr>
          <a:xfrm>
            <a:off x="5394960" y="4352544"/>
            <a:ext cx="5943600" cy="493776"/>
          </a:xfrm>
          <a:prstGeom prst="rect">
            <a:avLst/>
          </a:prstGeom>
          <a:noFill/>
          <a:ln/>
        </p:spPr>
        <p:txBody>
          <a:bodyPr wrap="square" lIns="0" tIns="0" rIns="0" bIns="0" rtlCol="0" anchor="t"/>
          <a:lstStyle/>
          <a:p>
            <a:pPr indent="0" marL="0">
              <a:buNone/>
            </a:pPr>
            <a:r>
              <a:rPr lang="en-US" sz="1400" dirty="0">
                <a:solidFill>
                  <a:schemeClr val="tx1"/>
                </a:solidFill>
              </a:rPr>
              <a:t>Design a </a:t>
            </a:r>
            <a:r>
              <a:rPr lang="en-US" sz="1400" b="1" dirty="0">
                <a:solidFill>
                  <a:schemeClr val="tx1"/>
                </a:solidFill>
              </a:rPr>
              <a:t>feedback loop</a:t>
            </a:r>
            <a:r>
              <a:rPr lang="en-US" sz="1400" dirty="0">
                <a:solidFill>
                  <a:schemeClr val="tx1"/>
                </a:solidFill>
              </a:rPr>
              <a:t> so the problem does not return.</a:t>
            </a:r>
            <a:endParaRPr lang="en-US" sz="1600" dirty="0"/>
          </a:p>
        </p:txBody>
      </p:sp>
      <p:sp>
        <p:nvSpPr>
          <p:cNvPr id="31" name="outcome band"/>
          <p:cNvSpPr/>
          <p:nvPr/>
        </p:nvSpPr>
        <p:spPr>
          <a:xfrm>
            <a:off x="4846320" y="5074920"/>
            <a:ext cx="6446520" cy="914400"/>
          </a:xfrm>
          <a:prstGeom prst="roundRect">
            <a:avLst>
              <a:gd name="adj" fmla="val 8000"/>
            </a:avLst>
          </a:prstGeom>
          <a:solidFill>
            <a:schemeClr val="bg2"/>
          </a:solidFill>
          <a:ln w="12700">
            <a:solidFill>
              <a:schemeClr val="bg2"/>
            </a:solidFill>
            <a:prstDash val="solid"/>
          </a:ln>
        </p:spPr>
      </p:sp>
      <p:sp>
        <p:nvSpPr>
          <p:cNvPr id="32" name="Text 26"/>
          <p:cNvSpPr txBox="1"/>
          <p:nvPr/>
        </p:nvSpPr>
        <p:spPr>
          <a:xfrm>
            <a:off x="5029200" y="5074920"/>
            <a:ext cx="6126480" cy="914400"/>
          </a:xfrm>
          <a:prstGeom prst="rect">
            <a:avLst/>
          </a:prstGeom>
          <a:noFill/>
          <a:ln/>
        </p:spPr>
        <p:txBody>
          <a:bodyPr wrap="square" lIns="0" tIns="0" rIns="0" bIns="0" rtlCol="0" anchor="ctr"/>
          <a:lstStyle/>
          <a:p>
            <a:pPr indent="0" marL="0">
              <a:buNone/>
            </a:pPr>
            <a:r>
              <a:rPr lang="en-US" sz="1400" b="1" dirty="0">
                <a:solidFill>
                  <a:schemeClr val="tx2"/>
                </a:solidFill>
              </a:rPr>
              <a:t>Learning link:</a:t>
            </a:r>
            <a:r>
              <a:rPr lang="en-US" sz="1400" dirty="0">
                <a:solidFill>
                  <a:schemeClr val="tx2"/>
                </a:solidFill>
              </a:rPr>
              <a:t> Good solutions need the right stakeholders, coordination and feedback.</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E2761"/>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Case Study: A Ramp to Better Healthcare</a:t>
            </a:r>
            <a:endParaRPr lang="en-US" sz="3600" dirty="0"/>
          </a:p>
        </p:txBody>
      </p:sp>
      <p:sp>
        <p:nvSpPr>
          <p:cNvPr id="3" name="step 1 card"/>
          <p:cNvSpPr/>
          <p:nvPr/>
        </p:nvSpPr>
        <p:spPr>
          <a:xfrm>
            <a:off x="548640" y="1417320"/>
            <a:ext cx="1883664" cy="4800600"/>
          </a:xfrm>
          <a:prstGeom prst="roundRect">
            <a:avLst>
              <a:gd name="adj" fmla="val 5825"/>
            </a:avLst>
          </a:prstGeom>
          <a:solidFill>
            <a:schemeClr val="bg2"/>
          </a:solidFill>
          <a:ln w="12700">
            <a:solidFill>
              <a:schemeClr val="bg2"/>
            </a:solidFill>
            <a:prstDash val="solid"/>
          </a:ln>
        </p:spPr>
      </p:sp>
      <p:sp>
        <p:nvSpPr>
          <p:cNvPr id="4" name="step 1 disc"/>
          <p:cNvSpPr/>
          <p:nvPr/>
        </p:nvSpPr>
        <p:spPr>
          <a:xfrm>
            <a:off x="1094903" y="1691640"/>
            <a:ext cx="791139" cy="791139"/>
          </a:xfrm>
          <a:prstGeom prst="ellipse">
            <a:avLst/>
          </a:prstGeom>
          <a:solidFill>
            <a:schemeClr val="accent1"/>
          </a:solidFill>
          <a:ln w="12700">
            <a:solidFill>
              <a:schemeClr val="accent1"/>
            </a:solidFill>
            <a:prstDash val="solid"/>
          </a:ln>
        </p:spPr>
      </p:sp>
      <p:pic>
        <p:nvPicPr>
          <p:cNvPr id="5" name="step 1 glyph" descr="preencoded.png">    </p:cNvPr>
          <p:cNvPicPr>
            <a:picLocks noChangeAspect="1"/>
          </p:cNvPicPr>
          <p:nvPr/>
        </p:nvPicPr>
        <p:blipFill>
          <a:blip r:embed="rId1"/>
          <a:stretch>
            <a:fillRect/>
          </a:stretch>
        </p:blipFill>
        <p:spPr>
          <a:xfrm>
            <a:off x="1268953" y="1865691"/>
            <a:ext cx="443038" cy="443038"/>
          </a:xfrm>
          <a:prstGeom prst="rect">
            <a:avLst/>
          </a:prstGeom>
        </p:spPr>
      </p:pic>
      <p:sp>
        <p:nvSpPr>
          <p:cNvPr id="6" name="Text 3"/>
          <p:cNvSpPr txBox="1"/>
          <p:nvPr/>
        </p:nvSpPr>
        <p:spPr>
          <a:xfrm>
            <a:off x="685800" y="2574219"/>
            <a:ext cx="1609344" cy="685800"/>
          </a:xfrm>
          <a:prstGeom prst="rect">
            <a:avLst/>
          </a:prstGeom>
          <a:noFill/>
          <a:ln/>
        </p:spPr>
        <p:txBody>
          <a:bodyPr wrap="square" lIns="0" tIns="0" rIns="0" bIns="0" rtlCol="0" anchor="ctr"/>
          <a:lstStyle/>
          <a:p>
            <a:pPr algn="ctr" indent="0" marL="0">
              <a:buNone/>
            </a:pPr>
            <a:r>
              <a:rPr lang="en-US" sz="1700" b="1" dirty="0">
                <a:solidFill>
                  <a:schemeClr val="tx2"/>
                </a:solidFill>
              </a:rPr>
              <a:t>1. Problem</a:t>
            </a:r>
            <a:endParaRPr lang="en-US" sz="1700" dirty="0"/>
          </a:p>
        </p:txBody>
      </p:sp>
      <p:sp>
        <p:nvSpPr>
          <p:cNvPr id="7" name="Text 4"/>
          <p:cNvSpPr txBox="1"/>
          <p:nvPr/>
        </p:nvSpPr>
        <p:spPr>
          <a:xfrm>
            <a:off x="731520" y="3305739"/>
            <a:ext cx="1517904" cy="2775021"/>
          </a:xfrm>
          <a:prstGeom prst="rect">
            <a:avLst/>
          </a:prstGeom>
          <a:noFill/>
          <a:ln/>
        </p:spPr>
        <p:txBody>
          <a:bodyPr wrap="square" lIns="0" tIns="0" rIns="0" bIns="0" rtlCol="0" anchor="t"/>
          <a:lstStyle/>
          <a:p>
            <a:pPr algn="l" indent="0" marL="0">
              <a:buNone/>
            </a:pPr>
            <a:r>
              <a:rPr lang="en-US" sz="1700" dirty="0">
                <a:solidFill>
                  <a:schemeClr val="tx1"/>
                </a:solidFill>
              </a:rPr>
              <a:t>Smt. Shanti Devi (72), a wheelchair user and a visually impaired person can't use the hospital easily.</a:t>
            </a:r>
            <a:endParaRPr lang="en-US" sz="1600" dirty="0"/>
          </a:p>
        </p:txBody>
      </p:sp>
      <p:sp>
        <p:nvSpPr>
          <p:cNvPr id="8" name="arrow 1"/>
          <p:cNvSpPr/>
          <p:nvPr/>
        </p:nvSpPr>
        <p:spPr>
          <a:xfrm>
            <a:off x="2487168" y="1940905"/>
            <a:ext cx="301752" cy="292608"/>
          </a:xfrm>
          <a:prstGeom prst="rightArrow">
            <a:avLst/>
          </a:prstGeom>
          <a:solidFill>
            <a:schemeClr val="accent3"/>
          </a:solidFill>
          <a:ln w="12700">
            <a:solidFill>
              <a:schemeClr val="accent3"/>
            </a:solidFill>
            <a:prstDash val="solid"/>
          </a:ln>
        </p:spPr>
      </p:sp>
      <p:sp>
        <p:nvSpPr>
          <p:cNvPr id="9" name="step 2 card"/>
          <p:cNvSpPr/>
          <p:nvPr/>
        </p:nvSpPr>
        <p:spPr>
          <a:xfrm>
            <a:off x="2843784" y="1417320"/>
            <a:ext cx="1883664" cy="4800600"/>
          </a:xfrm>
          <a:prstGeom prst="roundRect">
            <a:avLst>
              <a:gd name="adj" fmla="val 5825"/>
            </a:avLst>
          </a:prstGeom>
          <a:solidFill>
            <a:schemeClr val="bg2"/>
          </a:solidFill>
          <a:ln w="12700">
            <a:solidFill>
              <a:schemeClr val="bg2"/>
            </a:solidFill>
            <a:prstDash val="solid"/>
          </a:ln>
        </p:spPr>
      </p:sp>
      <p:sp>
        <p:nvSpPr>
          <p:cNvPr id="10" name="step 2 disc"/>
          <p:cNvSpPr/>
          <p:nvPr/>
        </p:nvSpPr>
        <p:spPr>
          <a:xfrm>
            <a:off x="3390047" y="1691640"/>
            <a:ext cx="791139" cy="791139"/>
          </a:xfrm>
          <a:prstGeom prst="ellipse">
            <a:avLst/>
          </a:prstGeom>
          <a:solidFill>
            <a:schemeClr val="accent2"/>
          </a:solidFill>
          <a:ln w="12700">
            <a:solidFill>
              <a:schemeClr val="accent2"/>
            </a:solidFill>
            <a:prstDash val="solid"/>
          </a:ln>
        </p:spPr>
      </p:sp>
      <p:pic>
        <p:nvPicPr>
          <p:cNvPr id="11" name="step 2 glyph" descr="preencoded.png">    </p:cNvPr>
          <p:cNvPicPr>
            <a:picLocks noChangeAspect="1"/>
          </p:cNvPicPr>
          <p:nvPr/>
        </p:nvPicPr>
        <p:blipFill>
          <a:blip r:embed="rId2"/>
          <a:stretch>
            <a:fillRect/>
          </a:stretch>
        </p:blipFill>
        <p:spPr>
          <a:xfrm>
            <a:off x="3564097" y="1865691"/>
            <a:ext cx="443038" cy="443038"/>
          </a:xfrm>
          <a:prstGeom prst="rect">
            <a:avLst/>
          </a:prstGeom>
        </p:spPr>
      </p:pic>
      <p:sp>
        <p:nvSpPr>
          <p:cNvPr id="12" name="Text 8"/>
          <p:cNvSpPr txBox="1"/>
          <p:nvPr/>
        </p:nvSpPr>
        <p:spPr>
          <a:xfrm>
            <a:off x="2980944" y="2574219"/>
            <a:ext cx="1609344" cy="685800"/>
          </a:xfrm>
          <a:prstGeom prst="rect">
            <a:avLst/>
          </a:prstGeom>
          <a:noFill/>
          <a:ln/>
        </p:spPr>
        <p:txBody>
          <a:bodyPr wrap="square" lIns="0" tIns="0" rIns="0" bIns="0" rtlCol="0" anchor="ctr"/>
          <a:lstStyle/>
          <a:p>
            <a:pPr algn="ctr" indent="0" marL="0">
              <a:buNone/>
            </a:pPr>
            <a:r>
              <a:rPr lang="en-US" sz="1700" b="1" dirty="0">
                <a:solidFill>
                  <a:schemeClr val="tx2"/>
                </a:solidFill>
              </a:rPr>
              <a:t>2. Raised</a:t>
            </a:r>
            <a:endParaRPr lang="en-US" sz="1700" dirty="0"/>
          </a:p>
        </p:txBody>
      </p:sp>
      <p:sp>
        <p:nvSpPr>
          <p:cNvPr id="13" name="Text 9"/>
          <p:cNvSpPr txBox="1"/>
          <p:nvPr/>
        </p:nvSpPr>
        <p:spPr>
          <a:xfrm>
            <a:off x="3026664" y="3305739"/>
            <a:ext cx="1517904" cy="2775021"/>
          </a:xfrm>
          <a:prstGeom prst="rect">
            <a:avLst/>
          </a:prstGeom>
          <a:noFill/>
          <a:ln/>
        </p:spPr>
        <p:txBody>
          <a:bodyPr wrap="square" lIns="0" tIns="0" rIns="0" bIns="0" rtlCol="0" anchor="t"/>
          <a:lstStyle/>
          <a:p>
            <a:pPr algn="l" indent="0" marL="0">
              <a:buNone/>
            </a:pPr>
            <a:r>
              <a:rPr lang="en-US" sz="1700" dirty="0">
                <a:solidFill>
                  <a:schemeClr val="tx1"/>
                </a:solidFill>
              </a:rPr>
              <a:t>Patients, a disability rights group, newspapers and social media highlight it.</a:t>
            </a:r>
            <a:endParaRPr lang="en-US" sz="1600" dirty="0"/>
          </a:p>
        </p:txBody>
      </p:sp>
      <p:sp>
        <p:nvSpPr>
          <p:cNvPr id="14" name="arrow 2"/>
          <p:cNvSpPr/>
          <p:nvPr/>
        </p:nvSpPr>
        <p:spPr>
          <a:xfrm>
            <a:off x="4782312" y="1940905"/>
            <a:ext cx="301752" cy="292608"/>
          </a:xfrm>
          <a:prstGeom prst="rightArrow">
            <a:avLst/>
          </a:prstGeom>
          <a:solidFill>
            <a:schemeClr val="accent3"/>
          </a:solidFill>
          <a:ln w="12700">
            <a:solidFill>
              <a:schemeClr val="accent3"/>
            </a:solidFill>
            <a:prstDash val="solid"/>
          </a:ln>
        </p:spPr>
      </p:sp>
      <p:sp>
        <p:nvSpPr>
          <p:cNvPr id="15" name="step 3 card"/>
          <p:cNvSpPr/>
          <p:nvPr/>
        </p:nvSpPr>
        <p:spPr>
          <a:xfrm>
            <a:off x="5138928" y="1417320"/>
            <a:ext cx="1883664" cy="4800600"/>
          </a:xfrm>
          <a:prstGeom prst="roundRect">
            <a:avLst>
              <a:gd name="adj" fmla="val 5825"/>
            </a:avLst>
          </a:prstGeom>
          <a:solidFill>
            <a:schemeClr val="bg2"/>
          </a:solidFill>
          <a:ln w="12700">
            <a:solidFill>
              <a:schemeClr val="bg2"/>
            </a:solidFill>
            <a:prstDash val="solid"/>
          </a:ln>
        </p:spPr>
      </p:sp>
      <p:sp>
        <p:nvSpPr>
          <p:cNvPr id="16" name="step 3 disc"/>
          <p:cNvSpPr/>
          <p:nvPr/>
        </p:nvSpPr>
        <p:spPr>
          <a:xfrm>
            <a:off x="5685191" y="1691640"/>
            <a:ext cx="791139" cy="791139"/>
          </a:xfrm>
          <a:prstGeom prst="ellipse">
            <a:avLst/>
          </a:prstGeom>
          <a:solidFill>
            <a:schemeClr val="accent1"/>
          </a:solidFill>
          <a:ln w="12700">
            <a:solidFill>
              <a:schemeClr val="accent1"/>
            </a:solidFill>
            <a:prstDash val="solid"/>
          </a:ln>
        </p:spPr>
      </p:sp>
      <p:pic>
        <p:nvPicPr>
          <p:cNvPr id="17" name="step 3 glyph" descr="preencoded.png">    </p:cNvPr>
          <p:cNvPicPr>
            <a:picLocks noChangeAspect="1"/>
          </p:cNvPicPr>
          <p:nvPr/>
        </p:nvPicPr>
        <p:blipFill>
          <a:blip r:embed="rId3"/>
          <a:stretch>
            <a:fillRect/>
          </a:stretch>
        </p:blipFill>
        <p:spPr>
          <a:xfrm>
            <a:off x="5859241" y="1865691"/>
            <a:ext cx="443038" cy="443038"/>
          </a:xfrm>
          <a:prstGeom prst="rect">
            <a:avLst/>
          </a:prstGeom>
        </p:spPr>
      </p:pic>
      <p:sp>
        <p:nvSpPr>
          <p:cNvPr id="18" name="Text 13"/>
          <p:cNvSpPr txBox="1"/>
          <p:nvPr/>
        </p:nvSpPr>
        <p:spPr>
          <a:xfrm>
            <a:off x="5276088" y="2574219"/>
            <a:ext cx="1609344" cy="685800"/>
          </a:xfrm>
          <a:prstGeom prst="rect">
            <a:avLst/>
          </a:prstGeom>
          <a:noFill/>
          <a:ln/>
        </p:spPr>
        <p:txBody>
          <a:bodyPr wrap="square" lIns="0" tIns="0" rIns="0" bIns="0" rtlCol="0" anchor="ctr"/>
          <a:lstStyle/>
          <a:p>
            <a:pPr algn="ctr" indent="0" marL="0">
              <a:buNone/>
            </a:pPr>
            <a:r>
              <a:rPr lang="en-US" sz="1700" b="1" dirty="0">
                <a:solidFill>
                  <a:schemeClr val="tx2"/>
                </a:solidFill>
              </a:rPr>
              <a:t>3. Inspected</a:t>
            </a:r>
            <a:endParaRPr lang="en-US" sz="1700" dirty="0"/>
          </a:p>
        </p:txBody>
      </p:sp>
      <p:sp>
        <p:nvSpPr>
          <p:cNvPr id="19" name="Text 14"/>
          <p:cNvSpPr txBox="1"/>
          <p:nvPr/>
        </p:nvSpPr>
        <p:spPr>
          <a:xfrm>
            <a:off x="5321808" y="3305739"/>
            <a:ext cx="1517904" cy="2775021"/>
          </a:xfrm>
          <a:prstGeom prst="rect">
            <a:avLst/>
          </a:prstGeom>
          <a:noFill/>
          <a:ln/>
        </p:spPr>
        <p:txBody>
          <a:bodyPr wrap="square" lIns="0" tIns="0" rIns="0" bIns="0" rtlCol="0" anchor="t"/>
          <a:lstStyle/>
          <a:p>
            <a:pPr algn="l" indent="0" marL="0">
              <a:buNone/>
            </a:pPr>
            <a:r>
              <a:rPr lang="en-US" sz="1700" dirty="0">
                <a:solidFill>
                  <a:schemeClr val="tx1"/>
                </a:solidFill>
              </a:rPr>
              <a:t>District administration asks PWD and the Health Department to inspect.</a:t>
            </a:r>
            <a:endParaRPr lang="en-US" sz="1600" dirty="0"/>
          </a:p>
        </p:txBody>
      </p:sp>
      <p:sp>
        <p:nvSpPr>
          <p:cNvPr id="20" name="arrow 3"/>
          <p:cNvSpPr/>
          <p:nvPr/>
        </p:nvSpPr>
        <p:spPr>
          <a:xfrm>
            <a:off x="7077456" y="1940905"/>
            <a:ext cx="301752" cy="292608"/>
          </a:xfrm>
          <a:prstGeom prst="rightArrow">
            <a:avLst/>
          </a:prstGeom>
          <a:solidFill>
            <a:schemeClr val="accent3"/>
          </a:solidFill>
          <a:ln w="12700">
            <a:solidFill>
              <a:schemeClr val="accent3"/>
            </a:solidFill>
            <a:prstDash val="solid"/>
          </a:ln>
        </p:spPr>
      </p:sp>
      <p:sp>
        <p:nvSpPr>
          <p:cNvPr id="21" name="step 4 card"/>
          <p:cNvSpPr/>
          <p:nvPr/>
        </p:nvSpPr>
        <p:spPr>
          <a:xfrm>
            <a:off x="7434072" y="1417320"/>
            <a:ext cx="1883664" cy="4800600"/>
          </a:xfrm>
          <a:prstGeom prst="roundRect">
            <a:avLst>
              <a:gd name="adj" fmla="val 5825"/>
            </a:avLst>
          </a:prstGeom>
          <a:solidFill>
            <a:schemeClr val="bg2"/>
          </a:solidFill>
          <a:ln w="12700">
            <a:solidFill>
              <a:schemeClr val="bg2"/>
            </a:solidFill>
            <a:prstDash val="solid"/>
          </a:ln>
        </p:spPr>
      </p:sp>
      <p:sp>
        <p:nvSpPr>
          <p:cNvPr id="22" name="step 4 disc"/>
          <p:cNvSpPr/>
          <p:nvPr/>
        </p:nvSpPr>
        <p:spPr>
          <a:xfrm>
            <a:off x="7980335" y="1691640"/>
            <a:ext cx="791139" cy="791139"/>
          </a:xfrm>
          <a:prstGeom prst="ellipse">
            <a:avLst/>
          </a:prstGeom>
          <a:solidFill>
            <a:schemeClr val="accent2"/>
          </a:solidFill>
          <a:ln w="12700">
            <a:solidFill>
              <a:schemeClr val="accent2"/>
            </a:solidFill>
            <a:prstDash val="solid"/>
          </a:ln>
        </p:spPr>
      </p:sp>
      <p:pic>
        <p:nvPicPr>
          <p:cNvPr id="23" name="step 4 glyph" descr="preencoded.png">    </p:cNvPr>
          <p:cNvPicPr>
            <a:picLocks noChangeAspect="1"/>
          </p:cNvPicPr>
          <p:nvPr/>
        </p:nvPicPr>
        <p:blipFill>
          <a:blip r:embed="rId4"/>
          <a:stretch>
            <a:fillRect/>
          </a:stretch>
        </p:blipFill>
        <p:spPr>
          <a:xfrm>
            <a:off x="8154385" y="1865691"/>
            <a:ext cx="443038" cy="443038"/>
          </a:xfrm>
          <a:prstGeom prst="rect">
            <a:avLst/>
          </a:prstGeom>
        </p:spPr>
      </p:pic>
      <p:sp>
        <p:nvSpPr>
          <p:cNvPr id="24" name="Text 18"/>
          <p:cNvSpPr txBox="1"/>
          <p:nvPr/>
        </p:nvSpPr>
        <p:spPr>
          <a:xfrm>
            <a:off x="7571232" y="2574219"/>
            <a:ext cx="1609344" cy="685800"/>
          </a:xfrm>
          <a:prstGeom prst="rect">
            <a:avLst/>
          </a:prstGeom>
          <a:noFill/>
          <a:ln/>
        </p:spPr>
        <p:txBody>
          <a:bodyPr wrap="square" lIns="0" tIns="0" rIns="0" bIns="0" rtlCol="0" anchor="ctr"/>
          <a:lstStyle/>
          <a:p>
            <a:pPr algn="ctr" indent="0" marL="0">
              <a:buNone/>
            </a:pPr>
            <a:r>
              <a:rPr lang="en-US" sz="1700" b="1" dirty="0">
                <a:solidFill>
                  <a:schemeClr val="tx2"/>
                </a:solidFill>
              </a:rPr>
              <a:t>4. Consulted</a:t>
            </a:r>
            <a:endParaRPr lang="en-US" sz="1700" dirty="0"/>
          </a:p>
        </p:txBody>
      </p:sp>
      <p:sp>
        <p:nvSpPr>
          <p:cNvPr id="25" name="Text 19"/>
          <p:cNvSpPr txBox="1"/>
          <p:nvPr/>
        </p:nvSpPr>
        <p:spPr>
          <a:xfrm>
            <a:off x="7616952" y="3305739"/>
            <a:ext cx="1517904" cy="2775021"/>
          </a:xfrm>
          <a:prstGeom prst="rect">
            <a:avLst/>
          </a:prstGeom>
          <a:noFill/>
          <a:ln/>
        </p:spPr>
        <p:txBody>
          <a:bodyPr wrap="square" lIns="0" tIns="0" rIns="0" bIns="0" rtlCol="0" anchor="t"/>
          <a:lstStyle/>
          <a:p>
            <a:pPr algn="l" indent="0" marL="0">
              <a:buNone/>
            </a:pPr>
            <a:r>
              <a:rPr lang="en-US" sz="1700" dirty="0">
                <a:solidFill>
                  <a:schemeClr val="tx1"/>
                </a:solidFill>
              </a:rPr>
              <a:t>Doctors, architects, PwD groups, senior citizens and residents help plan.</a:t>
            </a:r>
            <a:endParaRPr lang="en-US" sz="1600" dirty="0"/>
          </a:p>
        </p:txBody>
      </p:sp>
      <p:sp>
        <p:nvSpPr>
          <p:cNvPr id="26" name="arrow 4"/>
          <p:cNvSpPr/>
          <p:nvPr/>
        </p:nvSpPr>
        <p:spPr>
          <a:xfrm>
            <a:off x="9372600" y="1940905"/>
            <a:ext cx="301752" cy="292608"/>
          </a:xfrm>
          <a:prstGeom prst="rightArrow">
            <a:avLst/>
          </a:prstGeom>
          <a:solidFill>
            <a:schemeClr val="accent3"/>
          </a:solidFill>
          <a:ln w="12700">
            <a:solidFill>
              <a:schemeClr val="accent3"/>
            </a:solidFill>
            <a:prstDash val="solid"/>
          </a:ln>
        </p:spPr>
      </p:sp>
      <p:sp>
        <p:nvSpPr>
          <p:cNvPr id="27" name="step 5 card"/>
          <p:cNvSpPr/>
          <p:nvPr/>
        </p:nvSpPr>
        <p:spPr>
          <a:xfrm>
            <a:off x="9729216" y="1417320"/>
            <a:ext cx="1883664" cy="4800600"/>
          </a:xfrm>
          <a:prstGeom prst="roundRect">
            <a:avLst>
              <a:gd name="adj" fmla="val 5825"/>
            </a:avLst>
          </a:prstGeom>
          <a:solidFill>
            <a:schemeClr val="bg2"/>
          </a:solidFill>
          <a:ln w="12700">
            <a:solidFill>
              <a:schemeClr val="bg2"/>
            </a:solidFill>
            <a:prstDash val="solid"/>
          </a:ln>
        </p:spPr>
      </p:sp>
      <p:sp>
        <p:nvSpPr>
          <p:cNvPr id="28" name="step 5 disc"/>
          <p:cNvSpPr/>
          <p:nvPr/>
        </p:nvSpPr>
        <p:spPr>
          <a:xfrm>
            <a:off x="10275479" y="1691640"/>
            <a:ext cx="791139" cy="791139"/>
          </a:xfrm>
          <a:prstGeom prst="ellipse">
            <a:avLst/>
          </a:prstGeom>
          <a:solidFill>
            <a:schemeClr val="accent1"/>
          </a:solidFill>
          <a:ln w="12700">
            <a:solidFill>
              <a:schemeClr val="accent1"/>
            </a:solidFill>
            <a:prstDash val="solid"/>
          </a:ln>
        </p:spPr>
      </p:sp>
      <p:pic>
        <p:nvPicPr>
          <p:cNvPr id="29" name="step 5 glyph" descr="preencoded.png">    </p:cNvPr>
          <p:cNvPicPr>
            <a:picLocks noChangeAspect="1"/>
          </p:cNvPicPr>
          <p:nvPr/>
        </p:nvPicPr>
        <p:blipFill>
          <a:blip r:embed="rId5"/>
          <a:stretch>
            <a:fillRect/>
          </a:stretch>
        </p:blipFill>
        <p:spPr>
          <a:xfrm>
            <a:off x="10449529" y="1865691"/>
            <a:ext cx="443038" cy="443038"/>
          </a:xfrm>
          <a:prstGeom prst="rect">
            <a:avLst/>
          </a:prstGeom>
        </p:spPr>
      </p:pic>
      <p:sp>
        <p:nvSpPr>
          <p:cNvPr id="30" name="Text 23"/>
          <p:cNvSpPr txBox="1"/>
          <p:nvPr/>
        </p:nvSpPr>
        <p:spPr>
          <a:xfrm>
            <a:off x="9866376" y="2574219"/>
            <a:ext cx="1609344" cy="685800"/>
          </a:xfrm>
          <a:prstGeom prst="rect">
            <a:avLst/>
          </a:prstGeom>
          <a:noFill/>
          <a:ln/>
        </p:spPr>
        <p:txBody>
          <a:bodyPr wrap="square" lIns="0" tIns="0" rIns="0" bIns="0" rtlCol="0" anchor="ctr"/>
          <a:lstStyle/>
          <a:p>
            <a:pPr algn="ctr" indent="0" marL="0">
              <a:buNone/>
            </a:pPr>
            <a:r>
              <a:rPr lang="en-US" sz="1700" b="1" dirty="0">
                <a:solidFill>
                  <a:schemeClr val="tx2"/>
                </a:solidFill>
              </a:rPr>
              <a:t>5. Built</a:t>
            </a:r>
            <a:endParaRPr lang="en-US" sz="1700" dirty="0"/>
          </a:p>
        </p:txBody>
      </p:sp>
      <p:sp>
        <p:nvSpPr>
          <p:cNvPr id="31" name="Text 24"/>
          <p:cNvSpPr txBox="1"/>
          <p:nvPr/>
        </p:nvSpPr>
        <p:spPr>
          <a:xfrm>
            <a:off x="9912096" y="3305739"/>
            <a:ext cx="1517904" cy="2775021"/>
          </a:xfrm>
          <a:prstGeom prst="rect">
            <a:avLst/>
          </a:prstGeom>
          <a:noFill/>
          <a:ln/>
        </p:spPr>
        <p:txBody>
          <a:bodyPr wrap="square" lIns="0" tIns="0" rIns="0" bIns="0" rtlCol="0" anchor="t"/>
          <a:lstStyle/>
          <a:p>
            <a:pPr algn="l" indent="0" marL="0">
              <a:buNone/>
            </a:pPr>
            <a:r>
              <a:rPr lang="en-US" sz="1700" dirty="0">
                <a:solidFill>
                  <a:schemeClr val="tx1"/>
                </a:solidFill>
              </a:rPr>
              <a:t>Funds approved: ramps, lifts, handrails, tactile paths, Braille signs, accessible toilets.</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E2761"/>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The Policy Cycle: Key Stages</a:t>
            </a:r>
            <a:endParaRPr lang="en-US" sz="3600" dirty="0"/>
          </a:p>
        </p:txBody>
      </p:sp>
      <p:sp>
        <p:nvSpPr>
          <p:cNvPr id="3" name="cycle ring"/>
          <p:cNvSpPr/>
          <p:nvPr/>
        </p:nvSpPr>
        <p:spPr>
          <a:xfrm>
            <a:off x="1984248" y="1847088"/>
            <a:ext cx="8229600" cy="3931920"/>
          </a:xfrm>
          <a:prstGeom prst="ellipse">
            <a:avLst/>
          </a:prstGeom>
          <a:noFill/>
          <a:ln w="50800">
            <a:solidFill>
              <a:schemeClr val="accent3"/>
            </a:solidFill>
            <a:prstDash val="solid"/>
          </a:ln>
        </p:spPr>
      </p:sp>
      <p:sp>
        <p:nvSpPr>
          <p:cNvPr id="4" name="wheel centre"/>
          <p:cNvSpPr/>
          <p:nvPr/>
        </p:nvSpPr>
        <p:spPr>
          <a:xfrm>
            <a:off x="5093208" y="2958084"/>
            <a:ext cx="2011680" cy="1709928"/>
          </a:xfrm>
          <a:prstGeom prst="ellipse">
            <a:avLst/>
          </a:prstGeom>
          <a:solidFill>
            <a:schemeClr val="tx2"/>
          </a:solidFill>
          <a:ln w="38100">
            <a:solidFill>
              <a:schemeClr val="bg1"/>
            </a:solidFill>
            <a:prstDash val="solid"/>
          </a:ln>
        </p:spPr>
      </p:sp>
      <p:sp>
        <p:nvSpPr>
          <p:cNvPr id="5" name="Text 3"/>
          <p:cNvSpPr txBox="1"/>
          <p:nvPr/>
        </p:nvSpPr>
        <p:spPr>
          <a:xfrm>
            <a:off x="5184648" y="2958084"/>
            <a:ext cx="1828800" cy="1709928"/>
          </a:xfrm>
          <a:prstGeom prst="rect">
            <a:avLst/>
          </a:prstGeom>
          <a:noFill/>
          <a:ln/>
        </p:spPr>
        <p:txBody>
          <a:bodyPr wrap="square" lIns="0" tIns="0" rIns="0" bIns="0" rtlCol="0" anchor="ctr"/>
          <a:lstStyle/>
          <a:p>
            <a:pPr algn="ctr" indent="0" marL="0">
              <a:buNone/>
            </a:pPr>
            <a:r>
              <a:rPr lang="en-US" sz="1700" b="1" dirty="0">
                <a:solidFill>
                  <a:schemeClr val="bg1"/>
                </a:solidFill>
                <a:latin typeface="Cambria" pitchFamily="34" charset="0"/>
                <a:ea typeface="Cambria" pitchFamily="34" charset="-122"/>
                <a:cs typeface="Cambria" pitchFamily="34" charset="-120"/>
              </a:rPr>
              <a:t>Policy Process</a:t>
            </a:r>
            <a:endParaRPr lang="en-US" sz="1700" dirty="0"/>
          </a:p>
        </p:txBody>
      </p:sp>
      <p:sp>
        <p:nvSpPr>
          <p:cNvPr id="6" name="node 1"/>
          <p:cNvSpPr/>
          <p:nvPr/>
        </p:nvSpPr>
        <p:spPr>
          <a:xfrm>
            <a:off x="4636008" y="1321308"/>
            <a:ext cx="2926080" cy="1051560"/>
          </a:xfrm>
          <a:prstGeom prst="roundRect">
            <a:avLst>
              <a:gd name="adj" fmla="val 10435"/>
            </a:avLst>
          </a:prstGeom>
          <a:solidFill>
            <a:schemeClr val="bg2"/>
          </a:solidFill>
          <a:ln w="12700">
            <a:solidFill>
              <a:schemeClr val="bg2"/>
            </a:solidFill>
            <a:prstDash val="solid"/>
          </a:ln>
        </p:spPr>
      </p:sp>
      <p:sp>
        <p:nvSpPr>
          <p:cNvPr id="7" name="node 1 badge"/>
          <p:cNvSpPr/>
          <p:nvPr/>
        </p:nvSpPr>
        <p:spPr>
          <a:xfrm>
            <a:off x="4498848" y="1184148"/>
            <a:ext cx="384048" cy="384048"/>
          </a:xfrm>
          <a:prstGeom prst="ellipse">
            <a:avLst/>
          </a:prstGeom>
          <a:solidFill>
            <a:schemeClr val="accent1"/>
          </a:solidFill>
          <a:ln w="19050">
            <a:solidFill>
              <a:schemeClr val="bg1"/>
            </a:solidFill>
            <a:prstDash val="solid"/>
          </a:ln>
        </p:spPr>
      </p:sp>
      <p:sp>
        <p:nvSpPr>
          <p:cNvPr id="8" name="Text 6"/>
          <p:cNvSpPr txBox="1"/>
          <p:nvPr/>
        </p:nvSpPr>
        <p:spPr>
          <a:xfrm>
            <a:off x="4498848" y="1184148"/>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9" name="Text 7"/>
          <p:cNvSpPr txBox="1"/>
          <p:nvPr/>
        </p:nvSpPr>
        <p:spPr>
          <a:xfrm>
            <a:off x="4800600" y="1394460"/>
            <a:ext cx="2651760" cy="923544"/>
          </a:xfrm>
          <a:prstGeom prst="rect">
            <a:avLst/>
          </a:prstGeom>
          <a:noFill/>
          <a:ln/>
        </p:spPr>
        <p:txBody>
          <a:bodyPr wrap="square" lIns="0" tIns="0" rIns="0" bIns="0" rtlCol="0" anchor="ctr"/>
          <a:lstStyle/>
          <a:p>
            <a:pPr indent="0" marL="0">
              <a:buNone/>
            </a:pPr>
            <a:r>
              <a:rPr lang="en-US" sz="1600" b="1" dirty="0">
                <a:solidFill>
                  <a:schemeClr val="accent1"/>
                </a:solidFill>
              </a:rPr>
              <a:t>Desirability</a:t>
            </a:r>
            <a:endParaRPr lang="en-US" sz="1600" dirty="0"/>
          </a:p>
          <a:p>
            <a:pPr indent="0" marL="0">
              <a:buNone/>
            </a:pPr>
            <a:r>
              <a:rPr lang="en-US" sz="1600" dirty="0">
                <a:solidFill>
                  <a:schemeClr val="tx1"/>
                </a:solidFill>
              </a:rPr>
              <a:t>What needs and problems must be addressed?</a:t>
            </a:r>
            <a:endParaRPr lang="en-US" sz="1600" dirty="0"/>
          </a:p>
        </p:txBody>
      </p:sp>
      <p:sp>
        <p:nvSpPr>
          <p:cNvPr id="10" name="node 2"/>
          <p:cNvSpPr/>
          <p:nvPr/>
        </p:nvSpPr>
        <p:spPr>
          <a:xfrm>
            <a:off x="7853088" y="2061512"/>
            <a:ext cx="2926080" cy="1051560"/>
          </a:xfrm>
          <a:prstGeom prst="roundRect">
            <a:avLst>
              <a:gd name="adj" fmla="val 10435"/>
            </a:avLst>
          </a:prstGeom>
          <a:solidFill>
            <a:schemeClr val="bg2"/>
          </a:solidFill>
          <a:ln w="12700">
            <a:solidFill>
              <a:schemeClr val="bg2"/>
            </a:solidFill>
            <a:prstDash val="solid"/>
          </a:ln>
        </p:spPr>
      </p:sp>
      <p:sp>
        <p:nvSpPr>
          <p:cNvPr id="11" name="node 2 badge"/>
          <p:cNvSpPr/>
          <p:nvPr/>
        </p:nvSpPr>
        <p:spPr>
          <a:xfrm>
            <a:off x="7715928" y="1924352"/>
            <a:ext cx="384048" cy="384048"/>
          </a:xfrm>
          <a:prstGeom prst="ellipse">
            <a:avLst/>
          </a:prstGeom>
          <a:solidFill>
            <a:schemeClr val="accent2"/>
          </a:solidFill>
          <a:ln w="19050">
            <a:solidFill>
              <a:schemeClr val="bg1"/>
            </a:solidFill>
            <a:prstDash val="solid"/>
          </a:ln>
        </p:spPr>
      </p:sp>
      <p:sp>
        <p:nvSpPr>
          <p:cNvPr id="12" name="Text 10"/>
          <p:cNvSpPr txBox="1"/>
          <p:nvPr/>
        </p:nvSpPr>
        <p:spPr>
          <a:xfrm>
            <a:off x="7715928" y="1924352"/>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3" name="Text 11"/>
          <p:cNvSpPr txBox="1"/>
          <p:nvPr/>
        </p:nvSpPr>
        <p:spPr>
          <a:xfrm>
            <a:off x="8017680" y="2134664"/>
            <a:ext cx="2651760" cy="923544"/>
          </a:xfrm>
          <a:prstGeom prst="rect">
            <a:avLst/>
          </a:prstGeom>
          <a:noFill/>
          <a:ln/>
        </p:spPr>
        <p:txBody>
          <a:bodyPr wrap="square" lIns="0" tIns="0" rIns="0" bIns="0" rtlCol="0" anchor="ctr"/>
          <a:lstStyle/>
          <a:p>
            <a:pPr indent="0" marL="0">
              <a:buNone/>
            </a:pPr>
            <a:r>
              <a:rPr lang="en-US" sz="1600" b="1" dirty="0">
                <a:solidFill>
                  <a:schemeClr val="accent2"/>
                </a:solidFill>
              </a:rPr>
              <a:t>Prioritising</a:t>
            </a:r>
            <a:endParaRPr lang="en-US" sz="1600" dirty="0"/>
          </a:p>
          <a:p>
            <a:pPr indent="0" marL="0">
              <a:buNone/>
            </a:pPr>
            <a:r>
              <a:rPr lang="en-US" sz="1600" dirty="0">
                <a:solidFill>
                  <a:schemeClr val="tx1"/>
                </a:solidFill>
              </a:rPr>
              <a:t>Which issues come first?</a:t>
            </a:r>
            <a:endParaRPr lang="en-US" sz="1600" dirty="0"/>
          </a:p>
        </p:txBody>
      </p:sp>
      <p:sp>
        <p:nvSpPr>
          <p:cNvPr id="14" name="node 3"/>
          <p:cNvSpPr/>
          <p:nvPr/>
        </p:nvSpPr>
        <p:spPr>
          <a:xfrm>
            <a:off x="8647641" y="3724735"/>
            <a:ext cx="2926080" cy="1051560"/>
          </a:xfrm>
          <a:prstGeom prst="roundRect">
            <a:avLst>
              <a:gd name="adj" fmla="val 10435"/>
            </a:avLst>
          </a:prstGeom>
          <a:solidFill>
            <a:schemeClr val="bg2"/>
          </a:solidFill>
          <a:ln w="12700">
            <a:solidFill>
              <a:schemeClr val="bg2"/>
            </a:solidFill>
            <a:prstDash val="solid"/>
          </a:ln>
        </p:spPr>
      </p:sp>
      <p:sp>
        <p:nvSpPr>
          <p:cNvPr id="15" name="node 3 badge"/>
          <p:cNvSpPr/>
          <p:nvPr/>
        </p:nvSpPr>
        <p:spPr>
          <a:xfrm>
            <a:off x="8510481" y="3587575"/>
            <a:ext cx="384048" cy="384048"/>
          </a:xfrm>
          <a:prstGeom prst="ellipse">
            <a:avLst/>
          </a:prstGeom>
          <a:solidFill>
            <a:schemeClr val="accent4"/>
          </a:solidFill>
          <a:ln w="19050">
            <a:solidFill>
              <a:schemeClr val="bg1"/>
            </a:solidFill>
            <a:prstDash val="solid"/>
          </a:ln>
        </p:spPr>
      </p:sp>
      <p:sp>
        <p:nvSpPr>
          <p:cNvPr id="16" name="Text 14"/>
          <p:cNvSpPr txBox="1"/>
          <p:nvPr/>
        </p:nvSpPr>
        <p:spPr>
          <a:xfrm>
            <a:off x="8510481" y="3587575"/>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7" name="Text 15"/>
          <p:cNvSpPr txBox="1"/>
          <p:nvPr/>
        </p:nvSpPr>
        <p:spPr>
          <a:xfrm>
            <a:off x="8812233" y="3797887"/>
            <a:ext cx="2651760" cy="923544"/>
          </a:xfrm>
          <a:prstGeom prst="rect">
            <a:avLst/>
          </a:prstGeom>
          <a:noFill/>
          <a:ln/>
        </p:spPr>
        <p:txBody>
          <a:bodyPr wrap="square" lIns="0" tIns="0" rIns="0" bIns="0" rtlCol="0" anchor="ctr"/>
          <a:lstStyle/>
          <a:p>
            <a:pPr indent="0" marL="0">
              <a:buNone/>
            </a:pPr>
            <a:r>
              <a:rPr lang="en-US" sz="1600" b="1" dirty="0">
                <a:solidFill>
                  <a:schemeClr val="accent4"/>
                </a:solidFill>
              </a:rPr>
              <a:t>Formulation</a:t>
            </a:r>
            <a:endParaRPr lang="en-US" sz="1600" dirty="0"/>
          </a:p>
          <a:p>
            <a:pPr indent="0" marL="0">
              <a:buNone/>
            </a:pPr>
            <a:r>
              <a:rPr lang="en-US" sz="1600" dirty="0">
                <a:solidFill>
                  <a:schemeClr val="tx1"/>
                </a:solidFill>
              </a:rPr>
              <a:t>Consult, draft, check financial feasibility</a:t>
            </a:r>
            <a:endParaRPr lang="en-US" sz="1600" dirty="0"/>
          </a:p>
        </p:txBody>
      </p:sp>
      <p:sp>
        <p:nvSpPr>
          <p:cNvPr id="18" name="node 4"/>
          <p:cNvSpPr/>
          <p:nvPr/>
        </p:nvSpPr>
        <p:spPr>
          <a:xfrm>
            <a:off x="6421353" y="5058537"/>
            <a:ext cx="2926080" cy="1051560"/>
          </a:xfrm>
          <a:prstGeom prst="roundRect">
            <a:avLst>
              <a:gd name="adj" fmla="val 10435"/>
            </a:avLst>
          </a:prstGeom>
          <a:solidFill>
            <a:schemeClr val="bg2"/>
          </a:solidFill>
          <a:ln w="12700">
            <a:solidFill>
              <a:schemeClr val="bg2"/>
            </a:solidFill>
            <a:prstDash val="solid"/>
          </a:ln>
        </p:spPr>
      </p:sp>
      <p:sp>
        <p:nvSpPr>
          <p:cNvPr id="19" name="node 4 badge"/>
          <p:cNvSpPr/>
          <p:nvPr/>
        </p:nvSpPr>
        <p:spPr>
          <a:xfrm>
            <a:off x="6284193" y="4921377"/>
            <a:ext cx="384048" cy="384048"/>
          </a:xfrm>
          <a:prstGeom prst="ellipse">
            <a:avLst/>
          </a:prstGeom>
          <a:solidFill>
            <a:schemeClr val="accent5"/>
          </a:solidFill>
          <a:ln w="19050">
            <a:solidFill>
              <a:schemeClr val="bg1"/>
            </a:solidFill>
            <a:prstDash val="solid"/>
          </a:ln>
        </p:spPr>
      </p:sp>
      <p:sp>
        <p:nvSpPr>
          <p:cNvPr id="20" name="Text 18"/>
          <p:cNvSpPr txBox="1"/>
          <p:nvPr/>
        </p:nvSpPr>
        <p:spPr>
          <a:xfrm>
            <a:off x="6284193" y="4921377"/>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21" name="Text 19"/>
          <p:cNvSpPr txBox="1"/>
          <p:nvPr/>
        </p:nvSpPr>
        <p:spPr>
          <a:xfrm>
            <a:off x="6585945" y="5131689"/>
            <a:ext cx="2651760" cy="923544"/>
          </a:xfrm>
          <a:prstGeom prst="rect">
            <a:avLst/>
          </a:prstGeom>
          <a:noFill/>
          <a:ln/>
        </p:spPr>
        <p:txBody>
          <a:bodyPr wrap="square" lIns="0" tIns="0" rIns="0" bIns="0" rtlCol="0" anchor="ctr"/>
          <a:lstStyle/>
          <a:p>
            <a:pPr indent="0" marL="0">
              <a:buNone/>
            </a:pPr>
            <a:r>
              <a:rPr lang="en-US" sz="1600" b="1" dirty="0">
                <a:solidFill>
                  <a:schemeClr val="accent5"/>
                </a:solidFill>
              </a:rPr>
              <a:t>Adoption</a:t>
            </a:r>
            <a:endParaRPr lang="en-US" sz="1600" dirty="0"/>
          </a:p>
          <a:p>
            <a:pPr indent="0" marL="0">
              <a:buNone/>
            </a:pPr>
            <a:r>
              <a:rPr lang="en-US" sz="1600" dirty="0">
                <a:solidFill>
                  <a:schemeClr val="tx1"/>
                </a:solidFill>
              </a:rPr>
              <a:t>Frame the law and rules (regulations)</a:t>
            </a:r>
            <a:endParaRPr lang="en-US" sz="1600" dirty="0"/>
          </a:p>
        </p:txBody>
      </p:sp>
      <p:sp>
        <p:nvSpPr>
          <p:cNvPr id="22" name="node 5"/>
          <p:cNvSpPr/>
          <p:nvPr/>
        </p:nvSpPr>
        <p:spPr>
          <a:xfrm>
            <a:off x="2850663" y="5058537"/>
            <a:ext cx="2926080" cy="1051560"/>
          </a:xfrm>
          <a:prstGeom prst="roundRect">
            <a:avLst>
              <a:gd name="adj" fmla="val 10435"/>
            </a:avLst>
          </a:prstGeom>
          <a:solidFill>
            <a:schemeClr val="bg2"/>
          </a:solidFill>
          <a:ln w="12700">
            <a:solidFill>
              <a:schemeClr val="bg2"/>
            </a:solidFill>
            <a:prstDash val="solid"/>
          </a:ln>
        </p:spPr>
      </p:sp>
      <p:sp>
        <p:nvSpPr>
          <p:cNvPr id="23" name="node 5 badge"/>
          <p:cNvSpPr/>
          <p:nvPr/>
        </p:nvSpPr>
        <p:spPr>
          <a:xfrm>
            <a:off x="2713503" y="4921377"/>
            <a:ext cx="384048" cy="384048"/>
          </a:xfrm>
          <a:prstGeom prst="ellipse">
            <a:avLst/>
          </a:prstGeom>
          <a:solidFill>
            <a:schemeClr val="accent6"/>
          </a:solidFill>
          <a:ln w="19050">
            <a:solidFill>
              <a:schemeClr val="bg1"/>
            </a:solidFill>
            <a:prstDash val="solid"/>
          </a:ln>
        </p:spPr>
      </p:sp>
      <p:sp>
        <p:nvSpPr>
          <p:cNvPr id="24" name="Text 22"/>
          <p:cNvSpPr txBox="1"/>
          <p:nvPr/>
        </p:nvSpPr>
        <p:spPr>
          <a:xfrm>
            <a:off x="2713503" y="4921377"/>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25" name="Text 23"/>
          <p:cNvSpPr txBox="1"/>
          <p:nvPr/>
        </p:nvSpPr>
        <p:spPr>
          <a:xfrm>
            <a:off x="3015255" y="5131689"/>
            <a:ext cx="2651760" cy="923544"/>
          </a:xfrm>
          <a:prstGeom prst="rect">
            <a:avLst/>
          </a:prstGeom>
          <a:noFill/>
          <a:ln/>
        </p:spPr>
        <p:txBody>
          <a:bodyPr wrap="square" lIns="0" tIns="0" rIns="0" bIns="0" rtlCol="0" anchor="ctr"/>
          <a:lstStyle/>
          <a:p>
            <a:pPr indent="0" marL="0">
              <a:buNone/>
            </a:pPr>
            <a:r>
              <a:rPr lang="en-US" sz="1600" b="1" dirty="0">
                <a:solidFill>
                  <a:schemeClr val="accent6"/>
                </a:solidFill>
              </a:rPr>
              <a:t>Implementation</a:t>
            </a:r>
            <a:endParaRPr lang="en-US" sz="1600" dirty="0"/>
          </a:p>
          <a:p>
            <a:pPr indent="0" marL="0">
              <a:buNone/>
            </a:pPr>
            <a:r>
              <a:rPr lang="en-US" sz="1600" dirty="0">
                <a:solidFill>
                  <a:schemeClr val="tx1"/>
                </a:solidFill>
              </a:rPr>
              <a:t>Officials, local bodies, NGOs, citizens act</a:t>
            </a:r>
            <a:endParaRPr lang="en-US" sz="1600" dirty="0"/>
          </a:p>
        </p:txBody>
      </p:sp>
      <p:sp>
        <p:nvSpPr>
          <p:cNvPr id="26" name="node 6"/>
          <p:cNvSpPr/>
          <p:nvPr/>
        </p:nvSpPr>
        <p:spPr>
          <a:xfrm>
            <a:off x="624375" y="3724735"/>
            <a:ext cx="2926080" cy="1051560"/>
          </a:xfrm>
          <a:prstGeom prst="roundRect">
            <a:avLst>
              <a:gd name="adj" fmla="val 10435"/>
            </a:avLst>
          </a:prstGeom>
          <a:solidFill>
            <a:schemeClr val="bg2"/>
          </a:solidFill>
          <a:ln w="12700">
            <a:solidFill>
              <a:schemeClr val="bg2"/>
            </a:solidFill>
            <a:prstDash val="solid"/>
          </a:ln>
        </p:spPr>
      </p:sp>
      <p:sp>
        <p:nvSpPr>
          <p:cNvPr id="27" name="node 6 badge"/>
          <p:cNvSpPr/>
          <p:nvPr/>
        </p:nvSpPr>
        <p:spPr>
          <a:xfrm>
            <a:off x="487215" y="3587575"/>
            <a:ext cx="384048" cy="384048"/>
          </a:xfrm>
          <a:prstGeom prst="ellipse">
            <a:avLst/>
          </a:prstGeom>
          <a:solidFill>
            <a:schemeClr val="accent1"/>
          </a:solidFill>
          <a:ln w="19050">
            <a:solidFill>
              <a:schemeClr val="bg1"/>
            </a:solidFill>
            <a:prstDash val="solid"/>
          </a:ln>
        </p:spPr>
      </p:sp>
      <p:sp>
        <p:nvSpPr>
          <p:cNvPr id="28" name="Text 26"/>
          <p:cNvSpPr txBox="1"/>
          <p:nvPr/>
        </p:nvSpPr>
        <p:spPr>
          <a:xfrm>
            <a:off x="487215" y="3587575"/>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6</a:t>
            </a:r>
            <a:endParaRPr lang="en-US" sz="1300" dirty="0"/>
          </a:p>
        </p:txBody>
      </p:sp>
      <p:sp>
        <p:nvSpPr>
          <p:cNvPr id="29" name="Text 27"/>
          <p:cNvSpPr txBox="1"/>
          <p:nvPr/>
        </p:nvSpPr>
        <p:spPr>
          <a:xfrm>
            <a:off x="788967" y="3797887"/>
            <a:ext cx="2651760" cy="923544"/>
          </a:xfrm>
          <a:prstGeom prst="rect">
            <a:avLst/>
          </a:prstGeom>
          <a:noFill/>
          <a:ln/>
        </p:spPr>
        <p:txBody>
          <a:bodyPr wrap="square" lIns="0" tIns="0" rIns="0" bIns="0" rtlCol="0" anchor="ctr"/>
          <a:lstStyle/>
          <a:p>
            <a:pPr indent="0" marL="0">
              <a:buNone/>
            </a:pPr>
            <a:r>
              <a:rPr lang="en-US" sz="1600" b="1" dirty="0">
                <a:solidFill>
                  <a:schemeClr val="accent1"/>
                </a:solidFill>
              </a:rPr>
              <a:t>Monitoring</a:t>
            </a:r>
            <a:endParaRPr lang="en-US" sz="1600" dirty="0"/>
          </a:p>
          <a:p>
            <a:pPr indent="0" marL="0">
              <a:buNone/>
            </a:pPr>
            <a:r>
              <a:rPr lang="en-US" sz="1600" dirty="0">
                <a:solidFill>
                  <a:schemeClr val="tx1"/>
                </a:solidFill>
              </a:rPr>
              <a:t>Track progress and accountability</a:t>
            </a:r>
            <a:endParaRPr lang="en-US" sz="1600" dirty="0"/>
          </a:p>
        </p:txBody>
      </p:sp>
      <p:sp>
        <p:nvSpPr>
          <p:cNvPr id="30" name="node 7"/>
          <p:cNvSpPr/>
          <p:nvPr/>
        </p:nvSpPr>
        <p:spPr>
          <a:xfrm>
            <a:off x="1418928" y="2061512"/>
            <a:ext cx="2926080" cy="1051560"/>
          </a:xfrm>
          <a:prstGeom prst="roundRect">
            <a:avLst>
              <a:gd name="adj" fmla="val 10435"/>
            </a:avLst>
          </a:prstGeom>
          <a:solidFill>
            <a:schemeClr val="bg2"/>
          </a:solidFill>
          <a:ln w="12700">
            <a:solidFill>
              <a:schemeClr val="bg2"/>
            </a:solidFill>
            <a:prstDash val="solid"/>
          </a:ln>
        </p:spPr>
      </p:sp>
      <p:sp>
        <p:nvSpPr>
          <p:cNvPr id="31" name="node 7 badge"/>
          <p:cNvSpPr/>
          <p:nvPr/>
        </p:nvSpPr>
        <p:spPr>
          <a:xfrm>
            <a:off x="1281768" y="1924352"/>
            <a:ext cx="384048" cy="384048"/>
          </a:xfrm>
          <a:prstGeom prst="ellipse">
            <a:avLst/>
          </a:prstGeom>
          <a:solidFill>
            <a:schemeClr val="accent2"/>
          </a:solidFill>
          <a:ln w="19050">
            <a:solidFill>
              <a:schemeClr val="bg1"/>
            </a:solidFill>
            <a:prstDash val="solid"/>
          </a:ln>
        </p:spPr>
      </p:sp>
      <p:sp>
        <p:nvSpPr>
          <p:cNvPr id="32" name="Text 30"/>
          <p:cNvSpPr txBox="1"/>
          <p:nvPr/>
        </p:nvSpPr>
        <p:spPr>
          <a:xfrm>
            <a:off x="1281768" y="1924352"/>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7</a:t>
            </a:r>
            <a:endParaRPr lang="en-US" sz="1300" dirty="0"/>
          </a:p>
        </p:txBody>
      </p:sp>
      <p:sp>
        <p:nvSpPr>
          <p:cNvPr id="33" name="Text 31"/>
          <p:cNvSpPr txBox="1"/>
          <p:nvPr/>
        </p:nvSpPr>
        <p:spPr>
          <a:xfrm>
            <a:off x="1583520" y="2134664"/>
            <a:ext cx="2651760" cy="923544"/>
          </a:xfrm>
          <a:prstGeom prst="rect">
            <a:avLst/>
          </a:prstGeom>
          <a:noFill/>
          <a:ln/>
        </p:spPr>
        <p:txBody>
          <a:bodyPr wrap="square" lIns="0" tIns="0" rIns="0" bIns="0" rtlCol="0" anchor="ctr"/>
          <a:lstStyle/>
          <a:p>
            <a:pPr indent="0" marL="0">
              <a:buNone/>
            </a:pPr>
            <a:r>
              <a:rPr lang="en-US" sz="1600" b="1" dirty="0">
                <a:solidFill>
                  <a:schemeClr val="accent2"/>
                </a:solidFill>
              </a:rPr>
              <a:t>Evaluation</a:t>
            </a:r>
            <a:endParaRPr lang="en-US" sz="1600" dirty="0"/>
          </a:p>
          <a:p>
            <a:pPr indent="0" marL="0">
              <a:buNone/>
            </a:pPr>
            <a:r>
              <a:rPr lang="en-US" sz="1600" dirty="0">
                <a:solidFill>
                  <a:schemeClr val="tx1"/>
                </a:solidFill>
              </a:rPr>
              <a:t>Assess results and impact; give feedback</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E2761"/>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NEP 2020: A Collaborative Journey</a:t>
            </a:r>
            <a:endParaRPr lang="en-US" sz="3600" dirty="0"/>
          </a:p>
        </p:txBody>
      </p:sp>
      <p:sp>
        <p:nvSpPr>
          <p:cNvPr id="3" name="step 1 card"/>
          <p:cNvSpPr/>
          <p:nvPr/>
        </p:nvSpPr>
        <p:spPr>
          <a:xfrm>
            <a:off x="548640" y="1417320"/>
            <a:ext cx="1883664" cy="4800600"/>
          </a:xfrm>
          <a:prstGeom prst="roundRect">
            <a:avLst>
              <a:gd name="adj" fmla="val 5825"/>
            </a:avLst>
          </a:prstGeom>
          <a:solidFill>
            <a:schemeClr val="bg2"/>
          </a:solidFill>
          <a:ln w="12700">
            <a:solidFill>
              <a:schemeClr val="bg2"/>
            </a:solidFill>
            <a:prstDash val="solid"/>
          </a:ln>
        </p:spPr>
      </p:sp>
      <p:sp>
        <p:nvSpPr>
          <p:cNvPr id="4" name="step 1 disc"/>
          <p:cNvSpPr/>
          <p:nvPr/>
        </p:nvSpPr>
        <p:spPr>
          <a:xfrm>
            <a:off x="1094903" y="1691640"/>
            <a:ext cx="791139" cy="791139"/>
          </a:xfrm>
          <a:prstGeom prst="ellipse">
            <a:avLst/>
          </a:prstGeom>
          <a:solidFill>
            <a:schemeClr val="accent1"/>
          </a:solidFill>
          <a:ln w="12700">
            <a:solidFill>
              <a:schemeClr val="accent1"/>
            </a:solidFill>
            <a:prstDash val="solid"/>
          </a:ln>
        </p:spPr>
      </p:sp>
      <p:pic>
        <p:nvPicPr>
          <p:cNvPr id="5" name="step 1 glyph" descr="preencoded.png">    </p:cNvPr>
          <p:cNvPicPr>
            <a:picLocks noChangeAspect="1"/>
          </p:cNvPicPr>
          <p:nvPr/>
        </p:nvPicPr>
        <p:blipFill>
          <a:blip r:embed="rId1"/>
          <a:stretch>
            <a:fillRect/>
          </a:stretch>
        </p:blipFill>
        <p:spPr>
          <a:xfrm>
            <a:off x="1268953" y="1865691"/>
            <a:ext cx="443038" cy="443038"/>
          </a:xfrm>
          <a:prstGeom prst="rect">
            <a:avLst/>
          </a:prstGeom>
        </p:spPr>
      </p:pic>
      <p:sp>
        <p:nvSpPr>
          <p:cNvPr id="6" name="Text 3"/>
          <p:cNvSpPr txBox="1"/>
          <p:nvPr/>
        </p:nvSpPr>
        <p:spPr>
          <a:xfrm>
            <a:off x="685800" y="2574219"/>
            <a:ext cx="1609344" cy="685800"/>
          </a:xfrm>
          <a:prstGeom prst="rect">
            <a:avLst/>
          </a:prstGeom>
          <a:noFill/>
          <a:ln/>
        </p:spPr>
        <p:txBody>
          <a:bodyPr wrap="square" lIns="0" tIns="0" rIns="0" bIns="0" rtlCol="0" anchor="ctr"/>
          <a:lstStyle/>
          <a:p>
            <a:pPr algn="ctr" indent="0" marL="0">
              <a:buNone/>
            </a:pPr>
            <a:r>
              <a:rPr lang="en-US" sz="1700" b="1" dirty="0">
                <a:solidFill>
                  <a:schemeClr val="tx2"/>
                </a:solidFill>
              </a:rPr>
              <a:t>1. 1986</a:t>
            </a:r>
            <a:endParaRPr lang="en-US" sz="1700" dirty="0"/>
          </a:p>
        </p:txBody>
      </p:sp>
      <p:sp>
        <p:nvSpPr>
          <p:cNvPr id="7" name="Text 4"/>
          <p:cNvSpPr txBox="1"/>
          <p:nvPr/>
        </p:nvSpPr>
        <p:spPr>
          <a:xfrm>
            <a:off x="731520" y="3305739"/>
            <a:ext cx="1517904" cy="2775021"/>
          </a:xfrm>
          <a:prstGeom prst="rect">
            <a:avLst/>
          </a:prstGeom>
          <a:noFill/>
          <a:ln/>
        </p:spPr>
        <p:txBody>
          <a:bodyPr wrap="square" lIns="0" tIns="0" rIns="0" bIns="0" rtlCol="0" anchor="t"/>
          <a:lstStyle/>
          <a:p>
            <a:pPr algn="l" indent="0" marL="0">
              <a:buNone/>
            </a:pPr>
            <a:r>
              <a:rPr lang="en-US" sz="1700" dirty="0">
                <a:solidFill>
                  <a:schemeClr val="tx1"/>
                </a:solidFill>
              </a:rPr>
              <a:t>India's previous National Policy on Education.</a:t>
            </a:r>
            <a:endParaRPr lang="en-US" sz="1600" dirty="0"/>
          </a:p>
        </p:txBody>
      </p:sp>
      <p:sp>
        <p:nvSpPr>
          <p:cNvPr id="8" name="arrow 1"/>
          <p:cNvSpPr/>
          <p:nvPr/>
        </p:nvSpPr>
        <p:spPr>
          <a:xfrm>
            <a:off x="2487168" y="1940905"/>
            <a:ext cx="301752" cy="292608"/>
          </a:xfrm>
          <a:prstGeom prst="rightArrow">
            <a:avLst/>
          </a:prstGeom>
          <a:solidFill>
            <a:schemeClr val="accent3"/>
          </a:solidFill>
          <a:ln w="12700">
            <a:solidFill>
              <a:schemeClr val="accent3"/>
            </a:solidFill>
            <a:prstDash val="solid"/>
          </a:ln>
        </p:spPr>
      </p:sp>
      <p:sp>
        <p:nvSpPr>
          <p:cNvPr id="9" name="step 2 card"/>
          <p:cNvSpPr/>
          <p:nvPr/>
        </p:nvSpPr>
        <p:spPr>
          <a:xfrm>
            <a:off x="2843784" y="1417320"/>
            <a:ext cx="1883664" cy="4800600"/>
          </a:xfrm>
          <a:prstGeom prst="roundRect">
            <a:avLst>
              <a:gd name="adj" fmla="val 5825"/>
            </a:avLst>
          </a:prstGeom>
          <a:solidFill>
            <a:schemeClr val="bg2"/>
          </a:solidFill>
          <a:ln w="12700">
            <a:solidFill>
              <a:schemeClr val="bg2"/>
            </a:solidFill>
            <a:prstDash val="solid"/>
          </a:ln>
        </p:spPr>
      </p:sp>
      <p:sp>
        <p:nvSpPr>
          <p:cNvPr id="10" name="step 2 disc"/>
          <p:cNvSpPr/>
          <p:nvPr/>
        </p:nvSpPr>
        <p:spPr>
          <a:xfrm>
            <a:off x="3390047" y="1691640"/>
            <a:ext cx="791139" cy="791139"/>
          </a:xfrm>
          <a:prstGeom prst="ellipse">
            <a:avLst/>
          </a:prstGeom>
          <a:solidFill>
            <a:schemeClr val="accent2"/>
          </a:solidFill>
          <a:ln w="12700">
            <a:solidFill>
              <a:schemeClr val="accent2"/>
            </a:solidFill>
            <a:prstDash val="solid"/>
          </a:ln>
        </p:spPr>
      </p:sp>
      <p:pic>
        <p:nvPicPr>
          <p:cNvPr id="11" name="step 2 glyph" descr="preencoded.png">    </p:cNvPr>
          <p:cNvPicPr>
            <a:picLocks noChangeAspect="1"/>
          </p:cNvPicPr>
          <p:nvPr/>
        </p:nvPicPr>
        <p:blipFill>
          <a:blip r:embed="rId2"/>
          <a:stretch>
            <a:fillRect/>
          </a:stretch>
        </p:blipFill>
        <p:spPr>
          <a:xfrm>
            <a:off x="3564097" y="1865691"/>
            <a:ext cx="443038" cy="443038"/>
          </a:xfrm>
          <a:prstGeom prst="rect">
            <a:avLst/>
          </a:prstGeom>
        </p:spPr>
      </p:pic>
      <p:sp>
        <p:nvSpPr>
          <p:cNvPr id="12" name="Text 8"/>
          <p:cNvSpPr txBox="1"/>
          <p:nvPr/>
        </p:nvSpPr>
        <p:spPr>
          <a:xfrm>
            <a:off x="2980944" y="2574219"/>
            <a:ext cx="1609344" cy="685800"/>
          </a:xfrm>
          <a:prstGeom prst="rect">
            <a:avLst/>
          </a:prstGeom>
          <a:noFill/>
          <a:ln/>
        </p:spPr>
        <p:txBody>
          <a:bodyPr wrap="square" lIns="0" tIns="0" rIns="0" bIns="0" rtlCol="0" anchor="ctr"/>
          <a:lstStyle/>
          <a:p>
            <a:pPr algn="ctr" indent="0" marL="0">
              <a:buNone/>
            </a:pPr>
            <a:r>
              <a:rPr lang="en-US" sz="1700" b="1" dirty="0">
                <a:solidFill>
                  <a:schemeClr val="tx2"/>
                </a:solidFill>
              </a:rPr>
              <a:t>2. 2015</a:t>
            </a:r>
            <a:endParaRPr lang="en-US" sz="1700" dirty="0"/>
          </a:p>
        </p:txBody>
      </p:sp>
      <p:sp>
        <p:nvSpPr>
          <p:cNvPr id="13" name="Text 9"/>
          <p:cNvSpPr txBox="1"/>
          <p:nvPr/>
        </p:nvSpPr>
        <p:spPr>
          <a:xfrm>
            <a:off x="3026664" y="3305739"/>
            <a:ext cx="1517904" cy="2775021"/>
          </a:xfrm>
          <a:prstGeom prst="rect">
            <a:avLst/>
          </a:prstGeom>
          <a:noFill/>
          <a:ln/>
        </p:spPr>
        <p:txBody>
          <a:bodyPr wrap="square" lIns="0" tIns="0" rIns="0" bIns="0" rtlCol="0" anchor="t"/>
          <a:lstStyle/>
          <a:p>
            <a:pPr algn="l" indent="0" marL="0">
              <a:buNone/>
            </a:pPr>
            <a:r>
              <a:rPr lang="en-US" sz="1700" dirty="0">
                <a:solidFill>
                  <a:schemeClr val="tx1"/>
                </a:solidFill>
              </a:rPr>
              <a:t>Government begins work on a new policy as society changes.</a:t>
            </a:r>
            <a:endParaRPr lang="en-US" sz="1600" dirty="0"/>
          </a:p>
        </p:txBody>
      </p:sp>
      <p:sp>
        <p:nvSpPr>
          <p:cNvPr id="14" name="arrow 2"/>
          <p:cNvSpPr/>
          <p:nvPr/>
        </p:nvSpPr>
        <p:spPr>
          <a:xfrm>
            <a:off x="4782312" y="1940905"/>
            <a:ext cx="301752" cy="292608"/>
          </a:xfrm>
          <a:prstGeom prst="rightArrow">
            <a:avLst/>
          </a:prstGeom>
          <a:solidFill>
            <a:schemeClr val="accent3"/>
          </a:solidFill>
          <a:ln w="12700">
            <a:solidFill>
              <a:schemeClr val="accent3"/>
            </a:solidFill>
            <a:prstDash val="solid"/>
          </a:ln>
        </p:spPr>
      </p:sp>
      <p:sp>
        <p:nvSpPr>
          <p:cNvPr id="15" name="step 3 card"/>
          <p:cNvSpPr/>
          <p:nvPr/>
        </p:nvSpPr>
        <p:spPr>
          <a:xfrm>
            <a:off x="5138928" y="1417320"/>
            <a:ext cx="1883664" cy="4800600"/>
          </a:xfrm>
          <a:prstGeom prst="roundRect">
            <a:avLst>
              <a:gd name="adj" fmla="val 5825"/>
            </a:avLst>
          </a:prstGeom>
          <a:solidFill>
            <a:schemeClr val="bg2"/>
          </a:solidFill>
          <a:ln w="12700">
            <a:solidFill>
              <a:schemeClr val="bg2"/>
            </a:solidFill>
            <a:prstDash val="solid"/>
          </a:ln>
        </p:spPr>
      </p:sp>
      <p:sp>
        <p:nvSpPr>
          <p:cNvPr id="16" name="step 3 disc"/>
          <p:cNvSpPr/>
          <p:nvPr/>
        </p:nvSpPr>
        <p:spPr>
          <a:xfrm>
            <a:off x="5685191" y="1691640"/>
            <a:ext cx="791139" cy="791139"/>
          </a:xfrm>
          <a:prstGeom prst="ellipse">
            <a:avLst/>
          </a:prstGeom>
          <a:solidFill>
            <a:schemeClr val="accent1"/>
          </a:solidFill>
          <a:ln w="12700">
            <a:solidFill>
              <a:schemeClr val="accent1"/>
            </a:solidFill>
            <a:prstDash val="solid"/>
          </a:ln>
        </p:spPr>
      </p:sp>
      <p:pic>
        <p:nvPicPr>
          <p:cNvPr id="17" name="step 3 glyph" descr="preencoded.png">    </p:cNvPr>
          <p:cNvPicPr>
            <a:picLocks noChangeAspect="1"/>
          </p:cNvPicPr>
          <p:nvPr/>
        </p:nvPicPr>
        <p:blipFill>
          <a:blip r:embed="rId3"/>
          <a:stretch>
            <a:fillRect/>
          </a:stretch>
        </p:blipFill>
        <p:spPr>
          <a:xfrm>
            <a:off x="5859241" y="1865691"/>
            <a:ext cx="443038" cy="443038"/>
          </a:xfrm>
          <a:prstGeom prst="rect">
            <a:avLst/>
          </a:prstGeom>
        </p:spPr>
      </p:pic>
      <p:sp>
        <p:nvSpPr>
          <p:cNvPr id="18" name="Text 13"/>
          <p:cNvSpPr txBox="1"/>
          <p:nvPr/>
        </p:nvSpPr>
        <p:spPr>
          <a:xfrm>
            <a:off x="5276088" y="2574219"/>
            <a:ext cx="1609344" cy="685800"/>
          </a:xfrm>
          <a:prstGeom prst="rect">
            <a:avLst/>
          </a:prstGeom>
          <a:noFill/>
          <a:ln/>
        </p:spPr>
        <p:txBody>
          <a:bodyPr wrap="square" lIns="0" tIns="0" rIns="0" bIns="0" rtlCol="0" anchor="ctr"/>
          <a:lstStyle/>
          <a:p>
            <a:pPr algn="ctr" indent="0" marL="0">
              <a:buNone/>
            </a:pPr>
            <a:r>
              <a:rPr lang="en-US" sz="1700" b="1" dirty="0">
                <a:solidFill>
                  <a:schemeClr val="tx2"/>
                </a:solidFill>
              </a:rPr>
              <a:t>3. 2017</a:t>
            </a:r>
            <a:endParaRPr lang="en-US" sz="1700" dirty="0"/>
          </a:p>
        </p:txBody>
      </p:sp>
      <p:sp>
        <p:nvSpPr>
          <p:cNvPr id="19" name="Text 14"/>
          <p:cNvSpPr txBox="1"/>
          <p:nvPr/>
        </p:nvSpPr>
        <p:spPr>
          <a:xfrm>
            <a:off x="5321808" y="3305739"/>
            <a:ext cx="1517904" cy="2775021"/>
          </a:xfrm>
          <a:prstGeom prst="rect">
            <a:avLst/>
          </a:prstGeom>
          <a:noFill/>
          <a:ln/>
        </p:spPr>
        <p:txBody>
          <a:bodyPr wrap="square" lIns="0" tIns="0" rIns="0" bIns="0" rtlCol="0" anchor="t"/>
          <a:lstStyle/>
          <a:p>
            <a:pPr algn="l" indent="0" marL="0">
              <a:buNone/>
            </a:pPr>
            <a:r>
              <a:rPr lang="en-US" sz="1700" dirty="0">
                <a:solidFill>
                  <a:schemeClr val="tx1"/>
                </a:solidFill>
              </a:rPr>
              <a:t>Expert committee chaired by </a:t>
            </a:r>
            <a:r>
              <a:rPr lang="en-US" sz="1700" b="1" dirty="0">
                <a:solidFill>
                  <a:schemeClr val="tx1"/>
                </a:solidFill>
              </a:rPr>
              <a:t>Dr K. Kasturirangan</a:t>
            </a:r>
            <a:r>
              <a:rPr lang="en-US" sz="1700" dirty="0">
                <a:solidFill>
                  <a:schemeClr val="tx1"/>
                </a:solidFill>
              </a:rPr>
              <a:t>.</a:t>
            </a:r>
            <a:endParaRPr lang="en-US" sz="1600" dirty="0"/>
          </a:p>
        </p:txBody>
      </p:sp>
      <p:sp>
        <p:nvSpPr>
          <p:cNvPr id="20" name="arrow 3"/>
          <p:cNvSpPr/>
          <p:nvPr/>
        </p:nvSpPr>
        <p:spPr>
          <a:xfrm>
            <a:off x="7077456" y="1940905"/>
            <a:ext cx="301752" cy="292608"/>
          </a:xfrm>
          <a:prstGeom prst="rightArrow">
            <a:avLst/>
          </a:prstGeom>
          <a:solidFill>
            <a:schemeClr val="accent3"/>
          </a:solidFill>
          <a:ln w="12700">
            <a:solidFill>
              <a:schemeClr val="accent3"/>
            </a:solidFill>
            <a:prstDash val="solid"/>
          </a:ln>
        </p:spPr>
      </p:sp>
      <p:sp>
        <p:nvSpPr>
          <p:cNvPr id="21" name="step 4 card"/>
          <p:cNvSpPr/>
          <p:nvPr/>
        </p:nvSpPr>
        <p:spPr>
          <a:xfrm>
            <a:off x="7434072" y="1417320"/>
            <a:ext cx="1883664" cy="4800600"/>
          </a:xfrm>
          <a:prstGeom prst="roundRect">
            <a:avLst>
              <a:gd name="adj" fmla="val 5825"/>
            </a:avLst>
          </a:prstGeom>
          <a:solidFill>
            <a:schemeClr val="bg2"/>
          </a:solidFill>
          <a:ln w="12700">
            <a:solidFill>
              <a:schemeClr val="bg2"/>
            </a:solidFill>
            <a:prstDash val="solid"/>
          </a:ln>
        </p:spPr>
      </p:sp>
      <p:sp>
        <p:nvSpPr>
          <p:cNvPr id="22" name="step 4 disc"/>
          <p:cNvSpPr/>
          <p:nvPr/>
        </p:nvSpPr>
        <p:spPr>
          <a:xfrm>
            <a:off x="7980335" y="1691640"/>
            <a:ext cx="791139" cy="791139"/>
          </a:xfrm>
          <a:prstGeom prst="ellipse">
            <a:avLst/>
          </a:prstGeom>
          <a:solidFill>
            <a:schemeClr val="accent2"/>
          </a:solidFill>
          <a:ln w="12700">
            <a:solidFill>
              <a:schemeClr val="accent2"/>
            </a:solidFill>
            <a:prstDash val="solid"/>
          </a:ln>
        </p:spPr>
      </p:sp>
      <p:pic>
        <p:nvPicPr>
          <p:cNvPr id="23" name="step 4 glyph" descr="preencoded.png">    </p:cNvPr>
          <p:cNvPicPr>
            <a:picLocks noChangeAspect="1"/>
          </p:cNvPicPr>
          <p:nvPr/>
        </p:nvPicPr>
        <p:blipFill>
          <a:blip r:embed="rId4"/>
          <a:stretch>
            <a:fillRect/>
          </a:stretch>
        </p:blipFill>
        <p:spPr>
          <a:xfrm>
            <a:off x="8154385" y="1865691"/>
            <a:ext cx="443038" cy="443038"/>
          </a:xfrm>
          <a:prstGeom prst="rect">
            <a:avLst/>
          </a:prstGeom>
        </p:spPr>
      </p:pic>
      <p:sp>
        <p:nvSpPr>
          <p:cNvPr id="24" name="Text 18"/>
          <p:cNvSpPr txBox="1"/>
          <p:nvPr/>
        </p:nvSpPr>
        <p:spPr>
          <a:xfrm>
            <a:off x="7571232" y="2574219"/>
            <a:ext cx="1609344" cy="685800"/>
          </a:xfrm>
          <a:prstGeom prst="rect">
            <a:avLst/>
          </a:prstGeom>
          <a:noFill/>
          <a:ln/>
        </p:spPr>
        <p:txBody>
          <a:bodyPr wrap="square" lIns="0" tIns="0" rIns="0" bIns="0" rtlCol="0" anchor="ctr"/>
          <a:lstStyle/>
          <a:p>
            <a:pPr algn="ctr" indent="0" marL="0">
              <a:buNone/>
            </a:pPr>
            <a:r>
              <a:rPr lang="en-US" sz="1700" b="1" dirty="0">
                <a:solidFill>
                  <a:schemeClr val="tx2"/>
                </a:solidFill>
              </a:rPr>
              <a:t>4. Consultation</a:t>
            </a:r>
            <a:endParaRPr lang="en-US" sz="1700" dirty="0"/>
          </a:p>
        </p:txBody>
      </p:sp>
      <p:sp>
        <p:nvSpPr>
          <p:cNvPr id="25" name="Text 19"/>
          <p:cNvSpPr txBox="1"/>
          <p:nvPr/>
        </p:nvSpPr>
        <p:spPr>
          <a:xfrm>
            <a:off x="7616952" y="3305739"/>
            <a:ext cx="1517904" cy="2775021"/>
          </a:xfrm>
          <a:prstGeom prst="rect">
            <a:avLst/>
          </a:prstGeom>
          <a:noFill/>
          <a:ln/>
        </p:spPr>
        <p:txBody>
          <a:bodyPr wrap="square" lIns="0" tIns="0" rIns="0" bIns="0" rtlCol="0" anchor="t"/>
          <a:lstStyle/>
          <a:p>
            <a:pPr algn="l" indent="0" marL="0">
              <a:buNone/>
            </a:pPr>
            <a:r>
              <a:rPr lang="en-US" sz="1700" dirty="0">
                <a:solidFill>
                  <a:schemeClr val="tx1"/>
                </a:solidFill>
              </a:rPr>
              <a:t>2.5 lakh gram panchayats, 6,600 blocks, 676 districts; about </a:t>
            </a:r>
            <a:r>
              <a:rPr lang="en-US" sz="1700" b="1" dirty="0">
                <a:solidFill>
                  <a:schemeClr val="tx1"/>
                </a:solidFill>
              </a:rPr>
              <a:t>2 lakh suggestions</a:t>
            </a:r>
            <a:r>
              <a:rPr lang="en-US" sz="1700" dirty="0">
                <a:solidFill>
                  <a:schemeClr val="tx1"/>
                </a:solidFill>
              </a:rPr>
              <a:t>.</a:t>
            </a:r>
            <a:endParaRPr lang="en-US" sz="1600" dirty="0"/>
          </a:p>
        </p:txBody>
      </p:sp>
      <p:sp>
        <p:nvSpPr>
          <p:cNvPr id="26" name="arrow 4"/>
          <p:cNvSpPr/>
          <p:nvPr/>
        </p:nvSpPr>
        <p:spPr>
          <a:xfrm>
            <a:off x="9372600" y="1940905"/>
            <a:ext cx="301752" cy="292608"/>
          </a:xfrm>
          <a:prstGeom prst="rightArrow">
            <a:avLst/>
          </a:prstGeom>
          <a:solidFill>
            <a:schemeClr val="accent3"/>
          </a:solidFill>
          <a:ln w="12700">
            <a:solidFill>
              <a:schemeClr val="accent3"/>
            </a:solidFill>
            <a:prstDash val="solid"/>
          </a:ln>
        </p:spPr>
      </p:sp>
      <p:sp>
        <p:nvSpPr>
          <p:cNvPr id="27" name="step 5 card"/>
          <p:cNvSpPr/>
          <p:nvPr/>
        </p:nvSpPr>
        <p:spPr>
          <a:xfrm>
            <a:off x="9729216" y="1417320"/>
            <a:ext cx="1883664" cy="4800600"/>
          </a:xfrm>
          <a:prstGeom prst="roundRect">
            <a:avLst>
              <a:gd name="adj" fmla="val 5825"/>
            </a:avLst>
          </a:prstGeom>
          <a:solidFill>
            <a:schemeClr val="bg2"/>
          </a:solidFill>
          <a:ln w="12700">
            <a:solidFill>
              <a:schemeClr val="bg2"/>
            </a:solidFill>
            <a:prstDash val="solid"/>
          </a:ln>
        </p:spPr>
      </p:sp>
      <p:sp>
        <p:nvSpPr>
          <p:cNvPr id="28" name="step 5 disc"/>
          <p:cNvSpPr/>
          <p:nvPr/>
        </p:nvSpPr>
        <p:spPr>
          <a:xfrm>
            <a:off x="10275479" y="1691640"/>
            <a:ext cx="791139" cy="791139"/>
          </a:xfrm>
          <a:prstGeom prst="ellipse">
            <a:avLst/>
          </a:prstGeom>
          <a:solidFill>
            <a:schemeClr val="accent1"/>
          </a:solidFill>
          <a:ln w="12700">
            <a:solidFill>
              <a:schemeClr val="accent1"/>
            </a:solidFill>
            <a:prstDash val="solid"/>
          </a:ln>
        </p:spPr>
      </p:sp>
      <p:pic>
        <p:nvPicPr>
          <p:cNvPr id="29" name="step 5 glyph" descr="preencoded.png">    </p:cNvPr>
          <p:cNvPicPr>
            <a:picLocks noChangeAspect="1"/>
          </p:cNvPicPr>
          <p:nvPr/>
        </p:nvPicPr>
        <p:blipFill>
          <a:blip r:embed="rId5"/>
          <a:stretch>
            <a:fillRect/>
          </a:stretch>
        </p:blipFill>
        <p:spPr>
          <a:xfrm>
            <a:off x="10449529" y="1865691"/>
            <a:ext cx="443038" cy="443038"/>
          </a:xfrm>
          <a:prstGeom prst="rect">
            <a:avLst/>
          </a:prstGeom>
        </p:spPr>
      </p:pic>
      <p:sp>
        <p:nvSpPr>
          <p:cNvPr id="30" name="Text 23"/>
          <p:cNvSpPr txBox="1"/>
          <p:nvPr/>
        </p:nvSpPr>
        <p:spPr>
          <a:xfrm>
            <a:off x="9866376" y="2574219"/>
            <a:ext cx="1609344" cy="685800"/>
          </a:xfrm>
          <a:prstGeom prst="rect">
            <a:avLst/>
          </a:prstGeom>
          <a:noFill/>
          <a:ln/>
        </p:spPr>
        <p:txBody>
          <a:bodyPr wrap="square" lIns="0" tIns="0" rIns="0" bIns="0" rtlCol="0" anchor="ctr"/>
          <a:lstStyle/>
          <a:p>
            <a:pPr algn="ctr" indent="0" marL="0">
              <a:buNone/>
            </a:pPr>
            <a:r>
              <a:rPr lang="en-US" sz="1700" b="1" dirty="0">
                <a:solidFill>
                  <a:schemeClr val="tx2"/>
                </a:solidFill>
              </a:rPr>
              <a:t>5. July 2020</a:t>
            </a:r>
            <a:endParaRPr lang="en-US" sz="1700" dirty="0"/>
          </a:p>
        </p:txBody>
      </p:sp>
      <p:sp>
        <p:nvSpPr>
          <p:cNvPr id="31" name="Text 24"/>
          <p:cNvSpPr txBox="1"/>
          <p:nvPr/>
        </p:nvSpPr>
        <p:spPr>
          <a:xfrm>
            <a:off x="9912096" y="3305739"/>
            <a:ext cx="1517904" cy="2775021"/>
          </a:xfrm>
          <a:prstGeom prst="rect">
            <a:avLst/>
          </a:prstGeom>
          <a:noFill/>
          <a:ln/>
        </p:spPr>
        <p:txBody>
          <a:bodyPr wrap="square" lIns="0" tIns="0" rIns="0" bIns="0" rtlCol="0" anchor="t"/>
          <a:lstStyle/>
          <a:p>
            <a:pPr algn="l" indent="0" marL="0">
              <a:buNone/>
            </a:pPr>
            <a:r>
              <a:rPr lang="en-US" sz="1700" dirty="0">
                <a:solidFill>
                  <a:schemeClr val="tx1"/>
                </a:solidFill>
              </a:rPr>
              <a:t>Approved by the Union Cabinet.</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E2761"/>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Role-Play: Making NEP 2020 Work</a:t>
            </a:r>
            <a:endParaRPr lang="en-US" sz="3600" dirty="0"/>
          </a:p>
        </p:txBody>
      </p:sp>
      <p:sp>
        <p:nvSpPr>
          <p:cNvPr id="3" name="activity info card"/>
          <p:cNvSpPr/>
          <p:nvPr/>
        </p:nvSpPr>
        <p:spPr>
          <a:xfrm>
            <a:off x="548640" y="1371600"/>
            <a:ext cx="3657600" cy="4846320"/>
          </a:xfrm>
          <a:prstGeom prst="roundRect">
            <a:avLst>
              <a:gd name="adj" fmla="val 3000"/>
            </a:avLst>
          </a:prstGeom>
          <a:solidFill>
            <a:schemeClr val="tx2"/>
          </a:solidFill>
          <a:ln w="12700">
            <a:solidFill>
              <a:schemeClr val="tx2"/>
            </a:solidFill>
            <a:prstDash val="solid"/>
          </a:ln>
          <a:effectLst>
            <a:outerShdw sx="100000" sy="100000" kx="0" ky="0" algn="bl" rotWithShape="0" blurRad="101600" dist="25400" dir="5400000">
              <a:srgbClr val="000000">
                <a:alpha val="14000"/>
              </a:srgbClr>
            </a:outerShdw>
          </a:effectLst>
        </p:spPr>
      </p:sp>
      <p:sp>
        <p:nvSpPr>
          <p:cNvPr id="4" name="activity disc"/>
          <p:cNvSpPr/>
          <p:nvPr/>
        </p:nvSpPr>
        <p:spPr>
          <a:xfrm>
            <a:off x="868680" y="1691640"/>
            <a:ext cx="914400" cy="914400"/>
          </a:xfrm>
          <a:prstGeom prst="ellipse">
            <a:avLst/>
          </a:prstGeom>
          <a:solidFill>
            <a:schemeClr val="accent3"/>
          </a:solidFill>
          <a:ln w="12700">
            <a:solidFill>
              <a:schemeClr val="accent3"/>
            </a:solidFill>
            <a:prstDash val="solid"/>
          </a:ln>
        </p:spPr>
      </p:sp>
      <p:pic>
        <p:nvPicPr>
          <p:cNvPr id="5" name="activity glyph" descr="preencoded.png">    </p:cNvPr>
          <p:cNvPicPr>
            <a:picLocks noChangeAspect="1"/>
          </p:cNvPicPr>
          <p:nvPr/>
        </p:nvPicPr>
        <p:blipFill>
          <a:blip r:embed="rId1"/>
          <a:stretch>
            <a:fillRect/>
          </a:stretch>
        </p:blipFill>
        <p:spPr>
          <a:xfrm>
            <a:off x="1069848" y="1892808"/>
            <a:ext cx="512064" cy="512064"/>
          </a:xfrm>
          <a:prstGeom prst="rect">
            <a:avLst/>
          </a:prstGeom>
        </p:spPr>
      </p:pic>
      <p:sp>
        <p:nvSpPr>
          <p:cNvPr id="6" name="Text 3"/>
          <p:cNvSpPr txBox="1"/>
          <p:nvPr/>
        </p:nvSpPr>
        <p:spPr>
          <a:xfrm>
            <a:off x="1965960" y="1737360"/>
            <a:ext cx="2103120" cy="365760"/>
          </a:xfrm>
          <a:prstGeom prst="rect">
            <a:avLst/>
          </a:prstGeom>
          <a:noFill/>
          <a:ln/>
        </p:spPr>
        <p:txBody>
          <a:bodyPr wrap="square" lIns="0" tIns="0" rIns="0" bIns="0" rtlCol="0" anchor="ctr"/>
          <a:lstStyle/>
          <a:p>
            <a:pPr indent="0" marL="0">
              <a:buNone/>
            </a:pPr>
            <a:r>
              <a:rPr lang="en-US" sz="1300" b="1" spc="200" kern="0" dirty="0">
                <a:solidFill>
                  <a:schemeClr val="accent3"/>
                </a:solidFill>
              </a:rPr>
              <a:t>ROLE-PLAY</a:t>
            </a:r>
            <a:endParaRPr lang="en-US" sz="1300" dirty="0"/>
          </a:p>
        </p:txBody>
      </p:sp>
      <p:sp>
        <p:nvSpPr>
          <p:cNvPr id="7" name="Text 4"/>
          <p:cNvSpPr txBox="1"/>
          <p:nvPr/>
        </p:nvSpPr>
        <p:spPr>
          <a:xfrm>
            <a:off x="1965960" y="2103120"/>
            <a:ext cx="2103120" cy="640080"/>
          </a:xfrm>
          <a:prstGeom prst="rect">
            <a:avLst/>
          </a:prstGeom>
          <a:noFill/>
          <a:ln/>
        </p:spPr>
        <p:txBody>
          <a:bodyPr wrap="square" lIns="0" tIns="0" rIns="0" bIns="0" rtlCol="0" anchor="t"/>
          <a:lstStyle/>
          <a:p>
            <a:pPr indent="0" marL="0">
              <a:buNone/>
            </a:pPr>
            <a:r>
              <a:rPr lang="en-US" sz="1800" b="1" dirty="0">
                <a:solidFill>
                  <a:schemeClr val="bg1"/>
                </a:solidFill>
              </a:rPr>
              <a:t>Stakeholder roundtable</a:t>
            </a:r>
            <a:endParaRPr lang="en-US" sz="1800" dirty="0"/>
          </a:p>
        </p:txBody>
      </p:sp>
      <p:pic>
        <p:nvPicPr>
          <p:cNvPr id="8" name="Time icon" descr="preencoded.png">    </p:cNvPr>
          <p:cNvPicPr>
            <a:picLocks noChangeAspect="1"/>
          </p:cNvPicPr>
          <p:nvPr/>
        </p:nvPicPr>
        <p:blipFill>
          <a:blip r:embed="rId2"/>
          <a:stretch>
            <a:fillRect/>
          </a:stretch>
        </p:blipFill>
        <p:spPr>
          <a:xfrm>
            <a:off x="868680" y="3063240"/>
            <a:ext cx="347472" cy="347472"/>
          </a:xfrm>
          <a:prstGeom prst="rect">
            <a:avLst/>
          </a:prstGeom>
        </p:spPr>
      </p:pic>
      <p:sp>
        <p:nvSpPr>
          <p:cNvPr id="9" name="Text 5"/>
          <p:cNvSpPr txBox="1"/>
          <p:nvPr/>
        </p:nvSpPr>
        <p:spPr>
          <a:xfrm>
            <a:off x="1371600" y="3017520"/>
            <a:ext cx="2651760" cy="914400"/>
          </a:xfrm>
          <a:prstGeom prst="rect">
            <a:avLst/>
          </a:prstGeom>
          <a:noFill/>
          <a:ln/>
        </p:spPr>
        <p:txBody>
          <a:bodyPr wrap="square" lIns="0" tIns="0" rIns="0" bIns="0" rtlCol="0" anchor="t"/>
          <a:lstStyle/>
          <a:p>
            <a:pPr indent="0" marL="0">
              <a:buNone/>
            </a:pPr>
            <a:r>
              <a:rPr lang="en-US" sz="1400" b="1" dirty="0">
                <a:solidFill>
                  <a:schemeClr val="accent3"/>
                </a:solidFill>
              </a:rPr>
              <a:t>Time: </a:t>
            </a:r>
            <a:r>
              <a:rPr lang="en-US" sz="1400" dirty="0">
                <a:solidFill>
                  <a:schemeClr val="bg1"/>
                </a:solidFill>
              </a:rPr>
              <a:t>30 minutes</a:t>
            </a:r>
            <a:endParaRPr lang="en-US" sz="1400" dirty="0"/>
          </a:p>
        </p:txBody>
      </p:sp>
      <p:pic>
        <p:nvPicPr>
          <p:cNvPr id="10" name="Group icon" descr="preencoded.png">    </p:cNvPr>
          <p:cNvPicPr>
            <a:picLocks noChangeAspect="1"/>
          </p:cNvPicPr>
          <p:nvPr/>
        </p:nvPicPr>
        <p:blipFill>
          <a:blip r:embed="rId3"/>
          <a:stretch>
            <a:fillRect/>
          </a:stretch>
        </p:blipFill>
        <p:spPr>
          <a:xfrm>
            <a:off x="868680" y="3703320"/>
            <a:ext cx="347472" cy="347472"/>
          </a:xfrm>
          <a:prstGeom prst="rect">
            <a:avLst/>
          </a:prstGeom>
        </p:spPr>
      </p:pic>
      <p:sp>
        <p:nvSpPr>
          <p:cNvPr id="11" name="Text 6"/>
          <p:cNvSpPr txBox="1"/>
          <p:nvPr/>
        </p:nvSpPr>
        <p:spPr>
          <a:xfrm>
            <a:off x="1371600" y="3657600"/>
            <a:ext cx="2651760" cy="914400"/>
          </a:xfrm>
          <a:prstGeom prst="rect">
            <a:avLst/>
          </a:prstGeom>
          <a:noFill/>
          <a:ln/>
        </p:spPr>
        <p:txBody>
          <a:bodyPr wrap="square" lIns="0" tIns="0" rIns="0" bIns="0" rtlCol="0" anchor="t"/>
          <a:lstStyle/>
          <a:p>
            <a:pPr indent="0" marL="0">
              <a:buNone/>
            </a:pPr>
            <a:r>
              <a:rPr lang="en-US" sz="1400" b="1" dirty="0">
                <a:solidFill>
                  <a:schemeClr val="accent3"/>
                </a:solidFill>
              </a:rPr>
              <a:t>Group: </a:t>
            </a:r>
            <a:r>
              <a:rPr lang="en-US" sz="1400" dirty="0">
                <a:solidFill>
                  <a:schemeClr val="bg1"/>
                </a:solidFill>
              </a:rPr>
              <a:t>8 groups</a:t>
            </a:r>
            <a:endParaRPr lang="en-US" sz="1400" dirty="0"/>
          </a:p>
        </p:txBody>
      </p:sp>
      <p:pic>
        <p:nvPicPr>
          <p:cNvPr id="12" name="You need icon" descr="preencoded.png">    </p:cNvPr>
          <p:cNvPicPr>
            <a:picLocks noChangeAspect="1"/>
          </p:cNvPicPr>
          <p:nvPr/>
        </p:nvPicPr>
        <p:blipFill>
          <a:blip r:embed="rId4"/>
          <a:stretch>
            <a:fillRect/>
          </a:stretch>
        </p:blipFill>
        <p:spPr>
          <a:xfrm>
            <a:off x="868680" y="4343400"/>
            <a:ext cx="347472" cy="347472"/>
          </a:xfrm>
          <a:prstGeom prst="rect">
            <a:avLst/>
          </a:prstGeom>
        </p:spPr>
      </p:pic>
      <p:sp>
        <p:nvSpPr>
          <p:cNvPr id="13" name="Text 7"/>
          <p:cNvSpPr txBox="1"/>
          <p:nvPr/>
        </p:nvSpPr>
        <p:spPr>
          <a:xfrm>
            <a:off x="1371600" y="4297680"/>
            <a:ext cx="2651760" cy="914400"/>
          </a:xfrm>
          <a:prstGeom prst="rect">
            <a:avLst/>
          </a:prstGeom>
          <a:noFill/>
          <a:ln/>
        </p:spPr>
        <p:txBody>
          <a:bodyPr wrap="square" lIns="0" tIns="0" rIns="0" bIns="0" rtlCol="0" anchor="t"/>
          <a:lstStyle/>
          <a:p>
            <a:pPr indent="0" marL="0">
              <a:buNone/>
            </a:pPr>
            <a:r>
              <a:rPr lang="en-US" sz="1400" b="1" dirty="0">
                <a:solidFill>
                  <a:schemeClr val="accent3"/>
                </a:solidFill>
              </a:rPr>
              <a:t>You need: </a:t>
            </a:r>
            <a:r>
              <a:rPr lang="en-US" sz="1400" dirty="0">
                <a:solidFill>
                  <a:schemeClr val="bg1"/>
                </a:solidFill>
              </a:rPr>
              <a:t>Role cards, NEP summary points</a:t>
            </a:r>
            <a:endParaRPr lang="en-US" sz="1400" dirty="0"/>
          </a:p>
        </p:txBody>
      </p:sp>
      <p:sp>
        <p:nvSpPr>
          <p:cNvPr id="14" name="activity steps card"/>
          <p:cNvSpPr/>
          <p:nvPr/>
        </p:nvSpPr>
        <p:spPr>
          <a:xfrm>
            <a:off x="4526280" y="1371600"/>
            <a:ext cx="7086600" cy="4846320"/>
          </a:xfrm>
          <a:prstGeom prst="roundRect">
            <a:avLst>
              <a:gd name="adj" fmla="val 2264"/>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15" name="Text 9"/>
          <p:cNvSpPr txBox="1"/>
          <p:nvPr/>
        </p:nvSpPr>
        <p:spPr>
          <a:xfrm>
            <a:off x="4846320" y="1600200"/>
            <a:ext cx="6400800" cy="457200"/>
          </a:xfrm>
          <a:prstGeom prst="rect">
            <a:avLst/>
          </a:prstGeom>
          <a:noFill/>
          <a:ln/>
        </p:spPr>
        <p:txBody>
          <a:bodyPr wrap="square" lIns="0" tIns="0" rIns="0" bIns="0" rtlCol="0" anchor="ctr"/>
          <a:lstStyle/>
          <a:p>
            <a:pPr indent="0" marL="0">
              <a:buNone/>
            </a:pPr>
            <a:r>
              <a:rPr lang="en-US" sz="2000" b="1" dirty="0">
                <a:solidFill>
                  <a:schemeClr val="accent1"/>
                </a:solidFill>
              </a:rPr>
              <a:t>How to play</a:t>
            </a:r>
            <a:endParaRPr lang="en-US" sz="2000" dirty="0"/>
          </a:p>
        </p:txBody>
      </p:sp>
      <p:sp>
        <p:nvSpPr>
          <p:cNvPr id="16" name="step 1 badge"/>
          <p:cNvSpPr/>
          <p:nvPr/>
        </p:nvSpPr>
        <p:spPr>
          <a:xfrm>
            <a:off x="4846320" y="2212848"/>
            <a:ext cx="384048" cy="384048"/>
          </a:xfrm>
          <a:prstGeom prst="ellipse">
            <a:avLst/>
          </a:prstGeom>
          <a:solidFill>
            <a:schemeClr val="accent1"/>
          </a:solidFill>
          <a:ln w="12700">
            <a:solidFill>
              <a:schemeClr val="accent1"/>
            </a:solidFill>
            <a:prstDash val="solid"/>
          </a:ln>
        </p:spPr>
      </p:sp>
      <p:sp>
        <p:nvSpPr>
          <p:cNvPr id="17" name="Text 11"/>
          <p:cNvSpPr txBox="1"/>
          <p:nvPr/>
        </p:nvSpPr>
        <p:spPr>
          <a:xfrm>
            <a:off x="4846320" y="221284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8" name="Text 12"/>
          <p:cNvSpPr txBox="1"/>
          <p:nvPr/>
        </p:nvSpPr>
        <p:spPr>
          <a:xfrm>
            <a:off x="5394960" y="2194560"/>
            <a:ext cx="5943600" cy="493776"/>
          </a:xfrm>
          <a:prstGeom prst="rect">
            <a:avLst/>
          </a:prstGeom>
          <a:noFill/>
          <a:ln/>
        </p:spPr>
        <p:txBody>
          <a:bodyPr wrap="square" lIns="0" tIns="0" rIns="0" bIns="0" rtlCol="0" anchor="t"/>
          <a:lstStyle/>
          <a:p>
            <a:pPr indent="0" marL="0">
              <a:buNone/>
            </a:pPr>
            <a:r>
              <a:rPr lang="en-US" sz="1400" dirty="0">
                <a:solidFill>
                  <a:schemeClr val="tx1"/>
                </a:solidFill>
              </a:rPr>
              <a:t>Groups: </a:t>
            </a:r>
            <a:r>
              <a:rPr lang="en-US" sz="1400" b="1" dirty="0">
                <a:solidFill>
                  <a:schemeClr val="tx1"/>
                </a:solidFill>
              </a:rPr>
              <a:t>Union Govt, state govt, principal, teacher, parent, student, NGO, journalist</a:t>
            </a:r>
            <a:r>
              <a:rPr lang="en-US" sz="1400" dirty="0">
                <a:solidFill>
                  <a:schemeClr val="tx1"/>
                </a:solidFill>
              </a:rPr>
              <a:t>.</a:t>
            </a:r>
            <a:endParaRPr lang="en-US" sz="1600" dirty="0"/>
          </a:p>
        </p:txBody>
      </p:sp>
      <p:sp>
        <p:nvSpPr>
          <p:cNvPr id="19" name="step 2 badge"/>
          <p:cNvSpPr/>
          <p:nvPr/>
        </p:nvSpPr>
        <p:spPr>
          <a:xfrm>
            <a:off x="4846320" y="2752344"/>
            <a:ext cx="384048" cy="384048"/>
          </a:xfrm>
          <a:prstGeom prst="ellipse">
            <a:avLst/>
          </a:prstGeom>
          <a:solidFill>
            <a:schemeClr val="accent1"/>
          </a:solidFill>
          <a:ln w="12700">
            <a:solidFill>
              <a:schemeClr val="accent1"/>
            </a:solidFill>
            <a:prstDash val="solid"/>
          </a:ln>
        </p:spPr>
      </p:sp>
      <p:sp>
        <p:nvSpPr>
          <p:cNvPr id="20" name="Text 14"/>
          <p:cNvSpPr txBox="1"/>
          <p:nvPr/>
        </p:nvSpPr>
        <p:spPr>
          <a:xfrm>
            <a:off x="4846320" y="2752344"/>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21" name="Text 15"/>
          <p:cNvSpPr txBox="1"/>
          <p:nvPr/>
        </p:nvSpPr>
        <p:spPr>
          <a:xfrm>
            <a:off x="5394960" y="2734056"/>
            <a:ext cx="5943600" cy="493776"/>
          </a:xfrm>
          <a:prstGeom prst="rect">
            <a:avLst/>
          </a:prstGeom>
          <a:noFill/>
          <a:ln/>
        </p:spPr>
        <p:txBody>
          <a:bodyPr wrap="square" lIns="0" tIns="0" rIns="0" bIns="0" rtlCol="0" anchor="t"/>
          <a:lstStyle/>
          <a:p>
            <a:pPr indent="0" marL="0">
              <a:buNone/>
            </a:pPr>
            <a:r>
              <a:rPr lang="en-US" sz="1400" dirty="0">
                <a:solidFill>
                  <a:schemeClr val="tx1"/>
                </a:solidFill>
              </a:rPr>
              <a:t>Discuss: How can your group help implement NEP?</a:t>
            </a:r>
            <a:endParaRPr lang="en-US" sz="1600" dirty="0"/>
          </a:p>
        </p:txBody>
      </p:sp>
      <p:sp>
        <p:nvSpPr>
          <p:cNvPr id="22" name="step 3 badge"/>
          <p:cNvSpPr/>
          <p:nvPr/>
        </p:nvSpPr>
        <p:spPr>
          <a:xfrm>
            <a:off x="4846320" y="3291840"/>
            <a:ext cx="384048" cy="384048"/>
          </a:xfrm>
          <a:prstGeom prst="ellipse">
            <a:avLst/>
          </a:prstGeom>
          <a:solidFill>
            <a:schemeClr val="accent1"/>
          </a:solidFill>
          <a:ln w="12700">
            <a:solidFill>
              <a:schemeClr val="accent1"/>
            </a:solidFill>
            <a:prstDash val="solid"/>
          </a:ln>
        </p:spPr>
      </p:sp>
      <p:sp>
        <p:nvSpPr>
          <p:cNvPr id="23" name="Text 17"/>
          <p:cNvSpPr txBox="1"/>
          <p:nvPr/>
        </p:nvSpPr>
        <p:spPr>
          <a:xfrm>
            <a:off x="4846320" y="329184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24" name="Text 18"/>
          <p:cNvSpPr txBox="1"/>
          <p:nvPr/>
        </p:nvSpPr>
        <p:spPr>
          <a:xfrm>
            <a:off x="5394960" y="3273552"/>
            <a:ext cx="5943600" cy="493776"/>
          </a:xfrm>
          <a:prstGeom prst="rect">
            <a:avLst/>
          </a:prstGeom>
          <a:noFill/>
          <a:ln/>
        </p:spPr>
        <p:txBody>
          <a:bodyPr wrap="square" lIns="0" tIns="0" rIns="0" bIns="0" rtlCol="0" anchor="t"/>
          <a:lstStyle/>
          <a:p>
            <a:pPr indent="0" marL="0">
              <a:buNone/>
            </a:pPr>
            <a:r>
              <a:rPr lang="en-US" sz="1400" dirty="0">
                <a:solidFill>
                  <a:schemeClr val="tx1"/>
                </a:solidFill>
              </a:rPr>
              <a:t>Prepare 3 action points.</a:t>
            </a:r>
            <a:endParaRPr lang="en-US" sz="1600" dirty="0"/>
          </a:p>
        </p:txBody>
      </p:sp>
      <p:sp>
        <p:nvSpPr>
          <p:cNvPr id="25" name="step 4 badge"/>
          <p:cNvSpPr/>
          <p:nvPr/>
        </p:nvSpPr>
        <p:spPr>
          <a:xfrm>
            <a:off x="4846320" y="3831336"/>
            <a:ext cx="384048" cy="384048"/>
          </a:xfrm>
          <a:prstGeom prst="ellipse">
            <a:avLst/>
          </a:prstGeom>
          <a:solidFill>
            <a:schemeClr val="accent1"/>
          </a:solidFill>
          <a:ln w="12700">
            <a:solidFill>
              <a:schemeClr val="accent1"/>
            </a:solidFill>
            <a:prstDash val="solid"/>
          </a:ln>
        </p:spPr>
      </p:sp>
      <p:sp>
        <p:nvSpPr>
          <p:cNvPr id="26" name="Text 20"/>
          <p:cNvSpPr txBox="1"/>
          <p:nvPr/>
        </p:nvSpPr>
        <p:spPr>
          <a:xfrm>
            <a:off x="4846320" y="3831336"/>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7" name="Text 21"/>
          <p:cNvSpPr txBox="1"/>
          <p:nvPr/>
        </p:nvSpPr>
        <p:spPr>
          <a:xfrm>
            <a:off x="5394960" y="3813048"/>
            <a:ext cx="5943600" cy="493776"/>
          </a:xfrm>
          <a:prstGeom prst="rect">
            <a:avLst/>
          </a:prstGeom>
          <a:noFill/>
          <a:ln/>
        </p:spPr>
        <p:txBody>
          <a:bodyPr wrap="square" lIns="0" tIns="0" rIns="0" bIns="0" rtlCol="0" anchor="t"/>
          <a:lstStyle/>
          <a:p>
            <a:pPr indent="0" marL="0">
              <a:buNone/>
            </a:pPr>
            <a:r>
              <a:rPr lang="en-US" sz="1400" dirty="0">
                <a:solidFill>
                  <a:schemeClr val="tx1"/>
                </a:solidFill>
              </a:rPr>
              <a:t>Present in 2 minutes each.</a:t>
            </a:r>
            <a:endParaRPr lang="en-US" sz="1600" dirty="0"/>
          </a:p>
        </p:txBody>
      </p:sp>
      <p:sp>
        <p:nvSpPr>
          <p:cNvPr id="28" name="step 5 badge"/>
          <p:cNvSpPr/>
          <p:nvPr/>
        </p:nvSpPr>
        <p:spPr>
          <a:xfrm>
            <a:off x="4846320" y="4370832"/>
            <a:ext cx="384048" cy="384048"/>
          </a:xfrm>
          <a:prstGeom prst="ellipse">
            <a:avLst/>
          </a:prstGeom>
          <a:solidFill>
            <a:schemeClr val="accent1"/>
          </a:solidFill>
          <a:ln w="12700">
            <a:solidFill>
              <a:schemeClr val="accent1"/>
            </a:solidFill>
            <a:prstDash val="solid"/>
          </a:ln>
        </p:spPr>
      </p:sp>
      <p:sp>
        <p:nvSpPr>
          <p:cNvPr id="29" name="Text 23"/>
          <p:cNvSpPr txBox="1"/>
          <p:nvPr/>
        </p:nvSpPr>
        <p:spPr>
          <a:xfrm>
            <a:off x="4846320" y="4370832"/>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30" name="Text 24"/>
          <p:cNvSpPr txBox="1"/>
          <p:nvPr/>
        </p:nvSpPr>
        <p:spPr>
          <a:xfrm>
            <a:off x="5394960" y="4352544"/>
            <a:ext cx="5943600" cy="493776"/>
          </a:xfrm>
          <a:prstGeom prst="rect">
            <a:avLst/>
          </a:prstGeom>
          <a:noFill/>
          <a:ln/>
        </p:spPr>
        <p:txBody>
          <a:bodyPr wrap="square" lIns="0" tIns="0" rIns="0" bIns="0" rtlCol="0" anchor="t"/>
          <a:lstStyle/>
          <a:p>
            <a:pPr indent="0" marL="0">
              <a:buNone/>
            </a:pPr>
            <a:r>
              <a:rPr lang="en-US" sz="1400" dirty="0">
                <a:solidFill>
                  <a:schemeClr val="tx1"/>
                </a:solidFill>
              </a:rPr>
              <a:t>Class finds links: who needs whom?</a:t>
            </a:r>
            <a:endParaRPr lang="en-US" sz="1600" dirty="0"/>
          </a:p>
        </p:txBody>
      </p:sp>
      <p:sp>
        <p:nvSpPr>
          <p:cNvPr id="31" name="outcome band"/>
          <p:cNvSpPr/>
          <p:nvPr/>
        </p:nvSpPr>
        <p:spPr>
          <a:xfrm>
            <a:off x="4846320" y="5074920"/>
            <a:ext cx="6446520" cy="914400"/>
          </a:xfrm>
          <a:prstGeom prst="roundRect">
            <a:avLst>
              <a:gd name="adj" fmla="val 8000"/>
            </a:avLst>
          </a:prstGeom>
          <a:solidFill>
            <a:schemeClr val="bg2"/>
          </a:solidFill>
          <a:ln w="12700">
            <a:solidFill>
              <a:schemeClr val="bg2"/>
            </a:solidFill>
            <a:prstDash val="solid"/>
          </a:ln>
        </p:spPr>
      </p:sp>
      <p:sp>
        <p:nvSpPr>
          <p:cNvPr id="32" name="Text 26"/>
          <p:cNvSpPr txBox="1"/>
          <p:nvPr/>
        </p:nvSpPr>
        <p:spPr>
          <a:xfrm>
            <a:off x="5029200" y="5074920"/>
            <a:ext cx="6126480" cy="914400"/>
          </a:xfrm>
          <a:prstGeom prst="rect">
            <a:avLst/>
          </a:prstGeom>
          <a:noFill/>
          <a:ln/>
        </p:spPr>
        <p:txBody>
          <a:bodyPr wrap="square" lIns="0" tIns="0" rIns="0" bIns="0" rtlCol="0" anchor="ctr"/>
          <a:lstStyle/>
          <a:p>
            <a:pPr indent="0" marL="0">
              <a:buNone/>
            </a:pPr>
            <a:r>
              <a:rPr lang="en-US" sz="1400" b="1" dirty="0">
                <a:solidFill>
                  <a:schemeClr val="tx2"/>
                </a:solidFill>
              </a:rPr>
              <a:t>Learning link:</a:t>
            </a:r>
            <a:r>
              <a:rPr lang="en-US" sz="1400" dirty="0">
                <a:solidFill>
                  <a:schemeClr val="tx2"/>
                </a:solidFill>
              </a:rPr>
              <a:t> A policy succeeds only when every stakeholder plays its part.</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E2761"/>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Policy, Programmes and Schemes</a:t>
            </a:r>
            <a:endParaRPr lang="en-US" sz="3600" dirty="0"/>
          </a:p>
        </p:txBody>
      </p:sp>
      <p:sp>
        <p:nvSpPr>
          <p:cNvPr id="3" name="Text 1"/>
          <p:cNvSpPr txBox="1"/>
          <p:nvPr/>
        </p:nvSpPr>
        <p:spPr>
          <a:xfrm>
            <a:off x="548640" y="1234440"/>
            <a:ext cx="11064240" cy="457200"/>
          </a:xfrm>
          <a:prstGeom prst="rect">
            <a:avLst/>
          </a:prstGeom>
          <a:noFill/>
          <a:ln/>
        </p:spPr>
        <p:txBody>
          <a:bodyPr wrap="square" lIns="0" tIns="0" rIns="0" bIns="0" rtlCol="0" anchor="ctr"/>
          <a:lstStyle/>
          <a:p>
            <a:pPr indent="0" marL="0">
              <a:buNone/>
            </a:pPr>
            <a:r>
              <a:rPr lang="en-US" sz="1700" dirty="0">
                <a:solidFill>
                  <a:schemeClr val="tx1"/>
                </a:solidFill>
              </a:rPr>
              <a:t>Example: </a:t>
            </a:r>
            <a:r>
              <a:rPr lang="en-US" sz="1700" b="1" dirty="0">
                <a:solidFill>
                  <a:schemeClr val="tx1"/>
                </a:solidFill>
              </a:rPr>
              <a:t>National Health Policy 2017</a:t>
            </a:r>
            <a:endParaRPr lang="en-US" sz="1600" dirty="0"/>
          </a:p>
        </p:txBody>
      </p:sp>
      <p:sp>
        <p:nvSpPr>
          <p:cNvPr id="4" name="POLICY"/>
          <p:cNvSpPr/>
          <p:nvPr/>
        </p:nvSpPr>
        <p:spPr>
          <a:xfrm>
            <a:off x="548640" y="1828800"/>
            <a:ext cx="2834640" cy="1188720"/>
          </a:xfrm>
          <a:prstGeom prst="roundRect">
            <a:avLst>
              <a:gd name="adj" fmla="val 9231"/>
            </a:avLst>
          </a:prstGeom>
          <a:solidFill>
            <a:schemeClr val="accent1"/>
          </a:solidFill>
          <a:ln w="12700">
            <a:solidFill>
              <a:schemeClr val="accent1"/>
            </a:solidFill>
            <a:prstDash val="solid"/>
          </a:ln>
        </p:spPr>
      </p:sp>
      <p:sp>
        <p:nvSpPr>
          <p:cNvPr id="5" name="Text 3"/>
          <p:cNvSpPr txBox="1"/>
          <p:nvPr/>
        </p:nvSpPr>
        <p:spPr>
          <a:xfrm>
            <a:off x="731520" y="1828800"/>
            <a:ext cx="2560320" cy="1188720"/>
          </a:xfrm>
          <a:prstGeom prst="rect">
            <a:avLst/>
          </a:prstGeom>
          <a:noFill/>
          <a:ln/>
        </p:spPr>
        <p:txBody>
          <a:bodyPr wrap="square" lIns="0" tIns="0" rIns="0" bIns="0" rtlCol="0" anchor="ctr"/>
          <a:lstStyle/>
          <a:p>
            <a:pPr indent="0" marL="0">
              <a:buNone/>
            </a:pPr>
            <a:r>
              <a:rPr lang="en-US" sz="2000" b="1" dirty="0">
                <a:solidFill>
                  <a:schemeClr val="bg1"/>
                </a:solidFill>
              </a:rPr>
              <a:t>POLICY</a:t>
            </a:r>
            <a:endParaRPr lang="en-US" sz="1600" dirty="0"/>
          </a:p>
          <a:p>
            <a:pPr indent="0" marL="0">
              <a:buNone/>
            </a:pPr>
            <a:r>
              <a:rPr lang="en-US" sz="1400" dirty="0">
                <a:solidFill>
                  <a:schemeClr val="bg1"/>
                </a:solidFill>
              </a:rPr>
              <a:t>Sets the direction and goal</a:t>
            </a:r>
            <a:endParaRPr lang="en-US" sz="1600" dirty="0"/>
          </a:p>
        </p:txBody>
      </p:sp>
      <p:sp>
        <p:nvSpPr>
          <p:cNvPr id="6" name="POLICY item 1"/>
          <p:cNvSpPr/>
          <p:nvPr/>
        </p:nvSpPr>
        <p:spPr>
          <a:xfrm>
            <a:off x="3611880" y="1828800"/>
            <a:ext cx="1863090" cy="1188720"/>
          </a:xfrm>
          <a:prstGeom prst="roundRect">
            <a:avLst>
              <a:gd name="adj" fmla="val 9231"/>
            </a:avLst>
          </a:prstGeom>
          <a:solidFill>
            <a:schemeClr val="bg2"/>
          </a:solidFill>
          <a:ln w="12700">
            <a:solidFill>
              <a:schemeClr val="bg2"/>
            </a:solidFill>
            <a:prstDash val="solid"/>
          </a:ln>
        </p:spPr>
      </p:sp>
      <p:sp>
        <p:nvSpPr>
          <p:cNvPr id="7" name="Text 5"/>
          <p:cNvSpPr txBox="1"/>
          <p:nvPr/>
        </p:nvSpPr>
        <p:spPr>
          <a:xfrm>
            <a:off x="3749040" y="1828800"/>
            <a:ext cx="1588770" cy="1188720"/>
          </a:xfrm>
          <a:prstGeom prst="rect">
            <a:avLst/>
          </a:prstGeom>
          <a:noFill/>
          <a:ln/>
        </p:spPr>
        <p:txBody>
          <a:bodyPr wrap="square" lIns="0" tIns="0" rIns="0" bIns="0" rtlCol="0" anchor="ctr"/>
          <a:lstStyle/>
          <a:p>
            <a:pPr algn="ctr" indent="0" marL="0">
              <a:buNone/>
            </a:pPr>
            <a:r>
              <a:rPr lang="en-US" sz="1500" dirty="0">
                <a:solidFill>
                  <a:schemeClr val="tx2"/>
                </a:solidFill>
              </a:rPr>
              <a:t>Universal access to good-quality healthcare</a:t>
            </a:r>
            <a:endParaRPr lang="en-US" sz="1500" dirty="0"/>
          </a:p>
        </p:txBody>
      </p:sp>
      <p:sp>
        <p:nvSpPr>
          <p:cNvPr id="8" name="POLICY item 2"/>
          <p:cNvSpPr/>
          <p:nvPr/>
        </p:nvSpPr>
        <p:spPr>
          <a:xfrm>
            <a:off x="5657850" y="1828800"/>
            <a:ext cx="1863090" cy="1188720"/>
          </a:xfrm>
          <a:prstGeom prst="roundRect">
            <a:avLst>
              <a:gd name="adj" fmla="val 9231"/>
            </a:avLst>
          </a:prstGeom>
          <a:solidFill>
            <a:schemeClr val="bg2"/>
          </a:solidFill>
          <a:ln w="12700">
            <a:solidFill>
              <a:schemeClr val="bg2"/>
            </a:solidFill>
            <a:prstDash val="solid"/>
          </a:ln>
        </p:spPr>
      </p:sp>
      <p:sp>
        <p:nvSpPr>
          <p:cNvPr id="9" name="Text 7"/>
          <p:cNvSpPr txBox="1"/>
          <p:nvPr/>
        </p:nvSpPr>
        <p:spPr>
          <a:xfrm>
            <a:off x="5795010" y="1828800"/>
            <a:ext cx="1588770" cy="1188720"/>
          </a:xfrm>
          <a:prstGeom prst="rect">
            <a:avLst/>
          </a:prstGeom>
          <a:noFill/>
          <a:ln/>
        </p:spPr>
        <p:txBody>
          <a:bodyPr wrap="square" lIns="0" tIns="0" rIns="0" bIns="0" rtlCol="0" anchor="ctr"/>
          <a:lstStyle/>
          <a:p>
            <a:pPr algn="ctr" indent="0" marL="0">
              <a:buNone/>
            </a:pPr>
            <a:r>
              <a:rPr lang="en-US" sz="1500" dirty="0">
                <a:solidFill>
                  <a:schemeClr val="tx2"/>
                </a:solidFill>
              </a:rPr>
              <a:t>Strengthen public healthcare systems</a:t>
            </a:r>
            <a:endParaRPr lang="en-US" sz="1500" dirty="0"/>
          </a:p>
        </p:txBody>
      </p:sp>
      <p:sp>
        <p:nvSpPr>
          <p:cNvPr id="10" name="POLICY item 3"/>
          <p:cNvSpPr/>
          <p:nvPr/>
        </p:nvSpPr>
        <p:spPr>
          <a:xfrm>
            <a:off x="7703820" y="1828800"/>
            <a:ext cx="1863090" cy="1188720"/>
          </a:xfrm>
          <a:prstGeom prst="roundRect">
            <a:avLst>
              <a:gd name="adj" fmla="val 9231"/>
            </a:avLst>
          </a:prstGeom>
          <a:solidFill>
            <a:schemeClr val="bg2"/>
          </a:solidFill>
          <a:ln w="12700">
            <a:solidFill>
              <a:schemeClr val="bg2"/>
            </a:solidFill>
            <a:prstDash val="solid"/>
          </a:ln>
        </p:spPr>
      </p:sp>
      <p:sp>
        <p:nvSpPr>
          <p:cNvPr id="11" name="Text 9"/>
          <p:cNvSpPr txBox="1"/>
          <p:nvPr/>
        </p:nvSpPr>
        <p:spPr>
          <a:xfrm>
            <a:off x="7840980" y="1828800"/>
            <a:ext cx="1588770" cy="1188720"/>
          </a:xfrm>
          <a:prstGeom prst="rect">
            <a:avLst/>
          </a:prstGeom>
          <a:noFill/>
          <a:ln/>
        </p:spPr>
        <p:txBody>
          <a:bodyPr wrap="square" lIns="0" tIns="0" rIns="0" bIns="0" rtlCol="0" anchor="ctr"/>
          <a:lstStyle/>
          <a:p>
            <a:pPr algn="ctr" indent="0" marL="0">
              <a:buNone/>
            </a:pPr>
            <a:r>
              <a:rPr lang="en-US" sz="1500" dirty="0">
                <a:solidFill>
                  <a:schemeClr val="tx2"/>
                </a:solidFill>
              </a:rPr>
              <a:t>Equity, affordability, accountability</a:t>
            </a:r>
            <a:endParaRPr lang="en-US" sz="1500" dirty="0"/>
          </a:p>
        </p:txBody>
      </p:sp>
      <p:sp>
        <p:nvSpPr>
          <p:cNvPr id="12" name="POLICY item 4"/>
          <p:cNvSpPr/>
          <p:nvPr/>
        </p:nvSpPr>
        <p:spPr>
          <a:xfrm>
            <a:off x="9749790" y="1828800"/>
            <a:ext cx="1863090" cy="1188720"/>
          </a:xfrm>
          <a:prstGeom prst="roundRect">
            <a:avLst>
              <a:gd name="adj" fmla="val 9231"/>
            </a:avLst>
          </a:prstGeom>
          <a:solidFill>
            <a:schemeClr val="bg2"/>
          </a:solidFill>
          <a:ln w="12700">
            <a:solidFill>
              <a:schemeClr val="bg2"/>
            </a:solidFill>
            <a:prstDash val="solid"/>
          </a:ln>
        </p:spPr>
      </p:sp>
      <p:sp>
        <p:nvSpPr>
          <p:cNvPr id="13" name="Text 11"/>
          <p:cNvSpPr txBox="1"/>
          <p:nvPr/>
        </p:nvSpPr>
        <p:spPr>
          <a:xfrm>
            <a:off x="9886950" y="1828800"/>
            <a:ext cx="1588770" cy="1188720"/>
          </a:xfrm>
          <a:prstGeom prst="rect">
            <a:avLst/>
          </a:prstGeom>
          <a:noFill/>
          <a:ln/>
        </p:spPr>
        <p:txBody>
          <a:bodyPr wrap="square" lIns="0" tIns="0" rIns="0" bIns="0" rtlCol="0" anchor="ctr"/>
          <a:lstStyle/>
          <a:p>
            <a:pPr algn="ctr" indent="0" marL="0">
              <a:buNone/>
            </a:pPr>
            <a:r>
              <a:rPr lang="en-US" sz="1500" dirty="0">
                <a:solidFill>
                  <a:schemeClr val="tx2"/>
                </a:solidFill>
              </a:rPr>
              <a:t>Preventive and promotive care</a:t>
            </a:r>
            <a:endParaRPr lang="en-US" sz="1500" dirty="0"/>
          </a:p>
        </p:txBody>
      </p:sp>
      <p:sp>
        <p:nvSpPr>
          <p:cNvPr id="14" name="tier arrow 0"/>
          <p:cNvSpPr/>
          <p:nvPr/>
        </p:nvSpPr>
        <p:spPr>
          <a:xfrm>
            <a:off x="1783080" y="3035808"/>
            <a:ext cx="365760" cy="155448"/>
          </a:xfrm>
          <a:prstGeom prst="downArrow">
            <a:avLst/>
          </a:prstGeom>
          <a:solidFill>
            <a:schemeClr val="accent3"/>
          </a:solidFill>
          <a:ln w="12700">
            <a:solidFill>
              <a:schemeClr val="accent3"/>
            </a:solidFill>
            <a:prstDash val="solid"/>
          </a:ln>
        </p:spPr>
      </p:sp>
      <p:sp>
        <p:nvSpPr>
          <p:cNvPr id="15" name="PROGRAMMES"/>
          <p:cNvSpPr/>
          <p:nvPr/>
        </p:nvSpPr>
        <p:spPr>
          <a:xfrm>
            <a:off x="548640" y="3200400"/>
            <a:ext cx="2834640" cy="1188720"/>
          </a:xfrm>
          <a:prstGeom prst="roundRect">
            <a:avLst>
              <a:gd name="adj" fmla="val 9231"/>
            </a:avLst>
          </a:prstGeom>
          <a:solidFill>
            <a:schemeClr val="accent5"/>
          </a:solidFill>
          <a:ln w="12700">
            <a:solidFill>
              <a:schemeClr val="accent5"/>
            </a:solidFill>
            <a:prstDash val="solid"/>
          </a:ln>
        </p:spPr>
      </p:sp>
      <p:sp>
        <p:nvSpPr>
          <p:cNvPr id="16" name="Text 14"/>
          <p:cNvSpPr txBox="1"/>
          <p:nvPr/>
        </p:nvSpPr>
        <p:spPr>
          <a:xfrm>
            <a:off x="731520" y="3200400"/>
            <a:ext cx="2560320" cy="1188720"/>
          </a:xfrm>
          <a:prstGeom prst="rect">
            <a:avLst/>
          </a:prstGeom>
          <a:noFill/>
          <a:ln/>
        </p:spPr>
        <p:txBody>
          <a:bodyPr wrap="square" lIns="0" tIns="0" rIns="0" bIns="0" rtlCol="0" anchor="ctr"/>
          <a:lstStyle/>
          <a:p>
            <a:pPr indent="0" marL="0">
              <a:buNone/>
            </a:pPr>
            <a:r>
              <a:rPr lang="en-US" sz="2000" b="1" dirty="0">
                <a:solidFill>
                  <a:schemeClr val="bg1"/>
                </a:solidFill>
              </a:rPr>
              <a:t>PROGRAMMES</a:t>
            </a:r>
            <a:endParaRPr lang="en-US" sz="1600" dirty="0"/>
          </a:p>
          <a:p>
            <a:pPr indent="0" marL="0">
              <a:buNone/>
            </a:pPr>
            <a:r>
              <a:rPr lang="en-US" sz="1400" dirty="0">
                <a:solidFill>
                  <a:schemeClr val="bg1"/>
                </a:solidFill>
              </a:rPr>
              <a:t>Turn goals into strategies</a:t>
            </a:r>
            <a:endParaRPr lang="en-US" sz="1600" dirty="0"/>
          </a:p>
        </p:txBody>
      </p:sp>
      <p:sp>
        <p:nvSpPr>
          <p:cNvPr id="17" name="PROGRAMMES item 1"/>
          <p:cNvSpPr/>
          <p:nvPr/>
        </p:nvSpPr>
        <p:spPr>
          <a:xfrm>
            <a:off x="3611880" y="3200400"/>
            <a:ext cx="1863090" cy="1188720"/>
          </a:xfrm>
          <a:prstGeom prst="roundRect">
            <a:avLst>
              <a:gd name="adj" fmla="val 9231"/>
            </a:avLst>
          </a:prstGeom>
          <a:solidFill>
            <a:schemeClr val="bg2"/>
          </a:solidFill>
          <a:ln w="12700">
            <a:solidFill>
              <a:schemeClr val="bg2"/>
            </a:solidFill>
            <a:prstDash val="solid"/>
          </a:ln>
        </p:spPr>
      </p:sp>
      <p:sp>
        <p:nvSpPr>
          <p:cNvPr id="18" name="Text 16"/>
          <p:cNvSpPr txBox="1"/>
          <p:nvPr/>
        </p:nvSpPr>
        <p:spPr>
          <a:xfrm>
            <a:off x="3749040" y="3200400"/>
            <a:ext cx="1588770" cy="1188720"/>
          </a:xfrm>
          <a:prstGeom prst="rect">
            <a:avLst/>
          </a:prstGeom>
          <a:noFill/>
          <a:ln/>
        </p:spPr>
        <p:txBody>
          <a:bodyPr wrap="square" lIns="0" tIns="0" rIns="0" bIns="0" rtlCol="0" anchor="ctr"/>
          <a:lstStyle/>
          <a:p>
            <a:pPr algn="ctr" indent="0" marL="0">
              <a:buNone/>
            </a:pPr>
            <a:r>
              <a:rPr lang="en-US" sz="1500" dirty="0">
                <a:solidFill>
                  <a:schemeClr val="tx2"/>
                </a:solidFill>
              </a:rPr>
              <a:t>Strengthening the health system</a:t>
            </a:r>
            <a:endParaRPr lang="en-US" sz="1500" dirty="0"/>
          </a:p>
        </p:txBody>
      </p:sp>
      <p:sp>
        <p:nvSpPr>
          <p:cNvPr id="19" name="PROGRAMMES item 2"/>
          <p:cNvSpPr/>
          <p:nvPr/>
        </p:nvSpPr>
        <p:spPr>
          <a:xfrm>
            <a:off x="5657850" y="3200400"/>
            <a:ext cx="1863090" cy="1188720"/>
          </a:xfrm>
          <a:prstGeom prst="roundRect">
            <a:avLst>
              <a:gd name="adj" fmla="val 9231"/>
            </a:avLst>
          </a:prstGeom>
          <a:solidFill>
            <a:schemeClr val="bg2"/>
          </a:solidFill>
          <a:ln w="12700">
            <a:solidFill>
              <a:schemeClr val="bg2"/>
            </a:solidFill>
            <a:prstDash val="solid"/>
          </a:ln>
        </p:spPr>
      </p:sp>
      <p:sp>
        <p:nvSpPr>
          <p:cNvPr id="20" name="Text 18"/>
          <p:cNvSpPr txBox="1"/>
          <p:nvPr/>
        </p:nvSpPr>
        <p:spPr>
          <a:xfrm>
            <a:off x="5795010" y="3200400"/>
            <a:ext cx="1588770" cy="1188720"/>
          </a:xfrm>
          <a:prstGeom prst="rect">
            <a:avLst/>
          </a:prstGeom>
          <a:noFill/>
          <a:ln/>
        </p:spPr>
        <p:txBody>
          <a:bodyPr wrap="square" lIns="0" tIns="0" rIns="0" bIns="0" rtlCol="0" anchor="ctr"/>
          <a:lstStyle/>
          <a:p>
            <a:pPr algn="ctr" indent="0" marL="0">
              <a:buNone/>
            </a:pPr>
            <a:r>
              <a:rPr lang="en-US" sz="1500" dirty="0">
                <a:solidFill>
                  <a:schemeClr val="tx2"/>
                </a:solidFill>
              </a:rPr>
              <a:t>Universal access to comprehensive care</a:t>
            </a:r>
            <a:endParaRPr lang="en-US" sz="1500" dirty="0"/>
          </a:p>
        </p:txBody>
      </p:sp>
      <p:sp>
        <p:nvSpPr>
          <p:cNvPr id="21" name="PROGRAMMES item 3"/>
          <p:cNvSpPr/>
          <p:nvPr/>
        </p:nvSpPr>
        <p:spPr>
          <a:xfrm>
            <a:off x="7703820" y="3200400"/>
            <a:ext cx="1863090" cy="1188720"/>
          </a:xfrm>
          <a:prstGeom prst="roundRect">
            <a:avLst>
              <a:gd name="adj" fmla="val 9231"/>
            </a:avLst>
          </a:prstGeom>
          <a:solidFill>
            <a:schemeClr val="bg2"/>
          </a:solidFill>
          <a:ln w="12700">
            <a:solidFill>
              <a:schemeClr val="bg2"/>
            </a:solidFill>
            <a:prstDash val="solid"/>
          </a:ln>
        </p:spPr>
      </p:sp>
      <p:sp>
        <p:nvSpPr>
          <p:cNvPr id="22" name="Text 20"/>
          <p:cNvSpPr txBox="1"/>
          <p:nvPr/>
        </p:nvSpPr>
        <p:spPr>
          <a:xfrm>
            <a:off x="7840980" y="3200400"/>
            <a:ext cx="1588770" cy="1188720"/>
          </a:xfrm>
          <a:prstGeom prst="rect">
            <a:avLst/>
          </a:prstGeom>
          <a:noFill/>
          <a:ln/>
        </p:spPr>
        <p:txBody>
          <a:bodyPr wrap="square" lIns="0" tIns="0" rIns="0" bIns="0" rtlCol="0" anchor="ctr"/>
          <a:lstStyle/>
          <a:p>
            <a:pPr algn="ctr" indent="0" marL="0">
              <a:buNone/>
            </a:pPr>
            <a:r>
              <a:rPr lang="en-US" sz="1500" dirty="0">
                <a:solidFill>
                  <a:schemeClr val="tx2"/>
                </a:solidFill>
              </a:rPr>
              <a:t>Preventive and promotive healthcare</a:t>
            </a:r>
            <a:endParaRPr lang="en-US" sz="1500" dirty="0"/>
          </a:p>
        </p:txBody>
      </p:sp>
      <p:sp>
        <p:nvSpPr>
          <p:cNvPr id="23" name="PROGRAMMES item 4"/>
          <p:cNvSpPr/>
          <p:nvPr/>
        </p:nvSpPr>
        <p:spPr>
          <a:xfrm>
            <a:off x="9749790" y="3200400"/>
            <a:ext cx="1863090" cy="1188720"/>
          </a:xfrm>
          <a:prstGeom prst="roundRect">
            <a:avLst>
              <a:gd name="adj" fmla="val 9231"/>
            </a:avLst>
          </a:prstGeom>
          <a:solidFill>
            <a:schemeClr val="bg2"/>
          </a:solidFill>
          <a:ln w="12700">
            <a:solidFill>
              <a:schemeClr val="bg2"/>
            </a:solidFill>
            <a:prstDash val="solid"/>
          </a:ln>
        </p:spPr>
      </p:sp>
      <p:sp>
        <p:nvSpPr>
          <p:cNvPr id="24" name="Text 22"/>
          <p:cNvSpPr txBox="1"/>
          <p:nvPr/>
        </p:nvSpPr>
        <p:spPr>
          <a:xfrm>
            <a:off x="9886950" y="3200400"/>
            <a:ext cx="1588770" cy="1188720"/>
          </a:xfrm>
          <a:prstGeom prst="rect">
            <a:avLst/>
          </a:prstGeom>
          <a:noFill/>
          <a:ln/>
        </p:spPr>
        <p:txBody>
          <a:bodyPr wrap="square" lIns="0" tIns="0" rIns="0" bIns="0" rtlCol="0" anchor="ctr"/>
          <a:lstStyle/>
          <a:p>
            <a:pPr algn="ctr" indent="0" marL="0">
              <a:buNone/>
            </a:pPr>
            <a:r>
              <a:rPr lang="en-US" sz="1500" dirty="0">
                <a:solidFill>
                  <a:schemeClr val="tx2"/>
                </a:solidFill>
              </a:rPr>
              <a:t>Digital health information system</a:t>
            </a:r>
            <a:endParaRPr lang="en-US" sz="1500" dirty="0"/>
          </a:p>
        </p:txBody>
      </p:sp>
      <p:sp>
        <p:nvSpPr>
          <p:cNvPr id="25" name="tier arrow 1"/>
          <p:cNvSpPr/>
          <p:nvPr/>
        </p:nvSpPr>
        <p:spPr>
          <a:xfrm>
            <a:off x="1783080" y="4407408"/>
            <a:ext cx="365760" cy="155448"/>
          </a:xfrm>
          <a:prstGeom prst="downArrow">
            <a:avLst/>
          </a:prstGeom>
          <a:solidFill>
            <a:schemeClr val="accent3"/>
          </a:solidFill>
          <a:ln w="12700">
            <a:solidFill>
              <a:schemeClr val="accent3"/>
            </a:solidFill>
            <a:prstDash val="solid"/>
          </a:ln>
        </p:spPr>
      </p:sp>
      <p:sp>
        <p:nvSpPr>
          <p:cNvPr id="26" name="SCHEMES"/>
          <p:cNvSpPr/>
          <p:nvPr/>
        </p:nvSpPr>
        <p:spPr>
          <a:xfrm>
            <a:off x="548640" y="4572000"/>
            <a:ext cx="2834640" cy="1188720"/>
          </a:xfrm>
          <a:prstGeom prst="roundRect">
            <a:avLst>
              <a:gd name="adj" fmla="val 9231"/>
            </a:avLst>
          </a:prstGeom>
          <a:solidFill>
            <a:schemeClr val="accent2"/>
          </a:solidFill>
          <a:ln w="12700">
            <a:solidFill>
              <a:schemeClr val="accent2"/>
            </a:solidFill>
            <a:prstDash val="solid"/>
          </a:ln>
        </p:spPr>
      </p:sp>
      <p:sp>
        <p:nvSpPr>
          <p:cNvPr id="27" name="Text 25"/>
          <p:cNvSpPr txBox="1"/>
          <p:nvPr/>
        </p:nvSpPr>
        <p:spPr>
          <a:xfrm>
            <a:off x="731520" y="4572000"/>
            <a:ext cx="2560320" cy="1188720"/>
          </a:xfrm>
          <a:prstGeom prst="rect">
            <a:avLst/>
          </a:prstGeom>
          <a:noFill/>
          <a:ln/>
        </p:spPr>
        <p:txBody>
          <a:bodyPr wrap="square" lIns="0" tIns="0" rIns="0" bIns="0" rtlCol="0" anchor="ctr"/>
          <a:lstStyle/>
          <a:p>
            <a:pPr indent="0" marL="0">
              <a:buNone/>
            </a:pPr>
            <a:r>
              <a:rPr lang="en-US" sz="2000" b="1" dirty="0">
                <a:solidFill>
                  <a:schemeClr val="bg1"/>
                </a:solidFill>
              </a:rPr>
              <a:t>SCHEMES</a:t>
            </a:r>
            <a:endParaRPr lang="en-US" sz="1600" dirty="0"/>
          </a:p>
          <a:p>
            <a:pPr indent="0" marL="0">
              <a:buNone/>
            </a:pPr>
            <a:r>
              <a:rPr lang="en-US" sz="1400" dirty="0">
                <a:solidFill>
                  <a:schemeClr val="bg1"/>
                </a:solidFill>
              </a:rPr>
              <a:t>Deliver concrete benefits to people</a:t>
            </a:r>
            <a:endParaRPr lang="en-US" sz="1600" dirty="0"/>
          </a:p>
        </p:txBody>
      </p:sp>
      <p:sp>
        <p:nvSpPr>
          <p:cNvPr id="28" name="SCHEMES item 1"/>
          <p:cNvSpPr/>
          <p:nvPr/>
        </p:nvSpPr>
        <p:spPr>
          <a:xfrm>
            <a:off x="3611880" y="4572000"/>
            <a:ext cx="1863090" cy="1188720"/>
          </a:xfrm>
          <a:prstGeom prst="roundRect">
            <a:avLst>
              <a:gd name="adj" fmla="val 9231"/>
            </a:avLst>
          </a:prstGeom>
          <a:solidFill>
            <a:schemeClr val="bg2"/>
          </a:solidFill>
          <a:ln w="12700">
            <a:solidFill>
              <a:schemeClr val="bg2"/>
            </a:solidFill>
            <a:prstDash val="solid"/>
          </a:ln>
        </p:spPr>
      </p:sp>
      <p:sp>
        <p:nvSpPr>
          <p:cNvPr id="29" name="Text 27"/>
          <p:cNvSpPr txBox="1"/>
          <p:nvPr/>
        </p:nvSpPr>
        <p:spPr>
          <a:xfrm>
            <a:off x="3749040" y="4572000"/>
            <a:ext cx="1588770" cy="1188720"/>
          </a:xfrm>
          <a:prstGeom prst="rect">
            <a:avLst/>
          </a:prstGeom>
          <a:noFill/>
          <a:ln/>
        </p:spPr>
        <p:txBody>
          <a:bodyPr wrap="square" lIns="0" tIns="0" rIns="0" bIns="0" rtlCol="0" anchor="ctr"/>
          <a:lstStyle/>
          <a:p>
            <a:pPr algn="ctr" indent="0" marL="0">
              <a:buNone/>
            </a:pPr>
            <a:r>
              <a:rPr lang="en-US" sz="1500" b="1" dirty="0">
                <a:solidFill>
                  <a:schemeClr val="tx2"/>
                </a:solidFill>
              </a:rPr>
              <a:t>Ayushman Bharat PM-JAY</a:t>
            </a:r>
            <a:endParaRPr lang="en-US" sz="1500" dirty="0"/>
          </a:p>
        </p:txBody>
      </p:sp>
      <p:sp>
        <p:nvSpPr>
          <p:cNvPr id="30" name="SCHEMES item 2"/>
          <p:cNvSpPr/>
          <p:nvPr/>
        </p:nvSpPr>
        <p:spPr>
          <a:xfrm>
            <a:off x="5657850" y="4572000"/>
            <a:ext cx="1863090" cy="1188720"/>
          </a:xfrm>
          <a:prstGeom prst="roundRect">
            <a:avLst>
              <a:gd name="adj" fmla="val 9231"/>
            </a:avLst>
          </a:prstGeom>
          <a:solidFill>
            <a:schemeClr val="bg2"/>
          </a:solidFill>
          <a:ln w="12700">
            <a:solidFill>
              <a:schemeClr val="bg2"/>
            </a:solidFill>
            <a:prstDash val="solid"/>
          </a:ln>
        </p:spPr>
      </p:sp>
      <p:sp>
        <p:nvSpPr>
          <p:cNvPr id="31" name="Text 29"/>
          <p:cNvSpPr txBox="1"/>
          <p:nvPr/>
        </p:nvSpPr>
        <p:spPr>
          <a:xfrm>
            <a:off x="5795010" y="4572000"/>
            <a:ext cx="1588770" cy="1188720"/>
          </a:xfrm>
          <a:prstGeom prst="rect">
            <a:avLst/>
          </a:prstGeom>
          <a:noFill/>
          <a:ln/>
        </p:spPr>
        <p:txBody>
          <a:bodyPr wrap="square" lIns="0" tIns="0" rIns="0" bIns="0" rtlCol="0" anchor="ctr"/>
          <a:lstStyle/>
          <a:p>
            <a:pPr algn="ctr" indent="0" marL="0">
              <a:buNone/>
            </a:pPr>
            <a:r>
              <a:rPr lang="en-US" sz="1500" b="1" dirty="0">
                <a:solidFill>
                  <a:schemeClr val="tx2"/>
                </a:solidFill>
              </a:rPr>
              <a:t>Health and wellness centres</a:t>
            </a:r>
            <a:endParaRPr lang="en-US" sz="1500" dirty="0"/>
          </a:p>
        </p:txBody>
      </p:sp>
      <p:sp>
        <p:nvSpPr>
          <p:cNvPr id="32" name="SCHEMES item 3"/>
          <p:cNvSpPr/>
          <p:nvPr/>
        </p:nvSpPr>
        <p:spPr>
          <a:xfrm>
            <a:off x="7703820" y="4572000"/>
            <a:ext cx="1863090" cy="1188720"/>
          </a:xfrm>
          <a:prstGeom prst="roundRect">
            <a:avLst>
              <a:gd name="adj" fmla="val 9231"/>
            </a:avLst>
          </a:prstGeom>
          <a:solidFill>
            <a:schemeClr val="bg2"/>
          </a:solidFill>
          <a:ln w="12700">
            <a:solidFill>
              <a:schemeClr val="bg2"/>
            </a:solidFill>
            <a:prstDash val="solid"/>
          </a:ln>
        </p:spPr>
      </p:sp>
      <p:sp>
        <p:nvSpPr>
          <p:cNvPr id="33" name="Text 31"/>
          <p:cNvSpPr txBox="1"/>
          <p:nvPr/>
        </p:nvSpPr>
        <p:spPr>
          <a:xfrm>
            <a:off x="7840980" y="4572000"/>
            <a:ext cx="1588770" cy="1188720"/>
          </a:xfrm>
          <a:prstGeom prst="rect">
            <a:avLst/>
          </a:prstGeom>
          <a:noFill/>
          <a:ln/>
        </p:spPr>
        <p:txBody>
          <a:bodyPr wrap="square" lIns="0" tIns="0" rIns="0" bIns="0" rtlCol="0" anchor="ctr"/>
          <a:lstStyle/>
          <a:p>
            <a:pPr algn="ctr" indent="0" marL="0">
              <a:buNone/>
            </a:pPr>
            <a:r>
              <a:rPr lang="en-US" sz="1500" b="1" dirty="0">
                <a:solidFill>
                  <a:schemeClr val="tx2"/>
                </a:solidFill>
              </a:rPr>
              <a:t>Janani Suraksha Yojana</a:t>
            </a:r>
            <a:endParaRPr lang="en-US" sz="1500" dirty="0"/>
          </a:p>
        </p:txBody>
      </p:sp>
      <p:sp>
        <p:nvSpPr>
          <p:cNvPr id="34" name="SCHEMES item 4"/>
          <p:cNvSpPr/>
          <p:nvPr/>
        </p:nvSpPr>
        <p:spPr>
          <a:xfrm>
            <a:off x="9749790" y="4572000"/>
            <a:ext cx="1863090" cy="1188720"/>
          </a:xfrm>
          <a:prstGeom prst="roundRect">
            <a:avLst>
              <a:gd name="adj" fmla="val 9231"/>
            </a:avLst>
          </a:prstGeom>
          <a:solidFill>
            <a:schemeClr val="bg2"/>
          </a:solidFill>
          <a:ln w="12700">
            <a:solidFill>
              <a:schemeClr val="bg2"/>
            </a:solidFill>
            <a:prstDash val="solid"/>
          </a:ln>
        </p:spPr>
      </p:sp>
      <p:sp>
        <p:nvSpPr>
          <p:cNvPr id="35" name="Text 33"/>
          <p:cNvSpPr txBox="1"/>
          <p:nvPr/>
        </p:nvSpPr>
        <p:spPr>
          <a:xfrm>
            <a:off x="9886950" y="4572000"/>
            <a:ext cx="1588770" cy="1188720"/>
          </a:xfrm>
          <a:prstGeom prst="rect">
            <a:avLst/>
          </a:prstGeom>
          <a:noFill/>
          <a:ln/>
        </p:spPr>
        <p:txBody>
          <a:bodyPr wrap="square" lIns="0" tIns="0" rIns="0" bIns="0" rtlCol="0" anchor="ctr"/>
          <a:lstStyle/>
          <a:p>
            <a:pPr algn="ctr" indent="0" marL="0">
              <a:buNone/>
            </a:pPr>
            <a:r>
              <a:rPr lang="en-US" sz="1500" b="1" dirty="0">
                <a:solidFill>
                  <a:schemeClr val="tx2"/>
                </a:solidFill>
              </a:rPr>
              <a:t>Mission Indradhanush</a:t>
            </a:r>
            <a:endParaRPr lang="en-US" sz="1500" dirty="0"/>
          </a:p>
        </p:txBody>
      </p:sp>
      <p:sp>
        <p:nvSpPr>
          <p:cNvPr id="36" name="takeaway band"/>
          <p:cNvSpPr/>
          <p:nvPr/>
        </p:nvSpPr>
        <p:spPr>
          <a:xfrm>
            <a:off x="548640" y="5852160"/>
            <a:ext cx="11064240" cy="457200"/>
          </a:xfrm>
          <a:prstGeom prst="roundRect">
            <a:avLst>
              <a:gd name="adj" fmla="val 16000"/>
            </a:avLst>
          </a:prstGeom>
          <a:solidFill>
            <a:schemeClr val="tx2"/>
          </a:solidFill>
          <a:ln w="12700">
            <a:solidFill>
              <a:schemeClr val="tx2"/>
            </a:solidFill>
            <a:prstDash val="solid"/>
          </a:ln>
        </p:spPr>
      </p:sp>
      <p:sp>
        <p:nvSpPr>
          <p:cNvPr id="37" name="Text 35"/>
          <p:cNvSpPr txBox="1"/>
          <p:nvPr/>
        </p:nvSpPr>
        <p:spPr>
          <a:xfrm>
            <a:off x="777240" y="5852160"/>
            <a:ext cx="10607040" cy="457200"/>
          </a:xfrm>
          <a:prstGeom prst="rect">
            <a:avLst/>
          </a:prstGeom>
          <a:noFill/>
          <a:ln/>
        </p:spPr>
        <p:txBody>
          <a:bodyPr wrap="square" lIns="0" tIns="0" rIns="0" bIns="0" rtlCol="0" anchor="ctr"/>
          <a:lstStyle/>
          <a:p>
            <a:pPr indent="0" marL="0">
              <a:buNone/>
            </a:pPr>
            <a:r>
              <a:rPr lang="en-US" sz="1500" b="1" dirty="0">
                <a:solidFill>
                  <a:schemeClr val="bg1"/>
                </a:solidFill>
              </a:rPr>
              <a:t>Key takeaway:</a:t>
            </a:r>
            <a:r>
              <a:rPr lang="en-US" sz="1500" dirty="0">
                <a:solidFill>
                  <a:schemeClr val="bg1"/>
                </a:solidFill>
              </a:rPr>
              <a:t> Policy gives the direction. Programmes show the path. Schemes are the course of action.</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E2761"/>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Khelo Bharat Niti 2025: Coordination in Action</a:t>
            </a:r>
            <a:endParaRPr lang="en-US" sz="3600" dirty="0"/>
          </a:p>
        </p:txBody>
      </p:sp>
      <p:sp>
        <p:nvSpPr>
          <p:cNvPr id="3" name="spoke 1"/>
          <p:cNvSpPr/>
          <p:nvPr/>
        </p:nvSpPr>
        <p:spPr>
          <a:xfrm>
            <a:off x="6099048" y="1984248"/>
            <a:ext cx="914" cy="1828800"/>
          </a:xfrm>
          <a:prstGeom prst="line">
            <a:avLst/>
          </a:prstGeom>
          <a:noFill/>
          <a:ln w="25400">
            <a:solidFill>
              <a:schemeClr val="accent3"/>
            </a:solidFill>
            <a:prstDash val="solid"/>
          </a:ln>
        </p:spPr>
      </p:sp>
      <p:sp>
        <p:nvSpPr>
          <p:cNvPr id="4" name="spoke 2"/>
          <p:cNvSpPr/>
          <p:nvPr/>
        </p:nvSpPr>
        <p:spPr>
          <a:xfrm flipV="1">
            <a:off x="6099048" y="2898648"/>
            <a:ext cx="3405143" cy="914400"/>
          </a:xfrm>
          <a:prstGeom prst="line">
            <a:avLst/>
          </a:prstGeom>
          <a:noFill/>
          <a:ln w="25400">
            <a:solidFill>
              <a:schemeClr val="accent3"/>
            </a:solidFill>
            <a:prstDash val="solid"/>
          </a:ln>
        </p:spPr>
      </p:sp>
      <p:sp>
        <p:nvSpPr>
          <p:cNvPr id="5" name="spoke 3"/>
          <p:cNvSpPr/>
          <p:nvPr/>
        </p:nvSpPr>
        <p:spPr>
          <a:xfrm>
            <a:off x="6099048" y="3813048"/>
            <a:ext cx="3405143" cy="914400"/>
          </a:xfrm>
          <a:prstGeom prst="line">
            <a:avLst/>
          </a:prstGeom>
          <a:noFill/>
          <a:ln w="25400">
            <a:solidFill>
              <a:schemeClr val="accent3"/>
            </a:solidFill>
            <a:prstDash val="solid"/>
          </a:ln>
        </p:spPr>
      </p:sp>
      <p:sp>
        <p:nvSpPr>
          <p:cNvPr id="6" name="spoke 4"/>
          <p:cNvSpPr/>
          <p:nvPr/>
        </p:nvSpPr>
        <p:spPr>
          <a:xfrm flipV="1">
            <a:off x="6099048" y="3813048"/>
            <a:ext cx="914" cy="1828800"/>
          </a:xfrm>
          <a:prstGeom prst="line">
            <a:avLst/>
          </a:prstGeom>
          <a:noFill/>
          <a:ln w="25400">
            <a:solidFill>
              <a:schemeClr val="accent3"/>
            </a:solidFill>
            <a:prstDash val="solid"/>
          </a:ln>
        </p:spPr>
      </p:sp>
      <p:sp>
        <p:nvSpPr>
          <p:cNvPr id="7" name="spoke 5"/>
          <p:cNvSpPr/>
          <p:nvPr/>
        </p:nvSpPr>
        <p:spPr>
          <a:xfrm flipV="1">
            <a:off x="2693905" y="3813048"/>
            <a:ext cx="3405143" cy="914400"/>
          </a:xfrm>
          <a:prstGeom prst="line">
            <a:avLst/>
          </a:prstGeom>
          <a:noFill/>
          <a:ln w="25400">
            <a:solidFill>
              <a:schemeClr val="accent3"/>
            </a:solidFill>
            <a:prstDash val="solid"/>
          </a:ln>
        </p:spPr>
      </p:sp>
      <p:sp>
        <p:nvSpPr>
          <p:cNvPr id="8" name="spoke 6"/>
          <p:cNvSpPr/>
          <p:nvPr/>
        </p:nvSpPr>
        <p:spPr>
          <a:xfrm>
            <a:off x="2693905" y="2898648"/>
            <a:ext cx="3405143" cy="914400"/>
          </a:xfrm>
          <a:prstGeom prst="line">
            <a:avLst/>
          </a:prstGeom>
          <a:noFill/>
          <a:ln w="25400">
            <a:solidFill>
              <a:schemeClr val="accent3"/>
            </a:solidFill>
            <a:prstDash val="solid"/>
          </a:ln>
        </p:spPr>
      </p:sp>
      <p:sp>
        <p:nvSpPr>
          <p:cNvPr id="9" name="wheel centre"/>
          <p:cNvSpPr/>
          <p:nvPr/>
        </p:nvSpPr>
        <p:spPr>
          <a:xfrm>
            <a:off x="5093208" y="2958084"/>
            <a:ext cx="2011680" cy="1709928"/>
          </a:xfrm>
          <a:prstGeom prst="ellipse">
            <a:avLst/>
          </a:prstGeom>
          <a:solidFill>
            <a:schemeClr val="tx2"/>
          </a:solidFill>
          <a:ln w="38100">
            <a:solidFill>
              <a:schemeClr val="bg1"/>
            </a:solidFill>
            <a:prstDash val="solid"/>
          </a:ln>
        </p:spPr>
      </p:sp>
      <p:sp>
        <p:nvSpPr>
          <p:cNvPr id="10" name="Text 8"/>
          <p:cNvSpPr txBox="1"/>
          <p:nvPr/>
        </p:nvSpPr>
        <p:spPr>
          <a:xfrm>
            <a:off x="5184648" y="2958084"/>
            <a:ext cx="1828800" cy="1709928"/>
          </a:xfrm>
          <a:prstGeom prst="rect">
            <a:avLst/>
          </a:prstGeom>
          <a:noFill/>
          <a:ln/>
        </p:spPr>
        <p:txBody>
          <a:bodyPr wrap="square" lIns="0" tIns="0" rIns="0" bIns="0" rtlCol="0" anchor="ctr"/>
          <a:lstStyle/>
          <a:p>
            <a:pPr algn="ctr" indent="0" marL="0">
              <a:buNone/>
            </a:pPr>
            <a:r>
              <a:rPr lang="en-US" sz="1500" b="1" dirty="0">
                <a:solidFill>
                  <a:schemeClr val="bg1"/>
                </a:solidFill>
                <a:latin typeface="Cambria" pitchFamily="34" charset="0"/>
                <a:ea typeface="Cambria" pitchFamily="34" charset="-122"/>
                <a:cs typeface="Cambria" pitchFamily="34" charset="-120"/>
              </a:rPr>
              <a:t>Khelo Bharat Niti 2025</a:t>
            </a:r>
            <a:endParaRPr lang="en-US" sz="1500" dirty="0"/>
          </a:p>
        </p:txBody>
      </p:sp>
      <p:sp>
        <p:nvSpPr>
          <p:cNvPr id="11" name="node 1"/>
          <p:cNvSpPr/>
          <p:nvPr/>
        </p:nvSpPr>
        <p:spPr>
          <a:xfrm>
            <a:off x="4453128" y="1367028"/>
            <a:ext cx="3291840" cy="1234440"/>
          </a:xfrm>
          <a:prstGeom prst="roundRect">
            <a:avLst>
              <a:gd name="adj" fmla="val 8889"/>
            </a:avLst>
          </a:prstGeom>
          <a:solidFill>
            <a:schemeClr val="bg2"/>
          </a:solidFill>
          <a:ln w="12700">
            <a:solidFill>
              <a:schemeClr val="bg2"/>
            </a:solidFill>
            <a:prstDash val="solid"/>
          </a:ln>
        </p:spPr>
      </p:sp>
      <p:sp>
        <p:nvSpPr>
          <p:cNvPr id="12" name="Text 10"/>
          <p:cNvSpPr txBox="1"/>
          <p:nvPr/>
        </p:nvSpPr>
        <p:spPr>
          <a:xfrm>
            <a:off x="4617720" y="1440180"/>
            <a:ext cx="3017520" cy="1106424"/>
          </a:xfrm>
          <a:prstGeom prst="rect">
            <a:avLst/>
          </a:prstGeom>
          <a:noFill/>
          <a:ln/>
        </p:spPr>
        <p:txBody>
          <a:bodyPr wrap="square" lIns="0" tIns="0" rIns="0" bIns="0" rtlCol="0" anchor="ctr"/>
          <a:lstStyle/>
          <a:p>
            <a:pPr indent="0" marL="0">
              <a:buNone/>
            </a:pPr>
            <a:r>
              <a:rPr lang="en-US" sz="1600" b="1" dirty="0">
                <a:solidFill>
                  <a:schemeClr val="accent1"/>
                </a:solidFill>
              </a:rPr>
              <a:t>Central Government</a:t>
            </a:r>
            <a:endParaRPr lang="en-US" sz="1600" dirty="0"/>
          </a:p>
          <a:p>
            <a:pPr indent="0" marL="0">
              <a:buNone/>
            </a:pPr>
            <a:r>
              <a:rPr lang="en-US" sz="1600" dirty="0">
                <a:solidFill>
                  <a:schemeClr val="tx1"/>
                </a:solidFill>
              </a:rPr>
              <a:t>Policy framework, objectives and funding</a:t>
            </a:r>
            <a:endParaRPr lang="en-US" sz="1600" dirty="0"/>
          </a:p>
        </p:txBody>
      </p:sp>
      <p:sp>
        <p:nvSpPr>
          <p:cNvPr id="13" name="node 2"/>
          <p:cNvSpPr/>
          <p:nvPr/>
        </p:nvSpPr>
        <p:spPr>
          <a:xfrm>
            <a:off x="7858271" y="2281428"/>
            <a:ext cx="3291840" cy="1234440"/>
          </a:xfrm>
          <a:prstGeom prst="roundRect">
            <a:avLst>
              <a:gd name="adj" fmla="val 8889"/>
            </a:avLst>
          </a:prstGeom>
          <a:solidFill>
            <a:schemeClr val="bg2"/>
          </a:solidFill>
          <a:ln w="12700">
            <a:solidFill>
              <a:schemeClr val="bg2"/>
            </a:solidFill>
            <a:prstDash val="solid"/>
          </a:ln>
        </p:spPr>
      </p:sp>
      <p:sp>
        <p:nvSpPr>
          <p:cNvPr id="14" name="Text 12"/>
          <p:cNvSpPr txBox="1"/>
          <p:nvPr/>
        </p:nvSpPr>
        <p:spPr>
          <a:xfrm>
            <a:off x="8022863" y="2354580"/>
            <a:ext cx="3017520" cy="1106424"/>
          </a:xfrm>
          <a:prstGeom prst="rect">
            <a:avLst/>
          </a:prstGeom>
          <a:noFill/>
          <a:ln/>
        </p:spPr>
        <p:txBody>
          <a:bodyPr wrap="square" lIns="0" tIns="0" rIns="0" bIns="0" rtlCol="0" anchor="ctr"/>
          <a:lstStyle/>
          <a:p>
            <a:pPr indent="0" marL="0">
              <a:buNone/>
            </a:pPr>
            <a:r>
              <a:rPr lang="en-US" sz="1600" b="1" dirty="0">
                <a:solidFill>
                  <a:schemeClr val="accent2"/>
                </a:solidFill>
              </a:rPr>
              <a:t>State Government</a:t>
            </a:r>
            <a:endParaRPr lang="en-US" sz="1600" dirty="0"/>
          </a:p>
          <a:p>
            <a:pPr indent="0" marL="0">
              <a:buNone/>
            </a:pPr>
            <a:r>
              <a:rPr lang="en-US" sz="1600" dirty="0">
                <a:solidFill>
                  <a:schemeClr val="tx1"/>
                </a:solidFill>
              </a:rPr>
              <a:t>Host national games, build infrastructure ('Model Sports State')</a:t>
            </a:r>
            <a:endParaRPr lang="en-US" sz="1600" dirty="0"/>
          </a:p>
        </p:txBody>
      </p:sp>
      <p:sp>
        <p:nvSpPr>
          <p:cNvPr id="15" name="node 3"/>
          <p:cNvSpPr/>
          <p:nvPr/>
        </p:nvSpPr>
        <p:spPr>
          <a:xfrm>
            <a:off x="7858271" y="4110228"/>
            <a:ext cx="3291840" cy="1234440"/>
          </a:xfrm>
          <a:prstGeom prst="roundRect">
            <a:avLst>
              <a:gd name="adj" fmla="val 8889"/>
            </a:avLst>
          </a:prstGeom>
          <a:solidFill>
            <a:schemeClr val="bg2"/>
          </a:solidFill>
          <a:ln w="12700">
            <a:solidFill>
              <a:schemeClr val="bg2"/>
            </a:solidFill>
            <a:prstDash val="solid"/>
          </a:ln>
        </p:spPr>
      </p:sp>
      <p:sp>
        <p:nvSpPr>
          <p:cNvPr id="16" name="Text 14"/>
          <p:cNvSpPr txBox="1"/>
          <p:nvPr/>
        </p:nvSpPr>
        <p:spPr>
          <a:xfrm>
            <a:off x="8022863" y="4183380"/>
            <a:ext cx="3017520" cy="1106424"/>
          </a:xfrm>
          <a:prstGeom prst="rect">
            <a:avLst/>
          </a:prstGeom>
          <a:noFill/>
          <a:ln/>
        </p:spPr>
        <p:txBody>
          <a:bodyPr wrap="square" lIns="0" tIns="0" rIns="0" bIns="0" rtlCol="0" anchor="ctr"/>
          <a:lstStyle/>
          <a:p>
            <a:pPr indent="0" marL="0">
              <a:buNone/>
            </a:pPr>
            <a:r>
              <a:rPr lang="en-US" sz="1600" b="1" dirty="0">
                <a:solidFill>
                  <a:schemeClr val="accent4"/>
                </a:solidFill>
              </a:rPr>
              <a:t>Districts and blocks</a:t>
            </a:r>
            <a:endParaRPr lang="en-US" sz="1600" dirty="0"/>
          </a:p>
          <a:p>
            <a:pPr indent="0" marL="0">
              <a:buNone/>
            </a:pPr>
            <a:r>
              <a:rPr lang="en-US" sz="1600" dirty="0">
                <a:solidFill>
                  <a:schemeClr val="tx1"/>
                </a:solidFill>
              </a:rPr>
              <a:t>'Model Sports Districts'; regular events, camps, talent scouting</a:t>
            </a:r>
            <a:endParaRPr lang="en-US" sz="1600" dirty="0"/>
          </a:p>
        </p:txBody>
      </p:sp>
      <p:sp>
        <p:nvSpPr>
          <p:cNvPr id="17" name="node 4"/>
          <p:cNvSpPr/>
          <p:nvPr/>
        </p:nvSpPr>
        <p:spPr>
          <a:xfrm>
            <a:off x="4453128" y="5024628"/>
            <a:ext cx="3291840" cy="1234440"/>
          </a:xfrm>
          <a:prstGeom prst="roundRect">
            <a:avLst>
              <a:gd name="adj" fmla="val 8889"/>
            </a:avLst>
          </a:prstGeom>
          <a:solidFill>
            <a:schemeClr val="bg2"/>
          </a:solidFill>
          <a:ln w="12700">
            <a:solidFill>
              <a:schemeClr val="bg2"/>
            </a:solidFill>
            <a:prstDash val="solid"/>
          </a:ln>
        </p:spPr>
      </p:sp>
      <p:sp>
        <p:nvSpPr>
          <p:cNvPr id="18" name="Text 16"/>
          <p:cNvSpPr txBox="1"/>
          <p:nvPr/>
        </p:nvSpPr>
        <p:spPr>
          <a:xfrm>
            <a:off x="4617720" y="5097780"/>
            <a:ext cx="3017520" cy="1106424"/>
          </a:xfrm>
          <a:prstGeom prst="rect">
            <a:avLst/>
          </a:prstGeom>
          <a:noFill/>
          <a:ln/>
        </p:spPr>
        <p:txBody>
          <a:bodyPr wrap="square" lIns="0" tIns="0" rIns="0" bIns="0" rtlCol="0" anchor="ctr"/>
          <a:lstStyle/>
          <a:p>
            <a:pPr indent="0" marL="0">
              <a:buNone/>
            </a:pPr>
            <a:r>
              <a:rPr lang="en-US" sz="1600" b="1" dirty="0">
                <a:solidFill>
                  <a:schemeClr val="accent5"/>
                </a:solidFill>
              </a:rPr>
              <a:t>Sports institutions</a:t>
            </a:r>
            <a:endParaRPr lang="en-US" sz="1600" dirty="0"/>
          </a:p>
          <a:p>
            <a:pPr indent="0" marL="0">
              <a:buNone/>
            </a:pPr>
            <a:r>
              <a:rPr lang="en-US" sz="1600" dirty="0">
                <a:solidFill>
                  <a:schemeClr val="tx1"/>
                </a:solidFill>
              </a:rPr>
              <a:t>Coaching, training, equipment and facilities</a:t>
            </a:r>
            <a:endParaRPr lang="en-US" sz="1600" dirty="0"/>
          </a:p>
        </p:txBody>
      </p:sp>
      <p:sp>
        <p:nvSpPr>
          <p:cNvPr id="19" name="node 5"/>
          <p:cNvSpPr/>
          <p:nvPr/>
        </p:nvSpPr>
        <p:spPr>
          <a:xfrm>
            <a:off x="1047985" y="4110228"/>
            <a:ext cx="3291840" cy="1234440"/>
          </a:xfrm>
          <a:prstGeom prst="roundRect">
            <a:avLst>
              <a:gd name="adj" fmla="val 8889"/>
            </a:avLst>
          </a:prstGeom>
          <a:solidFill>
            <a:schemeClr val="bg2"/>
          </a:solidFill>
          <a:ln w="12700">
            <a:solidFill>
              <a:schemeClr val="bg2"/>
            </a:solidFill>
            <a:prstDash val="solid"/>
          </a:ln>
        </p:spPr>
      </p:sp>
      <p:sp>
        <p:nvSpPr>
          <p:cNvPr id="20" name="Text 18"/>
          <p:cNvSpPr txBox="1"/>
          <p:nvPr/>
        </p:nvSpPr>
        <p:spPr>
          <a:xfrm>
            <a:off x="1212577" y="4183380"/>
            <a:ext cx="3017520" cy="1106424"/>
          </a:xfrm>
          <a:prstGeom prst="rect">
            <a:avLst/>
          </a:prstGeom>
          <a:noFill/>
          <a:ln/>
        </p:spPr>
        <p:txBody>
          <a:bodyPr wrap="square" lIns="0" tIns="0" rIns="0" bIns="0" rtlCol="0" anchor="ctr"/>
          <a:lstStyle/>
          <a:p>
            <a:pPr indent="0" marL="0">
              <a:buNone/>
            </a:pPr>
            <a:r>
              <a:rPr lang="en-US" sz="1600" b="1" dirty="0">
                <a:solidFill>
                  <a:schemeClr val="accent6"/>
                </a:solidFill>
              </a:rPr>
              <a:t>Private organisations</a:t>
            </a:r>
            <a:endParaRPr lang="en-US" sz="1600" dirty="0"/>
          </a:p>
          <a:p>
            <a:pPr indent="0" marL="0">
              <a:buNone/>
            </a:pPr>
            <a:r>
              <a:rPr lang="en-US" sz="1600" dirty="0">
                <a:solidFill>
                  <a:schemeClr val="tx1"/>
                </a:solidFill>
              </a:rPr>
              <a:t>Sponsorships, PPP, research on nutrition and equipment</a:t>
            </a:r>
            <a:endParaRPr lang="en-US" sz="1600" dirty="0"/>
          </a:p>
        </p:txBody>
      </p:sp>
      <p:sp>
        <p:nvSpPr>
          <p:cNvPr id="21" name="node 6"/>
          <p:cNvSpPr/>
          <p:nvPr/>
        </p:nvSpPr>
        <p:spPr>
          <a:xfrm>
            <a:off x="1047985" y="2281428"/>
            <a:ext cx="3291840" cy="1234440"/>
          </a:xfrm>
          <a:prstGeom prst="roundRect">
            <a:avLst>
              <a:gd name="adj" fmla="val 8889"/>
            </a:avLst>
          </a:prstGeom>
          <a:solidFill>
            <a:schemeClr val="bg2"/>
          </a:solidFill>
          <a:ln w="12700">
            <a:solidFill>
              <a:schemeClr val="bg2"/>
            </a:solidFill>
            <a:prstDash val="solid"/>
          </a:ln>
        </p:spPr>
      </p:sp>
      <p:sp>
        <p:nvSpPr>
          <p:cNvPr id="22" name="Text 20"/>
          <p:cNvSpPr txBox="1"/>
          <p:nvPr/>
        </p:nvSpPr>
        <p:spPr>
          <a:xfrm>
            <a:off x="1212577" y="2354580"/>
            <a:ext cx="3017520" cy="1106424"/>
          </a:xfrm>
          <a:prstGeom prst="rect">
            <a:avLst/>
          </a:prstGeom>
          <a:noFill/>
          <a:ln/>
        </p:spPr>
        <p:txBody>
          <a:bodyPr wrap="square" lIns="0" tIns="0" rIns="0" bIns="0" rtlCol="0" anchor="ctr"/>
          <a:lstStyle/>
          <a:p>
            <a:pPr indent="0" marL="0">
              <a:buNone/>
            </a:pPr>
            <a:r>
              <a:rPr lang="en-US" sz="1600" b="1" dirty="0">
                <a:solidFill>
                  <a:schemeClr val="accent1"/>
                </a:solidFill>
              </a:rPr>
              <a:t>Citizens and families</a:t>
            </a:r>
            <a:endParaRPr lang="en-US" sz="1600" dirty="0"/>
          </a:p>
          <a:p>
            <a:pPr indent="0" marL="0">
              <a:buNone/>
            </a:pPr>
            <a:r>
              <a:rPr lang="en-US" sz="1600" dirty="0">
                <a:solidFill>
                  <a:schemeClr val="tx1"/>
                </a:solidFill>
              </a:rPr>
              <a:t>Encourage children, especially girls; give feedback</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E2761"/>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Citizens Strengthen Democracy</a:t>
            </a:r>
            <a:endParaRPr lang="en-US" sz="3600" dirty="0"/>
          </a:p>
        </p:txBody>
      </p:sp>
      <p:sp>
        <p:nvSpPr>
          <p:cNvPr id="3" name="card 1"/>
          <p:cNvSpPr/>
          <p:nvPr/>
        </p:nvSpPr>
        <p:spPr>
          <a:xfrm>
            <a:off x="548640" y="1371600"/>
            <a:ext cx="3505200" cy="2286000"/>
          </a:xfrm>
          <a:prstGeom prst="roundRect">
            <a:avLst>
              <a:gd name="adj" fmla="val 4800"/>
            </a:avLst>
          </a:prstGeom>
          <a:solidFill>
            <a:schemeClr val="bg2"/>
          </a:solidFill>
          <a:ln w="12700">
            <a:solidFill>
              <a:schemeClr val="bg2"/>
            </a:solidFill>
            <a:prstDash val="solid"/>
          </a:ln>
        </p:spPr>
      </p:sp>
      <p:sp>
        <p:nvSpPr>
          <p:cNvPr id="4" name="card 1 disc"/>
          <p:cNvSpPr/>
          <p:nvPr/>
        </p:nvSpPr>
        <p:spPr>
          <a:xfrm>
            <a:off x="777240" y="1600200"/>
            <a:ext cx="566928" cy="566928"/>
          </a:xfrm>
          <a:prstGeom prst="ellipse">
            <a:avLst/>
          </a:prstGeom>
          <a:solidFill>
            <a:schemeClr val="accent1"/>
          </a:solidFill>
          <a:ln w="12700">
            <a:solidFill>
              <a:schemeClr val="accent1"/>
            </a:solidFill>
            <a:prstDash val="solid"/>
          </a:ln>
        </p:spPr>
      </p:sp>
      <p:pic>
        <p:nvPicPr>
          <p:cNvPr id="5" name="card 1 glyph" descr="preencoded.png">    </p:cNvPr>
          <p:cNvPicPr>
            <a:picLocks noChangeAspect="1"/>
          </p:cNvPicPr>
          <p:nvPr/>
        </p:nvPicPr>
        <p:blipFill>
          <a:blip r:embed="rId1"/>
          <a:stretch>
            <a:fillRect/>
          </a:stretch>
        </p:blipFill>
        <p:spPr>
          <a:xfrm>
            <a:off x="901964" y="1724924"/>
            <a:ext cx="317480" cy="317480"/>
          </a:xfrm>
          <a:prstGeom prst="rect">
            <a:avLst/>
          </a:prstGeom>
        </p:spPr>
      </p:pic>
      <p:sp>
        <p:nvSpPr>
          <p:cNvPr id="6" name="Text 3"/>
          <p:cNvSpPr txBox="1"/>
          <p:nvPr/>
        </p:nvSpPr>
        <p:spPr>
          <a:xfrm>
            <a:off x="1481328" y="160020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Vote</a:t>
            </a:r>
            <a:endParaRPr lang="en-US" sz="1800" dirty="0"/>
          </a:p>
        </p:txBody>
      </p:sp>
      <p:sp>
        <p:nvSpPr>
          <p:cNvPr id="7" name="Text 4"/>
          <p:cNvSpPr txBox="1"/>
          <p:nvPr/>
        </p:nvSpPr>
        <p:spPr>
          <a:xfrm>
            <a:off x="777240" y="2276856"/>
            <a:ext cx="3048000" cy="1243584"/>
          </a:xfrm>
          <a:prstGeom prst="rect">
            <a:avLst/>
          </a:prstGeom>
          <a:noFill/>
          <a:ln/>
        </p:spPr>
        <p:txBody>
          <a:bodyPr wrap="square" lIns="0" tIns="0" rIns="0" bIns="0" rtlCol="0" anchor="t"/>
          <a:lstStyle/>
          <a:p>
            <a:pPr indent="0" marL="0">
              <a:buNone/>
            </a:pPr>
            <a:r>
              <a:rPr lang="en-US" sz="1800" dirty="0">
                <a:solidFill>
                  <a:schemeClr val="tx1"/>
                </a:solidFill>
              </a:rPr>
              <a:t>Choose responsible representatives.</a:t>
            </a:r>
            <a:endParaRPr lang="en-US" sz="1600" dirty="0"/>
          </a:p>
        </p:txBody>
      </p:sp>
      <p:sp>
        <p:nvSpPr>
          <p:cNvPr id="8" name="card 2"/>
          <p:cNvSpPr/>
          <p:nvPr/>
        </p:nvSpPr>
        <p:spPr>
          <a:xfrm>
            <a:off x="4328160" y="1371600"/>
            <a:ext cx="3505200" cy="2286000"/>
          </a:xfrm>
          <a:prstGeom prst="roundRect">
            <a:avLst>
              <a:gd name="adj" fmla="val 4800"/>
            </a:avLst>
          </a:prstGeom>
          <a:solidFill>
            <a:schemeClr val="bg2"/>
          </a:solidFill>
          <a:ln w="12700">
            <a:solidFill>
              <a:schemeClr val="bg2"/>
            </a:solidFill>
            <a:prstDash val="solid"/>
          </a:ln>
        </p:spPr>
      </p:sp>
      <p:sp>
        <p:nvSpPr>
          <p:cNvPr id="9" name="card 2 disc"/>
          <p:cNvSpPr/>
          <p:nvPr/>
        </p:nvSpPr>
        <p:spPr>
          <a:xfrm>
            <a:off x="4556760" y="1600200"/>
            <a:ext cx="566928" cy="566928"/>
          </a:xfrm>
          <a:prstGeom prst="ellipse">
            <a:avLst/>
          </a:prstGeom>
          <a:solidFill>
            <a:schemeClr val="accent2"/>
          </a:solidFill>
          <a:ln w="12700">
            <a:solidFill>
              <a:schemeClr val="accent2"/>
            </a:solidFill>
            <a:prstDash val="solid"/>
          </a:ln>
        </p:spPr>
      </p:sp>
      <p:pic>
        <p:nvPicPr>
          <p:cNvPr id="10" name="card 2 glyph" descr="preencoded.png">    </p:cNvPr>
          <p:cNvPicPr>
            <a:picLocks noChangeAspect="1"/>
          </p:cNvPicPr>
          <p:nvPr/>
        </p:nvPicPr>
        <p:blipFill>
          <a:blip r:embed="rId2"/>
          <a:stretch>
            <a:fillRect/>
          </a:stretch>
        </p:blipFill>
        <p:spPr>
          <a:xfrm>
            <a:off x="4681484" y="1724924"/>
            <a:ext cx="317480" cy="317480"/>
          </a:xfrm>
          <a:prstGeom prst="rect">
            <a:avLst/>
          </a:prstGeom>
        </p:spPr>
      </p:pic>
      <p:sp>
        <p:nvSpPr>
          <p:cNvPr id="11" name="Text 7"/>
          <p:cNvSpPr txBox="1"/>
          <p:nvPr/>
        </p:nvSpPr>
        <p:spPr>
          <a:xfrm>
            <a:off x="5260848" y="160020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Follow laws</a:t>
            </a:r>
            <a:endParaRPr lang="en-US" sz="1800" dirty="0"/>
          </a:p>
        </p:txBody>
      </p:sp>
      <p:sp>
        <p:nvSpPr>
          <p:cNvPr id="12" name="Text 8"/>
          <p:cNvSpPr txBox="1"/>
          <p:nvPr/>
        </p:nvSpPr>
        <p:spPr>
          <a:xfrm>
            <a:off x="4556760" y="2276856"/>
            <a:ext cx="3048000" cy="1243584"/>
          </a:xfrm>
          <a:prstGeom prst="rect">
            <a:avLst/>
          </a:prstGeom>
          <a:noFill/>
          <a:ln/>
        </p:spPr>
        <p:txBody>
          <a:bodyPr wrap="square" lIns="0" tIns="0" rIns="0" bIns="0" rtlCol="0" anchor="t"/>
          <a:lstStyle/>
          <a:p>
            <a:pPr indent="0" marL="0">
              <a:buNone/>
            </a:pPr>
            <a:r>
              <a:rPr lang="en-US" sz="1800" dirty="0">
                <a:solidFill>
                  <a:schemeClr val="tx1"/>
                </a:solidFill>
              </a:rPr>
              <a:t>Respect rules even when no one is watching.</a:t>
            </a:r>
            <a:endParaRPr lang="en-US" sz="1600" dirty="0"/>
          </a:p>
        </p:txBody>
      </p:sp>
      <p:sp>
        <p:nvSpPr>
          <p:cNvPr id="13" name="card 3"/>
          <p:cNvSpPr/>
          <p:nvPr/>
        </p:nvSpPr>
        <p:spPr>
          <a:xfrm>
            <a:off x="8107680" y="1371600"/>
            <a:ext cx="3505200" cy="2286000"/>
          </a:xfrm>
          <a:prstGeom prst="roundRect">
            <a:avLst>
              <a:gd name="adj" fmla="val 4800"/>
            </a:avLst>
          </a:prstGeom>
          <a:solidFill>
            <a:schemeClr val="bg2"/>
          </a:solidFill>
          <a:ln w="12700">
            <a:solidFill>
              <a:schemeClr val="bg2"/>
            </a:solidFill>
            <a:prstDash val="solid"/>
          </a:ln>
        </p:spPr>
      </p:sp>
      <p:sp>
        <p:nvSpPr>
          <p:cNvPr id="14" name="card 3 disc"/>
          <p:cNvSpPr/>
          <p:nvPr/>
        </p:nvSpPr>
        <p:spPr>
          <a:xfrm>
            <a:off x="8336280" y="1600200"/>
            <a:ext cx="566928" cy="566928"/>
          </a:xfrm>
          <a:prstGeom prst="ellipse">
            <a:avLst/>
          </a:prstGeom>
          <a:solidFill>
            <a:schemeClr val="accent4"/>
          </a:solidFill>
          <a:ln w="12700">
            <a:solidFill>
              <a:schemeClr val="accent4"/>
            </a:solidFill>
            <a:prstDash val="solid"/>
          </a:ln>
        </p:spPr>
      </p:sp>
      <p:pic>
        <p:nvPicPr>
          <p:cNvPr id="15" name="card 3 glyph" descr="preencoded.png">    </p:cNvPr>
          <p:cNvPicPr>
            <a:picLocks noChangeAspect="1"/>
          </p:cNvPicPr>
          <p:nvPr/>
        </p:nvPicPr>
        <p:blipFill>
          <a:blip r:embed="rId3"/>
          <a:stretch>
            <a:fillRect/>
          </a:stretch>
        </p:blipFill>
        <p:spPr>
          <a:xfrm>
            <a:off x="8461004" y="1724924"/>
            <a:ext cx="317480" cy="317480"/>
          </a:xfrm>
          <a:prstGeom prst="rect">
            <a:avLst/>
          </a:prstGeom>
        </p:spPr>
      </p:pic>
      <p:sp>
        <p:nvSpPr>
          <p:cNvPr id="16" name="Text 11"/>
          <p:cNvSpPr txBox="1"/>
          <p:nvPr/>
        </p:nvSpPr>
        <p:spPr>
          <a:xfrm>
            <a:off x="9040368" y="160020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Raise concerns</a:t>
            </a:r>
            <a:endParaRPr lang="en-US" sz="1800" dirty="0"/>
          </a:p>
        </p:txBody>
      </p:sp>
      <p:sp>
        <p:nvSpPr>
          <p:cNvPr id="17" name="Text 12"/>
          <p:cNvSpPr txBox="1"/>
          <p:nvPr/>
        </p:nvSpPr>
        <p:spPr>
          <a:xfrm>
            <a:off x="8336280" y="2276856"/>
            <a:ext cx="3048000" cy="1243584"/>
          </a:xfrm>
          <a:prstGeom prst="rect">
            <a:avLst/>
          </a:prstGeom>
          <a:noFill/>
          <a:ln/>
        </p:spPr>
        <p:txBody>
          <a:bodyPr wrap="square" lIns="0" tIns="0" rIns="0" bIns="0" rtlCol="0" anchor="t"/>
          <a:lstStyle/>
          <a:p>
            <a:pPr indent="0" marL="0">
              <a:buNone/>
            </a:pPr>
            <a:r>
              <a:rPr lang="en-US" sz="1800" dirty="0">
                <a:solidFill>
                  <a:schemeClr val="tx1"/>
                </a:solidFill>
              </a:rPr>
              <a:t>Report problems through proper channels.</a:t>
            </a:r>
            <a:endParaRPr lang="en-US" sz="1600" dirty="0"/>
          </a:p>
        </p:txBody>
      </p:sp>
      <p:sp>
        <p:nvSpPr>
          <p:cNvPr id="18" name="card 4"/>
          <p:cNvSpPr/>
          <p:nvPr/>
        </p:nvSpPr>
        <p:spPr>
          <a:xfrm>
            <a:off x="548640" y="3931920"/>
            <a:ext cx="3505200" cy="2286000"/>
          </a:xfrm>
          <a:prstGeom prst="roundRect">
            <a:avLst>
              <a:gd name="adj" fmla="val 4800"/>
            </a:avLst>
          </a:prstGeom>
          <a:solidFill>
            <a:schemeClr val="bg2"/>
          </a:solidFill>
          <a:ln w="12700">
            <a:solidFill>
              <a:schemeClr val="bg2"/>
            </a:solidFill>
            <a:prstDash val="solid"/>
          </a:ln>
        </p:spPr>
      </p:sp>
      <p:sp>
        <p:nvSpPr>
          <p:cNvPr id="19" name="card 4 disc"/>
          <p:cNvSpPr/>
          <p:nvPr/>
        </p:nvSpPr>
        <p:spPr>
          <a:xfrm>
            <a:off x="777240" y="4160520"/>
            <a:ext cx="566928" cy="566928"/>
          </a:xfrm>
          <a:prstGeom prst="ellipse">
            <a:avLst/>
          </a:prstGeom>
          <a:solidFill>
            <a:schemeClr val="accent5"/>
          </a:solidFill>
          <a:ln w="12700">
            <a:solidFill>
              <a:schemeClr val="accent5"/>
            </a:solidFill>
            <a:prstDash val="solid"/>
          </a:ln>
        </p:spPr>
      </p:sp>
      <p:pic>
        <p:nvPicPr>
          <p:cNvPr id="20" name="card 4 glyph" descr="preencoded.png">    </p:cNvPr>
          <p:cNvPicPr>
            <a:picLocks noChangeAspect="1"/>
          </p:cNvPicPr>
          <p:nvPr/>
        </p:nvPicPr>
        <p:blipFill>
          <a:blip r:embed="rId4"/>
          <a:stretch>
            <a:fillRect/>
          </a:stretch>
        </p:blipFill>
        <p:spPr>
          <a:xfrm>
            <a:off x="901964" y="4285244"/>
            <a:ext cx="317480" cy="317480"/>
          </a:xfrm>
          <a:prstGeom prst="rect">
            <a:avLst/>
          </a:prstGeom>
        </p:spPr>
      </p:pic>
      <p:sp>
        <p:nvSpPr>
          <p:cNvPr id="21" name="Text 15"/>
          <p:cNvSpPr txBox="1"/>
          <p:nvPr/>
        </p:nvSpPr>
        <p:spPr>
          <a:xfrm>
            <a:off x="1481328" y="416052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Participate</a:t>
            </a:r>
            <a:endParaRPr lang="en-US" sz="1800" dirty="0"/>
          </a:p>
        </p:txBody>
      </p:sp>
      <p:sp>
        <p:nvSpPr>
          <p:cNvPr id="22" name="Text 16"/>
          <p:cNvSpPr txBox="1"/>
          <p:nvPr/>
        </p:nvSpPr>
        <p:spPr>
          <a:xfrm>
            <a:off x="777240" y="4837176"/>
            <a:ext cx="3048000" cy="1243584"/>
          </a:xfrm>
          <a:prstGeom prst="rect">
            <a:avLst/>
          </a:prstGeom>
          <a:noFill/>
          <a:ln/>
        </p:spPr>
        <p:txBody>
          <a:bodyPr wrap="square" lIns="0" tIns="0" rIns="0" bIns="0" rtlCol="0" anchor="t"/>
          <a:lstStyle/>
          <a:p>
            <a:pPr indent="0" marL="0">
              <a:buNone/>
            </a:pPr>
            <a:r>
              <a:rPr lang="en-US" sz="1800" dirty="0">
                <a:solidFill>
                  <a:schemeClr val="tx1"/>
                </a:solidFill>
              </a:rPr>
              <a:t>Join community efforts and public consultations.</a:t>
            </a:r>
            <a:endParaRPr lang="en-US" sz="1600" dirty="0"/>
          </a:p>
        </p:txBody>
      </p:sp>
      <p:sp>
        <p:nvSpPr>
          <p:cNvPr id="23" name="card 5"/>
          <p:cNvSpPr/>
          <p:nvPr/>
        </p:nvSpPr>
        <p:spPr>
          <a:xfrm>
            <a:off x="4328160" y="3931920"/>
            <a:ext cx="3505200" cy="2286000"/>
          </a:xfrm>
          <a:prstGeom prst="roundRect">
            <a:avLst>
              <a:gd name="adj" fmla="val 4800"/>
            </a:avLst>
          </a:prstGeom>
          <a:solidFill>
            <a:schemeClr val="bg2"/>
          </a:solidFill>
          <a:ln w="12700">
            <a:solidFill>
              <a:schemeClr val="bg2"/>
            </a:solidFill>
            <a:prstDash val="solid"/>
          </a:ln>
        </p:spPr>
      </p:sp>
      <p:sp>
        <p:nvSpPr>
          <p:cNvPr id="24" name="card 5 disc"/>
          <p:cNvSpPr/>
          <p:nvPr/>
        </p:nvSpPr>
        <p:spPr>
          <a:xfrm>
            <a:off x="4556760" y="4160520"/>
            <a:ext cx="566928" cy="566928"/>
          </a:xfrm>
          <a:prstGeom prst="ellipse">
            <a:avLst/>
          </a:prstGeom>
          <a:solidFill>
            <a:schemeClr val="accent6"/>
          </a:solidFill>
          <a:ln w="12700">
            <a:solidFill>
              <a:schemeClr val="accent6"/>
            </a:solidFill>
            <a:prstDash val="solid"/>
          </a:ln>
        </p:spPr>
      </p:sp>
      <p:pic>
        <p:nvPicPr>
          <p:cNvPr id="25" name="card 5 glyph" descr="preencoded.png">    </p:cNvPr>
          <p:cNvPicPr>
            <a:picLocks noChangeAspect="1"/>
          </p:cNvPicPr>
          <p:nvPr/>
        </p:nvPicPr>
        <p:blipFill>
          <a:blip r:embed="rId5"/>
          <a:stretch>
            <a:fillRect/>
          </a:stretch>
        </p:blipFill>
        <p:spPr>
          <a:xfrm>
            <a:off x="4681484" y="4285244"/>
            <a:ext cx="317480" cy="317480"/>
          </a:xfrm>
          <a:prstGeom prst="rect">
            <a:avLst/>
          </a:prstGeom>
        </p:spPr>
      </p:pic>
      <p:sp>
        <p:nvSpPr>
          <p:cNvPr id="26" name="Text 19"/>
          <p:cNvSpPr txBox="1"/>
          <p:nvPr/>
        </p:nvSpPr>
        <p:spPr>
          <a:xfrm>
            <a:off x="5260848" y="416052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Give feedback</a:t>
            </a:r>
            <a:endParaRPr lang="en-US" sz="1800" dirty="0"/>
          </a:p>
        </p:txBody>
      </p:sp>
      <p:sp>
        <p:nvSpPr>
          <p:cNvPr id="27" name="Text 20"/>
          <p:cNvSpPr txBox="1"/>
          <p:nvPr/>
        </p:nvSpPr>
        <p:spPr>
          <a:xfrm>
            <a:off x="4556760" y="4837176"/>
            <a:ext cx="3048000" cy="1243584"/>
          </a:xfrm>
          <a:prstGeom prst="rect">
            <a:avLst/>
          </a:prstGeom>
          <a:noFill/>
          <a:ln/>
        </p:spPr>
        <p:txBody>
          <a:bodyPr wrap="square" lIns="0" tIns="0" rIns="0" bIns="0" rtlCol="0" anchor="t"/>
          <a:lstStyle/>
          <a:p>
            <a:pPr indent="0" marL="0">
              <a:buNone/>
            </a:pPr>
            <a:r>
              <a:rPr lang="en-US" sz="1800" dirty="0">
                <a:solidFill>
                  <a:schemeClr val="tx1"/>
                </a:solidFill>
              </a:rPr>
              <a:t>Tell authorities what works and what doesn't.</a:t>
            </a:r>
            <a:endParaRPr lang="en-US" sz="1600" dirty="0"/>
          </a:p>
        </p:txBody>
      </p:sp>
      <p:sp>
        <p:nvSpPr>
          <p:cNvPr id="28" name="card 6"/>
          <p:cNvSpPr/>
          <p:nvPr/>
        </p:nvSpPr>
        <p:spPr>
          <a:xfrm>
            <a:off x="8107680" y="3931920"/>
            <a:ext cx="3505200" cy="2286000"/>
          </a:xfrm>
          <a:prstGeom prst="roundRect">
            <a:avLst>
              <a:gd name="adj" fmla="val 4800"/>
            </a:avLst>
          </a:prstGeom>
          <a:solidFill>
            <a:schemeClr val="bg2"/>
          </a:solidFill>
          <a:ln w="12700">
            <a:solidFill>
              <a:schemeClr val="bg2"/>
            </a:solidFill>
            <a:prstDash val="solid"/>
          </a:ln>
        </p:spPr>
      </p:sp>
      <p:sp>
        <p:nvSpPr>
          <p:cNvPr id="29" name="card 6 disc"/>
          <p:cNvSpPr/>
          <p:nvPr/>
        </p:nvSpPr>
        <p:spPr>
          <a:xfrm>
            <a:off x="8336280" y="4160520"/>
            <a:ext cx="566928" cy="566928"/>
          </a:xfrm>
          <a:prstGeom prst="ellipse">
            <a:avLst/>
          </a:prstGeom>
          <a:solidFill>
            <a:schemeClr val="accent1"/>
          </a:solidFill>
          <a:ln w="12700">
            <a:solidFill>
              <a:schemeClr val="accent1"/>
            </a:solidFill>
            <a:prstDash val="solid"/>
          </a:ln>
        </p:spPr>
      </p:sp>
      <p:pic>
        <p:nvPicPr>
          <p:cNvPr id="30" name="card 6 glyph" descr="preencoded.png">    </p:cNvPr>
          <p:cNvPicPr>
            <a:picLocks noChangeAspect="1"/>
          </p:cNvPicPr>
          <p:nvPr/>
        </p:nvPicPr>
        <p:blipFill>
          <a:blip r:embed="rId6"/>
          <a:stretch>
            <a:fillRect/>
          </a:stretch>
        </p:blipFill>
        <p:spPr>
          <a:xfrm>
            <a:off x="8461004" y="4285244"/>
            <a:ext cx="317480" cy="317480"/>
          </a:xfrm>
          <a:prstGeom prst="rect">
            <a:avLst/>
          </a:prstGeom>
        </p:spPr>
      </p:pic>
      <p:sp>
        <p:nvSpPr>
          <p:cNvPr id="31" name="Text 23"/>
          <p:cNvSpPr txBox="1"/>
          <p:nvPr/>
        </p:nvSpPr>
        <p:spPr>
          <a:xfrm>
            <a:off x="9040368" y="416052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Hold to account</a:t>
            </a:r>
            <a:endParaRPr lang="en-US" sz="1800" dirty="0"/>
          </a:p>
        </p:txBody>
      </p:sp>
      <p:sp>
        <p:nvSpPr>
          <p:cNvPr id="32" name="Text 24"/>
          <p:cNvSpPr txBox="1"/>
          <p:nvPr/>
        </p:nvSpPr>
        <p:spPr>
          <a:xfrm>
            <a:off x="8336280" y="4837176"/>
            <a:ext cx="3048000" cy="1243584"/>
          </a:xfrm>
          <a:prstGeom prst="rect">
            <a:avLst/>
          </a:prstGeom>
          <a:noFill/>
          <a:ln/>
        </p:spPr>
        <p:txBody>
          <a:bodyPr wrap="square" lIns="0" tIns="0" rIns="0" bIns="0" rtlCol="0" anchor="t"/>
          <a:lstStyle/>
          <a:p>
            <a:pPr indent="0" marL="0">
              <a:buNone/>
            </a:pPr>
            <a:r>
              <a:rPr lang="en-US" sz="1800" dirty="0">
                <a:solidFill>
                  <a:schemeClr val="tx1"/>
                </a:solidFill>
              </a:rPr>
              <a:t>Ask questions; expect honest, transparent answers.</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E2761"/>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Quick Quiz</a:t>
            </a:r>
            <a:endParaRPr lang="en-US" sz="3600" dirty="0"/>
          </a:p>
        </p:txBody>
      </p:sp>
      <p:sp>
        <p:nvSpPr>
          <p:cNvPr id="3" name="quiz q1"/>
          <p:cNvSpPr/>
          <p:nvPr/>
        </p:nvSpPr>
        <p:spPr>
          <a:xfrm>
            <a:off x="548640" y="1371600"/>
            <a:ext cx="5394960" cy="2286000"/>
          </a:xfrm>
          <a:prstGeom prst="roundRect">
            <a:avLst>
              <a:gd name="adj" fmla="val 4800"/>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4" name="quiz q1 badge"/>
          <p:cNvSpPr/>
          <p:nvPr/>
        </p:nvSpPr>
        <p:spPr>
          <a:xfrm>
            <a:off x="731520" y="1554480"/>
            <a:ext cx="457200" cy="457200"/>
          </a:xfrm>
          <a:prstGeom prst="ellipse">
            <a:avLst/>
          </a:prstGeom>
          <a:solidFill>
            <a:schemeClr val="accent1"/>
          </a:solidFill>
          <a:ln w="12700">
            <a:solidFill>
              <a:schemeClr val="accent1"/>
            </a:solidFill>
            <a:prstDash val="solid"/>
          </a:ln>
        </p:spPr>
      </p:sp>
      <p:sp>
        <p:nvSpPr>
          <p:cNvPr id="5" name="Text 3"/>
          <p:cNvSpPr txBox="1"/>
          <p:nvPr/>
        </p:nvSpPr>
        <p:spPr>
          <a:xfrm>
            <a:off x="731520" y="1554480"/>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rPr>
              <a:t>Q1</a:t>
            </a:r>
            <a:endParaRPr lang="en-US" sz="1300" dirty="0"/>
          </a:p>
        </p:txBody>
      </p:sp>
      <p:sp>
        <p:nvSpPr>
          <p:cNvPr id="6" name="Text 4"/>
          <p:cNvSpPr txBox="1"/>
          <p:nvPr/>
        </p:nvSpPr>
        <p:spPr>
          <a:xfrm>
            <a:off x="1325880" y="1508760"/>
            <a:ext cx="4434840" cy="685800"/>
          </a:xfrm>
          <a:prstGeom prst="rect">
            <a:avLst/>
          </a:prstGeom>
          <a:noFill/>
          <a:ln/>
        </p:spPr>
        <p:txBody>
          <a:bodyPr wrap="square" lIns="0" tIns="0" rIns="0" bIns="0" rtlCol="0" anchor="ctr"/>
          <a:lstStyle/>
          <a:p>
            <a:pPr indent="0" marL="0">
              <a:buNone/>
            </a:pPr>
            <a:r>
              <a:rPr lang="en-US" sz="1600" b="1" dirty="0">
                <a:solidFill>
                  <a:schemeClr val="tx2"/>
                </a:solidFill>
              </a:rPr>
              <a:t>Governance mainly focuses on…</a:t>
            </a:r>
            <a:endParaRPr lang="en-US" sz="1600" dirty="0"/>
          </a:p>
        </p:txBody>
      </p:sp>
      <p:sp>
        <p:nvSpPr>
          <p:cNvPr id="7" name="Text 5"/>
          <p:cNvSpPr txBox="1"/>
          <p:nvPr/>
        </p:nvSpPr>
        <p:spPr>
          <a:xfrm>
            <a:off x="1325880" y="2240280"/>
            <a:ext cx="4434840" cy="1325880"/>
          </a:xfrm>
          <a:prstGeom prst="rect">
            <a:avLst/>
          </a:prstGeom>
          <a:noFill/>
          <a:ln/>
        </p:spPr>
        <p:txBody>
          <a:bodyPr wrap="square" lIns="0" tIns="0" rIns="0" bIns="0" rtlCol="0" anchor="t"/>
          <a:lstStyle/>
          <a:p>
            <a:pPr indent="0" marL="0">
              <a:spcAft>
                <a:spcPts val="300"/>
              </a:spcAft>
              <a:buNone/>
            </a:pPr>
            <a:r>
              <a:rPr lang="en-US" sz="1700" b="1" dirty="0">
                <a:solidFill>
                  <a:schemeClr val="accent1"/>
                </a:solidFill>
              </a:rPr>
              <a:t>A)  </a:t>
            </a:r>
            <a:r>
              <a:rPr lang="en-US" sz="1700" dirty="0">
                <a:solidFill>
                  <a:schemeClr val="tx1"/>
                </a:solidFill>
              </a:rPr>
              <a:t>who governs</a:t>
            </a:r>
            <a:endParaRPr lang="en-US" sz="1700" dirty="0"/>
          </a:p>
          <a:p>
            <a:pPr indent="0" marL="0">
              <a:spcAft>
                <a:spcPts val="300"/>
              </a:spcAft>
              <a:buNone/>
            </a:pPr>
            <a:r>
              <a:rPr lang="en-US" sz="1700" b="1" dirty="0">
                <a:solidFill>
                  <a:schemeClr val="accent1"/>
                </a:solidFill>
              </a:rPr>
              <a:t>B)  </a:t>
            </a:r>
            <a:r>
              <a:rPr lang="en-US" sz="1700" dirty="0">
                <a:solidFill>
                  <a:schemeClr val="tx1"/>
                </a:solidFill>
              </a:rPr>
              <a:t>how governing is carried out</a:t>
            </a:r>
            <a:endParaRPr lang="en-US" sz="1700" dirty="0"/>
          </a:p>
          <a:p>
            <a:pPr indent="0" marL="0">
              <a:spcAft>
                <a:spcPts val="300"/>
              </a:spcAft>
              <a:buNone/>
            </a:pPr>
            <a:r>
              <a:rPr lang="en-US" sz="1700" b="1" dirty="0">
                <a:solidFill>
                  <a:schemeClr val="accent1"/>
                </a:solidFill>
              </a:rPr>
              <a:t>C)  </a:t>
            </a:r>
            <a:r>
              <a:rPr lang="en-US" sz="1700" dirty="0">
                <a:solidFill>
                  <a:schemeClr val="tx1"/>
                </a:solidFill>
              </a:rPr>
              <a:t>only elections</a:t>
            </a:r>
            <a:endParaRPr lang="en-US" sz="1700" dirty="0"/>
          </a:p>
          <a:p>
            <a:pPr indent="0" marL="0">
              <a:spcAft>
                <a:spcPts val="300"/>
              </a:spcAft>
              <a:buNone/>
            </a:pPr>
            <a:r>
              <a:rPr lang="en-US" sz="1700" b="1" dirty="0">
                <a:solidFill>
                  <a:schemeClr val="accent1"/>
                </a:solidFill>
              </a:rPr>
              <a:t>D)  </a:t>
            </a:r>
            <a:r>
              <a:rPr lang="en-US" sz="1700" dirty="0">
                <a:solidFill>
                  <a:schemeClr val="tx1"/>
                </a:solidFill>
              </a:rPr>
              <a:t>only the courts</a:t>
            </a:r>
            <a:endParaRPr lang="en-US" sz="1700" dirty="0"/>
          </a:p>
        </p:txBody>
      </p:sp>
      <p:sp>
        <p:nvSpPr>
          <p:cNvPr id="8" name="quiz q2"/>
          <p:cNvSpPr/>
          <p:nvPr/>
        </p:nvSpPr>
        <p:spPr>
          <a:xfrm>
            <a:off x="6217920" y="1371600"/>
            <a:ext cx="5394960" cy="2286000"/>
          </a:xfrm>
          <a:prstGeom prst="roundRect">
            <a:avLst>
              <a:gd name="adj" fmla="val 4800"/>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9" name="quiz q2 badge"/>
          <p:cNvSpPr/>
          <p:nvPr/>
        </p:nvSpPr>
        <p:spPr>
          <a:xfrm>
            <a:off x="6400800" y="1554480"/>
            <a:ext cx="457200" cy="457200"/>
          </a:xfrm>
          <a:prstGeom prst="ellipse">
            <a:avLst/>
          </a:prstGeom>
          <a:solidFill>
            <a:schemeClr val="accent1"/>
          </a:solidFill>
          <a:ln w="12700">
            <a:solidFill>
              <a:schemeClr val="accent1"/>
            </a:solidFill>
            <a:prstDash val="solid"/>
          </a:ln>
        </p:spPr>
      </p:sp>
      <p:sp>
        <p:nvSpPr>
          <p:cNvPr id="10" name="Text 8"/>
          <p:cNvSpPr txBox="1"/>
          <p:nvPr/>
        </p:nvSpPr>
        <p:spPr>
          <a:xfrm>
            <a:off x="6400800" y="1554480"/>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rPr>
              <a:t>Q2</a:t>
            </a:r>
            <a:endParaRPr lang="en-US" sz="1300" dirty="0"/>
          </a:p>
        </p:txBody>
      </p:sp>
      <p:sp>
        <p:nvSpPr>
          <p:cNvPr id="11" name="Text 9"/>
          <p:cNvSpPr txBox="1"/>
          <p:nvPr/>
        </p:nvSpPr>
        <p:spPr>
          <a:xfrm>
            <a:off x="6995160" y="1508760"/>
            <a:ext cx="4434840" cy="685800"/>
          </a:xfrm>
          <a:prstGeom prst="rect">
            <a:avLst/>
          </a:prstGeom>
          <a:noFill/>
          <a:ln/>
        </p:spPr>
        <p:txBody>
          <a:bodyPr wrap="square" lIns="0" tIns="0" rIns="0" bIns="0" rtlCol="0" anchor="ctr"/>
          <a:lstStyle/>
          <a:p>
            <a:pPr indent="0" marL="0">
              <a:buNone/>
            </a:pPr>
            <a:r>
              <a:rPr lang="en-US" sz="1600" b="1" dirty="0">
                <a:solidFill>
                  <a:schemeClr val="tx2"/>
                </a:solidFill>
              </a:rPr>
              <a:t>Which is NOT a feature of good governance?</a:t>
            </a:r>
            <a:endParaRPr lang="en-US" sz="1600" dirty="0"/>
          </a:p>
        </p:txBody>
      </p:sp>
      <p:sp>
        <p:nvSpPr>
          <p:cNvPr id="12" name="Text 10"/>
          <p:cNvSpPr txBox="1"/>
          <p:nvPr/>
        </p:nvSpPr>
        <p:spPr>
          <a:xfrm>
            <a:off x="6995160" y="2240280"/>
            <a:ext cx="4434840" cy="1325880"/>
          </a:xfrm>
          <a:prstGeom prst="rect">
            <a:avLst/>
          </a:prstGeom>
          <a:noFill/>
          <a:ln/>
        </p:spPr>
        <p:txBody>
          <a:bodyPr wrap="square" lIns="0" tIns="0" rIns="0" bIns="0" rtlCol="0" anchor="t"/>
          <a:lstStyle/>
          <a:p>
            <a:pPr indent="0" marL="0">
              <a:spcAft>
                <a:spcPts val="300"/>
              </a:spcAft>
              <a:buNone/>
            </a:pPr>
            <a:r>
              <a:rPr lang="en-US" sz="1700" b="1" dirty="0">
                <a:solidFill>
                  <a:schemeClr val="accent1"/>
                </a:solidFill>
              </a:rPr>
              <a:t>A)  </a:t>
            </a:r>
            <a:r>
              <a:rPr lang="en-US" sz="1700" dirty="0">
                <a:solidFill>
                  <a:schemeClr val="tx1"/>
                </a:solidFill>
              </a:rPr>
              <a:t>Transparency</a:t>
            </a:r>
            <a:endParaRPr lang="en-US" sz="1700" dirty="0"/>
          </a:p>
          <a:p>
            <a:pPr indent="0" marL="0">
              <a:spcAft>
                <a:spcPts val="300"/>
              </a:spcAft>
              <a:buNone/>
            </a:pPr>
            <a:r>
              <a:rPr lang="en-US" sz="1700" b="1" dirty="0">
                <a:solidFill>
                  <a:schemeClr val="accent1"/>
                </a:solidFill>
              </a:rPr>
              <a:t>B)  </a:t>
            </a:r>
            <a:r>
              <a:rPr lang="en-US" sz="1700" dirty="0">
                <a:solidFill>
                  <a:schemeClr val="tx1"/>
                </a:solidFill>
              </a:rPr>
              <a:t>Accountability</a:t>
            </a:r>
            <a:endParaRPr lang="en-US" sz="1700" dirty="0"/>
          </a:p>
          <a:p>
            <a:pPr indent="0" marL="0">
              <a:spcAft>
                <a:spcPts val="300"/>
              </a:spcAft>
              <a:buNone/>
            </a:pPr>
            <a:r>
              <a:rPr lang="en-US" sz="1700" b="1" dirty="0">
                <a:solidFill>
                  <a:schemeClr val="accent1"/>
                </a:solidFill>
              </a:rPr>
              <a:t>C)  </a:t>
            </a:r>
            <a:r>
              <a:rPr lang="en-US" sz="1700" dirty="0">
                <a:solidFill>
                  <a:schemeClr val="tx1"/>
                </a:solidFill>
              </a:rPr>
              <a:t>Secrecy</a:t>
            </a:r>
            <a:endParaRPr lang="en-US" sz="1700" dirty="0"/>
          </a:p>
          <a:p>
            <a:pPr indent="0" marL="0">
              <a:spcAft>
                <a:spcPts val="300"/>
              </a:spcAft>
              <a:buNone/>
            </a:pPr>
            <a:r>
              <a:rPr lang="en-US" sz="1700" b="1" dirty="0">
                <a:solidFill>
                  <a:schemeClr val="accent1"/>
                </a:solidFill>
              </a:rPr>
              <a:t>D)  </a:t>
            </a:r>
            <a:r>
              <a:rPr lang="en-US" sz="1700" dirty="0">
                <a:solidFill>
                  <a:schemeClr val="tx1"/>
                </a:solidFill>
              </a:rPr>
              <a:t>Inclusiveness</a:t>
            </a:r>
            <a:endParaRPr lang="en-US" sz="1700" dirty="0"/>
          </a:p>
        </p:txBody>
      </p:sp>
      <p:sp>
        <p:nvSpPr>
          <p:cNvPr id="13" name="quiz q3"/>
          <p:cNvSpPr/>
          <p:nvPr/>
        </p:nvSpPr>
        <p:spPr>
          <a:xfrm>
            <a:off x="548640" y="3931920"/>
            <a:ext cx="5394960" cy="2286000"/>
          </a:xfrm>
          <a:prstGeom prst="roundRect">
            <a:avLst>
              <a:gd name="adj" fmla="val 4800"/>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14" name="quiz q3 badge"/>
          <p:cNvSpPr/>
          <p:nvPr/>
        </p:nvSpPr>
        <p:spPr>
          <a:xfrm>
            <a:off x="731520" y="4114800"/>
            <a:ext cx="457200" cy="457200"/>
          </a:xfrm>
          <a:prstGeom prst="ellipse">
            <a:avLst/>
          </a:prstGeom>
          <a:solidFill>
            <a:schemeClr val="accent1"/>
          </a:solidFill>
          <a:ln w="12700">
            <a:solidFill>
              <a:schemeClr val="accent1"/>
            </a:solidFill>
            <a:prstDash val="solid"/>
          </a:ln>
        </p:spPr>
      </p:sp>
      <p:sp>
        <p:nvSpPr>
          <p:cNvPr id="15" name="Text 13"/>
          <p:cNvSpPr txBox="1"/>
          <p:nvPr/>
        </p:nvSpPr>
        <p:spPr>
          <a:xfrm>
            <a:off x="731520" y="4114800"/>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rPr>
              <a:t>Q3</a:t>
            </a:r>
            <a:endParaRPr lang="en-US" sz="1300" dirty="0"/>
          </a:p>
        </p:txBody>
      </p:sp>
      <p:sp>
        <p:nvSpPr>
          <p:cNvPr id="16" name="Text 14"/>
          <p:cNvSpPr txBox="1"/>
          <p:nvPr/>
        </p:nvSpPr>
        <p:spPr>
          <a:xfrm>
            <a:off x="1325880" y="4069080"/>
            <a:ext cx="4434840" cy="685800"/>
          </a:xfrm>
          <a:prstGeom prst="rect">
            <a:avLst/>
          </a:prstGeom>
          <a:noFill/>
          <a:ln/>
        </p:spPr>
        <p:txBody>
          <a:bodyPr wrap="square" lIns="0" tIns="0" rIns="0" bIns="0" rtlCol="0" anchor="ctr"/>
          <a:lstStyle/>
          <a:p>
            <a:pPr indent="0" marL="0">
              <a:buNone/>
            </a:pPr>
            <a:r>
              <a:rPr lang="en-US" sz="1600" b="1" dirty="0">
                <a:solidFill>
                  <a:schemeClr val="tx2"/>
                </a:solidFill>
              </a:rPr>
              <a:t>'Framing the legislation' belongs to which stage?</a:t>
            </a:r>
            <a:endParaRPr lang="en-US" sz="1600" dirty="0"/>
          </a:p>
        </p:txBody>
      </p:sp>
      <p:sp>
        <p:nvSpPr>
          <p:cNvPr id="17" name="Text 15"/>
          <p:cNvSpPr txBox="1"/>
          <p:nvPr/>
        </p:nvSpPr>
        <p:spPr>
          <a:xfrm>
            <a:off x="1325880" y="4800600"/>
            <a:ext cx="4434840" cy="1325880"/>
          </a:xfrm>
          <a:prstGeom prst="rect">
            <a:avLst/>
          </a:prstGeom>
          <a:noFill/>
          <a:ln/>
        </p:spPr>
        <p:txBody>
          <a:bodyPr wrap="square" lIns="0" tIns="0" rIns="0" bIns="0" rtlCol="0" anchor="t"/>
          <a:lstStyle/>
          <a:p>
            <a:pPr indent="0" marL="0">
              <a:spcAft>
                <a:spcPts val="300"/>
              </a:spcAft>
              <a:buNone/>
            </a:pPr>
            <a:r>
              <a:rPr lang="en-US" sz="1700" b="1" dirty="0">
                <a:solidFill>
                  <a:schemeClr val="accent1"/>
                </a:solidFill>
              </a:rPr>
              <a:t>A)  </a:t>
            </a:r>
            <a:r>
              <a:rPr lang="en-US" sz="1700" dirty="0">
                <a:solidFill>
                  <a:schemeClr val="tx1"/>
                </a:solidFill>
              </a:rPr>
              <a:t>Formulation</a:t>
            </a:r>
            <a:endParaRPr lang="en-US" sz="1700" dirty="0"/>
          </a:p>
          <a:p>
            <a:pPr indent="0" marL="0">
              <a:spcAft>
                <a:spcPts val="300"/>
              </a:spcAft>
              <a:buNone/>
            </a:pPr>
            <a:r>
              <a:rPr lang="en-US" sz="1700" b="1" dirty="0">
                <a:solidFill>
                  <a:schemeClr val="accent1"/>
                </a:solidFill>
              </a:rPr>
              <a:t>B)  </a:t>
            </a:r>
            <a:r>
              <a:rPr lang="en-US" sz="1700" dirty="0">
                <a:solidFill>
                  <a:schemeClr val="tx1"/>
                </a:solidFill>
              </a:rPr>
              <a:t>Adoption</a:t>
            </a:r>
            <a:endParaRPr lang="en-US" sz="1700" dirty="0"/>
          </a:p>
          <a:p>
            <a:pPr indent="0" marL="0">
              <a:spcAft>
                <a:spcPts val="300"/>
              </a:spcAft>
              <a:buNone/>
            </a:pPr>
            <a:r>
              <a:rPr lang="en-US" sz="1700" b="1" dirty="0">
                <a:solidFill>
                  <a:schemeClr val="accent1"/>
                </a:solidFill>
              </a:rPr>
              <a:t>C)  </a:t>
            </a:r>
            <a:r>
              <a:rPr lang="en-US" sz="1700" dirty="0">
                <a:solidFill>
                  <a:schemeClr val="tx1"/>
                </a:solidFill>
              </a:rPr>
              <a:t>Monitoring</a:t>
            </a:r>
            <a:endParaRPr lang="en-US" sz="1700" dirty="0"/>
          </a:p>
          <a:p>
            <a:pPr indent="0" marL="0">
              <a:spcAft>
                <a:spcPts val="300"/>
              </a:spcAft>
              <a:buNone/>
            </a:pPr>
            <a:r>
              <a:rPr lang="en-US" sz="1700" b="1" dirty="0">
                <a:solidFill>
                  <a:schemeClr val="accent1"/>
                </a:solidFill>
              </a:rPr>
              <a:t>D)  </a:t>
            </a:r>
            <a:r>
              <a:rPr lang="en-US" sz="1700" dirty="0">
                <a:solidFill>
                  <a:schemeClr val="tx1"/>
                </a:solidFill>
              </a:rPr>
              <a:t>Evaluation</a:t>
            </a:r>
            <a:endParaRPr lang="en-US" sz="1700" dirty="0"/>
          </a:p>
        </p:txBody>
      </p:sp>
      <p:sp>
        <p:nvSpPr>
          <p:cNvPr id="18" name="quiz q4"/>
          <p:cNvSpPr/>
          <p:nvPr/>
        </p:nvSpPr>
        <p:spPr>
          <a:xfrm>
            <a:off x="6217920" y="3931920"/>
            <a:ext cx="5394960" cy="2286000"/>
          </a:xfrm>
          <a:prstGeom prst="roundRect">
            <a:avLst>
              <a:gd name="adj" fmla="val 4800"/>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19" name="quiz q4 badge"/>
          <p:cNvSpPr/>
          <p:nvPr/>
        </p:nvSpPr>
        <p:spPr>
          <a:xfrm>
            <a:off x="6400800" y="4114800"/>
            <a:ext cx="457200" cy="457200"/>
          </a:xfrm>
          <a:prstGeom prst="ellipse">
            <a:avLst/>
          </a:prstGeom>
          <a:solidFill>
            <a:schemeClr val="accent1"/>
          </a:solidFill>
          <a:ln w="12700">
            <a:solidFill>
              <a:schemeClr val="accent1"/>
            </a:solidFill>
            <a:prstDash val="solid"/>
          </a:ln>
        </p:spPr>
      </p:sp>
      <p:sp>
        <p:nvSpPr>
          <p:cNvPr id="20" name="Text 18"/>
          <p:cNvSpPr txBox="1"/>
          <p:nvPr/>
        </p:nvSpPr>
        <p:spPr>
          <a:xfrm>
            <a:off x="6400800" y="4114800"/>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rPr>
              <a:t>Q4</a:t>
            </a:r>
            <a:endParaRPr lang="en-US" sz="1300" dirty="0"/>
          </a:p>
        </p:txBody>
      </p:sp>
      <p:sp>
        <p:nvSpPr>
          <p:cNvPr id="21" name="Text 19"/>
          <p:cNvSpPr txBox="1"/>
          <p:nvPr/>
        </p:nvSpPr>
        <p:spPr>
          <a:xfrm>
            <a:off x="6995160" y="4069080"/>
            <a:ext cx="4434840" cy="685800"/>
          </a:xfrm>
          <a:prstGeom prst="rect">
            <a:avLst/>
          </a:prstGeom>
          <a:noFill/>
          <a:ln/>
        </p:spPr>
        <p:txBody>
          <a:bodyPr wrap="square" lIns="0" tIns="0" rIns="0" bIns="0" rtlCol="0" anchor="ctr"/>
          <a:lstStyle/>
          <a:p>
            <a:pPr indent="0" marL="0">
              <a:buNone/>
            </a:pPr>
            <a:r>
              <a:rPr lang="en-US" sz="1600" b="1" dirty="0">
                <a:solidFill>
                  <a:schemeClr val="tx2"/>
                </a:solidFill>
              </a:rPr>
              <a:t>Ayushman Bharat PM-JAY is an example of a…</a:t>
            </a:r>
            <a:endParaRPr lang="en-US" sz="1600" dirty="0"/>
          </a:p>
        </p:txBody>
      </p:sp>
      <p:sp>
        <p:nvSpPr>
          <p:cNvPr id="22" name="Text 20"/>
          <p:cNvSpPr txBox="1"/>
          <p:nvPr/>
        </p:nvSpPr>
        <p:spPr>
          <a:xfrm>
            <a:off x="6995160" y="4800600"/>
            <a:ext cx="4434840" cy="1325880"/>
          </a:xfrm>
          <a:prstGeom prst="rect">
            <a:avLst/>
          </a:prstGeom>
          <a:noFill/>
          <a:ln/>
        </p:spPr>
        <p:txBody>
          <a:bodyPr wrap="square" lIns="0" tIns="0" rIns="0" bIns="0" rtlCol="0" anchor="t"/>
          <a:lstStyle/>
          <a:p>
            <a:pPr indent="0" marL="0">
              <a:spcAft>
                <a:spcPts val="300"/>
              </a:spcAft>
              <a:buNone/>
            </a:pPr>
            <a:r>
              <a:rPr lang="en-US" sz="1700" b="1" dirty="0">
                <a:solidFill>
                  <a:schemeClr val="accent1"/>
                </a:solidFill>
              </a:rPr>
              <a:t>A)  </a:t>
            </a:r>
            <a:r>
              <a:rPr lang="en-US" sz="1700" dirty="0">
                <a:solidFill>
                  <a:schemeClr val="tx1"/>
                </a:solidFill>
              </a:rPr>
              <a:t>policy</a:t>
            </a:r>
            <a:endParaRPr lang="en-US" sz="1700" dirty="0"/>
          </a:p>
          <a:p>
            <a:pPr indent="0" marL="0">
              <a:spcAft>
                <a:spcPts val="300"/>
              </a:spcAft>
              <a:buNone/>
            </a:pPr>
            <a:r>
              <a:rPr lang="en-US" sz="1700" b="1" dirty="0">
                <a:solidFill>
                  <a:schemeClr val="accent1"/>
                </a:solidFill>
              </a:rPr>
              <a:t>B)  </a:t>
            </a:r>
            <a:r>
              <a:rPr lang="en-US" sz="1700" dirty="0">
                <a:solidFill>
                  <a:schemeClr val="tx1"/>
                </a:solidFill>
              </a:rPr>
              <a:t>programme</a:t>
            </a:r>
            <a:endParaRPr lang="en-US" sz="1700" dirty="0"/>
          </a:p>
          <a:p>
            <a:pPr indent="0" marL="0">
              <a:spcAft>
                <a:spcPts val="300"/>
              </a:spcAft>
              <a:buNone/>
            </a:pPr>
            <a:r>
              <a:rPr lang="en-US" sz="1700" b="1" dirty="0">
                <a:solidFill>
                  <a:schemeClr val="accent1"/>
                </a:solidFill>
              </a:rPr>
              <a:t>C)  </a:t>
            </a:r>
            <a:r>
              <a:rPr lang="en-US" sz="1700" dirty="0">
                <a:solidFill>
                  <a:schemeClr val="tx1"/>
                </a:solidFill>
              </a:rPr>
              <a:t>scheme</a:t>
            </a:r>
            <a:endParaRPr lang="en-US" sz="1700" dirty="0"/>
          </a:p>
          <a:p>
            <a:pPr indent="0" marL="0">
              <a:spcAft>
                <a:spcPts val="300"/>
              </a:spcAft>
              <a:buNone/>
            </a:pPr>
            <a:r>
              <a:rPr lang="en-US" sz="1700" b="1" dirty="0">
                <a:solidFill>
                  <a:schemeClr val="accent1"/>
                </a:solidFill>
              </a:rPr>
              <a:t>D)  </a:t>
            </a:r>
            <a:r>
              <a:rPr lang="en-US" sz="1700" dirty="0">
                <a:solidFill>
                  <a:schemeClr val="tx1"/>
                </a:solidFill>
              </a:rPr>
              <a:t>constitution</a:t>
            </a:r>
            <a:endParaRPr lang="en-US" sz="17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E2761"/>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Quick Quiz: Answers</a:t>
            </a:r>
            <a:endParaRPr lang="en-US" sz="3600" dirty="0"/>
          </a:p>
        </p:txBody>
      </p:sp>
      <p:sp>
        <p:nvSpPr>
          <p:cNvPr id="3" name="answer 1"/>
          <p:cNvSpPr/>
          <p:nvPr/>
        </p:nvSpPr>
        <p:spPr>
          <a:xfrm>
            <a:off x="548640" y="1371600"/>
            <a:ext cx="11064240" cy="1074420"/>
          </a:xfrm>
          <a:prstGeom prst="roundRect">
            <a:avLst>
              <a:gd name="adj" fmla="val 10213"/>
            </a:avLst>
          </a:prstGeom>
          <a:solidFill>
            <a:schemeClr val="bg2"/>
          </a:solidFill>
          <a:ln w="12700">
            <a:solidFill>
              <a:schemeClr val="bg2"/>
            </a:solidFill>
            <a:prstDash val="solid"/>
          </a:ln>
        </p:spPr>
      </p:sp>
      <p:sp>
        <p:nvSpPr>
          <p:cNvPr id="4" name="answer 1 badge"/>
          <p:cNvSpPr/>
          <p:nvPr/>
        </p:nvSpPr>
        <p:spPr>
          <a:xfrm>
            <a:off x="731520" y="1680210"/>
            <a:ext cx="457200" cy="457200"/>
          </a:xfrm>
          <a:prstGeom prst="ellipse">
            <a:avLst/>
          </a:prstGeom>
          <a:solidFill>
            <a:schemeClr val="accent2"/>
          </a:solidFill>
          <a:ln w="12700">
            <a:solidFill>
              <a:schemeClr val="accent2"/>
            </a:solidFill>
            <a:prstDash val="solid"/>
          </a:ln>
        </p:spPr>
      </p:sp>
      <p:sp>
        <p:nvSpPr>
          <p:cNvPr id="5" name="Text 3"/>
          <p:cNvSpPr txBox="1"/>
          <p:nvPr/>
        </p:nvSpPr>
        <p:spPr>
          <a:xfrm>
            <a:off x="731520" y="168021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B</a:t>
            </a:r>
            <a:endParaRPr lang="en-US" sz="1600" dirty="0"/>
          </a:p>
        </p:txBody>
      </p:sp>
      <p:sp>
        <p:nvSpPr>
          <p:cNvPr id="6" name="Text 4"/>
          <p:cNvSpPr txBox="1"/>
          <p:nvPr/>
        </p:nvSpPr>
        <p:spPr>
          <a:xfrm>
            <a:off x="1371600" y="1371600"/>
            <a:ext cx="10058400" cy="1074420"/>
          </a:xfrm>
          <a:prstGeom prst="rect">
            <a:avLst/>
          </a:prstGeom>
          <a:noFill/>
          <a:ln/>
        </p:spPr>
        <p:txBody>
          <a:bodyPr wrap="square" lIns="0" tIns="0" rIns="0" bIns="0" rtlCol="0" anchor="ctr"/>
          <a:lstStyle/>
          <a:p>
            <a:pPr indent="0" marL="0">
              <a:buNone/>
            </a:pPr>
            <a:r>
              <a:rPr lang="en-US" sz="1600" b="1" dirty="0">
                <a:solidFill>
                  <a:schemeClr val="tx2"/>
                </a:solidFill>
              </a:rPr>
              <a:t>Q1. How governing is carried out</a:t>
            </a:r>
            <a:endParaRPr lang="en-US" sz="1600" dirty="0"/>
          </a:p>
          <a:p>
            <a:pPr indent="0" marL="0">
              <a:buNone/>
            </a:pPr>
            <a:r>
              <a:rPr lang="en-US" sz="1400" dirty="0">
                <a:solidFill>
                  <a:schemeClr val="tx1"/>
                </a:solidFill>
              </a:rPr>
              <a:t>Government is about who governs; governance is about how.</a:t>
            </a:r>
            <a:endParaRPr lang="en-US" sz="1600" dirty="0"/>
          </a:p>
        </p:txBody>
      </p:sp>
      <p:sp>
        <p:nvSpPr>
          <p:cNvPr id="7" name="answer 2"/>
          <p:cNvSpPr/>
          <p:nvPr/>
        </p:nvSpPr>
        <p:spPr>
          <a:xfrm>
            <a:off x="548640" y="2583180"/>
            <a:ext cx="11064240" cy="1074420"/>
          </a:xfrm>
          <a:prstGeom prst="roundRect">
            <a:avLst>
              <a:gd name="adj" fmla="val 10213"/>
            </a:avLst>
          </a:prstGeom>
          <a:solidFill>
            <a:schemeClr val="bg2"/>
          </a:solidFill>
          <a:ln w="12700">
            <a:solidFill>
              <a:schemeClr val="bg2"/>
            </a:solidFill>
            <a:prstDash val="solid"/>
          </a:ln>
        </p:spPr>
      </p:sp>
      <p:sp>
        <p:nvSpPr>
          <p:cNvPr id="8" name="answer 2 badge"/>
          <p:cNvSpPr/>
          <p:nvPr/>
        </p:nvSpPr>
        <p:spPr>
          <a:xfrm>
            <a:off x="731520" y="2891790"/>
            <a:ext cx="457200" cy="457200"/>
          </a:xfrm>
          <a:prstGeom prst="ellipse">
            <a:avLst/>
          </a:prstGeom>
          <a:solidFill>
            <a:schemeClr val="accent2"/>
          </a:solidFill>
          <a:ln w="12700">
            <a:solidFill>
              <a:schemeClr val="accent2"/>
            </a:solidFill>
            <a:prstDash val="solid"/>
          </a:ln>
        </p:spPr>
      </p:sp>
      <p:sp>
        <p:nvSpPr>
          <p:cNvPr id="9" name="Text 7"/>
          <p:cNvSpPr txBox="1"/>
          <p:nvPr/>
        </p:nvSpPr>
        <p:spPr>
          <a:xfrm>
            <a:off x="731520" y="289179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C</a:t>
            </a:r>
            <a:endParaRPr lang="en-US" sz="1600" dirty="0"/>
          </a:p>
        </p:txBody>
      </p:sp>
      <p:sp>
        <p:nvSpPr>
          <p:cNvPr id="10" name="Text 8"/>
          <p:cNvSpPr txBox="1"/>
          <p:nvPr/>
        </p:nvSpPr>
        <p:spPr>
          <a:xfrm>
            <a:off x="1371600" y="2583180"/>
            <a:ext cx="10058400" cy="1074420"/>
          </a:xfrm>
          <a:prstGeom prst="rect">
            <a:avLst/>
          </a:prstGeom>
          <a:noFill/>
          <a:ln/>
        </p:spPr>
        <p:txBody>
          <a:bodyPr wrap="square" lIns="0" tIns="0" rIns="0" bIns="0" rtlCol="0" anchor="ctr"/>
          <a:lstStyle/>
          <a:p>
            <a:pPr indent="0" marL="0">
              <a:buNone/>
            </a:pPr>
            <a:r>
              <a:rPr lang="en-US" sz="1600" b="1" dirty="0">
                <a:solidFill>
                  <a:schemeClr val="tx2"/>
                </a:solidFill>
              </a:rPr>
              <a:t>Q2. Secrecy</a:t>
            </a:r>
            <a:endParaRPr lang="en-US" sz="1600" dirty="0"/>
          </a:p>
          <a:p>
            <a:pPr indent="0" marL="0">
              <a:buNone/>
            </a:pPr>
            <a:r>
              <a:rPr lang="en-US" sz="1400" dirty="0">
                <a:solidFill>
                  <a:schemeClr val="tx1"/>
                </a:solidFill>
              </a:rPr>
              <a:t>Good governance is open and accessible, not secret.</a:t>
            </a:r>
            <a:endParaRPr lang="en-US" sz="1600" dirty="0"/>
          </a:p>
        </p:txBody>
      </p:sp>
      <p:sp>
        <p:nvSpPr>
          <p:cNvPr id="11" name="answer 3"/>
          <p:cNvSpPr/>
          <p:nvPr/>
        </p:nvSpPr>
        <p:spPr>
          <a:xfrm>
            <a:off x="548640" y="3794760"/>
            <a:ext cx="11064240" cy="1074420"/>
          </a:xfrm>
          <a:prstGeom prst="roundRect">
            <a:avLst>
              <a:gd name="adj" fmla="val 10213"/>
            </a:avLst>
          </a:prstGeom>
          <a:solidFill>
            <a:schemeClr val="bg2"/>
          </a:solidFill>
          <a:ln w="12700">
            <a:solidFill>
              <a:schemeClr val="bg2"/>
            </a:solidFill>
            <a:prstDash val="solid"/>
          </a:ln>
        </p:spPr>
      </p:sp>
      <p:sp>
        <p:nvSpPr>
          <p:cNvPr id="12" name="answer 3 badge"/>
          <p:cNvSpPr/>
          <p:nvPr/>
        </p:nvSpPr>
        <p:spPr>
          <a:xfrm>
            <a:off x="731520" y="4103370"/>
            <a:ext cx="457200" cy="457200"/>
          </a:xfrm>
          <a:prstGeom prst="ellipse">
            <a:avLst/>
          </a:prstGeom>
          <a:solidFill>
            <a:schemeClr val="accent2"/>
          </a:solidFill>
          <a:ln w="12700">
            <a:solidFill>
              <a:schemeClr val="accent2"/>
            </a:solidFill>
            <a:prstDash val="solid"/>
          </a:ln>
        </p:spPr>
      </p:sp>
      <p:sp>
        <p:nvSpPr>
          <p:cNvPr id="13" name="Text 11"/>
          <p:cNvSpPr txBox="1"/>
          <p:nvPr/>
        </p:nvSpPr>
        <p:spPr>
          <a:xfrm>
            <a:off x="731520" y="410337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B</a:t>
            </a:r>
            <a:endParaRPr lang="en-US" sz="1600" dirty="0"/>
          </a:p>
        </p:txBody>
      </p:sp>
      <p:sp>
        <p:nvSpPr>
          <p:cNvPr id="14" name="Text 12"/>
          <p:cNvSpPr txBox="1"/>
          <p:nvPr/>
        </p:nvSpPr>
        <p:spPr>
          <a:xfrm>
            <a:off x="1371600" y="3794760"/>
            <a:ext cx="10058400" cy="1074420"/>
          </a:xfrm>
          <a:prstGeom prst="rect">
            <a:avLst/>
          </a:prstGeom>
          <a:noFill/>
          <a:ln/>
        </p:spPr>
        <p:txBody>
          <a:bodyPr wrap="square" lIns="0" tIns="0" rIns="0" bIns="0" rtlCol="0" anchor="ctr"/>
          <a:lstStyle/>
          <a:p>
            <a:pPr indent="0" marL="0">
              <a:buNone/>
            </a:pPr>
            <a:r>
              <a:rPr lang="en-US" sz="1600" b="1" dirty="0">
                <a:solidFill>
                  <a:schemeClr val="tx2"/>
                </a:solidFill>
              </a:rPr>
              <a:t>Q3. Adoption</a:t>
            </a:r>
            <a:endParaRPr lang="en-US" sz="1600" dirty="0"/>
          </a:p>
          <a:p>
            <a:pPr indent="0" marL="0">
              <a:buNone/>
            </a:pPr>
            <a:r>
              <a:rPr lang="en-US" sz="1400" dirty="0">
                <a:solidFill>
                  <a:schemeClr val="tx1"/>
                </a:solidFill>
              </a:rPr>
              <a:t>Policy adoption frames laws and regulations.</a:t>
            </a:r>
            <a:endParaRPr lang="en-US" sz="1600" dirty="0"/>
          </a:p>
        </p:txBody>
      </p:sp>
      <p:sp>
        <p:nvSpPr>
          <p:cNvPr id="15" name="answer 4"/>
          <p:cNvSpPr/>
          <p:nvPr/>
        </p:nvSpPr>
        <p:spPr>
          <a:xfrm>
            <a:off x="548640" y="5006340"/>
            <a:ext cx="11064240" cy="1074420"/>
          </a:xfrm>
          <a:prstGeom prst="roundRect">
            <a:avLst>
              <a:gd name="adj" fmla="val 10213"/>
            </a:avLst>
          </a:prstGeom>
          <a:solidFill>
            <a:schemeClr val="bg2"/>
          </a:solidFill>
          <a:ln w="12700">
            <a:solidFill>
              <a:schemeClr val="bg2"/>
            </a:solidFill>
            <a:prstDash val="solid"/>
          </a:ln>
        </p:spPr>
      </p:sp>
      <p:sp>
        <p:nvSpPr>
          <p:cNvPr id="16" name="answer 4 badge"/>
          <p:cNvSpPr/>
          <p:nvPr/>
        </p:nvSpPr>
        <p:spPr>
          <a:xfrm>
            <a:off x="731520" y="5314950"/>
            <a:ext cx="457200" cy="457200"/>
          </a:xfrm>
          <a:prstGeom prst="ellipse">
            <a:avLst/>
          </a:prstGeom>
          <a:solidFill>
            <a:schemeClr val="accent2"/>
          </a:solidFill>
          <a:ln w="12700">
            <a:solidFill>
              <a:schemeClr val="accent2"/>
            </a:solidFill>
            <a:prstDash val="solid"/>
          </a:ln>
        </p:spPr>
      </p:sp>
      <p:sp>
        <p:nvSpPr>
          <p:cNvPr id="17" name="Text 15"/>
          <p:cNvSpPr txBox="1"/>
          <p:nvPr/>
        </p:nvSpPr>
        <p:spPr>
          <a:xfrm>
            <a:off x="731520" y="531495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C</a:t>
            </a:r>
            <a:endParaRPr lang="en-US" sz="1600" dirty="0"/>
          </a:p>
        </p:txBody>
      </p:sp>
      <p:sp>
        <p:nvSpPr>
          <p:cNvPr id="18" name="Text 16"/>
          <p:cNvSpPr txBox="1"/>
          <p:nvPr/>
        </p:nvSpPr>
        <p:spPr>
          <a:xfrm>
            <a:off x="1371600" y="5006340"/>
            <a:ext cx="10058400" cy="1074420"/>
          </a:xfrm>
          <a:prstGeom prst="rect">
            <a:avLst/>
          </a:prstGeom>
          <a:noFill/>
          <a:ln/>
        </p:spPr>
        <p:txBody>
          <a:bodyPr wrap="square" lIns="0" tIns="0" rIns="0" bIns="0" rtlCol="0" anchor="ctr"/>
          <a:lstStyle/>
          <a:p>
            <a:pPr indent="0" marL="0">
              <a:buNone/>
            </a:pPr>
            <a:r>
              <a:rPr lang="en-US" sz="1600" b="1" dirty="0">
                <a:solidFill>
                  <a:schemeClr val="tx2"/>
                </a:solidFill>
              </a:rPr>
              <a:t>Q4. Scheme</a:t>
            </a:r>
            <a:endParaRPr lang="en-US" sz="1600" dirty="0"/>
          </a:p>
          <a:p>
            <a:pPr indent="0" marL="0">
              <a:buNone/>
            </a:pPr>
            <a:r>
              <a:rPr lang="en-US" sz="1400" dirty="0">
                <a:solidFill>
                  <a:schemeClr val="tx1"/>
                </a:solidFill>
              </a:rPr>
              <a:t>Schemes provide concrete benefits to specific groups.</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E2761"/>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Agree or Disagree?</a:t>
            </a:r>
            <a:endParaRPr lang="en-US" sz="3600" dirty="0"/>
          </a:p>
        </p:txBody>
      </p:sp>
      <p:sp>
        <p:nvSpPr>
          <p:cNvPr id="3" name="statement 1"/>
          <p:cNvSpPr/>
          <p:nvPr/>
        </p:nvSpPr>
        <p:spPr>
          <a:xfrm>
            <a:off x="548640" y="1371600"/>
            <a:ext cx="11064240" cy="832104"/>
          </a:xfrm>
          <a:prstGeom prst="roundRect">
            <a:avLst>
              <a:gd name="adj" fmla="val 13187"/>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4" name="Text 2"/>
          <p:cNvSpPr txBox="1"/>
          <p:nvPr/>
        </p:nvSpPr>
        <p:spPr>
          <a:xfrm>
            <a:off x="822960" y="1371600"/>
            <a:ext cx="8595360" cy="832104"/>
          </a:xfrm>
          <a:prstGeom prst="rect">
            <a:avLst/>
          </a:prstGeom>
          <a:noFill/>
          <a:ln/>
        </p:spPr>
        <p:txBody>
          <a:bodyPr wrap="square" lIns="0" tIns="0" rIns="0" bIns="0" rtlCol="0" anchor="ctr"/>
          <a:lstStyle/>
          <a:p>
            <a:pPr indent="0" marL="0">
              <a:buNone/>
            </a:pPr>
            <a:r>
              <a:rPr lang="en-US" sz="1700" dirty="0">
                <a:solidFill>
                  <a:schemeClr val="tx1"/>
                </a:solidFill>
              </a:rPr>
              <a:t>1.  Good governance is the responsibility of the government alone.</a:t>
            </a:r>
            <a:endParaRPr lang="en-US" sz="1700" dirty="0"/>
          </a:p>
        </p:txBody>
      </p:sp>
      <p:sp>
        <p:nvSpPr>
          <p:cNvPr id="5" name="vote 1"/>
          <p:cNvSpPr/>
          <p:nvPr/>
        </p:nvSpPr>
        <p:spPr>
          <a:xfrm>
            <a:off x="9646920" y="1559052"/>
            <a:ext cx="1737360" cy="457200"/>
          </a:xfrm>
          <a:prstGeom prst="roundRect">
            <a:avLst>
              <a:gd name="adj" fmla="val 50000"/>
            </a:avLst>
          </a:prstGeom>
          <a:solidFill>
            <a:schemeClr val="bg2"/>
          </a:solidFill>
          <a:ln w="12700">
            <a:solidFill>
              <a:schemeClr val="bg2"/>
            </a:solidFill>
            <a:prstDash val="solid"/>
          </a:ln>
        </p:spPr>
      </p:sp>
      <p:sp>
        <p:nvSpPr>
          <p:cNvPr id="6" name="Text 4"/>
          <p:cNvSpPr txBox="1"/>
          <p:nvPr/>
        </p:nvSpPr>
        <p:spPr>
          <a:xfrm>
            <a:off x="9646920" y="1559052"/>
            <a:ext cx="1737360" cy="457200"/>
          </a:xfrm>
          <a:prstGeom prst="rect">
            <a:avLst/>
          </a:prstGeom>
          <a:noFill/>
          <a:ln/>
        </p:spPr>
        <p:txBody>
          <a:bodyPr wrap="square" lIns="0" tIns="0" rIns="0" bIns="0" rtlCol="0" anchor="ctr"/>
          <a:lstStyle/>
          <a:p>
            <a:pPr algn="ctr" indent="0" marL="0">
              <a:buNone/>
            </a:pPr>
            <a:r>
              <a:rPr lang="en-US" sz="1300" b="1" dirty="0">
                <a:solidFill>
                  <a:schemeClr val="tx2"/>
                </a:solidFill>
              </a:rPr>
              <a:t>Agree / Disagree</a:t>
            </a:r>
            <a:endParaRPr lang="en-US" sz="1300" dirty="0"/>
          </a:p>
        </p:txBody>
      </p:sp>
      <p:sp>
        <p:nvSpPr>
          <p:cNvPr id="7" name="statement 2"/>
          <p:cNvSpPr/>
          <p:nvPr/>
        </p:nvSpPr>
        <p:spPr>
          <a:xfrm>
            <a:off x="548640" y="2340864"/>
            <a:ext cx="11064240" cy="832104"/>
          </a:xfrm>
          <a:prstGeom prst="roundRect">
            <a:avLst>
              <a:gd name="adj" fmla="val 13187"/>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8" name="Text 6"/>
          <p:cNvSpPr txBox="1"/>
          <p:nvPr/>
        </p:nvSpPr>
        <p:spPr>
          <a:xfrm>
            <a:off x="822960" y="2340864"/>
            <a:ext cx="8595360" cy="832104"/>
          </a:xfrm>
          <a:prstGeom prst="rect">
            <a:avLst/>
          </a:prstGeom>
          <a:noFill/>
          <a:ln/>
        </p:spPr>
        <p:txBody>
          <a:bodyPr wrap="square" lIns="0" tIns="0" rIns="0" bIns="0" rtlCol="0" anchor="ctr"/>
          <a:lstStyle/>
          <a:p>
            <a:pPr indent="0" marL="0">
              <a:buNone/>
            </a:pPr>
            <a:r>
              <a:rPr lang="en-US" sz="1700" dirty="0">
                <a:solidFill>
                  <a:schemeClr val="tx1"/>
                </a:solidFill>
              </a:rPr>
              <a:t>2.  A good public policy can fail if it is not implemented properly.</a:t>
            </a:r>
            <a:endParaRPr lang="en-US" sz="1700" dirty="0"/>
          </a:p>
        </p:txBody>
      </p:sp>
      <p:sp>
        <p:nvSpPr>
          <p:cNvPr id="9" name="vote 2"/>
          <p:cNvSpPr/>
          <p:nvPr/>
        </p:nvSpPr>
        <p:spPr>
          <a:xfrm>
            <a:off x="9646920" y="2528316"/>
            <a:ext cx="1737360" cy="457200"/>
          </a:xfrm>
          <a:prstGeom prst="roundRect">
            <a:avLst>
              <a:gd name="adj" fmla="val 50000"/>
            </a:avLst>
          </a:prstGeom>
          <a:solidFill>
            <a:schemeClr val="bg2"/>
          </a:solidFill>
          <a:ln w="12700">
            <a:solidFill>
              <a:schemeClr val="bg2"/>
            </a:solidFill>
            <a:prstDash val="solid"/>
          </a:ln>
        </p:spPr>
      </p:sp>
      <p:sp>
        <p:nvSpPr>
          <p:cNvPr id="10" name="Text 8"/>
          <p:cNvSpPr txBox="1"/>
          <p:nvPr/>
        </p:nvSpPr>
        <p:spPr>
          <a:xfrm>
            <a:off x="9646920" y="2528316"/>
            <a:ext cx="1737360" cy="457200"/>
          </a:xfrm>
          <a:prstGeom prst="rect">
            <a:avLst/>
          </a:prstGeom>
          <a:noFill/>
          <a:ln/>
        </p:spPr>
        <p:txBody>
          <a:bodyPr wrap="square" lIns="0" tIns="0" rIns="0" bIns="0" rtlCol="0" anchor="ctr"/>
          <a:lstStyle/>
          <a:p>
            <a:pPr algn="ctr" indent="0" marL="0">
              <a:buNone/>
            </a:pPr>
            <a:r>
              <a:rPr lang="en-US" sz="1300" b="1" dirty="0">
                <a:solidFill>
                  <a:schemeClr val="tx2"/>
                </a:solidFill>
              </a:rPr>
              <a:t>Agree / Disagree</a:t>
            </a:r>
            <a:endParaRPr lang="en-US" sz="1300" dirty="0"/>
          </a:p>
        </p:txBody>
      </p:sp>
      <p:sp>
        <p:nvSpPr>
          <p:cNvPr id="11" name="statement 3"/>
          <p:cNvSpPr/>
          <p:nvPr/>
        </p:nvSpPr>
        <p:spPr>
          <a:xfrm>
            <a:off x="548640" y="3310128"/>
            <a:ext cx="11064240" cy="832104"/>
          </a:xfrm>
          <a:prstGeom prst="roundRect">
            <a:avLst>
              <a:gd name="adj" fmla="val 13187"/>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12" name="Text 10"/>
          <p:cNvSpPr txBox="1"/>
          <p:nvPr/>
        </p:nvSpPr>
        <p:spPr>
          <a:xfrm>
            <a:off x="822960" y="3310128"/>
            <a:ext cx="8595360" cy="832104"/>
          </a:xfrm>
          <a:prstGeom prst="rect">
            <a:avLst/>
          </a:prstGeom>
          <a:noFill/>
          <a:ln/>
        </p:spPr>
        <p:txBody>
          <a:bodyPr wrap="square" lIns="0" tIns="0" rIns="0" bIns="0" rtlCol="0" anchor="ctr"/>
          <a:lstStyle/>
          <a:p>
            <a:pPr indent="0" marL="0">
              <a:buNone/>
            </a:pPr>
            <a:r>
              <a:rPr lang="en-US" sz="1700" dirty="0">
                <a:solidFill>
                  <a:schemeClr val="tx1"/>
                </a:solidFill>
              </a:rPr>
              <a:t>3.  Citizen participation may slow decisions, but it improves governance.</a:t>
            </a:r>
            <a:endParaRPr lang="en-US" sz="1700" dirty="0"/>
          </a:p>
        </p:txBody>
      </p:sp>
      <p:sp>
        <p:nvSpPr>
          <p:cNvPr id="13" name="vote 3"/>
          <p:cNvSpPr/>
          <p:nvPr/>
        </p:nvSpPr>
        <p:spPr>
          <a:xfrm>
            <a:off x="9646920" y="3497580"/>
            <a:ext cx="1737360" cy="457200"/>
          </a:xfrm>
          <a:prstGeom prst="roundRect">
            <a:avLst>
              <a:gd name="adj" fmla="val 50000"/>
            </a:avLst>
          </a:prstGeom>
          <a:solidFill>
            <a:schemeClr val="bg2"/>
          </a:solidFill>
          <a:ln w="12700">
            <a:solidFill>
              <a:schemeClr val="bg2"/>
            </a:solidFill>
            <a:prstDash val="solid"/>
          </a:ln>
        </p:spPr>
      </p:sp>
      <p:sp>
        <p:nvSpPr>
          <p:cNvPr id="14" name="Text 12"/>
          <p:cNvSpPr txBox="1"/>
          <p:nvPr/>
        </p:nvSpPr>
        <p:spPr>
          <a:xfrm>
            <a:off x="9646920" y="3497580"/>
            <a:ext cx="1737360" cy="457200"/>
          </a:xfrm>
          <a:prstGeom prst="rect">
            <a:avLst/>
          </a:prstGeom>
          <a:noFill/>
          <a:ln/>
        </p:spPr>
        <p:txBody>
          <a:bodyPr wrap="square" lIns="0" tIns="0" rIns="0" bIns="0" rtlCol="0" anchor="ctr"/>
          <a:lstStyle/>
          <a:p>
            <a:pPr algn="ctr" indent="0" marL="0">
              <a:buNone/>
            </a:pPr>
            <a:r>
              <a:rPr lang="en-US" sz="1300" b="1" dirty="0">
                <a:solidFill>
                  <a:schemeClr val="tx2"/>
                </a:solidFill>
              </a:rPr>
              <a:t>Agree / Disagree</a:t>
            </a:r>
            <a:endParaRPr lang="en-US" sz="1300" dirty="0"/>
          </a:p>
        </p:txBody>
      </p:sp>
      <p:sp>
        <p:nvSpPr>
          <p:cNvPr id="15" name="statement 4"/>
          <p:cNvSpPr/>
          <p:nvPr/>
        </p:nvSpPr>
        <p:spPr>
          <a:xfrm>
            <a:off x="548640" y="4279392"/>
            <a:ext cx="11064240" cy="832104"/>
          </a:xfrm>
          <a:prstGeom prst="roundRect">
            <a:avLst>
              <a:gd name="adj" fmla="val 13187"/>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16" name="Text 14"/>
          <p:cNvSpPr txBox="1"/>
          <p:nvPr/>
        </p:nvSpPr>
        <p:spPr>
          <a:xfrm>
            <a:off x="822960" y="4279392"/>
            <a:ext cx="8595360" cy="832104"/>
          </a:xfrm>
          <a:prstGeom prst="rect">
            <a:avLst/>
          </a:prstGeom>
          <a:noFill/>
          <a:ln/>
        </p:spPr>
        <p:txBody>
          <a:bodyPr wrap="square" lIns="0" tIns="0" rIns="0" bIns="0" rtlCol="0" anchor="ctr"/>
          <a:lstStyle/>
          <a:p>
            <a:pPr indent="0" marL="0">
              <a:buNone/>
            </a:pPr>
            <a:r>
              <a:rPr lang="en-US" sz="1700" dirty="0">
                <a:solidFill>
                  <a:schemeClr val="tx1"/>
                </a:solidFill>
              </a:rPr>
              <a:t>4.  Technology alone can ensure good governance.</a:t>
            </a:r>
            <a:endParaRPr lang="en-US" sz="1700" dirty="0"/>
          </a:p>
        </p:txBody>
      </p:sp>
      <p:sp>
        <p:nvSpPr>
          <p:cNvPr id="17" name="vote 4"/>
          <p:cNvSpPr/>
          <p:nvPr/>
        </p:nvSpPr>
        <p:spPr>
          <a:xfrm>
            <a:off x="9646920" y="4466844"/>
            <a:ext cx="1737360" cy="457200"/>
          </a:xfrm>
          <a:prstGeom prst="roundRect">
            <a:avLst>
              <a:gd name="adj" fmla="val 50000"/>
            </a:avLst>
          </a:prstGeom>
          <a:solidFill>
            <a:schemeClr val="bg2"/>
          </a:solidFill>
          <a:ln w="12700">
            <a:solidFill>
              <a:schemeClr val="bg2"/>
            </a:solidFill>
            <a:prstDash val="solid"/>
          </a:ln>
        </p:spPr>
      </p:sp>
      <p:sp>
        <p:nvSpPr>
          <p:cNvPr id="18" name="Text 16"/>
          <p:cNvSpPr txBox="1"/>
          <p:nvPr/>
        </p:nvSpPr>
        <p:spPr>
          <a:xfrm>
            <a:off x="9646920" y="4466844"/>
            <a:ext cx="1737360" cy="457200"/>
          </a:xfrm>
          <a:prstGeom prst="rect">
            <a:avLst/>
          </a:prstGeom>
          <a:noFill/>
          <a:ln/>
        </p:spPr>
        <p:txBody>
          <a:bodyPr wrap="square" lIns="0" tIns="0" rIns="0" bIns="0" rtlCol="0" anchor="ctr"/>
          <a:lstStyle/>
          <a:p>
            <a:pPr algn="ctr" indent="0" marL="0">
              <a:buNone/>
            </a:pPr>
            <a:r>
              <a:rPr lang="en-US" sz="1300" b="1" dirty="0">
                <a:solidFill>
                  <a:schemeClr val="tx2"/>
                </a:solidFill>
              </a:rPr>
              <a:t>Agree / Disagree</a:t>
            </a:r>
            <a:endParaRPr lang="en-US" sz="1300" dirty="0"/>
          </a:p>
        </p:txBody>
      </p:sp>
      <p:sp>
        <p:nvSpPr>
          <p:cNvPr id="19" name="statement 5"/>
          <p:cNvSpPr/>
          <p:nvPr/>
        </p:nvSpPr>
        <p:spPr>
          <a:xfrm>
            <a:off x="548640" y="5248656"/>
            <a:ext cx="11064240" cy="832104"/>
          </a:xfrm>
          <a:prstGeom prst="roundRect">
            <a:avLst>
              <a:gd name="adj" fmla="val 13187"/>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20" name="Text 18"/>
          <p:cNvSpPr txBox="1"/>
          <p:nvPr/>
        </p:nvSpPr>
        <p:spPr>
          <a:xfrm>
            <a:off x="822960" y="5248656"/>
            <a:ext cx="8595360" cy="832104"/>
          </a:xfrm>
          <a:prstGeom prst="rect">
            <a:avLst/>
          </a:prstGeom>
          <a:noFill/>
          <a:ln/>
        </p:spPr>
        <p:txBody>
          <a:bodyPr wrap="square" lIns="0" tIns="0" rIns="0" bIns="0" rtlCol="0" anchor="ctr"/>
          <a:lstStyle/>
          <a:p>
            <a:pPr indent="0" marL="0">
              <a:buNone/>
            </a:pPr>
            <a:r>
              <a:rPr lang="en-US" sz="1700" dirty="0">
                <a:solidFill>
                  <a:schemeClr val="tx1"/>
                </a:solidFill>
              </a:rPr>
              <a:t>5.  Every policy is a public policy.</a:t>
            </a:r>
            <a:endParaRPr lang="en-US" sz="1700" dirty="0"/>
          </a:p>
        </p:txBody>
      </p:sp>
      <p:sp>
        <p:nvSpPr>
          <p:cNvPr id="21" name="vote 5"/>
          <p:cNvSpPr/>
          <p:nvPr/>
        </p:nvSpPr>
        <p:spPr>
          <a:xfrm>
            <a:off x="9646920" y="5436108"/>
            <a:ext cx="1737360" cy="457200"/>
          </a:xfrm>
          <a:prstGeom prst="roundRect">
            <a:avLst>
              <a:gd name="adj" fmla="val 50000"/>
            </a:avLst>
          </a:prstGeom>
          <a:solidFill>
            <a:schemeClr val="bg2"/>
          </a:solidFill>
          <a:ln w="12700">
            <a:solidFill>
              <a:schemeClr val="bg2"/>
            </a:solidFill>
            <a:prstDash val="solid"/>
          </a:ln>
        </p:spPr>
      </p:sp>
      <p:sp>
        <p:nvSpPr>
          <p:cNvPr id="22" name="Text 20"/>
          <p:cNvSpPr txBox="1"/>
          <p:nvPr/>
        </p:nvSpPr>
        <p:spPr>
          <a:xfrm>
            <a:off x="9646920" y="5436108"/>
            <a:ext cx="1737360" cy="457200"/>
          </a:xfrm>
          <a:prstGeom prst="rect">
            <a:avLst/>
          </a:prstGeom>
          <a:noFill/>
          <a:ln/>
        </p:spPr>
        <p:txBody>
          <a:bodyPr wrap="square" lIns="0" tIns="0" rIns="0" bIns="0" rtlCol="0" anchor="ctr"/>
          <a:lstStyle/>
          <a:p>
            <a:pPr algn="ctr" indent="0" marL="0">
              <a:buNone/>
            </a:pPr>
            <a:r>
              <a:rPr lang="en-US" sz="1300" b="1" dirty="0">
                <a:solidFill>
                  <a:schemeClr val="tx2"/>
                </a:solidFill>
              </a:rPr>
              <a:t>Agree / Disagree</a:t>
            </a:r>
            <a:endParaRPr lang="en-US" sz="13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E2761"/>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Before We Move On</a:t>
            </a:r>
            <a:endParaRPr lang="en-US" sz="3600" dirty="0"/>
          </a:p>
        </p:txBody>
      </p:sp>
      <p:sp>
        <p:nvSpPr>
          <p:cNvPr id="3" name="mind map centre"/>
          <p:cNvSpPr/>
          <p:nvPr/>
        </p:nvSpPr>
        <p:spPr>
          <a:xfrm>
            <a:off x="4861408" y="3063240"/>
            <a:ext cx="2468880" cy="1463040"/>
          </a:xfrm>
          <a:prstGeom prst="ellipse">
            <a:avLst/>
          </a:prstGeom>
          <a:solidFill>
            <a:schemeClr val="tx2"/>
          </a:solidFill>
          <a:ln w="12700">
            <a:solidFill>
              <a:schemeClr val="tx2"/>
            </a:solidFill>
            <a:prstDash val="solid"/>
          </a:ln>
        </p:spPr>
      </p:sp>
      <p:sp>
        <p:nvSpPr>
          <p:cNvPr id="4" name="Text 2"/>
          <p:cNvSpPr txBox="1"/>
          <p:nvPr/>
        </p:nvSpPr>
        <p:spPr>
          <a:xfrm>
            <a:off x="4952848" y="3063240"/>
            <a:ext cx="2286000" cy="1463040"/>
          </a:xfrm>
          <a:prstGeom prst="rect">
            <a:avLst/>
          </a:prstGeom>
          <a:noFill/>
          <a:ln/>
        </p:spPr>
        <p:txBody>
          <a:bodyPr wrap="square" lIns="0" tIns="0" rIns="0" bIns="0" rtlCol="0" anchor="ctr"/>
          <a:lstStyle/>
          <a:p>
            <a:pPr algn="ctr" indent="0" marL="0">
              <a:buNone/>
            </a:pPr>
            <a:r>
              <a:rPr lang="en-US" sz="1800" b="1" dirty="0">
                <a:solidFill>
                  <a:schemeClr val="bg1"/>
                </a:solidFill>
                <a:latin typeface="Cambria" pitchFamily="34" charset="0"/>
                <a:ea typeface="Cambria" pitchFamily="34" charset="-122"/>
                <a:cs typeface="Cambria" pitchFamily="34" charset="-120"/>
              </a:rPr>
              <a:t>Governance and Public Policy</a:t>
            </a:r>
            <a:endParaRPr lang="en-US" sz="1800" dirty="0"/>
          </a:p>
        </p:txBody>
      </p:sp>
      <p:sp>
        <p:nvSpPr>
          <p:cNvPr id="5" name="branch 1 line"/>
          <p:cNvSpPr/>
          <p:nvPr/>
        </p:nvSpPr>
        <p:spPr>
          <a:xfrm>
            <a:off x="4114800" y="2103120"/>
            <a:ext cx="792328" cy="1691640"/>
          </a:xfrm>
          <a:prstGeom prst="line">
            <a:avLst/>
          </a:prstGeom>
          <a:noFill/>
          <a:ln w="25400">
            <a:solidFill>
              <a:srgbClr val="FFB347"/>
            </a:solidFill>
            <a:prstDash val="solid"/>
          </a:ln>
        </p:spPr>
      </p:sp>
      <p:sp>
        <p:nvSpPr>
          <p:cNvPr id="6" name="branch 1"/>
          <p:cNvSpPr/>
          <p:nvPr/>
        </p:nvSpPr>
        <p:spPr>
          <a:xfrm>
            <a:off x="548640" y="1371600"/>
            <a:ext cx="3566160" cy="1463040"/>
          </a:xfrm>
          <a:prstGeom prst="roundRect">
            <a:avLst>
              <a:gd name="adj" fmla="val 7500"/>
            </a:avLst>
          </a:prstGeom>
          <a:solidFill>
            <a:schemeClr val="bg2"/>
          </a:solidFill>
          <a:ln w="12700">
            <a:solidFill>
              <a:schemeClr val="bg2"/>
            </a:solidFill>
            <a:prstDash val="solid"/>
          </a:ln>
        </p:spPr>
      </p:sp>
      <p:sp>
        <p:nvSpPr>
          <p:cNvPr id="7" name="Text 5"/>
          <p:cNvSpPr txBox="1"/>
          <p:nvPr/>
        </p:nvSpPr>
        <p:spPr>
          <a:xfrm>
            <a:off x="731520" y="1481328"/>
            <a:ext cx="3200400" cy="1243584"/>
          </a:xfrm>
          <a:prstGeom prst="rect">
            <a:avLst/>
          </a:prstGeom>
          <a:noFill/>
          <a:ln/>
        </p:spPr>
        <p:txBody>
          <a:bodyPr wrap="square" lIns="0" tIns="0" rIns="0" bIns="0" rtlCol="0" anchor="t"/>
          <a:lstStyle/>
          <a:p>
            <a:pPr indent="0" marL="0">
              <a:buNone/>
            </a:pPr>
            <a:r>
              <a:rPr lang="en-US" sz="1600" b="1" dirty="0">
                <a:solidFill>
                  <a:schemeClr val="accent1"/>
                </a:solidFill>
              </a:rPr>
              <a:t>Government vs governance</a:t>
            </a:r>
            <a:endParaRPr lang="en-US" sz="1600" dirty="0"/>
          </a:p>
          <a:p>
            <a:pPr indent="0" marL="0">
              <a:buNone/>
            </a:pPr>
            <a:r>
              <a:rPr lang="en-US" sz="1600" dirty="0">
                <a:solidFill>
                  <a:schemeClr val="tx1"/>
                </a:solidFill>
              </a:rPr>
              <a:t>Who governs vs how decisions are made and monitored</a:t>
            </a:r>
            <a:endParaRPr lang="en-US" sz="1600" dirty="0"/>
          </a:p>
        </p:txBody>
      </p:sp>
      <p:sp>
        <p:nvSpPr>
          <p:cNvPr id="8" name="branch 2 line"/>
          <p:cNvSpPr/>
          <p:nvPr/>
        </p:nvSpPr>
        <p:spPr>
          <a:xfrm>
            <a:off x="4114800" y="3794760"/>
            <a:ext cx="792328" cy="914"/>
          </a:xfrm>
          <a:prstGeom prst="line">
            <a:avLst/>
          </a:prstGeom>
          <a:noFill/>
          <a:ln w="25400">
            <a:solidFill>
              <a:srgbClr val="FFB347"/>
            </a:solidFill>
            <a:prstDash val="solid"/>
          </a:ln>
        </p:spPr>
      </p:sp>
      <p:sp>
        <p:nvSpPr>
          <p:cNvPr id="9" name="branch 2"/>
          <p:cNvSpPr/>
          <p:nvPr/>
        </p:nvSpPr>
        <p:spPr>
          <a:xfrm>
            <a:off x="548640" y="3063240"/>
            <a:ext cx="3566160" cy="1463040"/>
          </a:xfrm>
          <a:prstGeom prst="roundRect">
            <a:avLst>
              <a:gd name="adj" fmla="val 7500"/>
            </a:avLst>
          </a:prstGeom>
          <a:solidFill>
            <a:schemeClr val="bg2"/>
          </a:solidFill>
          <a:ln w="12700">
            <a:solidFill>
              <a:schemeClr val="bg2"/>
            </a:solidFill>
            <a:prstDash val="solid"/>
          </a:ln>
        </p:spPr>
      </p:sp>
      <p:sp>
        <p:nvSpPr>
          <p:cNvPr id="10" name="Text 8"/>
          <p:cNvSpPr txBox="1"/>
          <p:nvPr/>
        </p:nvSpPr>
        <p:spPr>
          <a:xfrm>
            <a:off x="731520" y="3172968"/>
            <a:ext cx="3200400" cy="1243584"/>
          </a:xfrm>
          <a:prstGeom prst="rect">
            <a:avLst/>
          </a:prstGeom>
          <a:noFill/>
          <a:ln/>
        </p:spPr>
        <p:txBody>
          <a:bodyPr wrap="square" lIns="0" tIns="0" rIns="0" bIns="0" rtlCol="0" anchor="t"/>
          <a:lstStyle/>
          <a:p>
            <a:pPr indent="0" marL="0">
              <a:buNone/>
            </a:pPr>
            <a:r>
              <a:rPr lang="en-US" sz="1600" b="1" dirty="0">
                <a:solidFill>
                  <a:schemeClr val="accent1"/>
                </a:solidFill>
              </a:rPr>
              <a:t>Indian roots</a:t>
            </a:r>
            <a:endParaRPr lang="en-US" sz="1600" dirty="0"/>
          </a:p>
          <a:p>
            <a:pPr indent="0" marL="0">
              <a:buNone/>
            </a:pPr>
            <a:r>
              <a:rPr lang="en-US" sz="1600" dirty="0">
                <a:solidFill>
                  <a:schemeClr val="tx1"/>
                </a:solidFill>
              </a:rPr>
              <a:t>Sabha, Samiti, Rajadharma, Ram Rajya, Satyameva Jayate</a:t>
            </a:r>
            <a:endParaRPr lang="en-US" sz="1600" dirty="0"/>
          </a:p>
        </p:txBody>
      </p:sp>
      <p:sp>
        <p:nvSpPr>
          <p:cNvPr id="11" name="branch 3 line"/>
          <p:cNvSpPr/>
          <p:nvPr/>
        </p:nvSpPr>
        <p:spPr>
          <a:xfrm flipV="1">
            <a:off x="4114800" y="3794760"/>
            <a:ext cx="792328" cy="1691640"/>
          </a:xfrm>
          <a:prstGeom prst="line">
            <a:avLst/>
          </a:prstGeom>
          <a:noFill/>
          <a:ln w="25400">
            <a:solidFill>
              <a:srgbClr val="FFB347"/>
            </a:solidFill>
            <a:prstDash val="solid"/>
          </a:ln>
        </p:spPr>
      </p:sp>
      <p:sp>
        <p:nvSpPr>
          <p:cNvPr id="12" name="branch 3"/>
          <p:cNvSpPr/>
          <p:nvPr/>
        </p:nvSpPr>
        <p:spPr>
          <a:xfrm>
            <a:off x="548640" y="4754880"/>
            <a:ext cx="3566160" cy="1463040"/>
          </a:xfrm>
          <a:prstGeom prst="roundRect">
            <a:avLst>
              <a:gd name="adj" fmla="val 7500"/>
            </a:avLst>
          </a:prstGeom>
          <a:solidFill>
            <a:schemeClr val="bg2"/>
          </a:solidFill>
          <a:ln w="12700">
            <a:solidFill>
              <a:schemeClr val="bg2"/>
            </a:solidFill>
            <a:prstDash val="solid"/>
          </a:ln>
        </p:spPr>
      </p:sp>
      <p:sp>
        <p:nvSpPr>
          <p:cNvPr id="13" name="Text 11"/>
          <p:cNvSpPr txBox="1"/>
          <p:nvPr/>
        </p:nvSpPr>
        <p:spPr>
          <a:xfrm>
            <a:off x="731520" y="4864608"/>
            <a:ext cx="3200400" cy="1243584"/>
          </a:xfrm>
          <a:prstGeom prst="rect">
            <a:avLst/>
          </a:prstGeom>
          <a:noFill/>
          <a:ln/>
        </p:spPr>
        <p:txBody>
          <a:bodyPr wrap="square" lIns="0" tIns="0" rIns="0" bIns="0" rtlCol="0" anchor="t"/>
          <a:lstStyle/>
          <a:p>
            <a:pPr indent="0" marL="0">
              <a:buNone/>
            </a:pPr>
            <a:r>
              <a:rPr lang="en-US" sz="1600" b="1" dirty="0">
                <a:solidFill>
                  <a:schemeClr val="accent1"/>
                </a:solidFill>
              </a:rPr>
              <a:t>Good governance</a:t>
            </a:r>
            <a:endParaRPr lang="en-US" sz="1600" dirty="0"/>
          </a:p>
          <a:p>
            <a:pPr indent="0" marL="0">
              <a:buNone/>
            </a:pPr>
            <a:r>
              <a:rPr lang="en-US" sz="1600" dirty="0">
                <a:solidFill>
                  <a:schemeClr val="tx1"/>
                </a:solidFill>
              </a:rPr>
              <a:t>Rule of law, participation, accountability, transparency...</a:t>
            </a:r>
            <a:endParaRPr lang="en-US" sz="1600" dirty="0"/>
          </a:p>
        </p:txBody>
      </p:sp>
      <p:sp>
        <p:nvSpPr>
          <p:cNvPr id="14" name="branch 4 line"/>
          <p:cNvSpPr/>
          <p:nvPr/>
        </p:nvSpPr>
        <p:spPr>
          <a:xfrm flipV="1">
            <a:off x="7284568" y="2103120"/>
            <a:ext cx="789584" cy="1691640"/>
          </a:xfrm>
          <a:prstGeom prst="line">
            <a:avLst/>
          </a:prstGeom>
          <a:noFill/>
          <a:ln w="25400">
            <a:solidFill>
              <a:srgbClr val="FFB347"/>
            </a:solidFill>
            <a:prstDash val="solid"/>
          </a:ln>
        </p:spPr>
      </p:sp>
      <p:sp>
        <p:nvSpPr>
          <p:cNvPr id="15" name="branch 4"/>
          <p:cNvSpPr/>
          <p:nvPr/>
        </p:nvSpPr>
        <p:spPr>
          <a:xfrm>
            <a:off x="8074152" y="1371600"/>
            <a:ext cx="3566160" cy="1463040"/>
          </a:xfrm>
          <a:prstGeom prst="roundRect">
            <a:avLst>
              <a:gd name="adj" fmla="val 7500"/>
            </a:avLst>
          </a:prstGeom>
          <a:solidFill>
            <a:schemeClr val="bg2"/>
          </a:solidFill>
          <a:ln w="12700">
            <a:solidFill>
              <a:schemeClr val="bg2"/>
            </a:solidFill>
            <a:prstDash val="solid"/>
          </a:ln>
        </p:spPr>
      </p:sp>
      <p:sp>
        <p:nvSpPr>
          <p:cNvPr id="16" name="Text 14"/>
          <p:cNvSpPr txBox="1"/>
          <p:nvPr/>
        </p:nvSpPr>
        <p:spPr>
          <a:xfrm>
            <a:off x="8257032" y="1481328"/>
            <a:ext cx="3200400" cy="1243584"/>
          </a:xfrm>
          <a:prstGeom prst="rect">
            <a:avLst/>
          </a:prstGeom>
          <a:noFill/>
          <a:ln/>
        </p:spPr>
        <p:txBody>
          <a:bodyPr wrap="square" lIns="0" tIns="0" rIns="0" bIns="0" rtlCol="0" anchor="t"/>
          <a:lstStyle/>
          <a:p>
            <a:pPr indent="0" marL="0">
              <a:buNone/>
            </a:pPr>
            <a:r>
              <a:rPr lang="en-US" sz="1600" b="1" dirty="0">
                <a:solidFill>
                  <a:schemeClr val="accent1"/>
                </a:solidFill>
              </a:rPr>
              <a:t>E-governance</a:t>
            </a:r>
            <a:endParaRPr lang="en-US" sz="1600" dirty="0"/>
          </a:p>
          <a:p>
            <a:pPr indent="0" marL="0">
              <a:buNone/>
            </a:pPr>
            <a:r>
              <a:rPr lang="en-US" sz="1600" dirty="0">
                <a:solidFill>
                  <a:schemeClr val="tx1"/>
                </a:solidFill>
              </a:rPr>
              <a:t>UMANG, DigiLocker, CPGRAMS, APAAR; must be inclusive</a:t>
            </a:r>
            <a:endParaRPr lang="en-US" sz="1600" dirty="0"/>
          </a:p>
        </p:txBody>
      </p:sp>
      <p:sp>
        <p:nvSpPr>
          <p:cNvPr id="17" name="branch 5 line"/>
          <p:cNvSpPr/>
          <p:nvPr/>
        </p:nvSpPr>
        <p:spPr>
          <a:xfrm>
            <a:off x="7284568" y="3794760"/>
            <a:ext cx="789584" cy="914"/>
          </a:xfrm>
          <a:prstGeom prst="line">
            <a:avLst/>
          </a:prstGeom>
          <a:noFill/>
          <a:ln w="25400">
            <a:solidFill>
              <a:srgbClr val="FFB347"/>
            </a:solidFill>
            <a:prstDash val="solid"/>
          </a:ln>
        </p:spPr>
      </p:sp>
      <p:sp>
        <p:nvSpPr>
          <p:cNvPr id="18" name="branch 5"/>
          <p:cNvSpPr/>
          <p:nvPr/>
        </p:nvSpPr>
        <p:spPr>
          <a:xfrm>
            <a:off x="8074152" y="3063240"/>
            <a:ext cx="3566160" cy="1463040"/>
          </a:xfrm>
          <a:prstGeom prst="roundRect">
            <a:avLst>
              <a:gd name="adj" fmla="val 7500"/>
            </a:avLst>
          </a:prstGeom>
          <a:solidFill>
            <a:schemeClr val="bg2"/>
          </a:solidFill>
          <a:ln w="12700">
            <a:solidFill>
              <a:schemeClr val="bg2"/>
            </a:solidFill>
            <a:prstDash val="solid"/>
          </a:ln>
        </p:spPr>
      </p:sp>
      <p:sp>
        <p:nvSpPr>
          <p:cNvPr id="19" name="Text 17"/>
          <p:cNvSpPr txBox="1"/>
          <p:nvPr/>
        </p:nvSpPr>
        <p:spPr>
          <a:xfrm>
            <a:off x="8257032" y="3172968"/>
            <a:ext cx="3200400" cy="1243584"/>
          </a:xfrm>
          <a:prstGeom prst="rect">
            <a:avLst/>
          </a:prstGeom>
          <a:noFill/>
          <a:ln/>
        </p:spPr>
        <p:txBody>
          <a:bodyPr wrap="square" lIns="0" tIns="0" rIns="0" bIns="0" rtlCol="0" anchor="t"/>
          <a:lstStyle/>
          <a:p>
            <a:pPr indent="0" marL="0">
              <a:buNone/>
            </a:pPr>
            <a:r>
              <a:rPr lang="en-US" sz="1600" b="1" dirty="0">
                <a:solidFill>
                  <a:schemeClr val="accent1"/>
                </a:solidFill>
              </a:rPr>
              <a:t>Public policy</a:t>
            </a:r>
            <a:endParaRPr lang="en-US" sz="1600" dirty="0"/>
          </a:p>
          <a:p>
            <a:pPr indent="0" marL="0">
              <a:buNone/>
            </a:pPr>
            <a:r>
              <a:rPr lang="en-US" sz="1600" dirty="0">
                <a:solidFill>
                  <a:schemeClr val="tx1"/>
                </a:solidFill>
              </a:rPr>
              <a:t>Made for all, by government, with public money and people</a:t>
            </a:r>
            <a:endParaRPr lang="en-US" sz="1600" dirty="0"/>
          </a:p>
        </p:txBody>
      </p:sp>
      <p:sp>
        <p:nvSpPr>
          <p:cNvPr id="20" name="branch 6 line"/>
          <p:cNvSpPr/>
          <p:nvPr/>
        </p:nvSpPr>
        <p:spPr>
          <a:xfrm>
            <a:off x="7284568" y="3794760"/>
            <a:ext cx="789584" cy="1691640"/>
          </a:xfrm>
          <a:prstGeom prst="line">
            <a:avLst/>
          </a:prstGeom>
          <a:noFill/>
          <a:ln w="25400">
            <a:solidFill>
              <a:srgbClr val="FFB347"/>
            </a:solidFill>
            <a:prstDash val="solid"/>
          </a:ln>
        </p:spPr>
      </p:sp>
      <p:sp>
        <p:nvSpPr>
          <p:cNvPr id="21" name="branch 6"/>
          <p:cNvSpPr/>
          <p:nvPr/>
        </p:nvSpPr>
        <p:spPr>
          <a:xfrm>
            <a:off x="8074152" y="4754880"/>
            <a:ext cx="3566160" cy="1463040"/>
          </a:xfrm>
          <a:prstGeom prst="roundRect">
            <a:avLst>
              <a:gd name="adj" fmla="val 7500"/>
            </a:avLst>
          </a:prstGeom>
          <a:solidFill>
            <a:schemeClr val="bg2"/>
          </a:solidFill>
          <a:ln w="12700">
            <a:solidFill>
              <a:schemeClr val="bg2"/>
            </a:solidFill>
            <a:prstDash val="solid"/>
          </a:ln>
        </p:spPr>
      </p:sp>
      <p:sp>
        <p:nvSpPr>
          <p:cNvPr id="22" name="Text 20"/>
          <p:cNvSpPr txBox="1"/>
          <p:nvPr/>
        </p:nvSpPr>
        <p:spPr>
          <a:xfrm>
            <a:off x="8257032" y="4864608"/>
            <a:ext cx="3200400" cy="1243584"/>
          </a:xfrm>
          <a:prstGeom prst="rect">
            <a:avLst/>
          </a:prstGeom>
          <a:noFill/>
          <a:ln/>
        </p:spPr>
        <p:txBody>
          <a:bodyPr wrap="square" lIns="0" tIns="0" rIns="0" bIns="0" rtlCol="0" anchor="t"/>
          <a:lstStyle/>
          <a:p>
            <a:pPr indent="0" marL="0">
              <a:buNone/>
            </a:pPr>
            <a:r>
              <a:rPr lang="en-US" sz="1600" b="1" dirty="0">
                <a:solidFill>
                  <a:schemeClr val="accent1"/>
                </a:solidFill>
              </a:rPr>
              <a:t>Policy cycle</a:t>
            </a:r>
            <a:endParaRPr lang="en-US" sz="1600" dirty="0"/>
          </a:p>
          <a:p>
            <a:pPr indent="0" marL="0">
              <a:buNone/>
            </a:pPr>
            <a:r>
              <a:rPr lang="en-US" sz="1600" dirty="0">
                <a:solidFill>
                  <a:schemeClr val="tx1"/>
                </a:solidFill>
              </a:rPr>
              <a:t>Desirability to evaluation; coordination and feedback</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1E2761"/>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ctr"/>
          <a:lstStyle/>
          <a:p>
            <a:pPr algn="l" indent="0" marL="0">
              <a:buNone/>
            </a:pPr>
            <a:r>
              <a:rPr lang="en-US" sz="3600" b="1" dirty="0">
                <a:solidFill>
                  <a:schemeClr val="bg1"/>
                </a:solidFill>
              </a:rPr>
              <a:t>Exit Ticket and Homework</a:t>
            </a:r>
            <a:endParaRPr lang="en-US" sz="3600" dirty="0"/>
          </a:p>
        </p:txBody>
      </p:sp>
      <p:sp>
        <p:nvSpPr>
          <p:cNvPr id="3" name="exit 3"/>
          <p:cNvSpPr/>
          <p:nvPr/>
        </p:nvSpPr>
        <p:spPr>
          <a:xfrm>
            <a:off x="731520" y="1508760"/>
            <a:ext cx="2103120" cy="2743200"/>
          </a:xfrm>
          <a:prstGeom prst="roundRect">
            <a:avLst>
              <a:gd name="adj" fmla="val 5217"/>
            </a:avLst>
          </a:prstGeom>
          <a:solidFill>
            <a:schemeClr val="bg1"/>
          </a:solidFill>
          <a:ln w="12700">
            <a:solidFill>
              <a:schemeClr val="bg1"/>
            </a:solidFill>
            <a:prstDash val="solid"/>
          </a:ln>
        </p:spPr>
      </p:sp>
      <p:sp>
        <p:nvSpPr>
          <p:cNvPr id="4" name="Text 2"/>
          <p:cNvSpPr txBox="1"/>
          <p:nvPr/>
        </p:nvSpPr>
        <p:spPr>
          <a:xfrm>
            <a:off x="731520" y="1645920"/>
            <a:ext cx="2103120" cy="914400"/>
          </a:xfrm>
          <a:prstGeom prst="rect">
            <a:avLst/>
          </a:prstGeom>
          <a:noFill/>
          <a:ln/>
        </p:spPr>
        <p:txBody>
          <a:bodyPr wrap="square" lIns="0" tIns="0" rIns="0" bIns="0" rtlCol="0" anchor="ctr"/>
          <a:lstStyle/>
          <a:p>
            <a:pPr algn="ctr" indent="0" marL="0">
              <a:buNone/>
            </a:pPr>
            <a:r>
              <a:rPr lang="en-US" sz="5400" b="1" dirty="0">
                <a:solidFill>
                  <a:schemeClr val="accent1"/>
                </a:solidFill>
                <a:latin typeface="Cambria" pitchFamily="34" charset="0"/>
                <a:ea typeface="Cambria" pitchFamily="34" charset="-122"/>
                <a:cs typeface="Cambria" pitchFamily="34" charset="-120"/>
              </a:rPr>
              <a:t>3</a:t>
            </a:r>
            <a:endParaRPr lang="en-US" sz="5400" dirty="0"/>
          </a:p>
        </p:txBody>
      </p:sp>
      <p:sp>
        <p:nvSpPr>
          <p:cNvPr id="5" name="Text 3"/>
          <p:cNvSpPr txBox="1"/>
          <p:nvPr/>
        </p:nvSpPr>
        <p:spPr>
          <a:xfrm>
            <a:off x="868680" y="2606040"/>
            <a:ext cx="1828800" cy="411480"/>
          </a:xfrm>
          <a:prstGeom prst="rect">
            <a:avLst/>
          </a:prstGeom>
          <a:noFill/>
          <a:ln/>
        </p:spPr>
        <p:txBody>
          <a:bodyPr wrap="square" lIns="0" tIns="0" rIns="0" bIns="0" rtlCol="0" anchor="ctr"/>
          <a:lstStyle/>
          <a:p>
            <a:pPr algn="ctr" indent="0" marL="0">
              <a:buNone/>
            </a:pPr>
            <a:r>
              <a:rPr lang="en-US" sz="1800" b="1" dirty="0">
                <a:solidFill>
                  <a:schemeClr val="tx2"/>
                </a:solidFill>
              </a:rPr>
              <a:t>things I learnt</a:t>
            </a:r>
            <a:endParaRPr lang="en-US" sz="1800" dirty="0"/>
          </a:p>
        </p:txBody>
      </p:sp>
      <p:sp>
        <p:nvSpPr>
          <p:cNvPr id="6" name="Text 4"/>
          <p:cNvSpPr txBox="1"/>
          <p:nvPr/>
        </p:nvSpPr>
        <p:spPr>
          <a:xfrm>
            <a:off x="868680" y="3063240"/>
            <a:ext cx="1828800" cy="1097280"/>
          </a:xfrm>
          <a:prstGeom prst="rect">
            <a:avLst/>
          </a:prstGeom>
          <a:noFill/>
          <a:ln/>
        </p:spPr>
        <p:txBody>
          <a:bodyPr wrap="square" lIns="0" tIns="0" rIns="0" bIns="0" rtlCol="0" anchor="t"/>
          <a:lstStyle/>
          <a:p>
            <a:pPr algn="ctr" indent="0" marL="0">
              <a:buNone/>
            </a:pPr>
            <a:r>
              <a:rPr lang="en-US" sz="1500" dirty="0">
                <a:solidFill>
                  <a:schemeClr val="tx1"/>
                </a:solidFill>
              </a:rPr>
              <a:t>Three key ideas from this chapter</a:t>
            </a:r>
            <a:endParaRPr lang="en-US" sz="1500" dirty="0"/>
          </a:p>
        </p:txBody>
      </p:sp>
      <p:sp>
        <p:nvSpPr>
          <p:cNvPr id="7" name="exit 2"/>
          <p:cNvSpPr/>
          <p:nvPr/>
        </p:nvSpPr>
        <p:spPr>
          <a:xfrm>
            <a:off x="3063240" y="1508760"/>
            <a:ext cx="2103120" cy="2743200"/>
          </a:xfrm>
          <a:prstGeom prst="roundRect">
            <a:avLst>
              <a:gd name="adj" fmla="val 5217"/>
            </a:avLst>
          </a:prstGeom>
          <a:solidFill>
            <a:schemeClr val="bg1"/>
          </a:solidFill>
          <a:ln w="12700">
            <a:solidFill>
              <a:schemeClr val="bg1"/>
            </a:solidFill>
            <a:prstDash val="solid"/>
          </a:ln>
        </p:spPr>
      </p:sp>
      <p:sp>
        <p:nvSpPr>
          <p:cNvPr id="8" name="Text 6"/>
          <p:cNvSpPr txBox="1"/>
          <p:nvPr/>
        </p:nvSpPr>
        <p:spPr>
          <a:xfrm>
            <a:off x="3063240" y="1645920"/>
            <a:ext cx="2103120" cy="914400"/>
          </a:xfrm>
          <a:prstGeom prst="rect">
            <a:avLst/>
          </a:prstGeom>
          <a:noFill/>
          <a:ln/>
        </p:spPr>
        <p:txBody>
          <a:bodyPr wrap="square" lIns="0" tIns="0" rIns="0" bIns="0" rtlCol="0" anchor="ctr"/>
          <a:lstStyle/>
          <a:p>
            <a:pPr algn="ctr" indent="0" marL="0">
              <a:buNone/>
            </a:pPr>
            <a:r>
              <a:rPr lang="en-US" sz="5400" b="1" dirty="0">
                <a:solidFill>
                  <a:schemeClr val="accent1"/>
                </a:solidFill>
                <a:latin typeface="Cambria" pitchFamily="34" charset="0"/>
                <a:ea typeface="Cambria" pitchFamily="34" charset="-122"/>
                <a:cs typeface="Cambria" pitchFamily="34" charset="-120"/>
              </a:rPr>
              <a:t>2</a:t>
            </a:r>
            <a:endParaRPr lang="en-US" sz="5400" dirty="0"/>
          </a:p>
        </p:txBody>
      </p:sp>
      <p:sp>
        <p:nvSpPr>
          <p:cNvPr id="9" name="Text 7"/>
          <p:cNvSpPr txBox="1"/>
          <p:nvPr/>
        </p:nvSpPr>
        <p:spPr>
          <a:xfrm>
            <a:off x="3200400" y="2606040"/>
            <a:ext cx="1828800" cy="411480"/>
          </a:xfrm>
          <a:prstGeom prst="rect">
            <a:avLst/>
          </a:prstGeom>
          <a:noFill/>
          <a:ln/>
        </p:spPr>
        <p:txBody>
          <a:bodyPr wrap="square" lIns="0" tIns="0" rIns="0" bIns="0" rtlCol="0" anchor="ctr"/>
          <a:lstStyle/>
          <a:p>
            <a:pPr algn="ctr" indent="0" marL="0">
              <a:buNone/>
            </a:pPr>
            <a:r>
              <a:rPr lang="en-US" sz="1800" b="1" dirty="0">
                <a:solidFill>
                  <a:schemeClr val="tx2"/>
                </a:solidFill>
              </a:rPr>
              <a:t>connections</a:t>
            </a:r>
            <a:endParaRPr lang="en-US" sz="1800" dirty="0"/>
          </a:p>
        </p:txBody>
      </p:sp>
      <p:sp>
        <p:nvSpPr>
          <p:cNvPr id="10" name="Text 8"/>
          <p:cNvSpPr txBox="1"/>
          <p:nvPr/>
        </p:nvSpPr>
        <p:spPr>
          <a:xfrm>
            <a:off x="3200400" y="3063240"/>
            <a:ext cx="1828800" cy="1097280"/>
          </a:xfrm>
          <a:prstGeom prst="rect">
            <a:avLst/>
          </a:prstGeom>
          <a:noFill/>
          <a:ln/>
        </p:spPr>
        <p:txBody>
          <a:bodyPr wrap="square" lIns="0" tIns="0" rIns="0" bIns="0" rtlCol="0" anchor="t"/>
          <a:lstStyle/>
          <a:p>
            <a:pPr algn="ctr" indent="0" marL="0">
              <a:buNone/>
            </a:pPr>
            <a:r>
              <a:rPr lang="en-US" sz="1500" dirty="0">
                <a:solidFill>
                  <a:schemeClr val="tx1"/>
                </a:solidFill>
              </a:rPr>
              <a:t>Two ways this topic connects to my life or my state</a:t>
            </a:r>
            <a:endParaRPr lang="en-US" sz="1500" dirty="0"/>
          </a:p>
        </p:txBody>
      </p:sp>
      <p:sp>
        <p:nvSpPr>
          <p:cNvPr id="11" name="exit 1"/>
          <p:cNvSpPr/>
          <p:nvPr/>
        </p:nvSpPr>
        <p:spPr>
          <a:xfrm>
            <a:off x="5394960" y="1508760"/>
            <a:ext cx="2103120" cy="2743200"/>
          </a:xfrm>
          <a:prstGeom prst="roundRect">
            <a:avLst>
              <a:gd name="adj" fmla="val 5217"/>
            </a:avLst>
          </a:prstGeom>
          <a:solidFill>
            <a:schemeClr val="bg1"/>
          </a:solidFill>
          <a:ln w="12700">
            <a:solidFill>
              <a:schemeClr val="bg1"/>
            </a:solidFill>
            <a:prstDash val="solid"/>
          </a:ln>
        </p:spPr>
      </p:sp>
      <p:sp>
        <p:nvSpPr>
          <p:cNvPr id="12" name="Text 10"/>
          <p:cNvSpPr txBox="1"/>
          <p:nvPr/>
        </p:nvSpPr>
        <p:spPr>
          <a:xfrm>
            <a:off x="5394960" y="1645920"/>
            <a:ext cx="2103120" cy="914400"/>
          </a:xfrm>
          <a:prstGeom prst="rect">
            <a:avLst/>
          </a:prstGeom>
          <a:noFill/>
          <a:ln/>
        </p:spPr>
        <p:txBody>
          <a:bodyPr wrap="square" lIns="0" tIns="0" rIns="0" bIns="0" rtlCol="0" anchor="ctr"/>
          <a:lstStyle/>
          <a:p>
            <a:pPr algn="ctr" indent="0" marL="0">
              <a:buNone/>
            </a:pPr>
            <a:r>
              <a:rPr lang="en-US" sz="5400" b="1" dirty="0">
                <a:solidFill>
                  <a:schemeClr val="accent1"/>
                </a:solidFill>
                <a:latin typeface="Cambria" pitchFamily="34" charset="0"/>
                <a:ea typeface="Cambria" pitchFamily="34" charset="-122"/>
                <a:cs typeface="Cambria" pitchFamily="34" charset="-120"/>
              </a:rPr>
              <a:t>1</a:t>
            </a:r>
            <a:endParaRPr lang="en-US" sz="5400" dirty="0"/>
          </a:p>
        </p:txBody>
      </p:sp>
      <p:sp>
        <p:nvSpPr>
          <p:cNvPr id="13" name="Text 11"/>
          <p:cNvSpPr txBox="1"/>
          <p:nvPr/>
        </p:nvSpPr>
        <p:spPr>
          <a:xfrm>
            <a:off x="5532120" y="2606040"/>
            <a:ext cx="1828800" cy="411480"/>
          </a:xfrm>
          <a:prstGeom prst="rect">
            <a:avLst/>
          </a:prstGeom>
          <a:noFill/>
          <a:ln/>
        </p:spPr>
        <p:txBody>
          <a:bodyPr wrap="square" lIns="0" tIns="0" rIns="0" bIns="0" rtlCol="0" anchor="ctr"/>
          <a:lstStyle/>
          <a:p>
            <a:pPr algn="ctr" indent="0" marL="0">
              <a:buNone/>
            </a:pPr>
            <a:r>
              <a:rPr lang="en-US" sz="1800" b="1" dirty="0">
                <a:solidFill>
                  <a:schemeClr val="tx2"/>
                </a:solidFill>
              </a:rPr>
              <a:t>question</a:t>
            </a:r>
            <a:endParaRPr lang="en-US" sz="1800" dirty="0"/>
          </a:p>
        </p:txBody>
      </p:sp>
      <p:sp>
        <p:nvSpPr>
          <p:cNvPr id="14" name="Text 12"/>
          <p:cNvSpPr txBox="1"/>
          <p:nvPr/>
        </p:nvSpPr>
        <p:spPr>
          <a:xfrm>
            <a:off x="5532120" y="3063240"/>
            <a:ext cx="1828800" cy="1097280"/>
          </a:xfrm>
          <a:prstGeom prst="rect">
            <a:avLst/>
          </a:prstGeom>
          <a:noFill/>
          <a:ln/>
        </p:spPr>
        <p:txBody>
          <a:bodyPr wrap="square" lIns="0" tIns="0" rIns="0" bIns="0" rtlCol="0" anchor="t"/>
          <a:lstStyle/>
          <a:p>
            <a:pPr algn="ctr" indent="0" marL="0">
              <a:buNone/>
            </a:pPr>
            <a:r>
              <a:rPr lang="en-US" sz="1500" dirty="0">
                <a:solidFill>
                  <a:schemeClr val="tx1"/>
                </a:solidFill>
              </a:rPr>
              <a:t>One question I still have</a:t>
            </a:r>
            <a:endParaRPr lang="en-US" sz="1500" dirty="0"/>
          </a:p>
        </p:txBody>
      </p:sp>
      <p:sp>
        <p:nvSpPr>
          <p:cNvPr id="15" name="homework card"/>
          <p:cNvSpPr/>
          <p:nvPr/>
        </p:nvSpPr>
        <p:spPr>
          <a:xfrm>
            <a:off x="7863840" y="1508760"/>
            <a:ext cx="3749040" cy="4709160"/>
          </a:xfrm>
          <a:prstGeom prst="roundRect">
            <a:avLst>
              <a:gd name="adj" fmla="val 2927"/>
            </a:avLst>
          </a:prstGeom>
          <a:solidFill>
            <a:schemeClr val="accent1"/>
          </a:solidFill>
          <a:ln w="12700">
            <a:solidFill>
              <a:schemeClr val="accent1"/>
            </a:solidFill>
            <a:prstDash val="solid"/>
          </a:ln>
        </p:spPr>
      </p:sp>
      <p:pic>
        <p:nvPicPr>
          <p:cNvPr id="16" name="homework icon" descr="preencoded.png">    </p:cNvPr>
          <p:cNvPicPr>
            <a:picLocks noChangeAspect="1"/>
          </p:cNvPicPr>
          <p:nvPr/>
        </p:nvPicPr>
        <p:blipFill>
          <a:blip r:embed="rId1"/>
          <a:stretch>
            <a:fillRect/>
          </a:stretch>
        </p:blipFill>
        <p:spPr>
          <a:xfrm>
            <a:off x="8138160" y="1737360"/>
            <a:ext cx="502920" cy="502920"/>
          </a:xfrm>
          <a:prstGeom prst="rect">
            <a:avLst/>
          </a:prstGeom>
        </p:spPr>
      </p:pic>
      <p:sp>
        <p:nvSpPr>
          <p:cNvPr id="17" name="Text 14"/>
          <p:cNvSpPr txBox="1"/>
          <p:nvPr/>
        </p:nvSpPr>
        <p:spPr>
          <a:xfrm>
            <a:off x="8778240" y="1737360"/>
            <a:ext cx="2651760" cy="502920"/>
          </a:xfrm>
          <a:prstGeom prst="rect">
            <a:avLst/>
          </a:prstGeom>
          <a:noFill/>
          <a:ln/>
        </p:spPr>
        <p:txBody>
          <a:bodyPr wrap="square" lIns="0" tIns="0" rIns="0" bIns="0" rtlCol="0" anchor="ctr"/>
          <a:lstStyle/>
          <a:p>
            <a:pPr indent="0" marL="0">
              <a:buNone/>
            </a:pPr>
            <a:r>
              <a:rPr lang="en-US" sz="2000" b="1" dirty="0">
                <a:solidFill>
                  <a:schemeClr val="bg1"/>
                </a:solidFill>
              </a:rPr>
              <a:t>Homework / Project</a:t>
            </a:r>
            <a:endParaRPr lang="en-US" sz="2000" dirty="0"/>
          </a:p>
        </p:txBody>
      </p:sp>
      <p:sp>
        <p:nvSpPr>
          <p:cNvPr id="18" name="Text 15"/>
          <p:cNvSpPr txBox="1"/>
          <p:nvPr/>
        </p:nvSpPr>
        <p:spPr>
          <a:xfrm>
            <a:off x="8138160" y="2423160"/>
            <a:ext cx="3291840" cy="3657600"/>
          </a:xfrm>
          <a:prstGeom prst="rect">
            <a:avLst/>
          </a:prstGeom>
          <a:noFill/>
          <a:ln/>
        </p:spPr>
        <p:txBody>
          <a:bodyPr wrap="square" lIns="0" tIns="0" rIns="0" bIns="0" rtlCol="0" anchor="t"/>
          <a:lstStyle/>
          <a:p>
            <a:pPr marL="228600" indent="-228600">
              <a:spcAft>
                <a:spcPts val="1000"/>
              </a:spcAft>
              <a:buSzPct val="100000"/>
              <a:buChar char="•"/>
            </a:pPr>
            <a:r>
              <a:rPr lang="en-US" sz="1500" b="1" dirty="0">
                <a:solidFill>
                  <a:schemeClr val="bg1"/>
                </a:solidFill>
              </a:rPr>
              <a:t>Design a public policy</a:t>
            </a:r>
            <a:r>
              <a:rPr lang="en-US" sz="1500" dirty="0">
                <a:solidFill>
                  <a:schemeClr val="bg1"/>
                </a:solidFill>
              </a:rPr>
              <a:t> for one school issue (plastic, water, road safety, energy, littering): reason, solution, who implements, student role, success measure.</a:t>
            </a:r>
            <a:endParaRPr lang="en-US" sz="1600" dirty="0"/>
          </a:p>
          <a:p>
            <a:pPr marL="228600" indent="-228600">
              <a:spcAft>
                <a:spcPts val="1000"/>
              </a:spcAft>
              <a:buSzPct val="100000"/>
              <a:buChar char="•"/>
            </a:pPr>
            <a:r>
              <a:rPr lang="en-US" sz="1500" dirty="0">
                <a:solidFill>
                  <a:schemeClr val="bg1"/>
                </a:solidFill>
              </a:rPr>
              <a:t>Make a chart on one public policy: </a:t>
            </a:r>
            <a:r>
              <a:rPr lang="en-US" sz="1500" b="1" dirty="0">
                <a:solidFill>
                  <a:schemeClr val="bg1"/>
                </a:solidFill>
              </a:rPr>
              <a:t>RTE, Swachh Bharat, PM POSHAN, Ayushman Bharat, Digital India or Jal Jeevan Mission</a:t>
            </a:r>
            <a:r>
              <a:rPr lang="en-US" sz="1500" dirty="0">
                <a:solidFill>
                  <a:schemeClr val="bg1"/>
                </a:solidFill>
              </a:rPr>
              <a:t>.</a:t>
            </a:r>
            <a:endParaRPr lang="en-US" sz="1600" dirty="0"/>
          </a:p>
          <a:p>
            <a:pPr marL="228600" indent="-228600">
              <a:spcAft>
                <a:spcPts val="1000"/>
              </a:spcAft>
              <a:buSzPct val="100000"/>
              <a:buChar char="•"/>
            </a:pPr>
            <a:r>
              <a:rPr lang="en-US" sz="1500" dirty="0">
                <a:solidFill>
                  <a:schemeClr val="bg1"/>
                </a:solidFill>
              </a:rPr>
              <a:t>Find out why </a:t>
            </a:r>
            <a:r>
              <a:rPr lang="en-US" sz="1500" b="1" dirty="0">
                <a:solidFill>
                  <a:schemeClr val="bg1"/>
                </a:solidFill>
              </a:rPr>
              <a:t>25 December</a:t>
            </a:r>
            <a:r>
              <a:rPr lang="en-US" sz="1500" dirty="0">
                <a:solidFill>
                  <a:schemeClr val="bg1"/>
                </a:solidFill>
              </a:rPr>
              <a:t> is National Good Governance Day.</a:t>
            </a:r>
            <a:endParaRPr lang="en-US" sz="1600" dirty="0"/>
          </a:p>
        </p:txBody>
      </p:sp>
      <p:pic>
        <p:nvPicPr>
          <p:cNvPr id="19" name="quote mark" descr="preencoded.png">    </p:cNvPr>
          <p:cNvPicPr>
            <a:picLocks noChangeAspect="1"/>
          </p:cNvPicPr>
          <p:nvPr/>
        </p:nvPicPr>
        <p:blipFill>
          <a:blip r:embed="rId2"/>
          <a:stretch>
            <a:fillRect/>
          </a:stretch>
        </p:blipFill>
        <p:spPr>
          <a:xfrm>
            <a:off x="731520" y="4617720"/>
            <a:ext cx="502920" cy="502920"/>
          </a:xfrm>
          <a:prstGeom prst="rect">
            <a:avLst/>
          </a:prstGeom>
        </p:spPr>
      </p:pic>
      <p:sp>
        <p:nvSpPr>
          <p:cNvPr id="20" name="Text 16"/>
          <p:cNvSpPr txBox="1"/>
          <p:nvPr/>
        </p:nvSpPr>
        <p:spPr>
          <a:xfrm>
            <a:off x="1463040" y="4526280"/>
            <a:ext cx="6035040" cy="1691640"/>
          </a:xfrm>
          <a:prstGeom prst="rect">
            <a:avLst/>
          </a:prstGeom>
          <a:noFill/>
          <a:ln/>
        </p:spPr>
        <p:txBody>
          <a:bodyPr wrap="square" lIns="0" tIns="0" rIns="0" bIns="0" rtlCol="0" anchor="ctr"/>
          <a:lstStyle/>
          <a:p>
            <a:pPr indent="0" marL="0">
              <a:buNone/>
            </a:pPr>
            <a:r>
              <a:rPr lang="en-US" sz="2200" i="1" dirty="0">
                <a:solidFill>
                  <a:schemeClr val="bg1"/>
                </a:solidFill>
                <a:latin typeface="Cambria" pitchFamily="34" charset="0"/>
                <a:ea typeface="Cambria" pitchFamily="34" charset="-122"/>
                <a:cs typeface="Cambria" pitchFamily="34" charset="-120"/>
              </a:rPr>
              <a:t>In the happiness of the people lies the happiness of the ruler.</a:t>
            </a:r>
            <a:endParaRPr lang="en-US" sz="22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EBEEF8"/>
                </a:solidFill>
              </a:defRPr>
            </a:lvl1pPr>
          </a:lstStyle>
          <a:p>
            <a:pPr algn="r"/>
            <a:fld id="{F7021451-1387-4CA6-816F-3879F97B5CBC}" type="slidenum">
              <a:rPr b="0" lang="en-US"/>
              <a:t>32</a:t>
            </a:fld>
            <a:endParaRPr lang="en-US"/>
          </a:p>
        </p:txBody>
      </p:sp>
    </p:spTree>
  </p:cSld>
  <p:clrMapOvr>
    <a:masterClrMapping/>
  </p:clrMapOvr>
</p:sld>
</file>

<file path=ppt/theme/theme1.xml><?xml version="1.0" encoding="utf-8"?>
<a:theme xmlns:a="http://schemas.openxmlformats.org/drawingml/2006/main" name="Governance and Public Policy">
  <a:themeElements>
    <a:clrScheme name="Governance and Public Policy">
      <a:dk1>
        <a:srgbClr val="1F2328"/>
      </a:dk1>
      <a:lt1>
        <a:srgbClr val="FFFFFF"/>
      </a:lt1>
      <a:dk2>
        <a:srgbClr val="1E2761"/>
      </a:dk2>
      <a:lt2>
        <a:srgbClr val="EBEEF8"/>
      </a:lt2>
      <a:accent1>
        <a:srgbClr val="3949AB"/>
      </a:accent1>
      <a:accent2>
        <a:srgbClr val="C2410C"/>
      </a:accent2>
      <a:accent3>
        <a:srgbClr val="FFB347"/>
      </a:accent3>
      <a:accent4>
        <a:srgbClr val="0F7B3F"/>
      </a:accent4>
      <a:accent5>
        <a:srgbClr val="0E7490"/>
      </a:accent5>
      <a:accent6>
        <a:srgbClr val="7B3FA0"/>
      </a:accent6>
      <a:hlink>
        <a:srgbClr val="0563C1"/>
      </a:hlink>
      <a:folHlink>
        <a:srgbClr val="954F72"/>
      </a:folHlink>
    </a:clrScheme>
    <a:fontScheme name="Governance and Public Polic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4: Governance and Public Policy</dc:title>
  <dc:subject>Understanding Society: India and Beyond, Grade 9 Part 2</dc:subject>
  <dc:creator>Social Science Department</dc:creator>
  <cp:lastModifiedBy>Social Science Department</cp:lastModifiedBy>
  <cp:revision>1</cp:revision>
  <dcterms:created xsi:type="dcterms:W3CDTF">2026-10-09T15:51:47Z</dcterms:created>
  <dcterms:modified xsi:type="dcterms:W3CDTF">2026-10-09T15:51:47Z</dcterms:modified>
</cp:coreProperties>
</file>