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bd633b0-5709-fd91-af39-78eda25ddd98}">
          <p14:sldIdLst>
            <p14:sldId id="256"/>
            <p14:sldId id="257"/>
            <p14:sldId id="258"/>
          </p14:sldIdLst>
        </p14:section>
        <p14:section name="Biomes" id="{2b2063e8-5491-eec0-ce5c-71ae3ece0dc2}">
          <p14:sldIdLst>
            <p14:sldId id="259"/>
            <p14:sldId id="260"/>
            <p14:sldId id="261"/>
            <p14:sldId id="262"/>
            <p14:sldId id="263"/>
            <p14:sldId id="264"/>
            <p14:sldId id="265"/>
            <p14:sldId id="266"/>
          </p14:sldIdLst>
        </p14:section>
        <p14:section name="Biodiversity" id="{9e3183ae-954a-d6cd-6be6-bc0cd6753d5a}">
          <p14:sldIdLst>
            <p14:sldId id="267"/>
            <p14:sldId id="268"/>
            <p14:sldId id="269"/>
          </p14:sldIdLst>
        </p14:section>
        <p14:section name="Forests and People" id="{64d80093-e0ca-fa5d-c2ff-f448c04897b0}">
          <p14:sldIdLst>
            <p14:sldId id="270"/>
            <p14:sldId id="271"/>
            <p14:sldId id="272"/>
            <p14:sldId id="273"/>
            <p14:sldId id="274"/>
            <p14:sldId id="275"/>
            <p14:sldId id="276"/>
            <p14:sldId id="277"/>
            <p14:sldId id="278"/>
            <p14:sldId id="279"/>
          </p14:sldIdLst>
        </p14:section>
        <p14:section name="Review" id="{1161081c-601d-50a0-6e71-fc759db738fb}">
          <p14:sldIdLst>
            <p14:sldId id="280"/>
            <p14:sldId id="281"/>
            <p14:sldId id="282"/>
            <p14:sldId id="283"/>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a question: Why do camels live in Rajasthan but not in Kerala's backwaters? This chapter explores how landforms, climate and water shape life, and how humans and nature depend on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each pair a coloured paper square. They draw their 'patch' (climate, plants, animals, houses). Stick all squares together on the board to make a class quilt. Point out that similar patches across the world form a biome.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Analogy: Biome = a city; ecosystem = a neighbourhood in it. Ask students to name an ecosystem near the school.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work: Look at the world biome map (textbook Fig. 2.2). Which continent has the fewest biomes? (Antarctica, mostly ice.) Why are some areas without biomes? (Ice sheets, high mountains.)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Explore: Look at the layers (textbook Fig. 2.4). Ask: Which layer gets the most sunlight? Why would a sloth or monkey live in the canopy? Activity idea: students act as layers; the 'sunlight' (a torch) reaches fewer students as you go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Textbook Let's Explore: compare Fig. 2.7(a) and (b). Answer: The Nubra Valley is a cold desert, so its camels (Bactrian) need denser fur for insulation. Extend: Why does the polar tundra have mosses and lichens while the Himalaya has conifers? (Latitude, altitude, soil and temperature.)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 back to Chapter 1 (Oceans and Life). Ask: Which freshwater body is closest to our school? What lives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trophic levels with a food chain from a local biome: grass, deer, tiger. Ask: Why are there far fewer tigers than deer? (Energy is lost at every level.) Let's Map: place A&amp;N Islands, Keralam, Ladakh, Chhattisgarh, Odisha, Meghalaya and Lakshadweep on the climate triangle in textbook Fig. 2.10 (cold/hot, wet/dry).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textbook's Let's Explore table (Component type, Examples observed, Interaction with humans). Encourage observation of birds' nests, ant hills, termite mounds and spider webs as 'structures built by animals'.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Biodiversity is unevenly spread, so geography decides where and how we conserve. Ask: Is there a sacred grove, temple tank or community forest near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Namdapha NP (Arunachal Pradesh); Rann of Kutch (Gujarat); Gahirmatha beach (Odisha, nesting site of olive ridley turtles); Gulf of Mannar (Tamil Nadu, marine biosphere reserve with coral reefs); Pachmarhi (Madhya Pradesh, biosphere reserve in the Satpura range); Achanakmar–Amarkantak (Chhattisgarh–Madhya Pradesh border, biosphere reserve).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Possible code: no littering or plastic, stay on trails, no feeding or teasing animals, no loud music, buy local products, respect local customs. Ask: Is there an ecotourism site in our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textbook Fig. 2.16 (map). Students add a forest product from their state on the class map. Non-timber forest products (NTFPs) help families meet daily needs and earn income.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time: tell the story of Amrita Devi Bishnoi (1730), who hugged trees to save them. Ask: What can we learn from forest dwellers about sustainable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 tags connect geography (place), culture (traditional knowledge), governance (legal protection) and the rural economy (better prices). Ask: Can you name a GI-tagged product from our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Explore: How has the Pradhan Mantri Ujjwala Yojana (LPG connections) improved women's health? (Less smoke from fuelwood.) Think about it: Which wild animals have you seen in your area, and why do they enter settlements?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name of FRA: Scheduled Tribes and Other Traditional Forest Dwellers (Recognition of Forest Rights) Act, 2006.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the link with Fundamental Rights (participation, control over resources) and Fundamental Duties (protecting the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Explore: Use the School Bhuvan–NCERT Geoportal to spot tanks and the fields they irrigate (textbook Fig. 2.24, Bhandara district).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 to the Forest Rights Act and Mendha Lekha. Encourage students to consider alternatives like Thenmala-style community ecotourism.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 B, Q2: B, Q3: C, Q4: A. Let students vote with fingers (1-4) or A/B/C/D cards before revealing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why each wrong option is wrong. Ask: Which question was the trickiest,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stand up for FACT and stay seated for MYTH (or show thumbs up/down).
Answers:
1. MYTH: A biome is a large region; an ecosystem is like a neighbourhood within it.
2. FACT: They preserve rich, unique genetic resources.
3. MYTH: Deserts can be cold too, like the Gobi or Ladakh's Nubra Valley.
4. FACT: The Bishnoi Movement led by Amrita Devi influenced Chipko in Uttarakhand.
5. FACT: It links a product's quality and reputation to its place of origin.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ask a different student to explain each branch in one sentence, in their own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out sticky notes or half-sheets for the 3-2-1 exit ticket. Collect them at the door and use the questions to plan the next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H_TITLE">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143000"/>
            <a:ext cx="6949440" cy="457200"/>
          </a:xfrm>
          <a:prstGeom prst="rect">
            <a:avLst/>
          </a:prstGeom>
          <a:noFill/>
          <a:ln/>
        </p:spPr>
        <p:txBody>
          <a:bodyPr wrap="square" rtlCol="0"/>
          <a:lstStyle>
            <a:lvl1pPr indent="0" marL="0">
              <a:buNone/>
              <a:defRPr lang="en-US" sz="1800" b="1" spc="300" kern="0" dirty="0">
                <a:solidFill>
                  <a:schemeClr val="accent3"/>
                </a:solidFill>
              </a:defRPr>
            </a:lvl1pPr>
          </a:lstStyle>
          <a:p>
            <a:pPr indent="0" marL="0">
              <a:buNone/>
            </a:pPr>
            <a:endParaRPr lang="en-US" sz="1800" dirty="0"/>
          </a:p>
        </p:txBody>
      </p:sp>
      <p:sp>
        <p:nvSpPr>
          <p:cNvPr id="3" name="Text 0"/>
          <p:cNvSpPr/>
          <p:nvPr>
            <p:ph idx="101" type="title" hasCustomPrompt="1"/>
          </p:nvPr>
        </p:nvSpPr>
        <p:spPr>
          <a:xfrm>
            <a:off x="731520" y="1691640"/>
            <a:ext cx="6949440" cy="219456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4" name="Text 0"/>
          <p:cNvSpPr/>
          <p:nvPr>
            <p:ph idx="102" type="body" hasCustomPrompt="1"/>
          </p:nvPr>
        </p:nvSpPr>
        <p:spPr>
          <a:xfrm>
            <a:off x="731520" y="4069080"/>
            <a:ext cx="6949440" cy="109728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accent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2011680"/>
            <a:ext cx="7772400" cy="457200"/>
          </a:xfrm>
          <a:prstGeom prst="rect">
            <a:avLst/>
          </a:prstGeom>
          <a:noFill/>
          <a:ln/>
        </p:spPr>
        <p:txBody>
          <a:bodyPr wrap="square" rtlCol="0"/>
          <a:lstStyle>
            <a:lvl1pPr indent="0" marL="0">
              <a:buNone/>
              <a:defRPr lang="en-US" sz="1800" b="1" spc="300" kern="0" dirty="0">
                <a:solidFill>
                  <a:schemeClr val="bg2"/>
                </a:solidFill>
              </a:defRPr>
            </a:lvl1pPr>
          </a:lstStyle>
          <a:p>
            <a:pPr indent="0" marL="0">
              <a:buNone/>
            </a:pPr>
            <a:endParaRPr lang="en-US" sz="1800" dirty="0"/>
          </a:p>
        </p:txBody>
      </p:sp>
      <p:sp>
        <p:nvSpPr>
          <p:cNvPr id="3" name="Text 0"/>
          <p:cNvSpPr/>
          <p:nvPr>
            <p:ph idx="101" type="title" hasCustomPrompt="1"/>
          </p:nvPr>
        </p:nvSpPr>
        <p:spPr>
          <a:xfrm>
            <a:off x="731520" y="2514600"/>
            <a:ext cx="7772400" cy="14630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731520" y="4069080"/>
            <a:ext cx="7772400" cy="1097280"/>
          </a:xfrm>
          <a:prstGeom prst="rect">
            <a:avLst/>
          </a:prstGeom>
          <a:noFill/>
          <a:ln/>
        </p:spPr>
        <p:txBody>
          <a:bodyPr wrap="square" rtlCol="0"/>
          <a:lstStyle>
            <a:lvl1pPr indent="0" marL="0">
              <a:buNone/>
              <a:defRPr lang="en-US" sz="1800" dirty="0">
                <a:solidFill>
                  <a:schemeClr val="bg1"/>
                </a:solidFill>
              </a:defRPr>
            </a:lvl1pPr>
          </a:lstStyle>
          <a:p>
            <a:pPr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3" name="Text 0"/>
          <p:cNvSpPr/>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chemeClr val="tx2"/>
                </a:solidFill>
              </a:rPr>
              <a:t>Grade 9 Social Science  ·  Chapter 2: Life on Earth</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3D2B"/>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ACTIVITY">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3" name="Text 0"/>
          <p:cNvSpPr/>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chemeClr val="tx2"/>
                </a:solidFill>
              </a:rPr>
              <a:t>Grade 9 Social Science  ·  Chapter 2: Life on Earth</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3D2B"/>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AF3E6"/>
                </a:solidFill>
              </a:defRPr>
            </a:lvl1pPr>
          </a:lstStyle>
          <a:p>
            <a:pPr algn="r"/>
            <a:fld id="{F7021451-1387-4CA6-816F-3879F97B5CBC}" type="slidenum">
              <a:rPr b="0" lang="en-US"/>
              <a:t>1006</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3D2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5.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4.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4.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4.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4.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5.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4.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5.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4.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4.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4.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4.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4.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4.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4.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5.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6.xml"/><Relationship Id="rId4"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143000"/>
            <a:ext cx="6949440" cy="457200"/>
          </a:xfrm>
          <a:prstGeom prst="rect">
            <a:avLst/>
          </a:prstGeom>
          <a:noFill/>
          <a:ln/>
        </p:spPr>
        <p:txBody>
          <a:bodyPr wrap="square" lIns="0" tIns="0" rIns="0" bIns="0" rtlCol="0"/>
          <a:lstStyle/>
          <a:p>
            <a:pPr indent="0" marL="0">
              <a:buNone/>
            </a:pPr>
            <a:r>
              <a:rPr lang="en-US" sz="1800" b="1" spc="300" kern="0" dirty="0">
                <a:solidFill>
                  <a:schemeClr val="accent3"/>
                </a:solidFill>
              </a:rPr>
              <a:t>CHAPTER 2  ·  GEOGRAPHY</a:t>
            </a:r>
            <a:endParaRPr lang="en-US" sz="1800" dirty="0"/>
          </a:p>
        </p:txBody>
      </p:sp>
      <p:sp>
        <p:nvSpPr>
          <p:cNvPr id="3" name="Text 0"/>
          <p:cNvSpPr/>
          <p:nvPr>
            <p:ph idx="101" type="title" hasCustomPrompt="1"/>
          </p:nvPr>
        </p:nvSpPr>
        <p:spPr>
          <a:xfrm>
            <a:off x="731520" y="1691640"/>
            <a:ext cx="6949440" cy="2194560"/>
          </a:xfrm>
          <a:prstGeom prst="rect">
            <a:avLst/>
          </a:prstGeom>
          <a:noFill/>
          <a:ln/>
        </p:spPr>
        <p:txBody>
          <a:bodyPr wrap="square" lIns="0" tIns="0" rIns="0" bIns="0" rtlCol="0" anchor="t"/>
          <a:lstStyle/>
          <a:p>
            <a:pPr algn="l" indent="0" marL="0">
              <a:buNone/>
            </a:pPr>
            <a:r>
              <a:rPr lang="en-US" sz="5400" b="1" dirty="0">
                <a:solidFill>
                  <a:schemeClr val="bg1"/>
                </a:solidFill>
              </a:rPr>
              <a:t>Life on Earth</a:t>
            </a:r>
            <a:endParaRPr lang="en-US" sz="5400" dirty="0"/>
          </a:p>
        </p:txBody>
      </p:sp>
      <p:sp>
        <p:nvSpPr>
          <p:cNvPr id="4" name="Text 0"/>
          <p:cNvSpPr/>
          <p:nvPr>
            <p:ph idx="102" type="body" hasCustomPrompt="1"/>
          </p:nvPr>
        </p:nvSpPr>
        <p:spPr>
          <a:xfrm>
            <a:off x="731520" y="4069080"/>
            <a:ext cx="6949440" cy="1097280"/>
          </a:xfrm>
          <a:prstGeom prst="rect">
            <a:avLst/>
          </a:prstGeom>
          <a:noFill/>
          <a:ln/>
        </p:spPr>
        <p:txBody>
          <a:bodyPr wrap="square" lIns="0" tIns="0" rIns="0" bIns="0" rtlCol="0" anchor="t"/>
          <a:lstStyle/>
          <a:p>
            <a:pPr indent="0" marL="0">
              <a:buNone/>
            </a:pPr>
            <a:r>
              <a:rPr lang="en-US" sz="1800" dirty="0">
                <a:solidFill>
                  <a:schemeClr val="bg2"/>
                </a:solidFill>
              </a:rPr>
              <a:t>Understanding Society: India and Beyond</a:t>
            </a:r>
            <a:endParaRPr lang="en-US" sz="1800" dirty="0"/>
          </a:p>
          <a:p>
            <a:pPr indent="0" marL="0">
              <a:buNone/>
            </a:pPr>
            <a:r>
              <a:rPr lang="en-US" sz="1800" dirty="0">
                <a:solidFill>
                  <a:schemeClr val="bg2"/>
                </a:solidFill>
              </a:rPr>
              <a:t>Grade 9, Part 2</a:t>
            </a:r>
            <a:endParaRPr lang="en-US" sz="1800" dirty="0"/>
          </a:p>
        </p:txBody>
      </p:sp>
      <p:sp>
        <p:nvSpPr>
          <p:cNvPr id="5" name="hero disc"/>
          <p:cNvSpPr/>
          <p:nvPr/>
        </p:nvSpPr>
        <p:spPr>
          <a:xfrm>
            <a:off x="8001000" y="1234440"/>
            <a:ext cx="3566160" cy="3566160"/>
          </a:xfrm>
          <a:prstGeom prst="ellipse">
            <a:avLst/>
          </a:prstGeom>
          <a:solidFill>
            <a:schemeClr val="accent1"/>
          </a:solidFill>
          <a:ln w="38100">
            <a:solidFill>
              <a:schemeClr val="accent3"/>
            </a:solidFill>
            <a:prstDash val="solid"/>
          </a:ln>
        </p:spPr>
      </p:sp>
      <p:pic>
        <p:nvPicPr>
          <p:cNvPr id="6" name="hero icon" descr="preencoded.png">    </p:cNvPr>
          <p:cNvPicPr>
            <a:picLocks noChangeAspect="1"/>
          </p:cNvPicPr>
          <p:nvPr/>
        </p:nvPicPr>
        <p:blipFill>
          <a:blip r:embed="rId1"/>
          <a:stretch>
            <a:fillRect/>
          </a:stretch>
        </p:blipFill>
        <p:spPr>
          <a:xfrm>
            <a:off x="8823960" y="2057400"/>
            <a:ext cx="1920240" cy="1920240"/>
          </a:xfrm>
          <a:prstGeom prst="rect">
            <a:avLst/>
          </a:prstGeom>
        </p:spPr>
      </p:pic>
      <p:sp>
        <p:nvSpPr>
          <p:cNvPr id="7" name="Text 4"/>
          <p:cNvSpPr txBox="1"/>
          <p:nvPr/>
        </p:nvSpPr>
        <p:spPr>
          <a:xfrm>
            <a:off x="7680960" y="5074920"/>
            <a:ext cx="4206240" cy="731520"/>
          </a:xfrm>
          <a:prstGeom prst="rect">
            <a:avLst/>
          </a:prstGeom>
          <a:noFill/>
          <a:ln/>
        </p:spPr>
        <p:txBody>
          <a:bodyPr wrap="square" lIns="0" tIns="0" rIns="0" bIns="0" rtlCol="0" anchor="t"/>
          <a:lstStyle/>
          <a:p>
            <a:pPr algn="ctr" indent="0" marL="0">
              <a:buNone/>
            </a:pPr>
            <a:r>
              <a:rPr lang="en-US" sz="1600" i="1" dirty="0">
                <a:solidFill>
                  <a:schemeClr val="bg2"/>
                </a:solidFill>
              </a:rPr>
              <a:t>Every patch of Earth's quilt has its own life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Let's Begin: Earth's Patchwork Quilt</a:t>
            </a:r>
            <a:endParaRPr lang="en-US" sz="3600" dirty="0"/>
          </a:p>
        </p:txBody>
      </p:sp>
      <p:sp>
        <p:nvSpPr>
          <p:cNvPr id="3" name="hook prompt card"/>
          <p:cNvSpPr/>
          <p:nvPr/>
        </p:nvSpPr>
        <p:spPr>
          <a:xfrm>
            <a:off x="548640" y="1371600"/>
            <a:ext cx="6766560" cy="4754880"/>
          </a:xfrm>
          <a:prstGeom prst="roundRect">
            <a:avLst>
              <a:gd name="adj" fmla="val 2308"/>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4" name="hook disc"/>
          <p:cNvSpPr/>
          <p:nvPr/>
        </p:nvSpPr>
        <p:spPr>
          <a:xfrm>
            <a:off x="868680" y="1691640"/>
            <a:ext cx="822960" cy="822960"/>
          </a:xfrm>
          <a:prstGeom prst="ellipse">
            <a:avLst/>
          </a:prstGeom>
          <a:solidFill>
            <a:schemeClr val="accent1"/>
          </a:solidFill>
          <a:ln w="12700">
            <a:solidFill>
              <a:schemeClr val="accent1"/>
            </a:solidFill>
            <a:prstDash val="solid"/>
          </a:ln>
        </p:spPr>
      </p:sp>
      <p:pic>
        <p:nvPicPr>
          <p:cNvPr id="5" name="hook glyph" descr="preencoded.png">    </p:cNvPr>
          <p:cNvPicPr>
            <a:picLocks noChangeAspect="1"/>
          </p:cNvPicPr>
          <p:nvPr/>
        </p:nvPicPr>
        <p:blipFill>
          <a:blip r:embed="rId1"/>
          <a:stretch>
            <a:fillRect/>
          </a:stretch>
        </p:blipFill>
        <p:spPr>
          <a:xfrm>
            <a:off x="1049731" y="1872691"/>
            <a:ext cx="460858" cy="460858"/>
          </a:xfrm>
          <a:prstGeom prst="rect">
            <a:avLst/>
          </a:prstGeom>
        </p:spPr>
      </p:pic>
      <p:sp>
        <p:nvSpPr>
          <p:cNvPr id="6" name="Text 3"/>
          <p:cNvSpPr txBox="1"/>
          <p:nvPr/>
        </p:nvSpPr>
        <p:spPr>
          <a:xfrm>
            <a:off x="1874520" y="1874520"/>
            <a:ext cx="5120640" cy="457200"/>
          </a:xfrm>
          <a:prstGeom prst="rect">
            <a:avLst/>
          </a:prstGeom>
          <a:noFill/>
          <a:ln/>
        </p:spPr>
        <p:txBody>
          <a:bodyPr wrap="square" lIns="0" tIns="0" rIns="0" bIns="0" rtlCol="0" anchor="ctr"/>
          <a:lstStyle/>
          <a:p>
            <a:pPr indent="0" marL="0">
              <a:buNone/>
            </a:pPr>
            <a:r>
              <a:rPr lang="en-US" sz="1400" b="1" spc="200" kern="0" dirty="0">
                <a:solidFill>
                  <a:schemeClr val="accent1"/>
                </a:solidFill>
              </a:rPr>
              <a:t>THINK · PAIR · SHARE</a:t>
            </a:r>
            <a:endParaRPr lang="en-US" sz="1400" dirty="0"/>
          </a:p>
        </p:txBody>
      </p:sp>
      <p:sp>
        <p:nvSpPr>
          <p:cNvPr id="7" name="Text 4"/>
          <p:cNvSpPr txBox="1"/>
          <p:nvPr/>
        </p:nvSpPr>
        <p:spPr>
          <a:xfrm>
            <a:off x="868680" y="2743200"/>
            <a:ext cx="6126480" cy="1828800"/>
          </a:xfrm>
          <a:prstGeom prst="rect">
            <a:avLst/>
          </a:prstGeom>
          <a:noFill/>
          <a:ln/>
        </p:spPr>
        <p:txBody>
          <a:bodyPr wrap="square" lIns="0" tIns="0" rIns="0" bIns="0" rtlCol="0" anchor="t"/>
          <a:lstStyle/>
          <a:p>
            <a:pPr indent="0" marL="0">
              <a:buNone/>
            </a:pPr>
            <a:r>
              <a:rPr lang="en-US" sz="2400" b="1" dirty="0">
                <a:solidFill>
                  <a:schemeClr val="tx2"/>
                </a:solidFill>
                <a:latin typeface="Cambria" pitchFamily="34" charset="0"/>
                <a:ea typeface="Cambria" pitchFamily="34" charset="-122"/>
                <a:cs typeface="Cambria" pitchFamily="34" charset="-120"/>
              </a:rPr>
              <a:t>If Earth were a giant patchwork quilt, what would your patch look like?</a:t>
            </a:r>
            <a:endParaRPr lang="en-US" sz="2400" dirty="0"/>
          </a:p>
        </p:txBody>
      </p:sp>
      <p:sp>
        <p:nvSpPr>
          <p:cNvPr id="8" name="Text 5"/>
          <p:cNvSpPr txBox="1"/>
          <p:nvPr/>
        </p:nvSpPr>
        <p:spPr>
          <a:xfrm>
            <a:off x="868680" y="4617720"/>
            <a:ext cx="6126480" cy="137160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chemeClr val="tx1"/>
                </a:solidFill>
              </a:rPr>
              <a:t>Name 3 plants and 3 animals found near your home</a:t>
            </a:r>
            <a:endParaRPr lang="en-US" sz="1600" dirty="0"/>
          </a:p>
          <a:p>
            <a:pPr marL="228600" indent="-228600">
              <a:spcAft>
                <a:spcPts val="600"/>
              </a:spcAft>
              <a:buSzPct val="100000"/>
              <a:buChar char="•"/>
            </a:pPr>
            <a:r>
              <a:rPr lang="en-US" sz="1600" dirty="0">
                <a:solidFill>
                  <a:schemeClr val="tx1"/>
                </a:solidFill>
              </a:rPr>
              <a:t>What is the weather like for most of the year?</a:t>
            </a:r>
            <a:endParaRPr lang="en-US" sz="1600" dirty="0"/>
          </a:p>
        </p:txBody>
      </p:sp>
      <p:sp>
        <p:nvSpPr>
          <p:cNvPr id="9" name="did you know card"/>
          <p:cNvSpPr/>
          <p:nvPr/>
        </p:nvSpPr>
        <p:spPr>
          <a:xfrm>
            <a:off x="7635240" y="1371600"/>
            <a:ext cx="3977640" cy="4754880"/>
          </a:xfrm>
          <a:prstGeom prst="roundRect">
            <a:avLst>
              <a:gd name="adj" fmla="val 2759"/>
            </a:avLst>
          </a:prstGeom>
          <a:solidFill>
            <a:schemeClr val="tx2"/>
          </a:solidFill>
          <a:ln w="12700">
            <a:solidFill>
              <a:schemeClr val="tx2"/>
            </a:solidFill>
            <a:prstDash val="solid"/>
          </a:ln>
          <a:effectLst>
            <a:outerShdw sx="100000" sy="100000" kx="0" ky="0" algn="bl" rotWithShape="0" blurRad="101600" dist="25400" dir="5400000">
              <a:srgbClr val="000000">
                <a:alpha val="14000"/>
              </a:srgbClr>
            </a:outerShdw>
          </a:effectLst>
        </p:spPr>
      </p:sp>
      <p:pic>
        <p:nvPicPr>
          <p:cNvPr id="10" name="bulb" descr="preencoded.png">    </p:cNvPr>
          <p:cNvPicPr>
            <a:picLocks noChangeAspect="1"/>
          </p:cNvPicPr>
          <p:nvPr/>
        </p:nvPicPr>
        <p:blipFill>
          <a:blip r:embed="rId2"/>
          <a:stretch>
            <a:fillRect/>
          </a:stretch>
        </p:blipFill>
        <p:spPr>
          <a:xfrm>
            <a:off x="7955280" y="1691640"/>
            <a:ext cx="548640" cy="548640"/>
          </a:xfrm>
          <a:prstGeom prst="rect">
            <a:avLst/>
          </a:prstGeom>
        </p:spPr>
      </p:pic>
      <p:sp>
        <p:nvSpPr>
          <p:cNvPr id="11" name="Text 7"/>
          <p:cNvSpPr txBox="1"/>
          <p:nvPr/>
        </p:nvSpPr>
        <p:spPr>
          <a:xfrm>
            <a:off x="8641080" y="1691640"/>
            <a:ext cx="2743200" cy="548640"/>
          </a:xfrm>
          <a:prstGeom prst="rect">
            <a:avLst/>
          </a:prstGeom>
          <a:noFill/>
          <a:ln/>
        </p:spPr>
        <p:txBody>
          <a:bodyPr wrap="square" lIns="0" tIns="0" rIns="0" bIns="0" rtlCol="0" anchor="ctr"/>
          <a:lstStyle/>
          <a:p>
            <a:pPr indent="0" marL="0">
              <a:buNone/>
            </a:pPr>
            <a:r>
              <a:rPr lang="en-US" sz="2000" b="1" dirty="0">
                <a:solidFill>
                  <a:schemeClr val="accent3"/>
                </a:solidFill>
              </a:rPr>
              <a:t>Did you know?</a:t>
            </a:r>
            <a:endParaRPr lang="en-US" sz="2000" dirty="0"/>
          </a:p>
        </p:txBody>
      </p:sp>
      <p:sp>
        <p:nvSpPr>
          <p:cNvPr id="12" name="Text 8"/>
          <p:cNvSpPr txBox="1"/>
          <p:nvPr/>
        </p:nvSpPr>
        <p:spPr>
          <a:xfrm>
            <a:off x="7955280" y="2468880"/>
            <a:ext cx="3383280" cy="347472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chemeClr val="bg1"/>
                </a:solidFill>
              </a:rPr>
              <a:t>'Biome' comes from the Greek bios (life) + -ome (a group).</a:t>
            </a:r>
            <a:endParaRPr lang="en-US" sz="1600" dirty="0"/>
          </a:p>
          <a:p>
            <a:pPr marL="228600" indent="-228600">
              <a:spcAft>
                <a:spcPts val="1000"/>
              </a:spcAft>
              <a:buSzPct val="100000"/>
              <a:buChar char="•"/>
            </a:pPr>
            <a:r>
              <a:rPr lang="en-US" sz="1600" dirty="0">
                <a:solidFill>
                  <a:schemeClr val="bg1"/>
                </a:solidFill>
              </a:rPr>
              <a:t>The Rann of Kutch is a white salt desert in the dry season and a marshy wetland in the monsoon.</a:t>
            </a:r>
            <a:endParaRPr lang="en-US" sz="1600" dirty="0"/>
          </a:p>
          <a:p>
            <a:pPr marL="228600" indent="-228600">
              <a:spcAft>
                <a:spcPts val="1000"/>
              </a:spcAft>
              <a:buSzPct val="100000"/>
              <a:buChar char="•"/>
            </a:pPr>
            <a:r>
              <a:rPr lang="en-US" sz="1600" dirty="0">
                <a:solidFill>
                  <a:schemeClr val="bg1"/>
                </a:solidFill>
              </a:rPr>
              <a:t>India has over 1,00,000 sacred groves protected by local communities.</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3D2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The Big Questions</a:t>
            </a:r>
            <a:endParaRPr lang="en-US" sz="3600" dirty="0"/>
          </a:p>
        </p:txBody>
      </p:sp>
      <p:sp>
        <p:nvSpPr>
          <p:cNvPr id="3" name="question 1 card"/>
          <p:cNvSpPr/>
          <p:nvPr/>
        </p:nvSpPr>
        <p:spPr>
          <a:xfrm>
            <a:off x="548640" y="1371600"/>
            <a:ext cx="11064240" cy="749808"/>
          </a:xfrm>
          <a:prstGeom prst="roundRect">
            <a:avLst>
              <a:gd name="adj" fmla="val 14634"/>
            </a:avLst>
          </a:prstGeom>
          <a:solidFill>
            <a:schemeClr val="bg2"/>
          </a:solidFill>
          <a:ln w="12700">
            <a:solidFill>
              <a:schemeClr val="bg2"/>
            </a:solidFill>
            <a:prstDash val="solid"/>
          </a:ln>
        </p:spPr>
      </p:sp>
      <p:sp>
        <p:nvSpPr>
          <p:cNvPr id="4" name="q1 badge"/>
          <p:cNvSpPr/>
          <p:nvPr/>
        </p:nvSpPr>
        <p:spPr>
          <a:xfrm>
            <a:off x="731520" y="1495044"/>
            <a:ext cx="502920" cy="502920"/>
          </a:xfrm>
          <a:prstGeom prst="ellipse">
            <a:avLst/>
          </a:prstGeom>
          <a:solidFill>
            <a:schemeClr val="accent1"/>
          </a:solidFill>
          <a:ln w="12700">
            <a:solidFill>
              <a:schemeClr val="accent1"/>
            </a:solidFill>
            <a:prstDash val="solid"/>
          </a:ln>
        </p:spPr>
      </p:sp>
      <p:sp>
        <p:nvSpPr>
          <p:cNvPr id="5" name="Text 3"/>
          <p:cNvSpPr txBox="1"/>
          <p:nvPr/>
        </p:nvSpPr>
        <p:spPr>
          <a:xfrm>
            <a:off x="731520" y="1495044"/>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4"/>
          <p:cNvSpPr txBox="1"/>
          <p:nvPr/>
        </p:nvSpPr>
        <p:spPr>
          <a:xfrm>
            <a:off x="1463040" y="1371600"/>
            <a:ext cx="9966960" cy="749808"/>
          </a:xfrm>
          <a:prstGeom prst="rect">
            <a:avLst/>
          </a:prstGeom>
          <a:noFill/>
          <a:ln/>
        </p:spPr>
        <p:txBody>
          <a:bodyPr wrap="square" lIns="0" tIns="0" rIns="0" bIns="0" rtlCol="0" anchor="ctr"/>
          <a:lstStyle/>
          <a:p>
            <a:pPr indent="0" marL="0">
              <a:buNone/>
            </a:pPr>
            <a:r>
              <a:rPr lang="en-US" sz="1800" dirty="0">
                <a:solidFill>
                  <a:schemeClr val="tx1"/>
                </a:solidFill>
              </a:rPr>
              <a:t>How do physiography and climate shape life on Earth?</a:t>
            </a:r>
            <a:endParaRPr lang="en-US" sz="1800" dirty="0"/>
          </a:p>
        </p:txBody>
      </p:sp>
      <p:sp>
        <p:nvSpPr>
          <p:cNvPr id="7" name="question 2 card"/>
          <p:cNvSpPr/>
          <p:nvPr/>
        </p:nvSpPr>
        <p:spPr>
          <a:xfrm>
            <a:off x="548640" y="2286000"/>
            <a:ext cx="11064240" cy="749808"/>
          </a:xfrm>
          <a:prstGeom prst="roundRect">
            <a:avLst>
              <a:gd name="adj" fmla="val 14634"/>
            </a:avLst>
          </a:prstGeom>
          <a:solidFill>
            <a:schemeClr val="bg2"/>
          </a:solidFill>
          <a:ln w="12700">
            <a:solidFill>
              <a:schemeClr val="bg2"/>
            </a:solidFill>
            <a:prstDash val="solid"/>
          </a:ln>
        </p:spPr>
      </p:sp>
      <p:sp>
        <p:nvSpPr>
          <p:cNvPr id="8" name="q2 badge"/>
          <p:cNvSpPr/>
          <p:nvPr/>
        </p:nvSpPr>
        <p:spPr>
          <a:xfrm>
            <a:off x="731520" y="2409444"/>
            <a:ext cx="502920" cy="502920"/>
          </a:xfrm>
          <a:prstGeom prst="ellipse">
            <a:avLst/>
          </a:prstGeom>
          <a:solidFill>
            <a:schemeClr val="accent1"/>
          </a:solidFill>
          <a:ln w="12700">
            <a:solidFill>
              <a:schemeClr val="accent1"/>
            </a:solidFill>
            <a:prstDash val="solid"/>
          </a:ln>
        </p:spPr>
      </p:sp>
      <p:sp>
        <p:nvSpPr>
          <p:cNvPr id="9" name="Text 7"/>
          <p:cNvSpPr txBox="1"/>
          <p:nvPr/>
        </p:nvSpPr>
        <p:spPr>
          <a:xfrm>
            <a:off x="731520" y="2409444"/>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0" name="Text 8"/>
          <p:cNvSpPr txBox="1"/>
          <p:nvPr/>
        </p:nvSpPr>
        <p:spPr>
          <a:xfrm>
            <a:off x="1463040" y="2286000"/>
            <a:ext cx="9966960" cy="749808"/>
          </a:xfrm>
          <a:prstGeom prst="rect">
            <a:avLst/>
          </a:prstGeom>
          <a:noFill/>
          <a:ln/>
        </p:spPr>
        <p:txBody>
          <a:bodyPr wrap="square" lIns="0" tIns="0" rIns="0" bIns="0" rtlCol="0" anchor="ctr"/>
          <a:lstStyle/>
          <a:p>
            <a:pPr indent="0" marL="0">
              <a:buNone/>
            </a:pPr>
            <a:r>
              <a:rPr lang="en-US" sz="1800" dirty="0">
                <a:solidFill>
                  <a:schemeClr val="tx1"/>
                </a:solidFill>
              </a:rPr>
              <a:t>How are humans and other life forms interconnected?</a:t>
            </a:r>
            <a:endParaRPr lang="en-US" sz="1800" dirty="0"/>
          </a:p>
        </p:txBody>
      </p:sp>
      <p:sp>
        <p:nvSpPr>
          <p:cNvPr id="11" name="question 3 card"/>
          <p:cNvSpPr/>
          <p:nvPr/>
        </p:nvSpPr>
        <p:spPr>
          <a:xfrm>
            <a:off x="548640" y="3200400"/>
            <a:ext cx="11064240" cy="749808"/>
          </a:xfrm>
          <a:prstGeom prst="roundRect">
            <a:avLst>
              <a:gd name="adj" fmla="val 14634"/>
            </a:avLst>
          </a:prstGeom>
          <a:solidFill>
            <a:schemeClr val="bg2"/>
          </a:solidFill>
          <a:ln w="12700">
            <a:solidFill>
              <a:schemeClr val="bg2"/>
            </a:solidFill>
            <a:prstDash val="solid"/>
          </a:ln>
        </p:spPr>
      </p:sp>
      <p:sp>
        <p:nvSpPr>
          <p:cNvPr id="12" name="q3 badge"/>
          <p:cNvSpPr/>
          <p:nvPr/>
        </p:nvSpPr>
        <p:spPr>
          <a:xfrm>
            <a:off x="731520" y="3323844"/>
            <a:ext cx="502920" cy="502920"/>
          </a:xfrm>
          <a:prstGeom prst="ellipse">
            <a:avLst/>
          </a:prstGeom>
          <a:solidFill>
            <a:schemeClr val="accent1"/>
          </a:solidFill>
          <a:ln w="12700">
            <a:solidFill>
              <a:schemeClr val="accent1"/>
            </a:solidFill>
            <a:prstDash val="solid"/>
          </a:ln>
        </p:spPr>
      </p:sp>
      <p:sp>
        <p:nvSpPr>
          <p:cNvPr id="13" name="Text 11"/>
          <p:cNvSpPr txBox="1"/>
          <p:nvPr/>
        </p:nvSpPr>
        <p:spPr>
          <a:xfrm>
            <a:off x="731520" y="3323844"/>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4" name="Text 12"/>
          <p:cNvSpPr txBox="1"/>
          <p:nvPr/>
        </p:nvSpPr>
        <p:spPr>
          <a:xfrm>
            <a:off x="1463040" y="3200400"/>
            <a:ext cx="9966960" cy="749808"/>
          </a:xfrm>
          <a:prstGeom prst="rect">
            <a:avLst/>
          </a:prstGeom>
          <a:noFill/>
          <a:ln/>
        </p:spPr>
        <p:txBody>
          <a:bodyPr wrap="square" lIns="0" tIns="0" rIns="0" bIns="0" rtlCol="0" anchor="ctr"/>
          <a:lstStyle/>
          <a:p>
            <a:pPr indent="0" marL="0">
              <a:buNone/>
            </a:pPr>
            <a:r>
              <a:rPr lang="en-US" sz="1800" dirty="0">
                <a:solidFill>
                  <a:schemeClr val="tx1"/>
                </a:solidFill>
              </a:rPr>
              <a:t>What is the importance of preserving various life forms, and how can we contribute to their conservation?</a:t>
            </a:r>
            <a:endParaRPr lang="en-US" sz="18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3D2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731520" y="2011680"/>
            <a:ext cx="7772400" cy="457200"/>
          </a:xfrm>
          <a:prstGeom prst="rect">
            <a:avLst/>
          </a:prstGeom>
          <a:noFill/>
          <a:ln/>
        </p:spPr>
        <p:txBody>
          <a:bodyPr wrap="square" lIns="0" tIns="0" rIns="0" bIns="0" rtlCol="0"/>
          <a:lstStyle/>
          <a:p>
            <a:pPr indent="0" marL="0">
              <a:buNone/>
            </a:pPr>
            <a:r>
              <a:rPr lang="en-US" sz="1800" b="1" spc="300" kern="0" dirty="0">
                <a:solidFill>
                  <a:schemeClr val="bg2"/>
                </a:solidFill>
              </a:rPr>
              <a:t>PART 1</a:t>
            </a:r>
            <a:endParaRPr lang="en-US" sz="1800" dirty="0"/>
          </a:p>
        </p:txBody>
      </p:sp>
      <p:sp>
        <p:nvSpPr>
          <p:cNvPr id="3" name="Text 0"/>
          <p:cNvSpPr/>
          <p:nvPr>
            <p:ph idx="101" type="title" hasCustomPrompt="1"/>
          </p:nvPr>
        </p:nvSpPr>
        <p:spPr>
          <a:xfrm>
            <a:off x="731520" y="2514600"/>
            <a:ext cx="7772400" cy="1463040"/>
          </a:xfrm>
          <a:prstGeom prst="rect">
            <a:avLst/>
          </a:prstGeom>
          <a:noFill/>
          <a:ln/>
        </p:spPr>
        <p:txBody>
          <a:bodyPr wrap="square" lIns="0" tIns="0" rIns="0" bIns="0" rtlCol="0" anchor="t"/>
          <a:lstStyle/>
          <a:p>
            <a:pPr algn="l" indent="0" marL="0">
              <a:buNone/>
            </a:pPr>
            <a:r>
              <a:rPr lang="en-US" sz="4400" b="1" dirty="0">
                <a:solidFill>
                  <a:schemeClr val="bg1"/>
                </a:solidFill>
              </a:rPr>
              <a:t>Biomes: Earth's Patchwork Quilt</a:t>
            </a:r>
            <a:endParaRPr lang="en-US" sz="4400" dirty="0"/>
          </a:p>
        </p:txBody>
      </p:sp>
      <p:sp>
        <p:nvSpPr>
          <p:cNvPr id="4" name="Text 0"/>
          <p:cNvSpPr/>
          <p:nvPr>
            <p:ph idx="102" type="body" hasCustomPrompt="1"/>
          </p:nvPr>
        </p:nvSpPr>
        <p:spPr>
          <a:xfrm>
            <a:off x="731520" y="4069080"/>
            <a:ext cx="7772400" cy="1097280"/>
          </a:xfrm>
          <a:prstGeom prst="rect">
            <a:avLst/>
          </a:prstGeom>
          <a:noFill/>
          <a:ln/>
        </p:spPr>
        <p:txBody>
          <a:bodyPr wrap="square" lIns="0" tIns="0" rIns="0" bIns="0" rtlCol="0" anchor="t"/>
          <a:lstStyle/>
          <a:p>
            <a:pPr indent="0" marL="0">
              <a:buNone/>
            </a:pPr>
            <a:r>
              <a:rPr lang="en-US" sz="1800" dirty="0">
                <a:solidFill>
                  <a:schemeClr val="bg1"/>
                </a:solidFill>
              </a:rPr>
              <a:t>Large natural regions where certain plants and animals live under similar climatic conditions.</a:t>
            </a:r>
            <a:endParaRPr lang="en-US" sz="1800" dirty="0"/>
          </a:p>
        </p:txBody>
      </p:sp>
      <p:sp>
        <p:nvSpPr>
          <p:cNvPr id="5" name="section disc"/>
          <p:cNvSpPr/>
          <p:nvPr/>
        </p:nvSpPr>
        <p:spPr>
          <a:xfrm>
            <a:off x="9006840" y="1828800"/>
            <a:ext cx="2560320" cy="2560320"/>
          </a:xfrm>
          <a:prstGeom prst="ellipse">
            <a:avLst/>
          </a:prstGeom>
          <a:solidFill>
            <a:schemeClr val="tx2"/>
          </a:solidFill>
          <a:ln w="25400">
            <a:solidFill>
              <a:schemeClr val="bg1"/>
            </a:solidFill>
            <a:prstDash val="solid"/>
          </a:ln>
        </p:spPr>
      </p:sp>
      <p:pic>
        <p:nvPicPr>
          <p:cNvPr id="6" name="section icon" descr="preencoded.png">    </p:cNvPr>
          <p:cNvPicPr>
            <a:picLocks noChangeAspect="1"/>
          </p:cNvPicPr>
          <p:nvPr/>
        </p:nvPicPr>
        <p:blipFill>
          <a:blip r:embed="rId1"/>
          <a:stretch>
            <a:fillRect/>
          </a:stretch>
        </p:blipFill>
        <p:spPr>
          <a:xfrm>
            <a:off x="9601200" y="2423160"/>
            <a:ext cx="1371600" cy="13716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Biome or Ecosystem?</a:t>
            </a:r>
            <a:endParaRPr lang="en-US" sz="3600" dirty="0"/>
          </a:p>
        </p:txBody>
      </p:sp>
      <p:sp>
        <p:nvSpPr>
          <p:cNvPr id="3" name="Biome header"/>
          <p:cNvSpPr/>
          <p:nvPr/>
        </p:nvSpPr>
        <p:spPr>
          <a:xfrm>
            <a:off x="548640" y="1371600"/>
            <a:ext cx="5257800" cy="777240"/>
          </a:xfrm>
          <a:prstGeom prst="roundRect">
            <a:avLst>
              <a:gd name="adj" fmla="val 14118"/>
            </a:avLst>
          </a:prstGeom>
          <a:solidFill>
            <a:schemeClr val="accent1"/>
          </a:solidFill>
          <a:ln w="12700">
            <a:solidFill>
              <a:schemeClr val="accent1"/>
            </a:solidFill>
            <a:prstDash val="solid"/>
          </a:ln>
        </p:spPr>
      </p:sp>
      <p:pic>
        <p:nvPicPr>
          <p:cNvPr id="4" name="Biome icon" descr="preencoded.png">    </p:cNvPr>
          <p:cNvPicPr>
            <a:picLocks noChangeAspect="1"/>
          </p:cNvPicPr>
          <p:nvPr/>
        </p:nvPicPr>
        <p:blipFill>
          <a:blip r:embed="rId1"/>
          <a:stretch>
            <a:fillRect/>
          </a:stretch>
        </p:blipFill>
        <p:spPr>
          <a:xfrm>
            <a:off x="777240" y="1508760"/>
            <a:ext cx="502920" cy="502920"/>
          </a:xfrm>
          <a:prstGeom prst="rect">
            <a:avLst/>
          </a:prstGeom>
        </p:spPr>
      </p:pic>
      <p:sp>
        <p:nvSpPr>
          <p:cNvPr id="5" name="Text 2"/>
          <p:cNvSpPr txBox="1"/>
          <p:nvPr/>
        </p:nvSpPr>
        <p:spPr>
          <a:xfrm>
            <a:off x="1463040" y="1371600"/>
            <a:ext cx="4160520" cy="777240"/>
          </a:xfrm>
          <a:prstGeom prst="rect">
            <a:avLst/>
          </a:prstGeom>
          <a:noFill/>
          <a:ln/>
        </p:spPr>
        <p:txBody>
          <a:bodyPr wrap="square" lIns="0" tIns="0" rIns="0" bIns="0" rtlCol="0" anchor="ctr"/>
          <a:lstStyle/>
          <a:p>
            <a:pPr indent="0" marL="0">
              <a:buNone/>
            </a:pPr>
            <a:r>
              <a:rPr lang="en-US" sz="2200" b="1" dirty="0">
                <a:solidFill>
                  <a:schemeClr val="bg1"/>
                </a:solidFill>
              </a:rPr>
              <a:t>Biome</a:t>
            </a:r>
            <a:endParaRPr lang="en-US" sz="2200" dirty="0"/>
          </a:p>
        </p:txBody>
      </p:sp>
      <p:sp>
        <p:nvSpPr>
          <p:cNvPr id="6" name="Biome body"/>
          <p:cNvSpPr/>
          <p:nvPr/>
        </p:nvSpPr>
        <p:spPr>
          <a:xfrm>
            <a:off x="548640" y="2240280"/>
            <a:ext cx="5257800" cy="3383280"/>
          </a:xfrm>
          <a:prstGeom prst="roundRect">
            <a:avLst>
              <a:gd name="adj" fmla="val 3243"/>
            </a:avLst>
          </a:prstGeom>
          <a:solidFill>
            <a:schemeClr val="bg2"/>
          </a:solidFill>
          <a:ln w="12700">
            <a:solidFill>
              <a:schemeClr val="bg2"/>
            </a:solidFill>
            <a:prstDash val="solid"/>
          </a:ln>
        </p:spPr>
      </p:sp>
      <p:sp>
        <p:nvSpPr>
          <p:cNvPr id="7" name="Text 4"/>
          <p:cNvSpPr txBox="1"/>
          <p:nvPr/>
        </p:nvSpPr>
        <p:spPr>
          <a:xfrm>
            <a:off x="822960" y="2423160"/>
            <a:ext cx="4709160" cy="3017520"/>
          </a:xfrm>
          <a:prstGeom prst="rect">
            <a:avLst/>
          </a:prstGeom>
          <a:noFill/>
          <a:ln/>
        </p:spPr>
        <p:txBody>
          <a:bodyPr wrap="square" lIns="0" tIns="0" rIns="0" bIns="0" rtlCol="0" anchor="t"/>
          <a:lstStyle/>
          <a:p>
            <a:pPr marL="228600" indent="-228600">
              <a:spcAft>
                <a:spcPts val="800"/>
              </a:spcAft>
              <a:buSzPct val="100000"/>
              <a:buChar char="•"/>
            </a:pPr>
            <a:r>
              <a:rPr lang="en-US" sz="1900" dirty="0">
                <a:solidFill>
                  <a:schemeClr val="tx1"/>
                </a:solidFill>
              </a:rPr>
              <a:t>A </a:t>
            </a:r>
            <a:r>
              <a:rPr lang="en-US" sz="1900" b="1" dirty="0">
                <a:solidFill>
                  <a:schemeClr val="tx1"/>
                </a:solidFill>
              </a:rPr>
              <a:t>large natural region</a:t>
            </a:r>
            <a:r>
              <a:rPr lang="en-US" sz="1900" dirty="0">
                <a:solidFill>
                  <a:schemeClr val="tx1"/>
                </a:solidFill>
              </a:rPr>
              <a:t> of the world</a:t>
            </a:r>
            <a:endParaRPr lang="en-US" sz="1600" dirty="0"/>
          </a:p>
          <a:p>
            <a:pPr marL="228600" indent="-228600">
              <a:spcAft>
                <a:spcPts val="800"/>
              </a:spcAft>
              <a:buSzPct val="100000"/>
              <a:buChar char="•"/>
            </a:pPr>
            <a:r>
              <a:rPr lang="en-US" sz="1900" dirty="0">
                <a:solidFill>
                  <a:schemeClr val="tx1"/>
                </a:solidFill>
              </a:rPr>
              <a:t>Plants and animals live under </a:t>
            </a:r>
            <a:r>
              <a:rPr lang="en-US" sz="1900" b="1" dirty="0">
                <a:solidFill>
                  <a:schemeClr val="tx1"/>
                </a:solidFill>
              </a:rPr>
              <a:t>similar climate</a:t>
            </a:r>
            <a:endParaRPr lang="en-US" sz="1600" dirty="0"/>
          </a:p>
          <a:p>
            <a:pPr marL="228600" indent="-228600">
              <a:spcAft>
                <a:spcPts val="800"/>
              </a:spcAft>
              <a:buSzPct val="100000"/>
              <a:buChar char="•"/>
            </a:pPr>
            <a:r>
              <a:rPr lang="en-US" sz="1900" dirty="0">
                <a:solidFill>
                  <a:schemeClr val="tx1"/>
                </a:solidFill>
              </a:rPr>
              <a:t>Examples: icy tundra, hot desert, green forest, vast grassland</a:t>
            </a:r>
            <a:endParaRPr lang="en-US" sz="1600" dirty="0"/>
          </a:p>
          <a:p>
            <a:pPr marL="228600" indent="-228600">
              <a:spcAft>
                <a:spcPts val="800"/>
              </a:spcAft>
              <a:buSzPct val="100000"/>
              <a:buChar char="•"/>
            </a:pPr>
            <a:r>
              <a:rPr lang="en-US" sz="1900" dirty="0">
                <a:solidFill>
                  <a:schemeClr val="tx1"/>
                </a:solidFill>
              </a:rPr>
              <a:t>Can be </a:t>
            </a:r>
            <a:r>
              <a:rPr lang="en-US" sz="1900" b="1" dirty="0">
                <a:solidFill>
                  <a:schemeClr val="tx1"/>
                </a:solidFill>
              </a:rPr>
              <a:t>terrestrial</a:t>
            </a:r>
            <a:r>
              <a:rPr lang="en-US" sz="1900" dirty="0">
                <a:solidFill>
                  <a:schemeClr val="tx1"/>
                </a:solidFill>
              </a:rPr>
              <a:t> (land) or </a:t>
            </a:r>
            <a:r>
              <a:rPr lang="en-US" sz="1900" b="1" dirty="0">
                <a:solidFill>
                  <a:schemeClr val="tx1"/>
                </a:solidFill>
              </a:rPr>
              <a:t>aquatic</a:t>
            </a:r>
            <a:r>
              <a:rPr lang="en-US" sz="1900" dirty="0">
                <a:solidFill>
                  <a:schemeClr val="tx1"/>
                </a:solidFill>
              </a:rPr>
              <a:t> (water)</a:t>
            </a:r>
            <a:endParaRPr lang="en-US" sz="1600" dirty="0"/>
          </a:p>
        </p:txBody>
      </p:sp>
      <p:sp>
        <p:nvSpPr>
          <p:cNvPr id="8" name="Ecosystem header"/>
          <p:cNvSpPr/>
          <p:nvPr/>
        </p:nvSpPr>
        <p:spPr>
          <a:xfrm>
            <a:off x="6355080" y="1371600"/>
            <a:ext cx="5257800" cy="777240"/>
          </a:xfrm>
          <a:prstGeom prst="roundRect">
            <a:avLst>
              <a:gd name="adj" fmla="val 14118"/>
            </a:avLst>
          </a:prstGeom>
          <a:solidFill>
            <a:schemeClr val="accent2"/>
          </a:solidFill>
          <a:ln w="12700">
            <a:solidFill>
              <a:schemeClr val="accent2"/>
            </a:solidFill>
            <a:prstDash val="solid"/>
          </a:ln>
        </p:spPr>
      </p:sp>
      <p:pic>
        <p:nvPicPr>
          <p:cNvPr id="9" name="Ecosystem icon" descr="preencoded.png">    </p:cNvPr>
          <p:cNvPicPr>
            <a:picLocks noChangeAspect="1"/>
          </p:cNvPicPr>
          <p:nvPr/>
        </p:nvPicPr>
        <p:blipFill>
          <a:blip r:embed="rId2"/>
          <a:stretch>
            <a:fillRect/>
          </a:stretch>
        </p:blipFill>
        <p:spPr>
          <a:xfrm>
            <a:off x="6583680" y="1508760"/>
            <a:ext cx="502920" cy="502920"/>
          </a:xfrm>
          <a:prstGeom prst="rect">
            <a:avLst/>
          </a:prstGeom>
        </p:spPr>
      </p:pic>
      <p:sp>
        <p:nvSpPr>
          <p:cNvPr id="10" name="Text 6"/>
          <p:cNvSpPr txBox="1"/>
          <p:nvPr/>
        </p:nvSpPr>
        <p:spPr>
          <a:xfrm>
            <a:off x="7269480" y="1371600"/>
            <a:ext cx="4160520" cy="777240"/>
          </a:xfrm>
          <a:prstGeom prst="rect">
            <a:avLst/>
          </a:prstGeom>
          <a:noFill/>
          <a:ln/>
        </p:spPr>
        <p:txBody>
          <a:bodyPr wrap="square" lIns="0" tIns="0" rIns="0" bIns="0" rtlCol="0" anchor="ctr"/>
          <a:lstStyle/>
          <a:p>
            <a:pPr indent="0" marL="0">
              <a:buNone/>
            </a:pPr>
            <a:r>
              <a:rPr lang="en-US" sz="2200" b="1" dirty="0">
                <a:solidFill>
                  <a:schemeClr val="bg1"/>
                </a:solidFill>
              </a:rPr>
              <a:t>Ecosystem</a:t>
            </a:r>
            <a:endParaRPr lang="en-US" sz="2200" dirty="0"/>
          </a:p>
        </p:txBody>
      </p:sp>
      <p:sp>
        <p:nvSpPr>
          <p:cNvPr id="11" name="Ecosystem body"/>
          <p:cNvSpPr/>
          <p:nvPr/>
        </p:nvSpPr>
        <p:spPr>
          <a:xfrm>
            <a:off x="6355080" y="2240280"/>
            <a:ext cx="5257800" cy="3383280"/>
          </a:xfrm>
          <a:prstGeom prst="roundRect">
            <a:avLst>
              <a:gd name="adj" fmla="val 3243"/>
            </a:avLst>
          </a:prstGeom>
          <a:solidFill>
            <a:schemeClr val="bg2"/>
          </a:solidFill>
          <a:ln w="12700">
            <a:solidFill>
              <a:schemeClr val="bg2"/>
            </a:solidFill>
            <a:prstDash val="solid"/>
          </a:ln>
        </p:spPr>
      </p:sp>
      <p:sp>
        <p:nvSpPr>
          <p:cNvPr id="12" name="Text 8"/>
          <p:cNvSpPr txBox="1"/>
          <p:nvPr/>
        </p:nvSpPr>
        <p:spPr>
          <a:xfrm>
            <a:off x="6629400" y="2423160"/>
            <a:ext cx="4709160" cy="3017520"/>
          </a:xfrm>
          <a:prstGeom prst="rect">
            <a:avLst/>
          </a:prstGeom>
          <a:noFill/>
          <a:ln/>
        </p:spPr>
        <p:txBody>
          <a:bodyPr wrap="square" lIns="0" tIns="0" rIns="0" bIns="0" rtlCol="0" anchor="t"/>
          <a:lstStyle/>
          <a:p>
            <a:pPr marL="228600" indent="-228600">
              <a:spcAft>
                <a:spcPts val="800"/>
              </a:spcAft>
              <a:buSzPct val="100000"/>
              <a:buChar char="•"/>
            </a:pPr>
            <a:r>
              <a:rPr lang="en-US" sz="1900" dirty="0">
                <a:solidFill>
                  <a:schemeClr val="tx1"/>
                </a:solidFill>
              </a:rPr>
              <a:t>Like a </a:t>
            </a:r>
            <a:r>
              <a:rPr lang="en-US" sz="1900" b="1" dirty="0">
                <a:solidFill>
                  <a:schemeClr val="tx1"/>
                </a:solidFill>
              </a:rPr>
              <a:t>neighbourhood</a:t>
            </a:r>
            <a:r>
              <a:rPr lang="en-US" sz="1900" dirty="0">
                <a:solidFill>
                  <a:schemeClr val="tx1"/>
                </a:solidFill>
              </a:rPr>
              <a:t> within a biome</a:t>
            </a:r>
            <a:endParaRPr lang="en-US" sz="1600" dirty="0"/>
          </a:p>
          <a:p>
            <a:pPr marL="228600" indent="-228600">
              <a:spcAft>
                <a:spcPts val="800"/>
              </a:spcAft>
              <a:buSzPct val="100000"/>
              <a:buChar char="•"/>
            </a:pPr>
            <a:r>
              <a:rPr lang="en-US" sz="1900" dirty="0">
                <a:solidFill>
                  <a:schemeClr val="tx1"/>
                </a:solidFill>
              </a:rPr>
              <a:t>Plants, animals and </a:t>
            </a:r>
            <a:r>
              <a:rPr lang="en-US" sz="1900" b="1" dirty="0">
                <a:solidFill>
                  <a:schemeClr val="tx1"/>
                </a:solidFill>
              </a:rPr>
              <a:t>non-living things</a:t>
            </a:r>
            <a:r>
              <a:rPr lang="en-US" sz="1900" dirty="0">
                <a:solidFill>
                  <a:schemeClr val="tx1"/>
                </a:solidFill>
              </a:rPr>
              <a:t> interact closely</a:t>
            </a:r>
            <a:endParaRPr lang="en-US" sz="1600" dirty="0"/>
          </a:p>
          <a:p>
            <a:pPr marL="228600" indent="-228600">
              <a:spcAft>
                <a:spcPts val="800"/>
              </a:spcAft>
              <a:buSzPct val="100000"/>
              <a:buChar char="•"/>
            </a:pPr>
            <a:r>
              <a:rPr lang="en-US" sz="1900" dirty="0">
                <a:solidFill>
                  <a:schemeClr val="tx1"/>
                </a:solidFill>
              </a:rPr>
              <a:t>Example: a pond, a sacred grove, a mangrove creek</a:t>
            </a:r>
            <a:endParaRPr lang="en-US" sz="1600" dirty="0"/>
          </a:p>
          <a:p>
            <a:pPr marL="228600" indent="-228600">
              <a:spcAft>
                <a:spcPts val="800"/>
              </a:spcAft>
              <a:buSzPct val="100000"/>
              <a:buChar char="•"/>
            </a:pPr>
            <a:r>
              <a:rPr lang="en-US" sz="1900" dirty="0">
                <a:solidFill>
                  <a:schemeClr val="tx1"/>
                </a:solidFill>
              </a:rPr>
              <a:t>Many ecosystems together make up a biome</a:t>
            </a:r>
            <a:endParaRPr lang="en-US" sz="1600" dirty="0"/>
          </a:p>
        </p:txBody>
      </p:sp>
      <p:sp>
        <p:nvSpPr>
          <p:cNvPr id="13" name="vs badge"/>
          <p:cNvSpPr/>
          <p:nvPr/>
        </p:nvSpPr>
        <p:spPr>
          <a:xfrm>
            <a:off x="5733288" y="1417320"/>
            <a:ext cx="713232" cy="713232"/>
          </a:xfrm>
          <a:prstGeom prst="ellipse">
            <a:avLst/>
          </a:prstGeom>
          <a:solidFill>
            <a:schemeClr val="accent3"/>
          </a:solidFill>
          <a:ln w="25400">
            <a:solidFill>
              <a:schemeClr val="bg1"/>
            </a:solidFill>
            <a:prstDash val="solid"/>
          </a:ln>
        </p:spPr>
      </p:sp>
      <p:sp>
        <p:nvSpPr>
          <p:cNvPr id="14" name="Text 10"/>
          <p:cNvSpPr txBox="1"/>
          <p:nvPr/>
        </p:nvSpPr>
        <p:spPr>
          <a:xfrm>
            <a:off x="5733288" y="1417320"/>
            <a:ext cx="713232" cy="713232"/>
          </a:xfrm>
          <a:prstGeom prst="rect">
            <a:avLst/>
          </a:prstGeom>
          <a:noFill/>
          <a:ln/>
        </p:spPr>
        <p:txBody>
          <a:bodyPr wrap="square" lIns="0" tIns="0" rIns="0" bIns="0" rtlCol="0" anchor="ctr"/>
          <a:lstStyle/>
          <a:p>
            <a:pPr algn="ctr" indent="0" marL="0">
              <a:buNone/>
            </a:pPr>
            <a:r>
              <a:rPr lang="en-US" sz="1600" b="1" dirty="0">
                <a:solidFill>
                  <a:schemeClr val="tx2"/>
                </a:solidFill>
              </a:rPr>
              <a:t>&amp;</a:t>
            </a:r>
            <a:endParaRPr lang="en-US" sz="1600" dirty="0"/>
          </a:p>
        </p:txBody>
      </p:sp>
      <p:sp>
        <p:nvSpPr>
          <p:cNvPr id="15" name="footnote band"/>
          <p:cNvSpPr/>
          <p:nvPr/>
        </p:nvSpPr>
        <p:spPr>
          <a:xfrm>
            <a:off x="548640" y="5760720"/>
            <a:ext cx="11064240" cy="502920"/>
          </a:xfrm>
          <a:prstGeom prst="roundRect">
            <a:avLst>
              <a:gd name="adj" fmla="val 14545"/>
            </a:avLst>
          </a:prstGeom>
          <a:solidFill>
            <a:schemeClr val="tx2"/>
          </a:solidFill>
          <a:ln w="12700">
            <a:solidFill>
              <a:schemeClr val="tx2"/>
            </a:solidFill>
            <a:prstDash val="solid"/>
          </a:ln>
        </p:spPr>
      </p:sp>
      <p:sp>
        <p:nvSpPr>
          <p:cNvPr id="16" name="Text 12"/>
          <p:cNvSpPr txBox="1"/>
          <p:nvPr/>
        </p:nvSpPr>
        <p:spPr>
          <a:xfrm>
            <a:off x="777240" y="5760720"/>
            <a:ext cx="10607040" cy="502920"/>
          </a:xfrm>
          <a:prstGeom prst="rect">
            <a:avLst/>
          </a:prstGeom>
          <a:noFill/>
          <a:ln/>
        </p:spPr>
        <p:txBody>
          <a:bodyPr wrap="square" lIns="0" tIns="0" rIns="0" bIns="0" rtlCol="0" anchor="ctr"/>
          <a:lstStyle/>
          <a:p>
            <a:pPr indent="0" marL="0">
              <a:buNone/>
            </a:pPr>
            <a:r>
              <a:rPr lang="en-US" sz="1500" dirty="0">
                <a:solidFill>
                  <a:schemeClr val="bg1"/>
                </a:solidFill>
              </a:rPr>
              <a:t>What decides a biome? </a:t>
            </a:r>
            <a:r>
              <a:rPr lang="en-US" sz="1500" b="1" dirty="0">
                <a:solidFill>
                  <a:schemeClr val="bg1"/>
                </a:solidFill>
              </a:rPr>
              <a:t>Temperature · precipitation · dominant plants · growth forms of vegetation</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3D2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Terrestrial Biomes</a:t>
            </a:r>
            <a:endParaRPr lang="en-US" sz="3600" dirty="0"/>
          </a:p>
        </p:txBody>
      </p:sp>
      <p:sp>
        <p:nvSpPr>
          <p:cNvPr id="3" name="card 1"/>
          <p:cNvSpPr/>
          <p:nvPr/>
        </p:nvSpPr>
        <p:spPr>
          <a:xfrm>
            <a:off x="548640" y="1371600"/>
            <a:ext cx="5394960" cy="2286000"/>
          </a:xfrm>
          <a:prstGeom prst="roundRect">
            <a:avLst>
              <a:gd name="adj" fmla="val 4800"/>
            </a:avLst>
          </a:prstGeom>
          <a:solidFill>
            <a:schemeClr val="bg2"/>
          </a:solidFill>
          <a:ln w="12700">
            <a:solidFill>
              <a:schemeClr val="bg2"/>
            </a:solidFill>
            <a:prstDash val="solid"/>
          </a:ln>
        </p:spPr>
      </p:sp>
      <p:sp>
        <p:nvSpPr>
          <p:cNvPr id="4" name="card 1 disc"/>
          <p:cNvSpPr/>
          <p:nvPr/>
        </p:nvSpPr>
        <p:spPr>
          <a:xfrm>
            <a:off x="777240" y="1600200"/>
            <a:ext cx="566928" cy="566928"/>
          </a:xfrm>
          <a:prstGeom prst="ellipse">
            <a:avLst/>
          </a:prstGeom>
          <a:solidFill>
            <a:schemeClr val="accent1"/>
          </a:solidFill>
          <a:ln w="12700">
            <a:solidFill>
              <a:schemeClr val="accent1"/>
            </a:solidFill>
            <a:prstDash val="solid"/>
          </a:ln>
        </p:spPr>
      </p:sp>
      <p:pic>
        <p:nvPicPr>
          <p:cNvPr id="5" name="card 1 glyph" descr="preencoded.png">    </p:cNvPr>
          <p:cNvPicPr>
            <a:picLocks noChangeAspect="1"/>
          </p:cNvPicPr>
          <p:nvPr/>
        </p:nvPicPr>
        <p:blipFill>
          <a:blip r:embed="rId1"/>
          <a:stretch>
            <a:fillRect/>
          </a:stretch>
        </p:blipFill>
        <p:spPr>
          <a:xfrm>
            <a:off x="901964" y="1724924"/>
            <a:ext cx="317480" cy="317480"/>
          </a:xfrm>
          <a:prstGeom prst="rect">
            <a:avLst/>
          </a:prstGeom>
        </p:spPr>
      </p:pic>
      <p:sp>
        <p:nvSpPr>
          <p:cNvPr id="6" name="Text 3"/>
          <p:cNvSpPr txBox="1"/>
          <p:nvPr/>
        </p:nvSpPr>
        <p:spPr>
          <a:xfrm>
            <a:off x="1481328" y="1600200"/>
            <a:ext cx="4233672" cy="566928"/>
          </a:xfrm>
          <a:prstGeom prst="rect">
            <a:avLst/>
          </a:prstGeom>
          <a:noFill/>
          <a:ln/>
        </p:spPr>
        <p:txBody>
          <a:bodyPr wrap="square" lIns="0" tIns="0" rIns="0" bIns="0" rtlCol="0" anchor="ctr"/>
          <a:lstStyle/>
          <a:p>
            <a:pPr indent="0" marL="0">
              <a:buNone/>
            </a:pPr>
            <a:r>
              <a:rPr lang="en-US" sz="1800" b="1" dirty="0">
                <a:solidFill>
                  <a:schemeClr val="tx2"/>
                </a:solidFill>
              </a:rPr>
              <a:t>Forest biome</a:t>
            </a:r>
            <a:endParaRPr lang="en-US" sz="1800" dirty="0"/>
          </a:p>
        </p:txBody>
      </p:sp>
      <p:sp>
        <p:nvSpPr>
          <p:cNvPr id="7" name="Text 4"/>
          <p:cNvSpPr txBox="1"/>
          <p:nvPr/>
        </p:nvSpPr>
        <p:spPr>
          <a:xfrm>
            <a:off x="777240" y="2276856"/>
            <a:ext cx="4937760" cy="1243584"/>
          </a:xfrm>
          <a:prstGeom prst="rect">
            <a:avLst/>
          </a:prstGeom>
          <a:noFill/>
          <a:ln/>
        </p:spPr>
        <p:txBody>
          <a:bodyPr wrap="square" lIns="0" tIns="0" rIns="0" bIns="0" rtlCol="0" anchor="t"/>
          <a:lstStyle/>
          <a:p>
            <a:pPr indent="0" marL="0">
              <a:buNone/>
            </a:pPr>
            <a:r>
              <a:rPr lang="en-US" sz="1800" dirty="0">
                <a:solidFill>
                  <a:schemeClr val="tx1"/>
                </a:solidFill>
              </a:rPr>
              <a:t>Hot and wet all year near the Equator. Amazon, Congo, Southeast Asia; in India, A&amp;N Islands and the Northeast. Called a </a:t>
            </a:r>
            <a:r>
              <a:rPr lang="en-US" sz="1800" b="1" dirty="0">
                <a:solidFill>
                  <a:schemeClr val="tx1"/>
                </a:solidFill>
              </a:rPr>
              <a:t>'gene bank'</a:t>
            </a:r>
            <a:r>
              <a:rPr lang="en-US" sz="1800" dirty="0">
                <a:solidFill>
                  <a:schemeClr val="tx1"/>
                </a:solidFill>
              </a:rPr>
              <a:t>.</a:t>
            </a:r>
            <a:endParaRPr lang="en-US" sz="1600" dirty="0"/>
          </a:p>
        </p:txBody>
      </p:sp>
      <p:sp>
        <p:nvSpPr>
          <p:cNvPr id="8" name="card 2"/>
          <p:cNvSpPr/>
          <p:nvPr/>
        </p:nvSpPr>
        <p:spPr>
          <a:xfrm>
            <a:off x="6217920" y="1371600"/>
            <a:ext cx="5394960" cy="2286000"/>
          </a:xfrm>
          <a:prstGeom prst="roundRect">
            <a:avLst>
              <a:gd name="adj" fmla="val 4800"/>
            </a:avLst>
          </a:prstGeom>
          <a:solidFill>
            <a:schemeClr val="bg2"/>
          </a:solidFill>
          <a:ln w="12700">
            <a:solidFill>
              <a:schemeClr val="bg2"/>
            </a:solidFill>
            <a:prstDash val="solid"/>
          </a:ln>
        </p:spPr>
      </p:sp>
      <p:sp>
        <p:nvSpPr>
          <p:cNvPr id="9" name="card 2 disc"/>
          <p:cNvSpPr/>
          <p:nvPr/>
        </p:nvSpPr>
        <p:spPr>
          <a:xfrm>
            <a:off x="6446520" y="1600200"/>
            <a:ext cx="566928" cy="566928"/>
          </a:xfrm>
          <a:prstGeom prst="ellipse">
            <a:avLst/>
          </a:prstGeom>
          <a:solidFill>
            <a:schemeClr val="accent2"/>
          </a:solidFill>
          <a:ln w="12700">
            <a:solidFill>
              <a:schemeClr val="accent2"/>
            </a:solidFill>
            <a:prstDash val="solid"/>
          </a:ln>
        </p:spPr>
      </p:sp>
      <p:pic>
        <p:nvPicPr>
          <p:cNvPr id="10" name="card 2 glyph" descr="preencoded.png">    </p:cNvPr>
          <p:cNvPicPr>
            <a:picLocks noChangeAspect="1"/>
          </p:cNvPicPr>
          <p:nvPr/>
        </p:nvPicPr>
        <p:blipFill>
          <a:blip r:embed="rId2"/>
          <a:stretch>
            <a:fillRect/>
          </a:stretch>
        </p:blipFill>
        <p:spPr>
          <a:xfrm>
            <a:off x="6571244" y="1724924"/>
            <a:ext cx="317480" cy="317480"/>
          </a:xfrm>
          <a:prstGeom prst="rect">
            <a:avLst/>
          </a:prstGeom>
        </p:spPr>
      </p:pic>
      <p:sp>
        <p:nvSpPr>
          <p:cNvPr id="11" name="Text 7"/>
          <p:cNvSpPr txBox="1"/>
          <p:nvPr/>
        </p:nvSpPr>
        <p:spPr>
          <a:xfrm>
            <a:off x="7150608" y="1600200"/>
            <a:ext cx="4233672" cy="566928"/>
          </a:xfrm>
          <a:prstGeom prst="rect">
            <a:avLst/>
          </a:prstGeom>
          <a:noFill/>
          <a:ln/>
        </p:spPr>
        <p:txBody>
          <a:bodyPr wrap="square" lIns="0" tIns="0" rIns="0" bIns="0" rtlCol="0" anchor="ctr"/>
          <a:lstStyle/>
          <a:p>
            <a:pPr indent="0" marL="0">
              <a:buNone/>
            </a:pPr>
            <a:r>
              <a:rPr lang="en-US" sz="1800" b="1" dirty="0">
                <a:solidFill>
                  <a:schemeClr val="tx2"/>
                </a:solidFill>
              </a:rPr>
              <a:t>Grassland biome</a:t>
            </a:r>
            <a:endParaRPr lang="en-US" sz="1800" dirty="0"/>
          </a:p>
        </p:txBody>
      </p:sp>
      <p:sp>
        <p:nvSpPr>
          <p:cNvPr id="12" name="Text 8"/>
          <p:cNvSpPr txBox="1"/>
          <p:nvPr/>
        </p:nvSpPr>
        <p:spPr>
          <a:xfrm>
            <a:off x="6446520" y="2276856"/>
            <a:ext cx="4937760" cy="1243584"/>
          </a:xfrm>
          <a:prstGeom prst="rect">
            <a:avLst/>
          </a:prstGeom>
          <a:noFill/>
          <a:ln/>
        </p:spPr>
        <p:txBody>
          <a:bodyPr wrap="square" lIns="0" tIns="0" rIns="0" bIns="0" rtlCol="0" anchor="t"/>
          <a:lstStyle/>
          <a:p>
            <a:pPr indent="0" marL="0">
              <a:buNone/>
            </a:pPr>
            <a:r>
              <a:rPr lang="en-US" sz="1800" dirty="0">
                <a:solidFill>
                  <a:schemeClr val="tx1"/>
                </a:solidFill>
              </a:rPr>
              <a:t>Moderate rainfall, few trees. </a:t>
            </a:r>
            <a:r>
              <a:rPr lang="en-US" sz="1800" b="1" dirty="0">
                <a:solidFill>
                  <a:schemeClr val="tx1"/>
                </a:solidFill>
              </a:rPr>
              <a:t>Temperate:</a:t>
            </a:r>
            <a:r>
              <a:rPr lang="en-US" sz="1800" dirty="0">
                <a:solidFill>
                  <a:schemeClr val="tx1"/>
                </a:solidFill>
              </a:rPr>
              <a:t> prairies, steppes (farming). </a:t>
            </a:r>
            <a:r>
              <a:rPr lang="en-US" sz="1800" b="1" dirty="0">
                <a:solidFill>
                  <a:schemeClr val="tx1"/>
                </a:solidFill>
              </a:rPr>
              <a:t>Tropical savannas</a:t>
            </a:r>
            <a:r>
              <a:rPr lang="en-US" sz="1800" dirty="0">
                <a:solidFill>
                  <a:schemeClr val="tx1"/>
                </a:solidFill>
              </a:rPr>
              <a:t> (Africa): lions, elephants, giraffes.</a:t>
            </a:r>
            <a:endParaRPr lang="en-US" sz="1600" dirty="0"/>
          </a:p>
        </p:txBody>
      </p:sp>
      <p:sp>
        <p:nvSpPr>
          <p:cNvPr id="13" name="card 3"/>
          <p:cNvSpPr/>
          <p:nvPr/>
        </p:nvSpPr>
        <p:spPr>
          <a:xfrm>
            <a:off x="548640" y="3931920"/>
            <a:ext cx="5394960" cy="2286000"/>
          </a:xfrm>
          <a:prstGeom prst="roundRect">
            <a:avLst>
              <a:gd name="adj" fmla="val 4800"/>
            </a:avLst>
          </a:prstGeom>
          <a:solidFill>
            <a:schemeClr val="bg2"/>
          </a:solidFill>
          <a:ln w="12700">
            <a:solidFill>
              <a:schemeClr val="bg2"/>
            </a:solidFill>
            <a:prstDash val="solid"/>
          </a:ln>
        </p:spPr>
      </p:sp>
      <p:sp>
        <p:nvSpPr>
          <p:cNvPr id="14" name="card 3 disc"/>
          <p:cNvSpPr/>
          <p:nvPr/>
        </p:nvSpPr>
        <p:spPr>
          <a:xfrm>
            <a:off x="777240" y="4160520"/>
            <a:ext cx="566928" cy="566928"/>
          </a:xfrm>
          <a:prstGeom prst="ellipse">
            <a:avLst/>
          </a:prstGeom>
          <a:solidFill>
            <a:schemeClr val="accent4"/>
          </a:solidFill>
          <a:ln w="12700">
            <a:solidFill>
              <a:schemeClr val="accent4"/>
            </a:solidFill>
            <a:prstDash val="solid"/>
          </a:ln>
        </p:spPr>
      </p:sp>
      <p:pic>
        <p:nvPicPr>
          <p:cNvPr id="15" name="card 3 glyph" descr="preencoded.png">    </p:cNvPr>
          <p:cNvPicPr>
            <a:picLocks noChangeAspect="1"/>
          </p:cNvPicPr>
          <p:nvPr/>
        </p:nvPicPr>
        <p:blipFill>
          <a:blip r:embed="rId3"/>
          <a:stretch>
            <a:fillRect/>
          </a:stretch>
        </p:blipFill>
        <p:spPr>
          <a:xfrm>
            <a:off x="901964" y="4285244"/>
            <a:ext cx="317480" cy="317480"/>
          </a:xfrm>
          <a:prstGeom prst="rect">
            <a:avLst/>
          </a:prstGeom>
        </p:spPr>
      </p:pic>
      <p:sp>
        <p:nvSpPr>
          <p:cNvPr id="16" name="Text 11"/>
          <p:cNvSpPr txBox="1"/>
          <p:nvPr/>
        </p:nvSpPr>
        <p:spPr>
          <a:xfrm>
            <a:off x="1481328" y="4160520"/>
            <a:ext cx="4233672" cy="566928"/>
          </a:xfrm>
          <a:prstGeom prst="rect">
            <a:avLst/>
          </a:prstGeom>
          <a:noFill/>
          <a:ln/>
        </p:spPr>
        <p:txBody>
          <a:bodyPr wrap="square" lIns="0" tIns="0" rIns="0" bIns="0" rtlCol="0" anchor="ctr"/>
          <a:lstStyle/>
          <a:p>
            <a:pPr indent="0" marL="0">
              <a:buNone/>
            </a:pPr>
            <a:r>
              <a:rPr lang="en-US" sz="1800" b="1" dirty="0">
                <a:solidFill>
                  <a:schemeClr val="tx2"/>
                </a:solidFill>
              </a:rPr>
              <a:t>Desert biome</a:t>
            </a:r>
            <a:endParaRPr lang="en-US" sz="1800" dirty="0"/>
          </a:p>
        </p:txBody>
      </p:sp>
      <p:sp>
        <p:nvSpPr>
          <p:cNvPr id="17" name="Text 12"/>
          <p:cNvSpPr txBox="1"/>
          <p:nvPr/>
        </p:nvSpPr>
        <p:spPr>
          <a:xfrm>
            <a:off x="777240" y="4837176"/>
            <a:ext cx="4937760" cy="1243584"/>
          </a:xfrm>
          <a:prstGeom prst="rect">
            <a:avLst/>
          </a:prstGeom>
          <a:noFill/>
          <a:ln/>
        </p:spPr>
        <p:txBody>
          <a:bodyPr wrap="square" lIns="0" tIns="0" rIns="0" bIns="0" rtlCol="0" anchor="t"/>
          <a:lstStyle/>
          <a:p>
            <a:pPr indent="0" marL="0">
              <a:buNone/>
            </a:pPr>
            <a:r>
              <a:rPr lang="en-US" sz="1800" dirty="0">
                <a:solidFill>
                  <a:schemeClr val="tx1"/>
                </a:solidFill>
              </a:rPr>
              <a:t>Driest biome. </a:t>
            </a:r>
            <a:r>
              <a:rPr lang="en-US" sz="1800" b="1" dirty="0">
                <a:solidFill>
                  <a:schemeClr val="tx1"/>
                </a:solidFill>
              </a:rPr>
              <a:t>Hot</a:t>
            </a:r>
            <a:r>
              <a:rPr lang="en-US" sz="1800" dirty="0">
                <a:solidFill>
                  <a:schemeClr val="tx1"/>
                </a:solidFill>
              </a:rPr>
              <a:t> (Sahara) or </a:t>
            </a:r>
            <a:r>
              <a:rPr lang="en-US" sz="1800" b="1" dirty="0">
                <a:solidFill>
                  <a:schemeClr val="tx1"/>
                </a:solidFill>
              </a:rPr>
              <a:t>cold</a:t>
            </a:r>
            <a:r>
              <a:rPr lang="en-US" sz="1800" dirty="0">
                <a:solidFill>
                  <a:schemeClr val="tx1"/>
                </a:solidFill>
              </a:rPr>
              <a:t> (Gobi). Cacti, camels, lizards and snakes store water and bear heat.</a:t>
            </a:r>
            <a:endParaRPr lang="en-US" sz="1600" dirty="0"/>
          </a:p>
        </p:txBody>
      </p:sp>
      <p:sp>
        <p:nvSpPr>
          <p:cNvPr id="18" name="card 4"/>
          <p:cNvSpPr/>
          <p:nvPr/>
        </p:nvSpPr>
        <p:spPr>
          <a:xfrm>
            <a:off x="6217920" y="3931920"/>
            <a:ext cx="5394960" cy="2286000"/>
          </a:xfrm>
          <a:prstGeom prst="roundRect">
            <a:avLst>
              <a:gd name="adj" fmla="val 4800"/>
            </a:avLst>
          </a:prstGeom>
          <a:solidFill>
            <a:schemeClr val="bg2"/>
          </a:solidFill>
          <a:ln w="12700">
            <a:solidFill>
              <a:schemeClr val="bg2"/>
            </a:solidFill>
            <a:prstDash val="solid"/>
          </a:ln>
        </p:spPr>
      </p:sp>
      <p:sp>
        <p:nvSpPr>
          <p:cNvPr id="19" name="card 4 disc"/>
          <p:cNvSpPr/>
          <p:nvPr/>
        </p:nvSpPr>
        <p:spPr>
          <a:xfrm>
            <a:off x="6446520" y="4160520"/>
            <a:ext cx="566928" cy="566928"/>
          </a:xfrm>
          <a:prstGeom prst="ellipse">
            <a:avLst/>
          </a:prstGeom>
          <a:solidFill>
            <a:schemeClr val="accent5"/>
          </a:solidFill>
          <a:ln w="12700">
            <a:solidFill>
              <a:schemeClr val="accent5"/>
            </a:solidFill>
            <a:prstDash val="solid"/>
          </a:ln>
        </p:spPr>
      </p:sp>
      <p:pic>
        <p:nvPicPr>
          <p:cNvPr id="20" name="card 4 glyph" descr="preencoded.png">    </p:cNvPr>
          <p:cNvPicPr>
            <a:picLocks noChangeAspect="1"/>
          </p:cNvPicPr>
          <p:nvPr/>
        </p:nvPicPr>
        <p:blipFill>
          <a:blip r:embed="rId4"/>
          <a:stretch>
            <a:fillRect/>
          </a:stretch>
        </p:blipFill>
        <p:spPr>
          <a:xfrm>
            <a:off x="6571244" y="4285244"/>
            <a:ext cx="317480" cy="317480"/>
          </a:xfrm>
          <a:prstGeom prst="rect">
            <a:avLst/>
          </a:prstGeom>
        </p:spPr>
      </p:pic>
      <p:sp>
        <p:nvSpPr>
          <p:cNvPr id="21" name="Text 15"/>
          <p:cNvSpPr txBox="1"/>
          <p:nvPr/>
        </p:nvSpPr>
        <p:spPr>
          <a:xfrm>
            <a:off x="7150608" y="4160520"/>
            <a:ext cx="4233672" cy="566928"/>
          </a:xfrm>
          <a:prstGeom prst="rect">
            <a:avLst/>
          </a:prstGeom>
          <a:noFill/>
          <a:ln/>
        </p:spPr>
        <p:txBody>
          <a:bodyPr wrap="square" lIns="0" tIns="0" rIns="0" bIns="0" rtlCol="0" anchor="ctr"/>
          <a:lstStyle/>
          <a:p>
            <a:pPr indent="0" marL="0">
              <a:buNone/>
            </a:pPr>
            <a:r>
              <a:rPr lang="en-US" sz="1800" b="1" dirty="0">
                <a:solidFill>
                  <a:schemeClr val="tx2"/>
                </a:solidFill>
              </a:rPr>
              <a:t>Tundra biome</a:t>
            </a:r>
            <a:endParaRPr lang="en-US" sz="1800" dirty="0"/>
          </a:p>
        </p:txBody>
      </p:sp>
      <p:sp>
        <p:nvSpPr>
          <p:cNvPr id="22" name="Text 16"/>
          <p:cNvSpPr txBox="1"/>
          <p:nvPr/>
        </p:nvSpPr>
        <p:spPr>
          <a:xfrm>
            <a:off x="6446520" y="4837176"/>
            <a:ext cx="4937760" cy="1243584"/>
          </a:xfrm>
          <a:prstGeom prst="rect">
            <a:avLst/>
          </a:prstGeom>
          <a:noFill/>
          <a:ln/>
        </p:spPr>
        <p:txBody>
          <a:bodyPr wrap="square" lIns="0" tIns="0" rIns="0" bIns="0" rtlCol="0" anchor="t"/>
          <a:lstStyle/>
          <a:p>
            <a:pPr indent="0" marL="0">
              <a:buNone/>
            </a:pPr>
            <a:r>
              <a:rPr lang="en-US" sz="1800" dirty="0">
                <a:solidFill>
                  <a:schemeClr val="tx1"/>
                </a:solidFill>
              </a:rPr>
              <a:t>Coldest biome near the Arctic and Antarctic. </a:t>
            </a:r>
            <a:r>
              <a:rPr lang="en-US" sz="1800" b="1" dirty="0">
                <a:solidFill>
                  <a:schemeClr val="tx1"/>
                </a:solidFill>
              </a:rPr>
              <a:t>Permafrost</a:t>
            </a:r>
            <a:r>
              <a:rPr lang="en-US" sz="1800" dirty="0">
                <a:solidFill>
                  <a:schemeClr val="tx1"/>
                </a:solidFill>
              </a:rPr>
              <a:t> stops trees growing; mosses, lichens; reindeer, polar bears.</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3D2B"/>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Inside a Tropical Rainforest</a:t>
            </a:r>
            <a:endParaRPr lang="en-US" sz="3600" dirty="0"/>
          </a:p>
        </p:txBody>
      </p:sp>
      <p:sp>
        <p:nvSpPr>
          <p:cNvPr id="3" name="Emergent layer"/>
          <p:cNvSpPr/>
          <p:nvPr/>
        </p:nvSpPr>
        <p:spPr>
          <a:xfrm>
            <a:off x="548640" y="1371600"/>
            <a:ext cx="6766560" cy="1170432"/>
          </a:xfrm>
          <a:prstGeom prst="roundRect">
            <a:avLst>
              <a:gd name="adj" fmla="val 7813"/>
            </a:avLst>
          </a:prstGeom>
          <a:solidFill>
            <a:schemeClr val="accent5">
              <a:alpha val="65000"/>
            </a:schemeClr>
          </a:solidFill>
          <a:ln w="12700">
            <a:solidFill>
              <a:schemeClr val="accent5"/>
            </a:solidFill>
            <a:prstDash val="solid"/>
          </a:ln>
        </p:spPr>
      </p:sp>
      <p:pic>
        <p:nvPicPr>
          <p:cNvPr id="4" name="Emergent layer icon" descr="preencoded.png">    </p:cNvPr>
          <p:cNvPicPr>
            <a:picLocks noChangeAspect="1"/>
          </p:cNvPicPr>
          <p:nvPr/>
        </p:nvPicPr>
        <p:blipFill>
          <a:blip r:embed="rId1"/>
          <a:stretch>
            <a:fillRect/>
          </a:stretch>
        </p:blipFill>
        <p:spPr>
          <a:xfrm>
            <a:off x="777240" y="1591056"/>
            <a:ext cx="731520" cy="731520"/>
          </a:xfrm>
          <a:prstGeom prst="rect">
            <a:avLst/>
          </a:prstGeom>
        </p:spPr>
      </p:pic>
      <p:sp>
        <p:nvSpPr>
          <p:cNvPr id="5" name="Text 2"/>
          <p:cNvSpPr txBox="1"/>
          <p:nvPr/>
        </p:nvSpPr>
        <p:spPr>
          <a:xfrm>
            <a:off x="1737360" y="1481328"/>
            <a:ext cx="5394960" cy="950976"/>
          </a:xfrm>
          <a:prstGeom prst="rect">
            <a:avLst/>
          </a:prstGeom>
          <a:noFill/>
          <a:ln/>
        </p:spPr>
        <p:txBody>
          <a:bodyPr wrap="square" lIns="0" tIns="0" rIns="0" bIns="0" rtlCol="0" anchor="ctr"/>
          <a:lstStyle/>
          <a:p>
            <a:pPr indent="0" marL="0">
              <a:buNone/>
            </a:pPr>
            <a:r>
              <a:rPr lang="en-US" sz="1900" b="1" dirty="0">
                <a:solidFill>
                  <a:schemeClr val="bg1"/>
                </a:solidFill>
              </a:rPr>
              <a:t>Emergent layer</a:t>
            </a:r>
            <a:endParaRPr lang="en-US" sz="1600" dirty="0"/>
          </a:p>
          <a:p>
            <a:pPr indent="0" marL="0">
              <a:buNone/>
            </a:pPr>
            <a:r>
              <a:rPr lang="en-US" sz="1500" dirty="0">
                <a:solidFill>
                  <a:schemeClr val="bg1"/>
                </a:solidFill>
              </a:rPr>
              <a:t>Tallest trees poke out above the canopy. Lots of sun and wind.</a:t>
            </a:r>
            <a:endParaRPr lang="en-US" sz="1600" dirty="0"/>
          </a:p>
        </p:txBody>
      </p:sp>
      <p:sp>
        <p:nvSpPr>
          <p:cNvPr id="6" name="Upper canopy"/>
          <p:cNvSpPr/>
          <p:nvPr/>
        </p:nvSpPr>
        <p:spPr>
          <a:xfrm>
            <a:off x="548640" y="2596896"/>
            <a:ext cx="6766560" cy="1170432"/>
          </a:xfrm>
          <a:prstGeom prst="roundRect">
            <a:avLst>
              <a:gd name="adj" fmla="val 7813"/>
            </a:avLst>
          </a:prstGeom>
          <a:solidFill>
            <a:schemeClr val="accent1"/>
          </a:solidFill>
          <a:ln w="12700">
            <a:solidFill>
              <a:schemeClr val="accent1"/>
            </a:solidFill>
            <a:prstDash val="solid"/>
          </a:ln>
        </p:spPr>
      </p:sp>
      <p:pic>
        <p:nvPicPr>
          <p:cNvPr id="7" name="Upper canopy icon" descr="preencoded.png">    </p:cNvPr>
          <p:cNvPicPr>
            <a:picLocks noChangeAspect="1"/>
          </p:cNvPicPr>
          <p:nvPr/>
        </p:nvPicPr>
        <p:blipFill>
          <a:blip r:embed="rId2"/>
          <a:stretch>
            <a:fillRect/>
          </a:stretch>
        </p:blipFill>
        <p:spPr>
          <a:xfrm>
            <a:off x="777240" y="2816352"/>
            <a:ext cx="731520" cy="731520"/>
          </a:xfrm>
          <a:prstGeom prst="rect">
            <a:avLst/>
          </a:prstGeom>
        </p:spPr>
      </p:pic>
      <p:sp>
        <p:nvSpPr>
          <p:cNvPr id="8" name="Text 4"/>
          <p:cNvSpPr txBox="1"/>
          <p:nvPr/>
        </p:nvSpPr>
        <p:spPr>
          <a:xfrm>
            <a:off x="1737360" y="2706624"/>
            <a:ext cx="5394960" cy="950976"/>
          </a:xfrm>
          <a:prstGeom prst="rect">
            <a:avLst/>
          </a:prstGeom>
          <a:noFill/>
          <a:ln/>
        </p:spPr>
        <p:txBody>
          <a:bodyPr wrap="square" lIns="0" tIns="0" rIns="0" bIns="0" rtlCol="0" anchor="ctr"/>
          <a:lstStyle/>
          <a:p>
            <a:pPr indent="0" marL="0">
              <a:buNone/>
            </a:pPr>
            <a:r>
              <a:rPr lang="en-US" sz="1900" b="1" dirty="0">
                <a:solidFill>
                  <a:schemeClr val="bg1"/>
                </a:solidFill>
              </a:rPr>
              <a:t>Upper canopy</a:t>
            </a:r>
            <a:endParaRPr lang="en-US" sz="1600" dirty="0"/>
          </a:p>
          <a:p>
            <a:pPr indent="0" marL="0">
              <a:buNone/>
            </a:pPr>
            <a:r>
              <a:rPr lang="en-US" sz="1500" dirty="0">
                <a:solidFill>
                  <a:schemeClr val="bg1"/>
                </a:solidFill>
              </a:rPr>
              <a:t>A thick roof of leaves and branches. Most animals live here.</a:t>
            </a:r>
            <a:endParaRPr lang="en-US" sz="1600" dirty="0"/>
          </a:p>
        </p:txBody>
      </p:sp>
      <p:sp>
        <p:nvSpPr>
          <p:cNvPr id="9" name="Understory / lower canopy"/>
          <p:cNvSpPr/>
          <p:nvPr/>
        </p:nvSpPr>
        <p:spPr>
          <a:xfrm>
            <a:off x="548640" y="3822192"/>
            <a:ext cx="6766560" cy="1170432"/>
          </a:xfrm>
          <a:prstGeom prst="roundRect">
            <a:avLst>
              <a:gd name="adj" fmla="val 7813"/>
            </a:avLst>
          </a:prstGeom>
          <a:solidFill>
            <a:schemeClr val="tx2">
              <a:alpha val="85000"/>
            </a:schemeClr>
          </a:solidFill>
          <a:ln w="12700">
            <a:solidFill>
              <a:schemeClr val="tx2"/>
            </a:solidFill>
            <a:prstDash val="solid"/>
          </a:ln>
        </p:spPr>
      </p:sp>
      <p:pic>
        <p:nvPicPr>
          <p:cNvPr id="10" name="Understory / lower canopy icon" descr="preencoded.png">    </p:cNvPr>
          <p:cNvPicPr>
            <a:picLocks noChangeAspect="1"/>
          </p:cNvPicPr>
          <p:nvPr/>
        </p:nvPicPr>
        <p:blipFill>
          <a:blip r:embed="rId3"/>
          <a:stretch>
            <a:fillRect/>
          </a:stretch>
        </p:blipFill>
        <p:spPr>
          <a:xfrm>
            <a:off x="777240" y="4041648"/>
            <a:ext cx="731520" cy="731520"/>
          </a:xfrm>
          <a:prstGeom prst="rect">
            <a:avLst/>
          </a:prstGeom>
        </p:spPr>
      </p:pic>
      <p:sp>
        <p:nvSpPr>
          <p:cNvPr id="11" name="Text 6"/>
          <p:cNvSpPr txBox="1"/>
          <p:nvPr/>
        </p:nvSpPr>
        <p:spPr>
          <a:xfrm>
            <a:off x="1737360" y="3931920"/>
            <a:ext cx="5394960" cy="950976"/>
          </a:xfrm>
          <a:prstGeom prst="rect">
            <a:avLst/>
          </a:prstGeom>
          <a:noFill/>
          <a:ln/>
        </p:spPr>
        <p:txBody>
          <a:bodyPr wrap="square" lIns="0" tIns="0" rIns="0" bIns="0" rtlCol="0" anchor="ctr"/>
          <a:lstStyle/>
          <a:p>
            <a:pPr indent="0" marL="0">
              <a:buNone/>
            </a:pPr>
            <a:r>
              <a:rPr lang="en-US" sz="1900" b="1" dirty="0">
                <a:solidFill>
                  <a:schemeClr val="bg1"/>
                </a:solidFill>
              </a:rPr>
              <a:t>Understory / lower canopy</a:t>
            </a:r>
            <a:endParaRPr lang="en-US" sz="1600" dirty="0"/>
          </a:p>
          <a:p>
            <a:pPr indent="0" marL="0">
              <a:buNone/>
            </a:pPr>
            <a:r>
              <a:rPr lang="en-US" sz="1500" dirty="0">
                <a:solidFill>
                  <a:schemeClr val="bg1"/>
                </a:solidFill>
              </a:rPr>
              <a:t>Dim and humid. Young trees, shrubs and big leaves.</a:t>
            </a:r>
            <a:endParaRPr lang="en-US" sz="1600" dirty="0"/>
          </a:p>
        </p:txBody>
      </p:sp>
      <p:sp>
        <p:nvSpPr>
          <p:cNvPr id="12" name="Forest floor"/>
          <p:cNvSpPr/>
          <p:nvPr/>
        </p:nvSpPr>
        <p:spPr>
          <a:xfrm>
            <a:off x="548640" y="5047488"/>
            <a:ext cx="6766560" cy="1170432"/>
          </a:xfrm>
          <a:prstGeom prst="roundRect">
            <a:avLst>
              <a:gd name="adj" fmla="val 7813"/>
            </a:avLst>
          </a:prstGeom>
          <a:solidFill>
            <a:schemeClr val="tx2"/>
          </a:solidFill>
          <a:ln w="12700">
            <a:solidFill>
              <a:schemeClr val="tx2"/>
            </a:solidFill>
            <a:prstDash val="solid"/>
          </a:ln>
        </p:spPr>
      </p:sp>
      <p:pic>
        <p:nvPicPr>
          <p:cNvPr id="13" name="Forest floor icon" descr="preencoded.png">    </p:cNvPr>
          <p:cNvPicPr>
            <a:picLocks noChangeAspect="1"/>
          </p:cNvPicPr>
          <p:nvPr/>
        </p:nvPicPr>
        <p:blipFill>
          <a:blip r:embed="rId4"/>
          <a:stretch>
            <a:fillRect/>
          </a:stretch>
        </p:blipFill>
        <p:spPr>
          <a:xfrm>
            <a:off x="777240" y="5266944"/>
            <a:ext cx="731520" cy="731520"/>
          </a:xfrm>
          <a:prstGeom prst="rect">
            <a:avLst/>
          </a:prstGeom>
        </p:spPr>
      </p:pic>
      <p:sp>
        <p:nvSpPr>
          <p:cNvPr id="14" name="Text 8"/>
          <p:cNvSpPr txBox="1"/>
          <p:nvPr/>
        </p:nvSpPr>
        <p:spPr>
          <a:xfrm>
            <a:off x="1737360" y="5157216"/>
            <a:ext cx="5394960" cy="950976"/>
          </a:xfrm>
          <a:prstGeom prst="rect">
            <a:avLst/>
          </a:prstGeom>
          <a:noFill/>
          <a:ln/>
        </p:spPr>
        <p:txBody>
          <a:bodyPr wrap="square" lIns="0" tIns="0" rIns="0" bIns="0" rtlCol="0" anchor="ctr"/>
          <a:lstStyle/>
          <a:p>
            <a:pPr indent="0" marL="0">
              <a:buNone/>
            </a:pPr>
            <a:r>
              <a:rPr lang="en-US" sz="1900" b="1" dirty="0">
                <a:solidFill>
                  <a:schemeClr val="bg1"/>
                </a:solidFill>
              </a:rPr>
              <a:t>Forest floor</a:t>
            </a:r>
            <a:endParaRPr lang="en-US" sz="1600" dirty="0"/>
          </a:p>
          <a:p>
            <a:pPr indent="0" marL="0">
              <a:buNone/>
            </a:pPr>
            <a:r>
              <a:rPr lang="en-US" sz="1500" dirty="0">
                <a:solidFill>
                  <a:schemeClr val="bg1"/>
                </a:solidFill>
              </a:rPr>
              <a:t>Dark, damp, little sunlight. Fallen leaves rot quickly.</a:t>
            </a:r>
            <a:endParaRPr lang="en-US" sz="1600" dirty="0"/>
          </a:p>
        </p:txBody>
      </p:sp>
      <p:sp>
        <p:nvSpPr>
          <p:cNvPr id="15" name="gene bank card"/>
          <p:cNvSpPr/>
          <p:nvPr/>
        </p:nvSpPr>
        <p:spPr>
          <a:xfrm>
            <a:off x="7635240" y="1371600"/>
            <a:ext cx="3977640" cy="2240280"/>
          </a:xfrm>
          <a:prstGeom prst="roundRect">
            <a:avLst>
              <a:gd name="adj" fmla="val 4898"/>
            </a:avLst>
          </a:prstGeom>
          <a:solidFill>
            <a:schemeClr val="bg2"/>
          </a:solidFill>
          <a:ln w="12700">
            <a:solidFill>
              <a:schemeClr val="bg2"/>
            </a:solidFill>
            <a:prstDash val="solid"/>
          </a:ln>
        </p:spPr>
      </p:sp>
      <p:sp>
        <p:nvSpPr>
          <p:cNvPr id="16" name="Text 10"/>
          <p:cNvSpPr txBox="1"/>
          <p:nvPr/>
        </p:nvSpPr>
        <p:spPr>
          <a:xfrm>
            <a:off x="7863840" y="1508760"/>
            <a:ext cx="3566160" cy="1965960"/>
          </a:xfrm>
          <a:prstGeom prst="rect">
            <a:avLst/>
          </a:prstGeom>
          <a:noFill/>
          <a:ln/>
        </p:spPr>
        <p:txBody>
          <a:bodyPr wrap="square" lIns="0" tIns="0" rIns="0" bIns="0" rtlCol="0" anchor="t"/>
          <a:lstStyle/>
          <a:p>
            <a:pPr indent="0" marL="0">
              <a:buNone/>
            </a:pPr>
            <a:r>
              <a:rPr lang="en-US" sz="1800" b="1" dirty="0">
                <a:solidFill>
                  <a:schemeClr val="accent1"/>
                </a:solidFill>
              </a:rPr>
              <a:t>Why a 'gene bank'?</a:t>
            </a:r>
            <a:endParaRPr lang="en-US" sz="1600" dirty="0"/>
          </a:p>
          <a:p>
            <a:pPr indent="0" marL="0">
              <a:buNone/>
            </a:pPr>
            <a:r>
              <a:rPr lang="en-US" sz="1500" dirty="0">
                <a:solidFill>
                  <a:schemeClr val="tx1"/>
                </a:solidFill>
              </a:rPr>
              <a:t>Rainforests are the world's richest store of biodiversity. They preserve unique genetic material for conservation and research.</a:t>
            </a:r>
            <a:endParaRPr lang="en-US" sz="1600" dirty="0"/>
          </a:p>
        </p:txBody>
      </p:sp>
      <p:sp>
        <p:nvSpPr>
          <p:cNvPr id="17" name="where card"/>
          <p:cNvSpPr/>
          <p:nvPr/>
        </p:nvSpPr>
        <p:spPr>
          <a:xfrm>
            <a:off x="7635240" y="3794760"/>
            <a:ext cx="3977640" cy="2423160"/>
          </a:xfrm>
          <a:prstGeom prst="roundRect">
            <a:avLst>
              <a:gd name="adj" fmla="val 4528"/>
            </a:avLst>
          </a:prstGeom>
          <a:solidFill>
            <a:schemeClr val="tx2"/>
          </a:solidFill>
          <a:ln w="12700">
            <a:solidFill>
              <a:schemeClr val="tx2"/>
            </a:solidFill>
            <a:prstDash val="solid"/>
          </a:ln>
        </p:spPr>
      </p:sp>
      <p:sp>
        <p:nvSpPr>
          <p:cNvPr id="18" name="Text 12"/>
          <p:cNvSpPr txBox="1"/>
          <p:nvPr/>
        </p:nvSpPr>
        <p:spPr>
          <a:xfrm>
            <a:off x="7863840" y="3931920"/>
            <a:ext cx="3566160" cy="2148840"/>
          </a:xfrm>
          <a:prstGeom prst="rect">
            <a:avLst/>
          </a:prstGeom>
          <a:noFill/>
          <a:ln/>
        </p:spPr>
        <p:txBody>
          <a:bodyPr wrap="square" lIns="0" tIns="0" rIns="0" bIns="0" rtlCol="0" anchor="t"/>
          <a:lstStyle/>
          <a:p>
            <a:pPr indent="0" marL="0">
              <a:buNone/>
            </a:pPr>
            <a:r>
              <a:rPr lang="en-US" sz="1800" b="1" dirty="0">
                <a:solidFill>
                  <a:schemeClr val="accent3"/>
                </a:solidFill>
              </a:rPr>
              <a:t>Where are they?</a:t>
            </a:r>
            <a:endParaRPr lang="en-US" sz="1600" dirty="0"/>
          </a:p>
          <a:p>
            <a:pPr indent="0" marL="0">
              <a:buNone/>
            </a:pPr>
            <a:r>
              <a:rPr lang="en-US" sz="1500" dirty="0">
                <a:solidFill>
                  <a:schemeClr val="bg1"/>
                </a:solidFill>
              </a:rPr>
              <a:t>Between 23.5° N and 23.5° S: Amazon Basin, Congo Basin, Indonesia and Malaysia. In India: Andaman &amp; Nicobar Islands and the Northeast.</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3D2B"/>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Think About It: Two Desert Camels</a:t>
            </a:r>
            <a:endParaRPr lang="en-US" sz="3600" dirty="0"/>
          </a:p>
        </p:txBody>
      </p:sp>
      <p:sp>
        <p:nvSpPr>
          <p:cNvPr id="3" name="Rajasthan camel (Thar) header"/>
          <p:cNvSpPr/>
          <p:nvPr/>
        </p:nvSpPr>
        <p:spPr>
          <a:xfrm>
            <a:off x="548640" y="1371600"/>
            <a:ext cx="5257800" cy="777240"/>
          </a:xfrm>
          <a:prstGeom prst="roundRect">
            <a:avLst>
              <a:gd name="adj" fmla="val 14118"/>
            </a:avLst>
          </a:prstGeom>
          <a:solidFill>
            <a:schemeClr val="accent1"/>
          </a:solidFill>
          <a:ln w="12700">
            <a:solidFill>
              <a:schemeClr val="accent1"/>
            </a:solidFill>
            <a:prstDash val="solid"/>
          </a:ln>
        </p:spPr>
      </p:sp>
      <p:pic>
        <p:nvPicPr>
          <p:cNvPr id="4" name="Rajasthan camel (Thar) icon" descr="preencoded.png">    </p:cNvPr>
          <p:cNvPicPr>
            <a:picLocks noChangeAspect="1"/>
          </p:cNvPicPr>
          <p:nvPr/>
        </p:nvPicPr>
        <p:blipFill>
          <a:blip r:embed="rId1"/>
          <a:stretch>
            <a:fillRect/>
          </a:stretch>
        </p:blipFill>
        <p:spPr>
          <a:xfrm>
            <a:off x="777240" y="1508760"/>
            <a:ext cx="502920" cy="502920"/>
          </a:xfrm>
          <a:prstGeom prst="rect">
            <a:avLst/>
          </a:prstGeom>
        </p:spPr>
      </p:pic>
      <p:sp>
        <p:nvSpPr>
          <p:cNvPr id="5" name="Text 2"/>
          <p:cNvSpPr txBox="1"/>
          <p:nvPr/>
        </p:nvSpPr>
        <p:spPr>
          <a:xfrm>
            <a:off x="1463040" y="1371600"/>
            <a:ext cx="4160520" cy="777240"/>
          </a:xfrm>
          <a:prstGeom prst="rect">
            <a:avLst/>
          </a:prstGeom>
          <a:noFill/>
          <a:ln/>
        </p:spPr>
        <p:txBody>
          <a:bodyPr wrap="square" lIns="0" tIns="0" rIns="0" bIns="0" rtlCol="0" anchor="ctr"/>
          <a:lstStyle/>
          <a:p>
            <a:pPr indent="0" marL="0">
              <a:buNone/>
            </a:pPr>
            <a:r>
              <a:rPr lang="en-US" sz="2200" b="1" dirty="0">
                <a:solidFill>
                  <a:schemeClr val="bg1"/>
                </a:solidFill>
              </a:rPr>
              <a:t>Rajasthan camel (Thar)</a:t>
            </a:r>
            <a:endParaRPr lang="en-US" sz="2200" dirty="0"/>
          </a:p>
        </p:txBody>
      </p:sp>
      <p:sp>
        <p:nvSpPr>
          <p:cNvPr id="6" name="Rajasthan camel (Thar) body"/>
          <p:cNvSpPr/>
          <p:nvPr/>
        </p:nvSpPr>
        <p:spPr>
          <a:xfrm>
            <a:off x="548640" y="2240280"/>
            <a:ext cx="5257800" cy="3383280"/>
          </a:xfrm>
          <a:prstGeom prst="roundRect">
            <a:avLst>
              <a:gd name="adj" fmla="val 3243"/>
            </a:avLst>
          </a:prstGeom>
          <a:solidFill>
            <a:schemeClr val="bg2"/>
          </a:solidFill>
          <a:ln w="12700">
            <a:solidFill>
              <a:schemeClr val="bg2"/>
            </a:solidFill>
            <a:prstDash val="solid"/>
          </a:ln>
        </p:spPr>
      </p:sp>
      <p:sp>
        <p:nvSpPr>
          <p:cNvPr id="7" name="Text 4"/>
          <p:cNvSpPr txBox="1"/>
          <p:nvPr/>
        </p:nvSpPr>
        <p:spPr>
          <a:xfrm>
            <a:off x="822960" y="2423160"/>
            <a:ext cx="4709160" cy="3017520"/>
          </a:xfrm>
          <a:prstGeom prst="rect">
            <a:avLst/>
          </a:prstGeom>
          <a:noFill/>
          <a:ln/>
        </p:spPr>
        <p:txBody>
          <a:bodyPr wrap="square" lIns="0" tIns="0" rIns="0" bIns="0" rtlCol="0" anchor="t"/>
          <a:lstStyle/>
          <a:p>
            <a:pPr marL="228600" indent="-228600">
              <a:spcAft>
                <a:spcPts val="800"/>
              </a:spcAft>
              <a:buSzPct val="100000"/>
              <a:buChar char="•"/>
            </a:pPr>
            <a:r>
              <a:rPr lang="en-US" sz="2200" b="1" dirty="0">
                <a:solidFill>
                  <a:schemeClr val="tx1"/>
                </a:solidFill>
              </a:rPr>
              <a:t>Hot desert</a:t>
            </a:r>
            <a:r>
              <a:rPr lang="en-US" sz="2200" dirty="0">
                <a:solidFill>
                  <a:schemeClr val="tx1"/>
                </a:solidFill>
              </a:rPr>
              <a:t>: very hot days, sandy soil</a:t>
            </a:r>
            <a:endParaRPr lang="en-US" sz="1600" dirty="0"/>
          </a:p>
          <a:p>
            <a:pPr marL="228600" indent="-228600">
              <a:spcAft>
                <a:spcPts val="800"/>
              </a:spcAft>
              <a:buSzPct val="100000"/>
              <a:buChar char="•"/>
            </a:pPr>
            <a:r>
              <a:rPr lang="en-US" sz="2200" dirty="0">
                <a:solidFill>
                  <a:schemeClr val="tx1"/>
                </a:solidFill>
              </a:rPr>
              <a:t>Short, thin coat to stay cool</a:t>
            </a:r>
            <a:endParaRPr lang="en-US" sz="1600" dirty="0"/>
          </a:p>
          <a:p>
            <a:pPr marL="228600" indent="-228600">
              <a:spcAft>
                <a:spcPts val="800"/>
              </a:spcAft>
              <a:buSzPct val="100000"/>
              <a:buChar char="•"/>
            </a:pPr>
            <a:r>
              <a:rPr lang="en-US" sz="2200" dirty="0">
                <a:solidFill>
                  <a:schemeClr val="tx1"/>
                </a:solidFill>
              </a:rPr>
              <a:t>One hump</a:t>
            </a:r>
            <a:endParaRPr lang="en-US" sz="1600" dirty="0"/>
          </a:p>
          <a:p>
            <a:pPr marL="228600" indent="-228600">
              <a:spcAft>
                <a:spcPts val="800"/>
              </a:spcAft>
              <a:buSzPct val="100000"/>
              <a:buChar char="•"/>
            </a:pPr>
            <a:r>
              <a:rPr lang="en-US" sz="2200" dirty="0">
                <a:solidFill>
                  <a:schemeClr val="tx1"/>
                </a:solidFill>
              </a:rPr>
              <a:t>Used for transport, milk and tourism</a:t>
            </a:r>
            <a:endParaRPr lang="en-US" sz="1600" dirty="0"/>
          </a:p>
        </p:txBody>
      </p:sp>
      <p:sp>
        <p:nvSpPr>
          <p:cNvPr id="8" name="Nubra Valley camel (Ladakh) header"/>
          <p:cNvSpPr/>
          <p:nvPr/>
        </p:nvSpPr>
        <p:spPr>
          <a:xfrm>
            <a:off x="6355080" y="1371600"/>
            <a:ext cx="5257800" cy="777240"/>
          </a:xfrm>
          <a:prstGeom prst="roundRect">
            <a:avLst>
              <a:gd name="adj" fmla="val 14118"/>
            </a:avLst>
          </a:prstGeom>
          <a:solidFill>
            <a:schemeClr val="accent2"/>
          </a:solidFill>
          <a:ln w="12700">
            <a:solidFill>
              <a:schemeClr val="accent2"/>
            </a:solidFill>
            <a:prstDash val="solid"/>
          </a:ln>
        </p:spPr>
      </p:sp>
      <p:pic>
        <p:nvPicPr>
          <p:cNvPr id="9" name="Nubra Valley camel (Ladakh) icon" descr="preencoded.png">    </p:cNvPr>
          <p:cNvPicPr>
            <a:picLocks noChangeAspect="1"/>
          </p:cNvPicPr>
          <p:nvPr/>
        </p:nvPicPr>
        <p:blipFill>
          <a:blip r:embed="rId2"/>
          <a:stretch>
            <a:fillRect/>
          </a:stretch>
        </p:blipFill>
        <p:spPr>
          <a:xfrm>
            <a:off x="6583680" y="1508760"/>
            <a:ext cx="502920" cy="502920"/>
          </a:xfrm>
          <a:prstGeom prst="rect">
            <a:avLst/>
          </a:prstGeom>
        </p:spPr>
      </p:pic>
      <p:sp>
        <p:nvSpPr>
          <p:cNvPr id="10" name="Text 6"/>
          <p:cNvSpPr txBox="1"/>
          <p:nvPr/>
        </p:nvSpPr>
        <p:spPr>
          <a:xfrm>
            <a:off x="7269480" y="1371600"/>
            <a:ext cx="4160520" cy="777240"/>
          </a:xfrm>
          <a:prstGeom prst="rect">
            <a:avLst/>
          </a:prstGeom>
          <a:noFill/>
          <a:ln/>
        </p:spPr>
        <p:txBody>
          <a:bodyPr wrap="square" lIns="0" tIns="0" rIns="0" bIns="0" rtlCol="0" anchor="ctr"/>
          <a:lstStyle/>
          <a:p>
            <a:pPr indent="0" marL="0">
              <a:buNone/>
            </a:pPr>
            <a:r>
              <a:rPr lang="en-US" sz="2200" b="1" dirty="0">
                <a:solidFill>
                  <a:schemeClr val="bg1"/>
                </a:solidFill>
              </a:rPr>
              <a:t>Nubra Valley camel (Ladakh)</a:t>
            </a:r>
            <a:endParaRPr lang="en-US" sz="2200" dirty="0"/>
          </a:p>
        </p:txBody>
      </p:sp>
      <p:sp>
        <p:nvSpPr>
          <p:cNvPr id="11" name="Nubra Valley camel (Ladakh) body"/>
          <p:cNvSpPr/>
          <p:nvPr/>
        </p:nvSpPr>
        <p:spPr>
          <a:xfrm>
            <a:off x="6355080" y="2240280"/>
            <a:ext cx="5257800" cy="3383280"/>
          </a:xfrm>
          <a:prstGeom prst="roundRect">
            <a:avLst>
              <a:gd name="adj" fmla="val 3243"/>
            </a:avLst>
          </a:prstGeom>
          <a:solidFill>
            <a:schemeClr val="bg2"/>
          </a:solidFill>
          <a:ln w="12700">
            <a:solidFill>
              <a:schemeClr val="bg2"/>
            </a:solidFill>
            <a:prstDash val="solid"/>
          </a:ln>
        </p:spPr>
      </p:sp>
      <p:sp>
        <p:nvSpPr>
          <p:cNvPr id="12" name="Text 8"/>
          <p:cNvSpPr txBox="1"/>
          <p:nvPr/>
        </p:nvSpPr>
        <p:spPr>
          <a:xfrm>
            <a:off x="6629400" y="2423160"/>
            <a:ext cx="4709160" cy="3017520"/>
          </a:xfrm>
          <a:prstGeom prst="rect">
            <a:avLst/>
          </a:prstGeom>
          <a:noFill/>
          <a:ln/>
        </p:spPr>
        <p:txBody>
          <a:bodyPr wrap="square" lIns="0" tIns="0" rIns="0" bIns="0" rtlCol="0" anchor="t"/>
          <a:lstStyle/>
          <a:p>
            <a:pPr marL="228600" indent="-228600">
              <a:spcAft>
                <a:spcPts val="800"/>
              </a:spcAft>
              <a:buSzPct val="100000"/>
              <a:buChar char="•"/>
            </a:pPr>
            <a:r>
              <a:rPr lang="en-US" sz="2200" b="1" dirty="0">
                <a:solidFill>
                  <a:schemeClr val="tx1"/>
                </a:solidFill>
              </a:rPr>
              <a:t>Cold desert</a:t>
            </a:r>
            <a:r>
              <a:rPr lang="en-US" sz="2200" dirty="0">
                <a:solidFill>
                  <a:schemeClr val="tx1"/>
                </a:solidFill>
              </a:rPr>
              <a:t>: freezing winters, high altitude</a:t>
            </a:r>
            <a:endParaRPr lang="en-US" sz="1600" dirty="0"/>
          </a:p>
          <a:p>
            <a:pPr marL="228600" indent="-228600">
              <a:spcAft>
                <a:spcPts val="800"/>
              </a:spcAft>
              <a:buSzPct val="100000"/>
              <a:buChar char="•"/>
            </a:pPr>
            <a:r>
              <a:rPr lang="en-US" sz="2200" b="1" dirty="0">
                <a:solidFill>
                  <a:schemeClr val="tx1"/>
                </a:solidFill>
              </a:rPr>
              <a:t>Thick, shaggy fur</a:t>
            </a:r>
            <a:r>
              <a:rPr lang="en-US" sz="2200" dirty="0">
                <a:solidFill>
                  <a:schemeClr val="tx1"/>
                </a:solidFill>
              </a:rPr>
              <a:t> to keep warm</a:t>
            </a:r>
            <a:endParaRPr lang="en-US" sz="1600" dirty="0"/>
          </a:p>
          <a:p>
            <a:pPr marL="228600" indent="-228600">
              <a:spcAft>
                <a:spcPts val="800"/>
              </a:spcAft>
              <a:buSzPct val="100000"/>
              <a:buChar char="•"/>
            </a:pPr>
            <a:r>
              <a:rPr lang="en-US" sz="2200" dirty="0">
                <a:solidFill>
                  <a:schemeClr val="tx1"/>
                </a:solidFill>
              </a:rPr>
              <a:t>Two humps</a:t>
            </a:r>
            <a:endParaRPr lang="en-US" sz="1600" dirty="0"/>
          </a:p>
          <a:p>
            <a:pPr marL="228600" indent="-228600">
              <a:spcAft>
                <a:spcPts val="800"/>
              </a:spcAft>
              <a:buSzPct val="100000"/>
              <a:buChar char="•"/>
            </a:pPr>
            <a:r>
              <a:rPr lang="en-US" sz="2200" dirty="0">
                <a:solidFill>
                  <a:schemeClr val="tx1"/>
                </a:solidFill>
              </a:rPr>
              <a:t>Now used mainly for tourism rides</a:t>
            </a:r>
            <a:endParaRPr lang="en-US" sz="1600" dirty="0"/>
          </a:p>
        </p:txBody>
      </p:sp>
      <p:sp>
        <p:nvSpPr>
          <p:cNvPr id="13" name="vs badge"/>
          <p:cNvSpPr/>
          <p:nvPr/>
        </p:nvSpPr>
        <p:spPr>
          <a:xfrm>
            <a:off x="5733288" y="1417320"/>
            <a:ext cx="713232" cy="713232"/>
          </a:xfrm>
          <a:prstGeom prst="ellipse">
            <a:avLst/>
          </a:prstGeom>
          <a:solidFill>
            <a:schemeClr val="accent3"/>
          </a:solidFill>
          <a:ln w="25400">
            <a:solidFill>
              <a:schemeClr val="bg1"/>
            </a:solidFill>
            <a:prstDash val="solid"/>
          </a:ln>
        </p:spPr>
      </p:sp>
      <p:sp>
        <p:nvSpPr>
          <p:cNvPr id="14" name="Text 10"/>
          <p:cNvSpPr txBox="1"/>
          <p:nvPr/>
        </p:nvSpPr>
        <p:spPr>
          <a:xfrm>
            <a:off x="5733288" y="1417320"/>
            <a:ext cx="713232" cy="713232"/>
          </a:xfrm>
          <a:prstGeom prst="rect">
            <a:avLst/>
          </a:prstGeom>
          <a:noFill/>
          <a:ln/>
        </p:spPr>
        <p:txBody>
          <a:bodyPr wrap="square" lIns="0" tIns="0" rIns="0" bIns="0" rtlCol="0" anchor="ctr"/>
          <a:lstStyle/>
          <a:p>
            <a:pPr algn="ctr" indent="0" marL="0">
              <a:buNone/>
            </a:pPr>
            <a:r>
              <a:rPr lang="en-US" sz="1600" b="1" dirty="0">
                <a:solidFill>
                  <a:schemeClr val="tx2"/>
                </a:solidFill>
              </a:rPr>
              <a:t>VS</a:t>
            </a:r>
            <a:endParaRPr lang="en-US" sz="1600" dirty="0"/>
          </a:p>
        </p:txBody>
      </p:sp>
      <p:sp>
        <p:nvSpPr>
          <p:cNvPr id="15" name="footnote band"/>
          <p:cNvSpPr/>
          <p:nvPr/>
        </p:nvSpPr>
        <p:spPr>
          <a:xfrm>
            <a:off x="548640" y="5760720"/>
            <a:ext cx="11064240" cy="502920"/>
          </a:xfrm>
          <a:prstGeom prst="roundRect">
            <a:avLst>
              <a:gd name="adj" fmla="val 14545"/>
            </a:avLst>
          </a:prstGeom>
          <a:solidFill>
            <a:schemeClr val="tx2"/>
          </a:solidFill>
          <a:ln w="12700">
            <a:solidFill>
              <a:schemeClr val="tx2"/>
            </a:solidFill>
            <a:prstDash val="solid"/>
          </a:ln>
        </p:spPr>
      </p:sp>
      <p:sp>
        <p:nvSpPr>
          <p:cNvPr id="16" name="Text 12"/>
          <p:cNvSpPr txBox="1"/>
          <p:nvPr/>
        </p:nvSpPr>
        <p:spPr>
          <a:xfrm>
            <a:off x="777240" y="5760720"/>
            <a:ext cx="10607040" cy="502920"/>
          </a:xfrm>
          <a:prstGeom prst="rect">
            <a:avLst/>
          </a:prstGeom>
          <a:noFill/>
          <a:ln/>
        </p:spPr>
        <p:txBody>
          <a:bodyPr wrap="square" lIns="0" tIns="0" rIns="0" bIns="0" rtlCol="0" anchor="ctr"/>
          <a:lstStyle/>
          <a:p>
            <a:pPr indent="0" marL="0">
              <a:buNone/>
            </a:pPr>
            <a:r>
              <a:rPr lang="en-US" sz="1500" dirty="0">
                <a:solidFill>
                  <a:schemeClr val="bg1"/>
                </a:solidFill>
              </a:rPr>
              <a:t>Same animal family, different climates: </a:t>
            </a:r>
            <a:r>
              <a:rPr lang="en-US" sz="1500" b="1" dirty="0">
                <a:solidFill>
                  <a:schemeClr val="bg1"/>
                </a:solidFill>
              </a:rPr>
              <a:t>adaptations</a:t>
            </a:r>
            <a:r>
              <a:rPr lang="en-US" sz="1500" dirty="0">
                <a:solidFill>
                  <a:schemeClr val="bg1"/>
                </a:solidFill>
              </a:rPr>
              <a:t> help living beings survive where they live.</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3D2B"/>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Aquatic Biomes: Three-Fourths of Earth</a:t>
            </a:r>
            <a:endParaRPr lang="en-US" sz="3600" dirty="0"/>
          </a:p>
        </p:txBody>
      </p:sp>
      <p:sp>
        <p:nvSpPr>
          <p:cNvPr id="3" name="Freshwater biomes header"/>
          <p:cNvSpPr/>
          <p:nvPr/>
        </p:nvSpPr>
        <p:spPr>
          <a:xfrm>
            <a:off x="548640" y="1371600"/>
            <a:ext cx="5257800" cy="777240"/>
          </a:xfrm>
          <a:prstGeom prst="roundRect">
            <a:avLst>
              <a:gd name="adj" fmla="val 14118"/>
            </a:avLst>
          </a:prstGeom>
          <a:solidFill>
            <a:schemeClr val="accent1"/>
          </a:solidFill>
          <a:ln w="12700">
            <a:solidFill>
              <a:schemeClr val="accent1"/>
            </a:solidFill>
            <a:prstDash val="solid"/>
          </a:ln>
        </p:spPr>
      </p:sp>
      <p:pic>
        <p:nvPicPr>
          <p:cNvPr id="4" name="Freshwater biomes icon" descr="preencoded.png">    </p:cNvPr>
          <p:cNvPicPr>
            <a:picLocks noChangeAspect="1"/>
          </p:cNvPicPr>
          <p:nvPr/>
        </p:nvPicPr>
        <p:blipFill>
          <a:blip r:embed="rId1"/>
          <a:stretch>
            <a:fillRect/>
          </a:stretch>
        </p:blipFill>
        <p:spPr>
          <a:xfrm>
            <a:off x="777240" y="1508760"/>
            <a:ext cx="502920" cy="502920"/>
          </a:xfrm>
          <a:prstGeom prst="rect">
            <a:avLst/>
          </a:prstGeom>
        </p:spPr>
      </p:pic>
      <p:sp>
        <p:nvSpPr>
          <p:cNvPr id="5" name="Text 2"/>
          <p:cNvSpPr txBox="1"/>
          <p:nvPr/>
        </p:nvSpPr>
        <p:spPr>
          <a:xfrm>
            <a:off x="1463040" y="1371600"/>
            <a:ext cx="4160520" cy="777240"/>
          </a:xfrm>
          <a:prstGeom prst="rect">
            <a:avLst/>
          </a:prstGeom>
          <a:noFill/>
          <a:ln/>
        </p:spPr>
        <p:txBody>
          <a:bodyPr wrap="square" lIns="0" tIns="0" rIns="0" bIns="0" rtlCol="0" anchor="ctr"/>
          <a:lstStyle/>
          <a:p>
            <a:pPr indent="0" marL="0">
              <a:buNone/>
            </a:pPr>
            <a:r>
              <a:rPr lang="en-US" sz="2200" b="1" dirty="0">
                <a:solidFill>
                  <a:schemeClr val="bg1"/>
                </a:solidFill>
              </a:rPr>
              <a:t>Freshwater biomes</a:t>
            </a:r>
            <a:endParaRPr lang="en-US" sz="2200" dirty="0"/>
          </a:p>
        </p:txBody>
      </p:sp>
      <p:sp>
        <p:nvSpPr>
          <p:cNvPr id="6" name="Freshwater biomes body"/>
          <p:cNvSpPr/>
          <p:nvPr/>
        </p:nvSpPr>
        <p:spPr>
          <a:xfrm>
            <a:off x="548640" y="2240280"/>
            <a:ext cx="5257800" cy="3383280"/>
          </a:xfrm>
          <a:prstGeom prst="roundRect">
            <a:avLst>
              <a:gd name="adj" fmla="val 3243"/>
            </a:avLst>
          </a:prstGeom>
          <a:solidFill>
            <a:schemeClr val="bg2"/>
          </a:solidFill>
          <a:ln w="12700">
            <a:solidFill>
              <a:schemeClr val="bg2"/>
            </a:solidFill>
            <a:prstDash val="solid"/>
          </a:ln>
        </p:spPr>
      </p:sp>
      <p:sp>
        <p:nvSpPr>
          <p:cNvPr id="7" name="Text 4"/>
          <p:cNvSpPr txBox="1"/>
          <p:nvPr/>
        </p:nvSpPr>
        <p:spPr>
          <a:xfrm>
            <a:off x="822960" y="2423160"/>
            <a:ext cx="4709160" cy="3017520"/>
          </a:xfrm>
          <a:prstGeom prst="rect">
            <a:avLst/>
          </a:prstGeom>
          <a:noFill/>
          <a:ln/>
        </p:spPr>
        <p:txBody>
          <a:bodyPr wrap="square" lIns="0" tIns="0" rIns="0" bIns="0" rtlCol="0" anchor="t"/>
          <a:lstStyle/>
          <a:p>
            <a:pPr marL="228600" indent="-228600">
              <a:spcAft>
                <a:spcPts val="800"/>
              </a:spcAft>
              <a:buSzPct val="100000"/>
              <a:buChar char="•"/>
            </a:pPr>
            <a:r>
              <a:rPr lang="en-US" sz="2200" dirty="0">
                <a:solidFill>
                  <a:schemeClr val="tx1"/>
                </a:solidFill>
              </a:rPr>
              <a:t>Rivers, lakes, ponds and wetlands</a:t>
            </a:r>
            <a:endParaRPr lang="en-US" sz="1600" dirty="0"/>
          </a:p>
          <a:p>
            <a:pPr marL="228600" indent="-228600">
              <a:spcAft>
                <a:spcPts val="800"/>
              </a:spcAft>
              <a:buSzPct val="100000"/>
              <a:buChar char="•"/>
            </a:pPr>
            <a:r>
              <a:rPr lang="en-US" sz="2200" dirty="0">
                <a:solidFill>
                  <a:schemeClr val="tx1"/>
                </a:solidFill>
              </a:rPr>
              <a:t>Crucial for </a:t>
            </a:r>
            <a:r>
              <a:rPr lang="en-US" sz="2200" b="1" dirty="0">
                <a:solidFill>
                  <a:schemeClr val="tx1"/>
                </a:solidFill>
              </a:rPr>
              <a:t>agriculture</a:t>
            </a:r>
            <a:r>
              <a:rPr lang="en-US" sz="2200" dirty="0">
                <a:solidFill>
                  <a:schemeClr val="tx1"/>
                </a:solidFill>
              </a:rPr>
              <a:t> and </a:t>
            </a:r>
            <a:r>
              <a:rPr lang="en-US" sz="2200" b="1" dirty="0">
                <a:solidFill>
                  <a:schemeClr val="tx1"/>
                </a:solidFill>
              </a:rPr>
              <a:t>drinking water</a:t>
            </a:r>
            <a:endParaRPr lang="en-US" sz="1600" dirty="0"/>
          </a:p>
          <a:p>
            <a:pPr marL="228600" indent="-228600">
              <a:spcAft>
                <a:spcPts val="800"/>
              </a:spcAft>
              <a:buSzPct val="100000"/>
              <a:buChar char="•"/>
            </a:pPr>
            <a:r>
              <a:rPr lang="en-US" sz="2200" dirty="0">
                <a:solidFill>
                  <a:schemeClr val="tx1"/>
                </a:solidFill>
              </a:rPr>
              <a:t>Home to fish, frogs and insects</a:t>
            </a:r>
            <a:endParaRPr lang="en-US" sz="1600" dirty="0"/>
          </a:p>
        </p:txBody>
      </p:sp>
      <p:sp>
        <p:nvSpPr>
          <p:cNvPr id="8" name="Marine biomes header"/>
          <p:cNvSpPr/>
          <p:nvPr/>
        </p:nvSpPr>
        <p:spPr>
          <a:xfrm>
            <a:off x="6355080" y="1371600"/>
            <a:ext cx="5257800" cy="777240"/>
          </a:xfrm>
          <a:prstGeom prst="roundRect">
            <a:avLst>
              <a:gd name="adj" fmla="val 14118"/>
            </a:avLst>
          </a:prstGeom>
          <a:solidFill>
            <a:schemeClr val="accent2"/>
          </a:solidFill>
          <a:ln w="12700">
            <a:solidFill>
              <a:schemeClr val="accent2"/>
            </a:solidFill>
            <a:prstDash val="solid"/>
          </a:ln>
        </p:spPr>
      </p:sp>
      <p:pic>
        <p:nvPicPr>
          <p:cNvPr id="9" name="Marine biomes icon" descr="preencoded.png">    </p:cNvPr>
          <p:cNvPicPr>
            <a:picLocks noChangeAspect="1"/>
          </p:cNvPicPr>
          <p:nvPr/>
        </p:nvPicPr>
        <p:blipFill>
          <a:blip r:embed="rId2"/>
          <a:stretch>
            <a:fillRect/>
          </a:stretch>
        </p:blipFill>
        <p:spPr>
          <a:xfrm>
            <a:off x="6583680" y="1508760"/>
            <a:ext cx="502920" cy="502920"/>
          </a:xfrm>
          <a:prstGeom prst="rect">
            <a:avLst/>
          </a:prstGeom>
        </p:spPr>
      </p:pic>
      <p:sp>
        <p:nvSpPr>
          <p:cNvPr id="10" name="Text 6"/>
          <p:cNvSpPr txBox="1"/>
          <p:nvPr/>
        </p:nvSpPr>
        <p:spPr>
          <a:xfrm>
            <a:off x="7269480" y="1371600"/>
            <a:ext cx="4160520" cy="777240"/>
          </a:xfrm>
          <a:prstGeom prst="rect">
            <a:avLst/>
          </a:prstGeom>
          <a:noFill/>
          <a:ln/>
        </p:spPr>
        <p:txBody>
          <a:bodyPr wrap="square" lIns="0" tIns="0" rIns="0" bIns="0" rtlCol="0" anchor="ctr"/>
          <a:lstStyle/>
          <a:p>
            <a:pPr indent="0" marL="0">
              <a:buNone/>
            </a:pPr>
            <a:r>
              <a:rPr lang="en-US" sz="2200" b="1" dirty="0">
                <a:solidFill>
                  <a:schemeClr val="bg1"/>
                </a:solidFill>
              </a:rPr>
              <a:t>Marine biomes</a:t>
            </a:r>
            <a:endParaRPr lang="en-US" sz="2200" dirty="0"/>
          </a:p>
        </p:txBody>
      </p:sp>
      <p:sp>
        <p:nvSpPr>
          <p:cNvPr id="11" name="Marine biomes body"/>
          <p:cNvSpPr/>
          <p:nvPr/>
        </p:nvSpPr>
        <p:spPr>
          <a:xfrm>
            <a:off x="6355080" y="2240280"/>
            <a:ext cx="5257800" cy="3383280"/>
          </a:xfrm>
          <a:prstGeom prst="roundRect">
            <a:avLst>
              <a:gd name="adj" fmla="val 3243"/>
            </a:avLst>
          </a:prstGeom>
          <a:solidFill>
            <a:schemeClr val="bg2"/>
          </a:solidFill>
          <a:ln w="12700">
            <a:solidFill>
              <a:schemeClr val="bg2"/>
            </a:solidFill>
            <a:prstDash val="solid"/>
          </a:ln>
        </p:spPr>
      </p:sp>
      <p:sp>
        <p:nvSpPr>
          <p:cNvPr id="12" name="Text 8"/>
          <p:cNvSpPr txBox="1"/>
          <p:nvPr/>
        </p:nvSpPr>
        <p:spPr>
          <a:xfrm>
            <a:off x="6629400" y="2423160"/>
            <a:ext cx="4709160" cy="3017520"/>
          </a:xfrm>
          <a:prstGeom prst="rect">
            <a:avLst/>
          </a:prstGeom>
          <a:noFill/>
          <a:ln/>
        </p:spPr>
        <p:txBody>
          <a:bodyPr wrap="square" lIns="0" tIns="0" rIns="0" bIns="0" rtlCol="0" anchor="t"/>
          <a:lstStyle/>
          <a:p>
            <a:pPr marL="228600" indent="-228600">
              <a:spcAft>
                <a:spcPts val="800"/>
              </a:spcAft>
              <a:buSzPct val="100000"/>
              <a:buChar char="•"/>
            </a:pPr>
            <a:r>
              <a:rPr lang="en-US" sz="2200" dirty="0">
                <a:solidFill>
                  <a:schemeClr val="tx1"/>
                </a:solidFill>
              </a:rPr>
              <a:t>Oceans, seas and </a:t>
            </a:r>
            <a:r>
              <a:rPr lang="en-US" sz="2200" b="1" dirty="0">
                <a:solidFill>
                  <a:schemeClr val="tx1"/>
                </a:solidFill>
              </a:rPr>
              <a:t>coral reefs</a:t>
            </a:r>
            <a:endParaRPr lang="en-US" sz="1600" dirty="0"/>
          </a:p>
          <a:p>
            <a:pPr marL="228600" indent="-228600">
              <a:spcAft>
                <a:spcPts val="800"/>
              </a:spcAft>
              <a:buSzPct val="100000"/>
              <a:buChar char="•"/>
            </a:pPr>
            <a:r>
              <a:rPr lang="en-US" sz="2200" dirty="0">
                <a:solidFill>
                  <a:schemeClr val="tx1"/>
                </a:solidFill>
              </a:rPr>
              <a:t>Rich in biodiversity; store and spread heat, so they shape </a:t>
            </a:r>
            <a:r>
              <a:rPr lang="en-US" sz="2200" b="1" dirty="0">
                <a:solidFill>
                  <a:schemeClr val="tx1"/>
                </a:solidFill>
              </a:rPr>
              <a:t>climate</a:t>
            </a:r>
            <a:endParaRPr lang="en-US" sz="1600" dirty="0"/>
          </a:p>
          <a:p>
            <a:pPr marL="228600" indent="-228600">
              <a:spcAft>
                <a:spcPts val="800"/>
              </a:spcAft>
              <a:buSzPct val="100000"/>
              <a:buChar char="•"/>
            </a:pPr>
            <a:r>
              <a:rPr lang="en-US" sz="2200" dirty="0">
                <a:solidFill>
                  <a:schemeClr val="tx1"/>
                </a:solidFill>
              </a:rPr>
              <a:t>Whales, dolphins, fish, plankton; food and jobs for millions</a:t>
            </a:r>
            <a:endParaRPr lang="en-US" sz="1600" dirty="0"/>
          </a:p>
        </p:txBody>
      </p:sp>
      <p:sp>
        <p:nvSpPr>
          <p:cNvPr id="13" name="footnote band"/>
          <p:cNvSpPr/>
          <p:nvPr/>
        </p:nvSpPr>
        <p:spPr>
          <a:xfrm>
            <a:off x="548640" y="5760720"/>
            <a:ext cx="11064240" cy="502920"/>
          </a:xfrm>
          <a:prstGeom prst="roundRect">
            <a:avLst>
              <a:gd name="adj" fmla="val 14545"/>
            </a:avLst>
          </a:prstGeom>
          <a:solidFill>
            <a:schemeClr val="tx2"/>
          </a:solidFill>
          <a:ln w="12700">
            <a:solidFill>
              <a:schemeClr val="tx2"/>
            </a:solidFill>
            <a:prstDash val="solid"/>
          </a:ln>
        </p:spPr>
      </p:sp>
      <p:sp>
        <p:nvSpPr>
          <p:cNvPr id="14" name="Text 10"/>
          <p:cNvSpPr txBox="1"/>
          <p:nvPr/>
        </p:nvSpPr>
        <p:spPr>
          <a:xfrm>
            <a:off x="777240" y="5760720"/>
            <a:ext cx="10607040" cy="502920"/>
          </a:xfrm>
          <a:prstGeom prst="rect">
            <a:avLst/>
          </a:prstGeom>
          <a:noFill/>
          <a:ln/>
        </p:spPr>
        <p:txBody>
          <a:bodyPr wrap="square" lIns="0" tIns="0" rIns="0" bIns="0" rtlCol="0" anchor="ctr"/>
          <a:lstStyle/>
          <a:p>
            <a:pPr indent="0" marL="0">
              <a:buNone/>
            </a:pPr>
            <a:r>
              <a:rPr lang="en-US" sz="1500" dirty="0">
                <a:solidFill>
                  <a:schemeClr val="bg1"/>
                </a:solidFill>
              </a:rPr>
              <a:t>Aquatic biomes cover about </a:t>
            </a:r>
            <a:r>
              <a:rPr lang="en-US" sz="1500" b="1" dirty="0">
                <a:solidFill>
                  <a:schemeClr val="bg1"/>
                </a:solidFill>
              </a:rPr>
              <a:t>three-fourths</a:t>
            </a:r>
            <a:r>
              <a:rPr lang="en-US" sz="1500" dirty="0">
                <a:solidFill>
                  <a:schemeClr val="bg1"/>
                </a:solidFill>
              </a:rPr>
              <a:t> of the Earth's surface.</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3D2B"/>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The Biome Pyramid</a:t>
            </a:r>
            <a:endParaRPr lang="en-US" sz="3600" dirty="0"/>
          </a:p>
        </p:txBody>
      </p:sp>
      <p:sp>
        <p:nvSpPr>
          <p:cNvPr id="3" name="Producers tier"/>
          <p:cNvSpPr/>
          <p:nvPr/>
        </p:nvSpPr>
        <p:spPr>
          <a:xfrm>
            <a:off x="1005840" y="4594860"/>
            <a:ext cx="5669280" cy="1074420"/>
          </a:xfrm>
          <a:custGeom>
            <a:avLst/>
            <a:gdLst/>
            <a:ahLst/>
            <a:cxnLst/>
            <a:rect l="l" t="t" r="r" b="b"/>
            <a:pathLst>
              <a:path w="5669280" h="1074420">
                <a:moveTo>
                  <a:pt x="0" y="1074420"/>
                </a:moveTo>
                <a:lnTo>
                  <a:pt x="5669280" y="1074420"/>
                </a:lnTo>
                <a:lnTo>
                  <a:pt x="4960620" y="0"/>
                </a:lnTo>
                <a:lnTo>
                  <a:pt x="708660" y="0"/>
                </a:lnTo>
                <a:close/>
              </a:path>
            </a:pathLst>
          </a:custGeom>
          <a:solidFill>
            <a:schemeClr val="accent5"/>
          </a:solidFill>
          <a:ln w="25400">
            <a:solidFill>
              <a:schemeClr val="bg1"/>
            </a:solidFill>
            <a:prstDash val="solid"/>
          </a:ln>
        </p:spPr>
      </p:sp>
      <p:pic>
        <p:nvPicPr>
          <p:cNvPr id="4" name="Producers icon" descr="preencoded.png">    </p:cNvPr>
          <p:cNvPicPr>
            <a:picLocks noChangeAspect="1"/>
          </p:cNvPicPr>
          <p:nvPr/>
        </p:nvPicPr>
        <p:blipFill>
          <a:blip r:embed="rId1"/>
          <a:stretch>
            <a:fillRect/>
          </a:stretch>
        </p:blipFill>
        <p:spPr>
          <a:xfrm>
            <a:off x="3557016" y="4848606"/>
            <a:ext cx="566928" cy="566928"/>
          </a:xfrm>
          <a:prstGeom prst="rect">
            <a:avLst/>
          </a:prstGeom>
        </p:spPr>
      </p:pic>
      <p:sp>
        <p:nvSpPr>
          <p:cNvPr id="5" name="leader 0"/>
          <p:cNvSpPr/>
          <p:nvPr/>
        </p:nvSpPr>
        <p:spPr>
          <a:xfrm>
            <a:off x="6412230" y="5132070"/>
            <a:ext cx="674370" cy="0"/>
          </a:xfrm>
          <a:prstGeom prst="line">
            <a:avLst/>
          </a:prstGeom>
          <a:noFill/>
          <a:ln w="19050">
            <a:solidFill>
              <a:schemeClr val="accent5"/>
            </a:solidFill>
            <a:prstDash val="dash"/>
          </a:ln>
        </p:spPr>
      </p:sp>
      <p:sp>
        <p:nvSpPr>
          <p:cNvPr id="6" name="Text 3"/>
          <p:cNvSpPr txBox="1"/>
          <p:nvPr/>
        </p:nvSpPr>
        <p:spPr>
          <a:xfrm>
            <a:off x="7178040" y="4674870"/>
            <a:ext cx="4434840" cy="914400"/>
          </a:xfrm>
          <a:prstGeom prst="rect">
            <a:avLst/>
          </a:prstGeom>
          <a:noFill/>
          <a:ln/>
        </p:spPr>
        <p:txBody>
          <a:bodyPr wrap="square" lIns="0" tIns="0" rIns="0" bIns="0" rtlCol="0" anchor="ctr"/>
          <a:lstStyle/>
          <a:p>
            <a:pPr indent="0" marL="0">
              <a:buNone/>
            </a:pPr>
            <a:r>
              <a:rPr lang="en-US" sz="1800" b="1" dirty="0">
                <a:solidFill>
                  <a:schemeClr val="accent5"/>
                </a:solidFill>
              </a:rPr>
              <a:t>Producers</a:t>
            </a:r>
            <a:endParaRPr lang="en-US" sz="1600" dirty="0"/>
          </a:p>
          <a:p>
            <a:pPr indent="0" marL="0">
              <a:buNone/>
            </a:pPr>
            <a:r>
              <a:rPr lang="en-US" sz="1500" dirty="0">
                <a:solidFill>
                  <a:schemeClr val="tx1"/>
                </a:solidFill>
              </a:rPr>
              <a:t>Plants and algae capture solar energy by photosynthesis</a:t>
            </a:r>
            <a:endParaRPr lang="en-US" sz="1600" dirty="0"/>
          </a:p>
        </p:txBody>
      </p:sp>
      <p:sp>
        <p:nvSpPr>
          <p:cNvPr id="7" name="Primary consumers tier"/>
          <p:cNvSpPr/>
          <p:nvPr/>
        </p:nvSpPr>
        <p:spPr>
          <a:xfrm>
            <a:off x="1714500" y="3520440"/>
            <a:ext cx="4251960" cy="1074420"/>
          </a:xfrm>
          <a:custGeom>
            <a:avLst/>
            <a:gdLst/>
            <a:ahLst/>
            <a:cxnLst/>
            <a:rect l="l" t="t" r="r" b="b"/>
            <a:pathLst>
              <a:path w="4251960" h="1074420">
                <a:moveTo>
                  <a:pt x="0" y="1074420"/>
                </a:moveTo>
                <a:lnTo>
                  <a:pt x="4251960" y="1074420"/>
                </a:lnTo>
                <a:lnTo>
                  <a:pt x="3543300" y="0"/>
                </a:lnTo>
                <a:lnTo>
                  <a:pt x="708660" y="0"/>
                </a:lnTo>
                <a:close/>
              </a:path>
            </a:pathLst>
          </a:custGeom>
          <a:solidFill>
            <a:schemeClr val="accent1"/>
          </a:solidFill>
          <a:ln w="25400">
            <a:solidFill>
              <a:schemeClr val="bg1"/>
            </a:solidFill>
            <a:prstDash val="solid"/>
          </a:ln>
        </p:spPr>
      </p:sp>
      <p:pic>
        <p:nvPicPr>
          <p:cNvPr id="8" name="Primary consumers icon" descr="preencoded.png">    </p:cNvPr>
          <p:cNvPicPr>
            <a:picLocks noChangeAspect="1"/>
          </p:cNvPicPr>
          <p:nvPr/>
        </p:nvPicPr>
        <p:blipFill>
          <a:blip r:embed="rId2"/>
          <a:stretch>
            <a:fillRect/>
          </a:stretch>
        </p:blipFill>
        <p:spPr>
          <a:xfrm>
            <a:off x="3557016" y="3774186"/>
            <a:ext cx="566928" cy="566928"/>
          </a:xfrm>
          <a:prstGeom prst="rect">
            <a:avLst/>
          </a:prstGeom>
        </p:spPr>
      </p:pic>
      <p:sp>
        <p:nvSpPr>
          <p:cNvPr id="9" name="leader 1"/>
          <p:cNvSpPr/>
          <p:nvPr/>
        </p:nvSpPr>
        <p:spPr>
          <a:xfrm>
            <a:off x="5703570" y="4057650"/>
            <a:ext cx="1383030" cy="0"/>
          </a:xfrm>
          <a:prstGeom prst="line">
            <a:avLst/>
          </a:prstGeom>
          <a:noFill/>
          <a:ln w="19050">
            <a:solidFill>
              <a:schemeClr val="accent1"/>
            </a:solidFill>
            <a:prstDash val="dash"/>
          </a:ln>
        </p:spPr>
      </p:sp>
      <p:sp>
        <p:nvSpPr>
          <p:cNvPr id="10" name="Text 6"/>
          <p:cNvSpPr txBox="1"/>
          <p:nvPr/>
        </p:nvSpPr>
        <p:spPr>
          <a:xfrm>
            <a:off x="7178040" y="3600450"/>
            <a:ext cx="4434840" cy="914400"/>
          </a:xfrm>
          <a:prstGeom prst="rect">
            <a:avLst/>
          </a:prstGeom>
          <a:noFill/>
          <a:ln/>
        </p:spPr>
        <p:txBody>
          <a:bodyPr wrap="square" lIns="0" tIns="0" rIns="0" bIns="0" rtlCol="0" anchor="ctr"/>
          <a:lstStyle/>
          <a:p>
            <a:pPr indent="0" marL="0">
              <a:buNone/>
            </a:pPr>
            <a:r>
              <a:rPr lang="en-US" sz="1800" b="1" dirty="0">
                <a:solidFill>
                  <a:schemeClr val="accent1"/>
                </a:solidFill>
              </a:rPr>
              <a:t>Primary consumers</a:t>
            </a:r>
            <a:endParaRPr lang="en-US" sz="1600" dirty="0"/>
          </a:p>
          <a:p>
            <a:pPr indent="0" marL="0">
              <a:buNone/>
            </a:pPr>
            <a:r>
              <a:rPr lang="en-US" sz="1500" dirty="0">
                <a:solidFill>
                  <a:schemeClr val="tx1"/>
                </a:solidFill>
              </a:rPr>
              <a:t>Herbivores, e.g. deer, grasshoppers</a:t>
            </a:r>
            <a:endParaRPr lang="en-US" sz="1600" dirty="0"/>
          </a:p>
        </p:txBody>
      </p:sp>
      <p:sp>
        <p:nvSpPr>
          <p:cNvPr id="11" name="Secondary consumers tier"/>
          <p:cNvSpPr/>
          <p:nvPr/>
        </p:nvSpPr>
        <p:spPr>
          <a:xfrm>
            <a:off x="2423160" y="2446020"/>
            <a:ext cx="2834640" cy="1074420"/>
          </a:xfrm>
          <a:custGeom>
            <a:avLst/>
            <a:gdLst/>
            <a:ahLst/>
            <a:cxnLst/>
            <a:rect l="l" t="t" r="r" b="b"/>
            <a:pathLst>
              <a:path w="2834640" h="1074420">
                <a:moveTo>
                  <a:pt x="0" y="1074420"/>
                </a:moveTo>
                <a:lnTo>
                  <a:pt x="2834640" y="1074420"/>
                </a:lnTo>
                <a:lnTo>
                  <a:pt x="2125980" y="0"/>
                </a:lnTo>
                <a:lnTo>
                  <a:pt x="708660" y="0"/>
                </a:lnTo>
                <a:close/>
              </a:path>
            </a:pathLst>
          </a:custGeom>
          <a:solidFill>
            <a:schemeClr val="accent4"/>
          </a:solidFill>
          <a:ln w="25400">
            <a:solidFill>
              <a:schemeClr val="bg1"/>
            </a:solidFill>
            <a:prstDash val="solid"/>
          </a:ln>
        </p:spPr>
      </p:sp>
      <p:pic>
        <p:nvPicPr>
          <p:cNvPr id="12" name="Secondary consumers icon" descr="preencoded.png">    </p:cNvPr>
          <p:cNvPicPr>
            <a:picLocks noChangeAspect="1"/>
          </p:cNvPicPr>
          <p:nvPr/>
        </p:nvPicPr>
        <p:blipFill>
          <a:blip r:embed="rId3"/>
          <a:stretch>
            <a:fillRect/>
          </a:stretch>
        </p:blipFill>
        <p:spPr>
          <a:xfrm>
            <a:off x="3557016" y="2699766"/>
            <a:ext cx="566928" cy="566928"/>
          </a:xfrm>
          <a:prstGeom prst="rect">
            <a:avLst/>
          </a:prstGeom>
        </p:spPr>
      </p:pic>
      <p:sp>
        <p:nvSpPr>
          <p:cNvPr id="13" name="leader 2"/>
          <p:cNvSpPr/>
          <p:nvPr/>
        </p:nvSpPr>
        <p:spPr>
          <a:xfrm>
            <a:off x="4994910" y="2983230"/>
            <a:ext cx="2091690" cy="0"/>
          </a:xfrm>
          <a:prstGeom prst="line">
            <a:avLst/>
          </a:prstGeom>
          <a:noFill/>
          <a:ln w="19050">
            <a:solidFill>
              <a:schemeClr val="accent4"/>
            </a:solidFill>
            <a:prstDash val="dash"/>
          </a:ln>
        </p:spPr>
      </p:sp>
      <p:sp>
        <p:nvSpPr>
          <p:cNvPr id="14" name="Text 9"/>
          <p:cNvSpPr txBox="1"/>
          <p:nvPr/>
        </p:nvSpPr>
        <p:spPr>
          <a:xfrm>
            <a:off x="7178040" y="2526030"/>
            <a:ext cx="4434840" cy="914400"/>
          </a:xfrm>
          <a:prstGeom prst="rect">
            <a:avLst/>
          </a:prstGeom>
          <a:noFill/>
          <a:ln/>
        </p:spPr>
        <p:txBody>
          <a:bodyPr wrap="square" lIns="0" tIns="0" rIns="0" bIns="0" rtlCol="0" anchor="ctr"/>
          <a:lstStyle/>
          <a:p>
            <a:pPr indent="0" marL="0">
              <a:buNone/>
            </a:pPr>
            <a:r>
              <a:rPr lang="en-US" sz="1800" b="1" dirty="0">
                <a:solidFill>
                  <a:schemeClr val="accent4"/>
                </a:solidFill>
              </a:rPr>
              <a:t>Secondary consumers</a:t>
            </a:r>
            <a:endParaRPr lang="en-US" sz="1600" dirty="0"/>
          </a:p>
          <a:p>
            <a:pPr indent="0" marL="0">
              <a:buNone/>
            </a:pPr>
            <a:r>
              <a:rPr lang="en-US" sz="1500" dirty="0">
                <a:solidFill>
                  <a:schemeClr val="tx1"/>
                </a:solidFill>
              </a:rPr>
              <a:t>Carnivores, e.g. snakes, frogs, foxes</a:t>
            </a:r>
            <a:endParaRPr lang="en-US" sz="1600" dirty="0"/>
          </a:p>
        </p:txBody>
      </p:sp>
      <p:sp>
        <p:nvSpPr>
          <p:cNvPr id="15" name="Tertiary consumers tier"/>
          <p:cNvSpPr/>
          <p:nvPr/>
        </p:nvSpPr>
        <p:spPr>
          <a:xfrm>
            <a:off x="3131820" y="1371600"/>
            <a:ext cx="1417320" cy="1074420"/>
          </a:xfrm>
          <a:custGeom>
            <a:avLst/>
            <a:gdLst/>
            <a:ahLst/>
            <a:cxnLst/>
            <a:rect l="l" t="t" r="r" b="b"/>
            <a:pathLst>
              <a:path w="1417320" h="1074420">
                <a:moveTo>
                  <a:pt x="0" y="1074420"/>
                </a:moveTo>
                <a:lnTo>
                  <a:pt x="1417320" y="1074420"/>
                </a:lnTo>
                <a:lnTo>
                  <a:pt x="708660" y="0"/>
                </a:lnTo>
                <a:lnTo>
                  <a:pt x="708660" y="0"/>
                </a:lnTo>
                <a:close/>
              </a:path>
            </a:pathLst>
          </a:custGeom>
          <a:solidFill>
            <a:schemeClr val="accent2"/>
          </a:solidFill>
          <a:ln w="25400">
            <a:solidFill>
              <a:schemeClr val="bg1"/>
            </a:solidFill>
            <a:prstDash val="solid"/>
          </a:ln>
        </p:spPr>
      </p:sp>
      <p:pic>
        <p:nvPicPr>
          <p:cNvPr id="16" name="Tertiary consumers icon" descr="preencoded.png">    </p:cNvPr>
          <p:cNvPicPr>
            <a:picLocks noChangeAspect="1"/>
          </p:cNvPicPr>
          <p:nvPr/>
        </p:nvPicPr>
        <p:blipFill>
          <a:blip r:embed="rId4"/>
          <a:stretch>
            <a:fillRect/>
          </a:stretch>
        </p:blipFill>
        <p:spPr>
          <a:xfrm>
            <a:off x="3611880" y="1938528"/>
            <a:ext cx="457200" cy="457200"/>
          </a:xfrm>
          <a:prstGeom prst="rect">
            <a:avLst/>
          </a:prstGeom>
        </p:spPr>
      </p:pic>
      <p:sp>
        <p:nvSpPr>
          <p:cNvPr id="17" name="leader 3"/>
          <p:cNvSpPr/>
          <p:nvPr/>
        </p:nvSpPr>
        <p:spPr>
          <a:xfrm>
            <a:off x="4286250" y="1908810"/>
            <a:ext cx="2800350" cy="0"/>
          </a:xfrm>
          <a:prstGeom prst="line">
            <a:avLst/>
          </a:prstGeom>
          <a:noFill/>
          <a:ln w="19050">
            <a:solidFill>
              <a:schemeClr val="accent2"/>
            </a:solidFill>
            <a:prstDash val="dash"/>
          </a:ln>
        </p:spPr>
      </p:sp>
      <p:sp>
        <p:nvSpPr>
          <p:cNvPr id="18" name="Text 12"/>
          <p:cNvSpPr txBox="1"/>
          <p:nvPr/>
        </p:nvSpPr>
        <p:spPr>
          <a:xfrm>
            <a:off x="7178040" y="1451610"/>
            <a:ext cx="4434840" cy="914400"/>
          </a:xfrm>
          <a:prstGeom prst="rect">
            <a:avLst/>
          </a:prstGeom>
          <a:noFill/>
          <a:ln/>
        </p:spPr>
        <p:txBody>
          <a:bodyPr wrap="square" lIns="0" tIns="0" rIns="0" bIns="0" rtlCol="0" anchor="ctr"/>
          <a:lstStyle/>
          <a:p>
            <a:pPr indent="0" marL="0">
              <a:buNone/>
            </a:pPr>
            <a:r>
              <a:rPr lang="en-US" sz="1800" b="1" dirty="0">
                <a:solidFill>
                  <a:schemeClr val="accent2"/>
                </a:solidFill>
              </a:rPr>
              <a:t>Tertiary consumers</a:t>
            </a:r>
            <a:endParaRPr lang="en-US" sz="1600" dirty="0"/>
          </a:p>
          <a:p>
            <a:pPr indent="0" marL="0">
              <a:buNone/>
            </a:pPr>
            <a:r>
              <a:rPr lang="en-US" sz="1500" dirty="0">
                <a:solidFill>
                  <a:schemeClr val="tx1"/>
                </a:solidFill>
              </a:rPr>
              <a:t>Top predators, e.g. tigers, eagles</a:t>
            </a:r>
            <a:endParaRPr lang="en-US" sz="1600" dirty="0"/>
          </a:p>
        </p:txBody>
      </p:sp>
      <p:sp>
        <p:nvSpPr>
          <p:cNvPr id="19" name="decrease arrow"/>
          <p:cNvSpPr/>
          <p:nvPr/>
        </p:nvSpPr>
        <p:spPr>
          <a:xfrm>
            <a:off x="548640" y="1645920"/>
            <a:ext cx="502920" cy="4023360"/>
          </a:xfrm>
          <a:prstGeom prst="upArrow">
            <a:avLst/>
          </a:prstGeom>
          <a:solidFill>
            <a:schemeClr val="accent3"/>
          </a:solidFill>
          <a:ln w="12700">
            <a:solidFill>
              <a:schemeClr val="accent3"/>
            </a:solidFill>
            <a:prstDash val="solid"/>
          </a:ln>
        </p:spPr>
      </p:sp>
      <p:sp>
        <p:nvSpPr>
          <p:cNvPr id="20" name="Text 14"/>
          <p:cNvSpPr txBox="1"/>
          <p:nvPr/>
        </p:nvSpPr>
        <p:spPr>
          <a:xfrm>
            <a:off x="548640" y="5852160"/>
            <a:ext cx="11064240" cy="411480"/>
          </a:xfrm>
          <a:prstGeom prst="rect">
            <a:avLst/>
          </a:prstGeom>
          <a:noFill/>
          <a:ln/>
        </p:spPr>
        <p:txBody>
          <a:bodyPr wrap="square" lIns="0" tIns="0" rIns="0" bIns="0" rtlCol="0" anchor="ctr"/>
          <a:lstStyle/>
          <a:p>
            <a:pPr indent="0" marL="0">
              <a:buNone/>
            </a:pPr>
            <a:r>
              <a:rPr lang="en-US" sz="1500" b="1" dirty="0">
                <a:solidFill>
                  <a:schemeClr val="tx2"/>
                </a:solidFill>
              </a:rPr>
              <a:t>Going up the pyramid:</a:t>
            </a:r>
            <a:r>
              <a:rPr lang="en-US" sz="1500" dirty="0">
                <a:solidFill>
                  <a:schemeClr val="tx2"/>
                </a:solidFill>
              </a:rPr>
              <a:t> less energy, fewer organisms and less biomass, because energy is lost as heat at each level.</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3D2B"/>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Activity: Local Life Detective</a:t>
            </a:r>
            <a:endParaRPr lang="en-US" sz="3600" dirty="0"/>
          </a:p>
        </p:txBody>
      </p:sp>
      <p:sp>
        <p:nvSpPr>
          <p:cNvPr id="3" name="activity info card"/>
          <p:cNvSpPr/>
          <p:nvPr/>
        </p:nvSpPr>
        <p:spPr>
          <a:xfrm>
            <a:off x="548640" y="1371600"/>
            <a:ext cx="3657600" cy="4846320"/>
          </a:xfrm>
          <a:prstGeom prst="roundRect">
            <a:avLst>
              <a:gd name="adj" fmla="val 3000"/>
            </a:avLst>
          </a:prstGeom>
          <a:solidFill>
            <a:schemeClr val="tx2"/>
          </a:solidFill>
          <a:ln w="12700">
            <a:solidFill>
              <a:schemeClr val="tx2"/>
            </a:solidFill>
            <a:prstDash val="solid"/>
          </a:ln>
          <a:effectLst>
            <a:outerShdw sx="100000" sy="100000" kx="0" ky="0" algn="bl" rotWithShape="0" blurRad="101600" dist="25400" dir="5400000">
              <a:srgbClr val="000000">
                <a:alpha val="14000"/>
              </a:srgbClr>
            </a:outerShdw>
          </a:effectLst>
        </p:spPr>
      </p:sp>
      <p:sp>
        <p:nvSpPr>
          <p:cNvPr id="4" name="activity disc"/>
          <p:cNvSpPr/>
          <p:nvPr/>
        </p:nvSpPr>
        <p:spPr>
          <a:xfrm>
            <a:off x="868680" y="1691640"/>
            <a:ext cx="914400" cy="914400"/>
          </a:xfrm>
          <a:prstGeom prst="ellipse">
            <a:avLst/>
          </a:prstGeom>
          <a:solidFill>
            <a:schemeClr val="accent3"/>
          </a:solidFill>
          <a:ln w="12700">
            <a:solidFill>
              <a:schemeClr val="accent3"/>
            </a:solidFill>
            <a:prstDash val="solid"/>
          </a:ln>
        </p:spPr>
      </p:sp>
      <p:pic>
        <p:nvPicPr>
          <p:cNvPr id="5" name="activity glyph" descr="preencoded.png">    </p:cNvPr>
          <p:cNvPicPr>
            <a:picLocks noChangeAspect="1"/>
          </p:cNvPicPr>
          <p:nvPr/>
        </p:nvPicPr>
        <p:blipFill>
          <a:blip r:embed="rId1"/>
          <a:stretch>
            <a:fillRect/>
          </a:stretch>
        </p:blipFill>
        <p:spPr>
          <a:xfrm>
            <a:off x="1069848" y="1892808"/>
            <a:ext cx="512064" cy="512064"/>
          </a:xfrm>
          <a:prstGeom prst="rect">
            <a:avLst/>
          </a:prstGeom>
        </p:spPr>
      </p:pic>
      <p:sp>
        <p:nvSpPr>
          <p:cNvPr id="6" name="Text 3"/>
          <p:cNvSpPr txBox="1"/>
          <p:nvPr/>
        </p:nvSpPr>
        <p:spPr>
          <a:xfrm>
            <a:off x="1965960" y="1737360"/>
            <a:ext cx="2103120" cy="365760"/>
          </a:xfrm>
          <a:prstGeom prst="rect">
            <a:avLst/>
          </a:prstGeom>
          <a:noFill/>
          <a:ln/>
        </p:spPr>
        <p:txBody>
          <a:bodyPr wrap="square" lIns="0" tIns="0" rIns="0" bIns="0" rtlCol="0" anchor="ctr"/>
          <a:lstStyle/>
          <a:p>
            <a:pPr indent="0" marL="0">
              <a:buNone/>
            </a:pPr>
            <a:r>
              <a:rPr lang="en-US" sz="1300" b="1" spc="200" kern="0" dirty="0">
                <a:solidFill>
                  <a:schemeClr val="accent3"/>
                </a:solidFill>
              </a:rPr>
              <a:t>FIELD WORK</a:t>
            </a:r>
            <a:endParaRPr lang="en-US" sz="1300" dirty="0"/>
          </a:p>
        </p:txBody>
      </p:sp>
      <p:sp>
        <p:nvSpPr>
          <p:cNvPr id="7" name="Text 4"/>
          <p:cNvSpPr txBox="1"/>
          <p:nvPr/>
        </p:nvSpPr>
        <p:spPr>
          <a:xfrm>
            <a:off x="1965960" y="2103120"/>
            <a:ext cx="2103120" cy="640080"/>
          </a:xfrm>
          <a:prstGeom prst="rect">
            <a:avLst/>
          </a:prstGeom>
          <a:noFill/>
          <a:ln/>
        </p:spPr>
        <p:txBody>
          <a:bodyPr wrap="square" lIns="0" tIns="0" rIns="0" bIns="0" rtlCol="0" anchor="t"/>
          <a:lstStyle/>
          <a:p>
            <a:pPr indent="0" marL="0">
              <a:buNone/>
            </a:pPr>
            <a:r>
              <a:rPr lang="en-US" sz="1800" b="1" dirty="0">
                <a:solidFill>
                  <a:schemeClr val="bg1"/>
                </a:solidFill>
              </a:rPr>
              <a:t>Explore your neighbourhood</a:t>
            </a:r>
            <a:endParaRPr lang="en-US" sz="1800" dirty="0"/>
          </a:p>
        </p:txBody>
      </p:sp>
      <p:pic>
        <p:nvPicPr>
          <p:cNvPr id="8" name="Time icon" descr="preencoded.png">    </p:cNvPr>
          <p:cNvPicPr>
            <a:picLocks noChangeAspect="1"/>
          </p:cNvPicPr>
          <p:nvPr/>
        </p:nvPicPr>
        <p:blipFill>
          <a:blip r:embed="rId2"/>
          <a:stretch>
            <a:fillRect/>
          </a:stretch>
        </p:blipFill>
        <p:spPr>
          <a:xfrm>
            <a:off x="868680" y="3063240"/>
            <a:ext cx="347472" cy="347472"/>
          </a:xfrm>
          <a:prstGeom prst="rect">
            <a:avLst/>
          </a:prstGeom>
        </p:spPr>
      </p:pic>
      <p:sp>
        <p:nvSpPr>
          <p:cNvPr id="9" name="Text 5"/>
          <p:cNvSpPr txBox="1"/>
          <p:nvPr/>
        </p:nvSpPr>
        <p:spPr>
          <a:xfrm>
            <a:off x="1371600" y="301752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Time: </a:t>
            </a:r>
            <a:r>
              <a:rPr lang="en-US" sz="1400" dirty="0">
                <a:solidFill>
                  <a:schemeClr val="bg1"/>
                </a:solidFill>
              </a:rPr>
              <a:t>2 days (homework) + 15 min sharing</a:t>
            </a:r>
            <a:endParaRPr lang="en-US" sz="1400" dirty="0"/>
          </a:p>
        </p:txBody>
      </p:sp>
      <p:pic>
        <p:nvPicPr>
          <p:cNvPr id="10" name="Group icon" descr="preencoded.png">    </p:cNvPr>
          <p:cNvPicPr>
            <a:picLocks noChangeAspect="1"/>
          </p:cNvPicPr>
          <p:nvPr/>
        </p:nvPicPr>
        <p:blipFill>
          <a:blip r:embed="rId3"/>
          <a:stretch>
            <a:fillRect/>
          </a:stretch>
        </p:blipFill>
        <p:spPr>
          <a:xfrm>
            <a:off x="868680" y="3703320"/>
            <a:ext cx="347472" cy="347472"/>
          </a:xfrm>
          <a:prstGeom prst="rect">
            <a:avLst/>
          </a:prstGeom>
        </p:spPr>
      </p:pic>
      <p:sp>
        <p:nvSpPr>
          <p:cNvPr id="11" name="Text 6"/>
          <p:cNvSpPr txBox="1"/>
          <p:nvPr/>
        </p:nvSpPr>
        <p:spPr>
          <a:xfrm>
            <a:off x="1371600" y="365760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Group: </a:t>
            </a:r>
            <a:r>
              <a:rPr lang="en-US" sz="1400" dirty="0">
                <a:solidFill>
                  <a:schemeClr val="bg1"/>
                </a:solidFill>
              </a:rPr>
              <a:t>Pairs</a:t>
            </a:r>
            <a:endParaRPr lang="en-US" sz="1400" dirty="0"/>
          </a:p>
        </p:txBody>
      </p:sp>
      <p:pic>
        <p:nvPicPr>
          <p:cNvPr id="12" name="You need icon" descr="preencoded.png">    </p:cNvPr>
          <p:cNvPicPr>
            <a:picLocks noChangeAspect="1"/>
          </p:cNvPicPr>
          <p:nvPr/>
        </p:nvPicPr>
        <p:blipFill>
          <a:blip r:embed="rId4"/>
          <a:stretch>
            <a:fillRect/>
          </a:stretch>
        </p:blipFill>
        <p:spPr>
          <a:xfrm>
            <a:off x="868680" y="4343400"/>
            <a:ext cx="347472" cy="347472"/>
          </a:xfrm>
          <a:prstGeom prst="rect">
            <a:avLst/>
          </a:prstGeom>
        </p:spPr>
      </p:pic>
      <p:sp>
        <p:nvSpPr>
          <p:cNvPr id="13" name="Text 7"/>
          <p:cNvSpPr txBox="1"/>
          <p:nvPr/>
        </p:nvSpPr>
        <p:spPr>
          <a:xfrm>
            <a:off x="1371600" y="429768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You need: </a:t>
            </a:r>
            <a:r>
              <a:rPr lang="en-US" sz="1400" dirty="0">
                <a:solidFill>
                  <a:schemeClr val="bg1"/>
                </a:solidFill>
              </a:rPr>
              <a:t>Notebook, pencil, a phone camera (optional)</a:t>
            </a:r>
            <a:endParaRPr lang="en-US" sz="1400" dirty="0"/>
          </a:p>
        </p:txBody>
      </p:sp>
      <p:sp>
        <p:nvSpPr>
          <p:cNvPr id="14" name="activity steps card"/>
          <p:cNvSpPr/>
          <p:nvPr/>
        </p:nvSpPr>
        <p:spPr>
          <a:xfrm>
            <a:off x="4526280" y="1371600"/>
            <a:ext cx="7086600" cy="4846320"/>
          </a:xfrm>
          <a:prstGeom prst="roundRect">
            <a:avLst>
              <a:gd name="adj" fmla="val 2264"/>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5" name="Text 9"/>
          <p:cNvSpPr txBox="1"/>
          <p:nvPr/>
        </p:nvSpPr>
        <p:spPr>
          <a:xfrm>
            <a:off x="4846320" y="1600200"/>
            <a:ext cx="6400800" cy="457200"/>
          </a:xfrm>
          <a:prstGeom prst="rect">
            <a:avLst/>
          </a:prstGeom>
          <a:noFill/>
          <a:ln/>
        </p:spPr>
        <p:txBody>
          <a:bodyPr wrap="square" lIns="0" tIns="0" rIns="0" bIns="0" rtlCol="0" anchor="ctr"/>
          <a:lstStyle/>
          <a:p>
            <a:pPr indent="0" marL="0">
              <a:buNone/>
            </a:pPr>
            <a:r>
              <a:rPr lang="en-US" sz="2000" b="1" dirty="0">
                <a:solidFill>
                  <a:schemeClr val="accent1"/>
                </a:solidFill>
              </a:rPr>
              <a:t>How to play</a:t>
            </a:r>
            <a:endParaRPr lang="en-US" sz="2000" dirty="0"/>
          </a:p>
        </p:txBody>
      </p:sp>
      <p:sp>
        <p:nvSpPr>
          <p:cNvPr id="16" name="step 1 badge"/>
          <p:cNvSpPr/>
          <p:nvPr/>
        </p:nvSpPr>
        <p:spPr>
          <a:xfrm>
            <a:off x="4846320" y="2212848"/>
            <a:ext cx="384048" cy="384048"/>
          </a:xfrm>
          <a:prstGeom prst="ellipse">
            <a:avLst/>
          </a:prstGeom>
          <a:solidFill>
            <a:schemeClr val="accent1"/>
          </a:solidFill>
          <a:ln w="12700">
            <a:solidFill>
              <a:schemeClr val="accent1"/>
            </a:solidFill>
            <a:prstDash val="solid"/>
          </a:ln>
        </p:spPr>
      </p:sp>
      <p:sp>
        <p:nvSpPr>
          <p:cNvPr id="17" name="Text 11"/>
          <p:cNvSpPr txBox="1"/>
          <p:nvPr/>
        </p:nvSpPr>
        <p:spPr>
          <a:xfrm>
            <a:off x="4846320" y="221284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8" name="Text 12"/>
          <p:cNvSpPr txBox="1"/>
          <p:nvPr/>
        </p:nvSpPr>
        <p:spPr>
          <a:xfrm>
            <a:off x="5394960" y="2194560"/>
            <a:ext cx="5943600" cy="493776"/>
          </a:xfrm>
          <a:prstGeom prst="rect">
            <a:avLst/>
          </a:prstGeom>
          <a:noFill/>
          <a:ln/>
        </p:spPr>
        <p:txBody>
          <a:bodyPr wrap="square" lIns="0" tIns="0" rIns="0" bIns="0" rtlCol="0" anchor="t"/>
          <a:lstStyle/>
          <a:p>
            <a:pPr indent="0" marL="0">
              <a:buNone/>
            </a:pPr>
            <a:r>
              <a:rPr lang="en-US" sz="1400" dirty="0">
                <a:solidFill>
                  <a:schemeClr val="tx1"/>
                </a:solidFill>
              </a:rPr>
              <a:t>Walk around your village, colony or school campus.</a:t>
            </a:r>
            <a:endParaRPr lang="en-US" sz="1600" dirty="0"/>
          </a:p>
        </p:txBody>
      </p:sp>
      <p:sp>
        <p:nvSpPr>
          <p:cNvPr id="19" name="step 2 badge"/>
          <p:cNvSpPr/>
          <p:nvPr/>
        </p:nvSpPr>
        <p:spPr>
          <a:xfrm>
            <a:off x="4846320" y="2752344"/>
            <a:ext cx="384048" cy="384048"/>
          </a:xfrm>
          <a:prstGeom prst="ellipse">
            <a:avLst/>
          </a:prstGeom>
          <a:solidFill>
            <a:schemeClr val="accent1"/>
          </a:solidFill>
          <a:ln w="12700">
            <a:solidFill>
              <a:schemeClr val="accent1"/>
            </a:solidFill>
            <a:prstDash val="solid"/>
          </a:ln>
        </p:spPr>
      </p:sp>
      <p:sp>
        <p:nvSpPr>
          <p:cNvPr id="20" name="Text 14"/>
          <p:cNvSpPr txBox="1"/>
          <p:nvPr/>
        </p:nvSpPr>
        <p:spPr>
          <a:xfrm>
            <a:off x="4846320" y="275234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1" name="Text 15"/>
          <p:cNvSpPr txBox="1"/>
          <p:nvPr/>
        </p:nvSpPr>
        <p:spPr>
          <a:xfrm>
            <a:off x="5394960" y="2734056"/>
            <a:ext cx="5943600" cy="493776"/>
          </a:xfrm>
          <a:prstGeom prst="rect">
            <a:avLst/>
          </a:prstGeom>
          <a:noFill/>
          <a:ln/>
        </p:spPr>
        <p:txBody>
          <a:bodyPr wrap="square" lIns="0" tIns="0" rIns="0" bIns="0" rtlCol="0" anchor="t"/>
          <a:lstStyle/>
          <a:p>
            <a:pPr indent="0" marL="0">
              <a:buNone/>
            </a:pPr>
            <a:r>
              <a:rPr lang="en-US" sz="1400" dirty="0">
                <a:solidFill>
                  <a:schemeClr val="tx1"/>
                </a:solidFill>
              </a:rPr>
              <a:t>Record </a:t>
            </a:r>
            <a:r>
              <a:rPr lang="en-US" sz="1400" b="1" dirty="0">
                <a:solidFill>
                  <a:schemeClr val="tx1"/>
                </a:solidFill>
              </a:rPr>
              <a:t>trees/plants, insects, animals and non-living things</a:t>
            </a:r>
            <a:r>
              <a:rPr lang="en-US" sz="1400" dirty="0">
                <a:solidFill>
                  <a:schemeClr val="tx1"/>
                </a:solidFill>
              </a:rPr>
              <a:t> you see.</a:t>
            </a:r>
            <a:endParaRPr lang="en-US" sz="1600" dirty="0"/>
          </a:p>
        </p:txBody>
      </p:sp>
      <p:sp>
        <p:nvSpPr>
          <p:cNvPr id="22" name="step 3 badge"/>
          <p:cNvSpPr/>
          <p:nvPr/>
        </p:nvSpPr>
        <p:spPr>
          <a:xfrm>
            <a:off x="4846320" y="3291840"/>
            <a:ext cx="384048" cy="384048"/>
          </a:xfrm>
          <a:prstGeom prst="ellipse">
            <a:avLst/>
          </a:prstGeom>
          <a:solidFill>
            <a:schemeClr val="accent1"/>
          </a:solidFill>
          <a:ln w="12700">
            <a:solidFill>
              <a:schemeClr val="accent1"/>
            </a:solidFill>
            <a:prstDash val="solid"/>
          </a:ln>
        </p:spPr>
      </p:sp>
      <p:sp>
        <p:nvSpPr>
          <p:cNvPr id="23" name="Text 17"/>
          <p:cNvSpPr txBox="1"/>
          <p:nvPr/>
        </p:nvSpPr>
        <p:spPr>
          <a:xfrm>
            <a:off x="4846320" y="32918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4" name="Text 18"/>
          <p:cNvSpPr txBox="1"/>
          <p:nvPr/>
        </p:nvSpPr>
        <p:spPr>
          <a:xfrm>
            <a:off x="5394960" y="3273552"/>
            <a:ext cx="5943600" cy="493776"/>
          </a:xfrm>
          <a:prstGeom prst="rect">
            <a:avLst/>
          </a:prstGeom>
          <a:noFill/>
          <a:ln/>
        </p:spPr>
        <p:txBody>
          <a:bodyPr wrap="square" lIns="0" tIns="0" rIns="0" bIns="0" rtlCol="0" anchor="t"/>
          <a:lstStyle/>
          <a:p>
            <a:pPr indent="0" marL="0">
              <a:buNone/>
            </a:pPr>
            <a:r>
              <a:rPr lang="en-US" sz="1400" dirty="0">
                <a:solidFill>
                  <a:schemeClr val="tx1"/>
                </a:solidFill>
              </a:rPr>
              <a:t>For each, write how it </a:t>
            </a:r>
            <a:r>
              <a:rPr lang="en-US" sz="1400" b="1" dirty="0">
                <a:solidFill>
                  <a:schemeClr val="tx1"/>
                </a:solidFill>
              </a:rPr>
              <a:t>interacts with humans</a:t>
            </a:r>
            <a:r>
              <a:rPr lang="en-US" sz="1400" dirty="0">
                <a:solidFill>
                  <a:schemeClr val="tx1"/>
                </a:solidFill>
              </a:rPr>
              <a:t> (shade, food, pest, water...).</a:t>
            </a:r>
            <a:endParaRPr lang="en-US" sz="1600" dirty="0"/>
          </a:p>
        </p:txBody>
      </p:sp>
      <p:sp>
        <p:nvSpPr>
          <p:cNvPr id="25" name="step 4 badge"/>
          <p:cNvSpPr/>
          <p:nvPr/>
        </p:nvSpPr>
        <p:spPr>
          <a:xfrm>
            <a:off x="4846320" y="3831336"/>
            <a:ext cx="384048" cy="384048"/>
          </a:xfrm>
          <a:prstGeom prst="ellipse">
            <a:avLst/>
          </a:prstGeom>
          <a:solidFill>
            <a:schemeClr val="accent1"/>
          </a:solidFill>
          <a:ln w="12700">
            <a:solidFill>
              <a:schemeClr val="accent1"/>
            </a:solidFill>
            <a:prstDash val="solid"/>
          </a:ln>
        </p:spPr>
      </p:sp>
      <p:sp>
        <p:nvSpPr>
          <p:cNvPr id="26" name="Text 20"/>
          <p:cNvSpPr txBox="1"/>
          <p:nvPr/>
        </p:nvSpPr>
        <p:spPr>
          <a:xfrm>
            <a:off x="4846320" y="383133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7" name="Text 21"/>
          <p:cNvSpPr txBox="1"/>
          <p:nvPr/>
        </p:nvSpPr>
        <p:spPr>
          <a:xfrm>
            <a:off x="5394960" y="3813048"/>
            <a:ext cx="5943600" cy="493776"/>
          </a:xfrm>
          <a:prstGeom prst="rect">
            <a:avLst/>
          </a:prstGeom>
          <a:noFill/>
          <a:ln/>
        </p:spPr>
        <p:txBody>
          <a:bodyPr wrap="square" lIns="0" tIns="0" rIns="0" bIns="0" rtlCol="0" anchor="t"/>
          <a:lstStyle/>
          <a:p>
            <a:pPr indent="0" marL="0">
              <a:buNone/>
            </a:pPr>
            <a:r>
              <a:rPr lang="en-US" sz="1400" dirty="0">
                <a:solidFill>
                  <a:schemeClr val="tx1"/>
                </a:solidFill>
              </a:rPr>
              <a:t>Make a 4-row table and add one photo or sketch.</a:t>
            </a:r>
            <a:endParaRPr lang="en-US" sz="1600" dirty="0"/>
          </a:p>
        </p:txBody>
      </p:sp>
      <p:sp>
        <p:nvSpPr>
          <p:cNvPr id="28" name="step 5 badge"/>
          <p:cNvSpPr/>
          <p:nvPr/>
        </p:nvSpPr>
        <p:spPr>
          <a:xfrm>
            <a:off x="4846320" y="4370832"/>
            <a:ext cx="384048" cy="384048"/>
          </a:xfrm>
          <a:prstGeom prst="ellipse">
            <a:avLst/>
          </a:prstGeom>
          <a:solidFill>
            <a:schemeClr val="accent1"/>
          </a:solidFill>
          <a:ln w="12700">
            <a:solidFill>
              <a:schemeClr val="accent1"/>
            </a:solidFill>
            <a:prstDash val="solid"/>
          </a:ln>
        </p:spPr>
      </p:sp>
      <p:sp>
        <p:nvSpPr>
          <p:cNvPr id="29" name="Text 23"/>
          <p:cNvSpPr txBox="1"/>
          <p:nvPr/>
        </p:nvSpPr>
        <p:spPr>
          <a:xfrm>
            <a:off x="4846320" y="437083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0" name="Text 24"/>
          <p:cNvSpPr txBox="1"/>
          <p:nvPr/>
        </p:nvSpPr>
        <p:spPr>
          <a:xfrm>
            <a:off x="5394960" y="4352544"/>
            <a:ext cx="5943600" cy="493776"/>
          </a:xfrm>
          <a:prstGeom prst="rect">
            <a:avLst/>
          </a:prstGeom>
          <a:noFill/>
          <a:ln/>
        </p:spPr>
        <p:txBody>
          <a:bodyPr wrap="square" lIns="0" tIns="0" rIns="0" bIns="0" rtlCol="0" anchor="t"/>
          <a:lstStyle/>
          <a:p>
            <a:pPr indent="0" marL="0">
              <a:buNone/>
            </a:pPr>
            <a:r>
              <a:rPr lang="en-US" sz="1400" dirty="0">
                <a:solidFill>
                  <a:schemeClr val="tx1"/>
                </a:solidFill>
              </a:rPr>
              <a:t>Share: Which living thing depends most on humans? Which do we depend on most?</a:t>
            </a:r>
            <a:endParaRPr lang="en-US" sz="1600" dirty="0"/>
          </a:p>
        </p:txBody>
      </p:sp>
      <p:sp>
        <p:nvSpPr>
          <p:cNvPr id="31" name="outcome band"/>
          <p:cNvSpPr/>
          <p:nvPr/>
        </p:nvSpPr>
        <p:spPr>
          <a:xfrm>
            <a:off x="4846320" y="5074920"/>
            <a:ext cx="6446520" cy="914400"/>
          </a:xfrm>
          <a:prstGeom prst="roundRect">
            <a:avLst>
              <a:gd name="adj" fmla="val 8000"/>
            </a:avLst>
          </a:prstGeom>
          <a:solidFill>
            <a:schemeClr val="bg2"/>
          </a:solidFill>
          <a:ln w="12700">
            <a:solidFill>
              <a:schemeClr val="bg2"/>
            </a:solidFill>
            <a:prstDash val="solid"/>
          </a:ln>
        </p:spPr>
      </p:sp>
      <p:sp>
        <p:nvSpPr>
          <p:cNvPr id="32" name="Text 26"/>
          <p:cNvSpPr txBox="1"/>
          <p:nvPr/>
        </p:nvSpPr>
        <p:spPr>
          <a:xfrm>
            <a:off x="5029200" y="5074920"/>
            <a:ext cx="6126480" cy="914400"/>
          </a:xfrm>
          <a:prstGeom prst="rect">
            <a:avLst/>
          </a:prstGeom>
          <a:noFill/>
          <a:ln/>
        </p:spPr>
        <p:txBody>
          <a:bodyPr wrap="square" lIns="0" tIns="0" rIns="0" bIns="0" rtlCol="0" anchor="ctr"/>
          <a:lstStyle/>
          <a:p>
            <a:pPr indent="0" marL="0">
              <a:buNone/>
            </a:pPr>
            <a:r>
              <a:rPr lang="en-US" sz="1400" b="1" dirty="0">
                <a:solidFill>
                  <a:schemeClr val="tx2"/>
                </a:solidFill>
              </a:rPr>
              <a:t>Learning link:</a:t>
            </a:r>
            <a:r>
              <a:rPr lang="en-US" sz="1400" dirty="0">
                <a:solidFill>
                  <a:schemeClr val="tx2"/>
                </a:solidFill>
              </a:rPr>
              <a:t> Living and non-living things in our surroundings are interconnected.</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3D2B"/>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731520" y="2011680"/>
            <a:ext cx="7772400" cy="457200"/>
          </a:xfrm>
          <a:prstGeom prst="rect">
            <a:avLst/>
          </a:prstGeom>
          <a:noFill/>
          <a:ln/>
        </p:spPr>
        <p:txBody>
          <a:bodyPr wrap="square" lIns="0" tIns="0" rIns="0" bIns="0" rtlCol="0"/>
          <a:lstStyle/>
          <a:p>
            <a:pPr indent="0" marL="0">
              <a:buNone/>
            </a:pPr>
            <a:r>
              <a:rPr lang="en-US" sz="1800" b="1" spc="300" kern="0" dirty="0">
                <a:solidFill>
                  <a:schemeClr val="bg2"/>
                </a:solidFill>
              </a:rPr>
              <a:t>PART 2</a:t>
            </a:r>
            <a:endParaRPr lang="en-US" sz="1800" dirty="0"/>
          </a:p>
        </p:txBody>
      </p:sp>
      <p:sp>
        <p:nvSpPr>
          <p:cNvPr id="3" name="Text 0"/>
          <p:cNvSpPr/>
          <p:nvPr>
            <p:ph idx="101" type="title" hasCustomPrompt="1"/>
          </p:nvPr>
        </p:nvSpPr>
        <p:spPr>
          <a:xfrm>
            <a:off x="731520" y="2514600"/>
            <a:ext cx="7772400" cy="1463040"/>
          </a:xfrm>
          <a:prstGeom prst="rect">
            <a:avLst/>
          </a:prstGeom>
          <a:noFill/>
          <a:ln/>
        </p:spPr>
        <p:txBody>
          <a:bodyPr wrap="square" lIns="0" tIns="0" rIns="0" bIns="0" rtlCol="0" anchor="t"/>
          <a:lstStyle/>
          <a:p>
            <a:pPr algn="l" indent="0" marL="0">
              <a:buNone/>
            </a:pPr>
            <a:r>
              <a:rPr lang="en-US" sz="4400" b="1" dirty="0">
                <a:solidFill>
                  <a:schemeClr val="bg1"/>
                </a:solidFill>
              </a:rPr>
              <a:t>Biodiversity and Conservation</a:t>
            </a:r>
            <a:endParaRPr lang="en-US" sz="4400" dirty="0"/>
          </a:p>
        </p:txBody>
      </p:sp>
      <p:sp>
        <p:nvSpPr>
          <p:cNvPr id="4" name="Text 0"/>
          <p:cNvSpPr/>
          <p:nvPr>
            <p:ph idx="102" type="body" hasCustomPrompt="1"/>
          </p:nvPr>
        </p:nvSpPr>
        <p:spPr>
          <a:xfrm>
            <a:off x="731520" y="4069080"/>
            <a:ext cx="7772400" cy="1097280"/>
          </a:xfrm>
          <a:prstGeom prst="rect">
            <a:avLst/>
          </a:prstGeom>
          <a:noFill/>
          <a:ln/>
        </p:spPr>
        <p:txBody>
          <a:bodyPr wrap="square" lIns="0" tIns="0" rIns="0" bIns="0" rtlCol="0" anchor="t"/>
          <a:lstStyle/>
          <a:p>
            <a:pPr indent="0" marL="0">
              <a:buNone/>
            </a:pPr>
            <a:r>
              <a:rPr lang="en-US" sz="1800" dirty="0">
                <a:solidFill>
                  <a:schemeClr val="bg1"/>
                </a:solidFill>
              </a:rPr>
              <a:t>The variety of life: species, the genetic differences within them, and the habitats that sustain them.</a:t>
            </a:r>
            <a:endParaRPr lang="en-US" sz="1800" dirty="0"/>
          </a:p>
        </p:txBody>
      </p:sp>
      <p:sp>
        <p:nvSpPr>
          <p:cNvPr id="5" name="section disc"/>
          <p:cNvSpPr/>
          <p:nvPr/>
        </p:nvSpPr>
        <p:spPr>
          <a:xfrm>
            <a:off x="9006840" y="1828800"/>
            <a:ext cx="2560320" cy="2560320"/>
          </a:xfrm>
          <a:prstGeom prst="ellipse">
            <a:avLst/>
          </a:prstGeom>
          <a:solidFill>
            <a:schemeClr val="tx2"/>
          </a:solidFill>
          <a:ln w="25400">
            <a:solidFill>
              <a:schemeClr val="bg1"/>
            </a:solidFill>
            <a:prstDash val="solid"/>
          </a:ln>
        </p:spPr>
      </p:sp>
      <p:pic>
        <p:nvPicPr>
          <p:cNvPr id="6" name="section icon" descr="preencoded.png">    </p:cNvPr>
          <p:cNvPicPr>
            <a:picLocks noChangeAspect="1"/>
          </p:cNvPicPr>
          <p:nvPr/>
        </p:nvPicPr>
        <p:blipFill>
          <a:blip r:embed="rId1"/>
          <a:stretch>
            <a:fillRect/>
          </a:stretch>
        </p:blipFill>
        <p:spPr>
          <a:xfrm>
            <a:off x="9601200" y="2423160"/>
            <a:ext cx="1371600" cy="13716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Geography of Conservation</a:t>
            </a:r>
            <a:endParaRPr lang="en-US" sz="3600" dirty="0"/>
          </a:p>
        </p:txBody>
      </p:sp>
      <p:sp>
        <p:nvSpPr>
          <p:cNvPr id="3" name="card 1"/>
          <p:cNvSpPr/>
          <p:nvPr/>
        </p:nvSpPr>
        <p:spPr>
          <a:xfrm>
            <a:off x="548640" y="1371600"/>
            <a:ext cx="3505200" cy="2286000"/>
          </a:xfrm>
          <a:prstGeom prst="roundRect">
            <a:avLst>
              <a:gd name="adj" fmla="val 4800"/>
            </a:avLst>
          </a:prstGeom>
          <a:solidFill>
            <a:schemeClr val="bg2"/>
          </a:solidFill>
          <a:ln w="12700">
            <a:solidFill>
              <a:schemeClr val="bg2"/>
            </a:solidFill>
            <a:prstDash val="solid"/>
          </a:ln>
        </p:spPr>
      </p:sp>
      <p:sp>
        <p:nvSpPr>
          <p:cNvPr id="4" name="card 1 disc"/>
          <p:cNvSpPr/>
          <p:nvPr/>
        </p:nvSpPr>
        <p:spPr>
          <a:xfrm>
            <a:off x="777240" y="1600200"/>
            <a:ext cx="566928" cy="566928"/>
          </a:xfrm>
          <a:prstGeom prst="ellipse">
            <a:avLst/>
          </a:prstGeom>
          <a:solidFill>
            <a:schemeClr val="accent1"/>
          </a:solidFill>
          <a:ln w="12700">
            <a:solidFill>
              <a:schemeClr val="accent1"/>
            </a:solidFill>
            <a:prstDash val="solid"/>
          </a:ln>
        </p:spPr>
      </p:sp>
      <p:pic>
        <p:nvPicPr>
          <p:cNvPr id="5" name="card 1 glyph" descr="preencoded.png">    </p:cNvPr>
          <p:cNvPicPr>
            <a:picLocks noChangeAspect="1"/>
          </p:cNvPicPr>
          <p:nvPr/>
        </p:nvPicPr>
        <p:blipFill>
          <a:blip r:embed="rId1"/>
          <a:stretch>
            <a:fillRect/>
          </a:stretch>
        </p:blipFill>
        <p:spPr>
          <a:xfrm>
            <a:off x="901964" y="1724924"/>
            <a:ext cx="317480" cy="317480"/>
          </a:xfrm>
          <a:prstGeom prst="rect">
            <a:avLst/>
          </a:prstGeom>
        </p:spPr>
      </p:pic>
      <p:sp>
        <p:nvSpPr>
          <p:cNvPr id="6" name="Text 3"/>
          <p:cNvSpPr txBox="1"/>
          <p:nvPr/>
        </p:nvSpPr>
        <p:spPr>
          <a:xfrm>
            <a:off x="148132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Biodiversity hotspots</a:t>
            </a:r>
            <a:endParaRPr lang="en-US" sz="1800" dirty="0"/>
          </a:p>
        </p:txBody>
      </p:sp>
      <p:sp>
        <p:nvSpPr>
          <p:cNvPr id="7" name="Text 4"/>
          <p:cNvSpPr txBox="1"/>
          <p:nvPr/>
        </p:nvSpPr>
        <p:spPr>
          <a:xfrm>
            <a:off x="777240" y="2276856"/>
            <a:ext cx="3048000" cy="1243584"/>
          </a:xfrm>
          <a:prstGeom prst="rect">
            <a:avLst/>
          </a:prstGeom>
          <a:noFill/>
          <a:ln/>
        </p:spPr>
        <p:txBody>
          <a:bodyPr wrap="square" lIns="0" tIns="0" rIns="0" bIns="0" rtlCol="0" anchor="t"/>
          <a:lstStyle/>
          <a:p>
            <a:pPr indent="0" marL="0">
              <a:buNone/>
            </a:pPr>
            <a:r>
              <a:rPr lang="en-US" sz="1700" dirty="0">
                <a:solidFill>
                  <a:schemeClr val="tx1"/>
                </a:solidFill>
              </a:rPr>
              <a:t>Himalaya, Western Ghats, Northeast India, A&amp;N Islands: species found nowhere else.</a:t>
            </a:r>
            <a:endParaRPr lang="en-US" sz="1600" dirty="0"/>
          </a:p>
        </p:txBody>
      </p:sp>
      <p:sp>
        <p:nvSpPr>
          <p:cNvPr id="8" name="card 2"/>
          <p:cNvSpPr/>
          <p:nvPr/>
        </p:nvSpPr>
        <p:spPr>
          <a:xfrm>
            <a:off x="4328160" y="1371600"/>
            <a:ext cx="3505200" cy="2286000"/>
          </a:xfrm>
          <a:prstGeom prst="roundRect">
            <a:avLst>
              <a:gd name="adj" fmla="val 4800"/>
            </a:avLst>
          </a:prstGeom>
          <a:solidFill>
            <a:schemeClr val="bg2"/>
          </a:solidFill>
          <a:ln w="12700">
            <a:solidFill>
              <a:schemeClr val="bg2"/>
            </a:solidFill>
            <a:prstDash val="solid"/>
          </a:ln>
        </p:spPr>
      </p:sp>
      <p:sp>
        <p:nvSpPr>
          <p:cNvPr id="9" name="card 2 disc"/>
          <p:cNvSpPr/>
          <p:nvPr/>
        </p:nvSpPr>
        <p:spPr>
          <a:xfrm>
            <a:off x="4556760" y="1600200"/>
            <a:ext cx="566928" cy="566928"/>
          </a:xfrm>
          <a:prstGeom prst="ellipse">
            <a:avLst/>
          </a:prstGeom>
          <a:solidFill>
            <a:schemeClr val="accent2"/>
          </a:solidFill>
          <a:ln w="12700">
            <a:solidFill>
              <a:schemeClr val="accent2"/>
            </a:solidFill>
            <a:prstDash val="solid"/>
          </a:ln>
        </p:spPr>
      </p:sp>
      <p:pic>
        <p:nvPicPr>
          <p:cNvPr id="10" name="card 2 glyph" descr="preencoded.png">    </p:cNvPr>
          <p:cNvPicPr>
            <a:picLocks noChangeAspect="1"/>
          </p:cNvPicPr>
          <p:nvPr/>
        </p:nvPicPr>
        <p:blipFill>
          <a:blip r:embed="rId2"/>
          <a:stretch>
            <a:fillRect/>
          </a:stretch>
        </p:blipFill>
        <p:spPr>
          <a:xfrm>
            <a:off x="4681484" y="1724924"/>
            <a:ext cx="317480" cy="317480"/>
          </a:xfrm>
          <a:prstGeom prst="rect">
            <a:avLst/>
          </a:prstGeom>
        </p:spPr>
      </p:pic>
      <p:sp>
        <p:nvSpPr>
          <p:cNvPr id="11" name="Text 7"/>
          <p:cNvSpPr txBox="1"/>
          <p:nvPr/>
        </p:nvSpPr>
        <p:spPr>
          <a:xfrm>
            <a:off x="526084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Ecosystem-based</a:t>
            </a:r>
            <a:endParaRPr lang="en-US" sz="1800" dirty="0"/>
          </a:p>
        </p:txBody>
      </p:sp>
      <p:sp>
        <p:nvSpPr>
          <p:cNvPr id="12" name="Text 8"/>
          <p:cNvSpPr txBox="1"/>
          <p:nvPr/>
        </p:nvSpPr>
        <p:spPr>
          <a:xfrm>
            <a:off x="4556760" y="2276856"/>
            <a:ext cx="3048000" cy="1243584"/>
          </a:xfrm>
          <a:prstGeom prst="rect">
            <a:avLst/>
          </a:prstGeom>
          <a:noFill/>
          <a:ln/>
        </p:spPr>
        <p:txBody>
          <a:bodyPr wrap="square" lIns="0" tIns="0" rIns="0" bIns="0" rtlCol="0" anchor="t"/>
          <a:lstStyle/>
          <a:p>
            <a:pPr indent="0" marL="0">
              <a:buNone/>
            </a:pPr>
            <a:r>
              <a:rPr lang="en-US" sz="1700" dirty="0">
                <a:solidFill>
                  <a:schemeClr val="tx1"/>
                </a:solidFill>
              </a:rPr>
              <a:t>Fit the plan to the place: </a:t>
            </a:r>
            <a:r>
              <a:rPr lang="en-US" sz="1700" b="1" dirty="0">
                <a:solidFill>
                  <a:schemeClr val="tx1"/>
                </a:solidFill>
              </a:rPr>
              <a:t>mangroves</a:t>
            </a:r>
            <a:r>
              <a:rPr lang="en-US" sz="1700" dirty="0">
                <a:solidFill>
                  <a:schemeClr val="tx1"/>
                </a:solidFill>
              </a:rPr>
              <a:t> on coasts, </a:t>
            </a:r>
            <a:r>
              <a:rPr lang="en-US" sz="1700" b="1" dirty="0">
                <a:solidFill>
                  <a:schemeClr val="tx1"/>
                </a:solidFill>
              </a:rPr>
              <a:t>afforestation</a:t>
            </a:r>
            <a:r>
              <a:rPr lang="en-US" sz="1700" dirty="0">
                <a:solidFill>
                  <a:schemeClr val="tx1"/>
                </a:solidFill>
              </a:rPr>
              <a:t> in mountains.</a:t>
            </a:r>
            <a:endParaRPr lang="en-US" sz="1600" dirty="0"/>
          </a:p>
        </p:txBody>
      </p:sp>
      <p:sp>
        <p:nvSpPr>
          <p:cNvPr id="13" name="card 3"/>
          <p:cNvSpPr/>
          <p:nvPr/>
        </p:nvSpPr>
        <p:spPr>
          <a:xfrm>
            <a:off x="8107680" y="1371600"/>
            <a:ext cx="3505200" cy="2286000"/>
          </a:xfrm>
          <a:prstGeom prst="roundRect">
            <a:avLst>
              <a:gd name="adj" fmla="val 4800"/>
            </a:avLst>
          </a:prstGeom>
          <a:solidFill>
            <a:schemeClr val="bg2"/>
          </a:solidFill>
          <a:ln w="12700">
            <a:solidFill>
              <a:schemeClr val="bg2"/>
            </a:solidFill>
            <a:prstDash val="solid"/>
          </a:ln>
        </p:spPr>
      </p:sp>
      <p:sp>
        <p:nvSpPr>
          <p:cNvPr id="14" name="card 3 disc"/>
          <p:cNvSpPr/>
          <p:nvPr/>
        </p:nvSpPr>
        <p:spPr>
          <a:xfrm>
            <a:off x="8336280" y="1600200"/>
            <a:ext cx="566928" cy="566928"/>
          </a:xfrm>
          <a:prstGeom prst="ellipse">
            <a:avLst/>
          </a:prstGeom>
          <a:solidFill>
            <a:schemeClr val="accent4"/>
          </a:solidFill>
          <a:ln w="12700">
            <a:solidFill>
              <a:schemeClr val="accent4"/>
            </a:solidFill>
            <a:prstDash val="solid"/>
          </a:ln>
        </p:spPr>
      </p:sp>
      <p:pic>
        <p:nvPicPr>
          <p:cNvPr id="15" name="card 3 glyph" descr="preencoded.png">    </p:cNvPr>
          <p:cNvPicPr>
            <a:picLocks noChangeAspect="1"/>
          </p:cNvPicPr>
          <p:nvPr/>
        </p:nvPicPr>
        <p:blipFill>
          <a:blip r:embed="rId3"/>
          <a:stretch>
            <a:fillRect/>
          </a:stretch>
        </p:blipFill>
        <p:spPr>
          <a:xfrm>
            <a:off x="8461004" y="1724924"/>
            <a:ext cx="317480" cy="317480"/>
          </a:xfrm>
          <a:prstGeom prst="rect">
            <a:avLst/>
          </a:prstGeom>
        </p:spPr>
      </p:pic>
      <p:sp>
        <p:nvSpPr>
          <p:cNvPr id="16" name="Text 11"/>
          <p:cNvSpPr txBox="1"/>
          <p:nvPr/>
        </p:nvSpPr>
        <p:spPr>
          <a:xfrm>
            <a:off x="904036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Protected areas</a:t>
            </a:r>
            <a:endParaRPr lang="en-US" sz="1800" dirty="0"/>
          </a:p>
        </p:txBody>
      </p:sp>
      <p:sp>
        <p:nvSpPr>
          <p:cNvPr id="17" name="Text 12"/>
          <p:cNvSpPr txBox="1"/>
          <p:nvPr/>
        </p:nvSpPr>
        <p:spPr>
          <a:xfrm>
            <a:off x="8336280" y="2276856"/>
            <a:ext cx="3048000" cy="1243584"/>
          </a:xfrm>
          <a:prstGeom prst="rect">
            <a:avLst/>
          </a:prstGeom>
          <a:noFill/>
          <a:ln/>
        </p:spPr>
        <p:txBody>
          <a:bodyPr wrap="square" lIns="0" tIns="0" rIns="0" bIns="0" rtlCol="0" anchor="t"/>
          <a:lstStyle/>
          <a:p>
            <a:pPr indent="0" marL="0">
              <a:buNone/>
            </a:pPr>
            <a:r>
              <a:rPr lang="en-US" sz="1700" dirty="0">
                <a:solidFill>
                  <a:schemeClr val="tx1"/>
                </a:solidFill>
              </a:rPr>
              <a:t>National parks, wildlife sanctuaries, biosphere reserves, World Heritage Sites.</a:t>
            </a:r>
            <a:endParaRPr lang="en-US" sz="1600" dirty="0"/>
          </a:p>
        </p:txBody>
      </p:sp>
      <p:sp>
        <p:nvSpPr>
          <p:cNvPr id="18" name="card 4"/>
          <p:cNvSpPr/>
          <p:nvPr/>
        </p:nvSpPr>
        <p:spPr>
          <a:xfrm>
            <a:off x="548640" y="3931920"/>
            <a:ext cx="3505200" cy="2286000"/>
          </a:xfrm>
          <a:prstGeom prst="roundRect">
            <a:avLst>
              <a:gd name="adj" fmla="val 4800"/>
            </a:avLst>
          </a:prstGeom>
          <a:solidFill>
            <a:schemeClr val="bg2"/>
          </a:solidFill>
          <a:ln w="12700">
            <a:solidFill>
              <a:schemeClr val="bg2"/>
            </a:solidFill>
            <a:prstDash val="solid"/>
          </a:ln>
        </p:spPr>
      </p:sp>
      <p:sp>
        <p:nvSpPr>
          <p:cNvPr id="19" name="card 4 disc"/>
          <p:cNvSpPr/>
          <p:nvPr/>
        </p:nvSpPr>
        <p:spPr>
          <a:xfrm>
            <a:off x="777240" y="4160520"/>
            <a:ext cx="566928" cy="566928"/>
          </a:xfrm>
          <a:prstGeom prst="ellipse">
            <a:avLst/>
          </a:prstGeom>
          <a:solidFill>
            <a:schemeClr val="accent5"/>
          </a:solidFill>
          <a:ln w="12700">
            <a:solidFill>
              <a:schemeClr val="accent5"/>
            </a:solidFill>
            <a:prstDash val="solid"/>
          </a:ln>
        </p:spPr>
      </p:sp>
      <p:pic>
        <p:nvPicPr>
          <p:cNvPr id="20" name="card 4 glyph" descr="preencoded.png">    </p:cNvPr>
          <p:cNvPicPr>
            <a:picLocks noChangeAspect="1"/>
          </p:cNvPicPr>
          <p:nvPr/>
        </p:nvPicPr>
        <p:blipFill>
          <a:blip r:embed="rId4"/>
          <a:stretch>
            <a:fillRect/>
          </a:stretch>
        </p:blipFill>
        <p:spPr>
          <a:xfrm>
            <a:off x="901964" y="4285244"/>
            <a:ext cx="317480" cy="317480"/>
          </a:xfrm>
          <a:prstGeom prst="rect">
            <a:avLst/>
          </a:prstGeom>
        </p:spPr>
      </p:pic>
      <p:sp>
        <p:nvSpPr>
          <p:cNvPr id="21" name="Text 15"/>
          <p:cNvSpPr txBox="1"/>
          <p:nvPr/>
        </p:nvSpPr>
        <p:spPr>
          <a:xfrm>
            <a:off x="148132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Barriers and corridors</a:t>
            </a:r>
            <a:endParaRPr lang="en-US" sz="1800" dirty="0"/>
          </a:p>
        </p:txBody>
      </p:sp>
      <p:sp>
        <p:nvSpPr>
          <p:cNvPr id="22" name="Text 16"/>
          <p:cNvSpPr txBox="1"/>
          <p:nvPr/>
        </p:nvSpPr>
        <p:spPr>
          <a:xfrm>
            <a:off x="777240" y="4837176"/>
            <a:ext cx="3048000" cy="1243584"/>
          </a:xfrm>
          <a:prstGeom prst="rect">
            <a:avLst/>
          </a:prstGeom>
          <a:noFill/>
          <a:ln/>
        </p:spPr>
        <p:txBody>
          <a:bodyPr wrap="square" lIns="0" tIns="0" rIns="0" bIns="0" rtlCol="0" anchor="t"/>
          <a:lstStyle/>
          <a:p>
            <a:pPr indent="0" marL="0">
              <a:buNone/>
            </a:pPr>
            <a:r>
              <a:rPr lang="en-US" sz="1700" dirty="0">
                <a:solidFill>
                  <a:schemeClr val="tx1"/>
                </a:solidFill>
              </a:rPr>
              <a:t>Rivers and mountains guide animal movement; </a:t>
            </a:r>
            <a:r>
              <a:rPr lang="en-US" sz="1700" b="1" dirty="0">
                <a:solidFill>
                  <a:schemeClr val="tx1"/>
                </a:solidFill>
              </a:rPr>
              <a:t>wildlife corridors</a:t>
            </a:r>
            <a:r>
              <a:rPr lang="en-US" sz="1700" dirty="0">
                <a:solidFill>
                  <a:schemeClr val="tx1"/>
                </a:solidFill>
              </a:rPr>
              <a:t> and forest bridges reduce roadkill.</a:t>
            </a:r>
            <a:endParaRPr lang="en-US" sz="1600" dirty="0"/>
          </a:p>
        </p:txBody>
      </p:sp>
      <p:sp>
        <p:nvSpPr>
          <p:cNvPr id="23" name="card 5"/>
          <p:cNvSpPr/>
          <p:nvPr/>
        </p:nvSpPr>
        <p:spPr>
          <a:xfrm>
            <a:off x="4328160" y="3931920"/>
            <a:ext cx="3505200" cy="2286000"/>
          </a:xfrm>
          <a:prstGeom prst="roundRect">
            <a:avLst>
              <a:gd name="adj" fmla="val 4800"/>
            </a:avLst>
          </a:prstGeom>
          <a:solidFill>
            <a:schemeClr val="bg2"/>
          </a:solidFill>
          <a:ln w="12700">
            <a:solidFill>
              <a:schemeClr val="bg2"/>
            </a:solidFill>
            <a:prstDash val="solid"/>
          </a:ln>
        </p:spPr>
      </p:sp>
      <p:sp>
        <p:nvSpPr>
          <p:cNvPr id="24" name="card 5 disc"/>
          <p:cNvSpPr/>
          <p:nvPr/>
        </p:nvSpPr>
        <p:spPr>
          <a:xfrm>
            <a:off x="4556760" y="4160520"/>
            <a:ext cx="566928" cy="566928"/>
          </a:xfrm>
          <a:prstGeom prst="ellipse">
            <a:avLst/>
          </a:prstGeom>
          <a:solidFill>
            <a:schemeClr val="accent6"/>
          </a:solidFill>
          <a:ln w="12700">
            <a:solidFill>
              <a:schemeClr val="accent6"/>
            </a:solidFill>
            <a:prstDash val="solid"/>
          </a:ln>
        </p:spPr>
      </p:sp>
      <p:pic>
        <p:nvPicPr>
          <p:cNvPr id="25" name="card 5 glyph" descr="preencoded.png">    </p:cNvPr>
          <p:cNvPicPr>
            <a:picLocks noChangeAspect="1"/>
          </p:cNvPicPr>
          <p:nvPr/>
        </p:nvPicPr>
        <p:blipFill>
          <a:blip r:embed="rId5"/>
          <a:stretch>
            <a:fillRect/>
          </a:stretch>
        </p:blipFill>
        <p:spPr>
          <a:xfrm>
            <a:off x="4681484" y="4285244"/>
            <a:ext cx="317480" cy="317480"/>
          </a:xfrm>
          <a:prstGeom prst="rect">
            <a:avLst/>
          </a:prstGeom>
        </p:spPr>
      </p:pic>
      <p:sp>
        <p:nvSpPr>
          <p:cNvPr id="26" name="Text 19"/>
          <p:cNvSpPr txBox="1"/>
          <p:nvPr/>
        </p:nvSpPr>
        <p:spPr>
          <a:xfrm>
            <a:off x="526084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People and land</a:t>
            </a:r>
            <a:endParaRPr lang="en-US" sz="1800" dirty="0"/>
          </a:p>
        </p:txBody>
      </p:sp>
      <p:sp>
        <p:nvSpPr>
          <p:cNvPr id="27" name="Text 20"/>
          <p:cNvSpPr txBox="1"/>
          <p:nvPr/>
        </p:nvSpPr>
        <p:spPr>
          <a:xfrm>
            <a:off x="4556760" y="4837176"/>
            <a:ext cx="3048000" cy="1243584"/>
          </a:xfrm>
          <a:prstGeom prst="rect">
            <a:avLst/>
          </a:prstGeom>
          <a:noFill/>
          <a:ln/>
        </p:spPr>
        <p:txBody>
          <a:bodyPr wrap="square" lIns="0" tIns="0" rIns="0" bIns="0" rtlCol="0" anchor="t"/>
          <a:lstStyle/>
          <a:p>
            <a:pPr indent="0" marL="0">
              <a:buNone/>
            </a:pPr>
            <a:r>
              <a:rPr lang="en-US" sz="1700" dirty="0">
                <a:solidFill>
                  <a:schemeClr val="tx1"/>
                </a:solidFill>
              </a:rPr>
              <a:t>Sustainable use suited to the land: </a:t>
            </a:r>
            <a:r>
              <a:rPr lang="en-US" sz="1700" b="1" dirty="0">
                <a:solidFill>
                  <a:schemeClr val="tx1"/>
                </a:solidFill>
              </a:rPr>
              <a:t>terrace farming</a:t>
            </a:r>
            <a:r>
              <a:rPr lang="en-US" sz="1700" dirty="0">
                <a:solidFill>
                  <a:schemeClr val="tx1"/>
                </a:solidFill>
              </a:rPr>
              <a:t> in hills, </a:t>
            </a:r>
            <a:r>
              <a:rPr lang="en-US" sz="1700" b="1" dirty="0">
                <a:solidFill>
                  <a:schemeClr val="tx1"/>
                </a:solidFill>
              </a:rPr>
              <a:t>agroforestry</a:t>
            </a:r>
            <a:r>
              <a:rPr lang="en-US" sz="1700" dirty="0">
                <a:solidFill>
                  <a:schemeClr val="tx1"/>
                </a:solidFill>
              </a:rPr>
              <a:t> in plains.</a:t>
            </a:r>
            <a:endParaRPr lang="en-US" sz="1600" dirty="0"/>
          </a:p>
        </p:txBody>
      </p:sp>
      <p:sp>
        <p:nvSpPr>
          <p:cNvPr id="28" name="card 6"/>
          <p:cNvSpPr/>
          <p:nvPr/>
        </p:nvSpPr>
        <p:spPr>
          <a:xfrm>
            <a:off x="8107680" y="3931920"/>
            <a:ext cx="3505200" cy="2286000"/>
          </a:xfrm>
          <a:prstGeom prst="roundRect">
            <a:avLst>
              <a:gd name="adj" fmla="val 4800"/>
            </a:avLst>
          </a:prstGeom>
          <a:solidFill>
            <a:schemeClr val="bg2"/>
          </a:solidFill>
          <a:ln w="12700">
            <a:solidFill>
              <a:schemeClr val="bg2"/>
            </a:solidFill>
            <a:prstDash val="solid"/>
          </a:ln>
        </p:spPr>
      </p:sp>
      <p:sp>
        <p:nvSpPr>
          <p:cNvPr id="29" name="card 6 disc"/>
          <p:cNvSpPr/>
          <p:nvPr/>
        </p:nvSpPr>
        <p:spPr>
          <a:xfrm>
            <a:off x="8336280" y="4160520"/>
            <a:ext cx="566928" cy="566928"/>
          </a:xfrm>
          <a:prstGeom prst="ellipse">
            <a:avLst/>
          </a:prstGeom>
          <a:solidFill>
            <a:schemeClr val="accent1"/>
          </a:solidFill>
          <a:ln w="12700">
            <a:solidFill>
              <a:schemeClr val="accent1"/>
            </a:solidFill>
            <a:prstDash val="solid"/>
          </a:ln>
        </p:spPr>
      </p:sp>
      <p:pic>
        <p:nvPicPr>
          <p:cNvPr id="30" name="card 6 glyph" descr="preencoded.png">    </p:cNvPr>
          <p:cNvPicPr>
            <a:picLocks noChangeAspect="1"/>
          </p:cNvPicPr>
          <p:nvPr/>
        </p:nvPicPr>
        <p:blipFill>
          <a:blip r:embed="rId6"/>
          <a:stretch>
            <a:fillRect/>
          </a:stretch>
        </p:blipFill>
        <p:spPr>
          <a:xfrm>
            <a:off x="8461004" y="4285244"/>
            <a:ext cx="317480" cy="317480"/>
          </a:xfrm>
          <a:prstGeom prst="rect">
            <a:avLst/>
          </a:prstGeom>
        </p:spPr>
      </p:pic>
      <p:sp>
        <p:nvSpPr>
          <p:cNvPr id="31" name="Text 23"/>
          <p:cNvSpPr txBox="1"/>
          <p:nvPr/>
        </p:nvSpPr>
        <p:spPr>
          <a:xfrm>
            <a:off x="904036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Sacred groves</a:t>
            </a:r>
            <a:endParaRPr lang="en-US" sz="1800" dirty="0"/>
          </a:p>
        </p:txBody>
      </p:sp>
      <p:sp>
        <p:nvSpPr>
          <p:cNvPr id="32" name="Text 24"/>
          <p:cNvSpPr txBox="1"/>
          <p:nvPr/>
        </p:nvSpPr>
        <p:spPr>
          <a:xfrm>
            <a:off x="8336280" y="4837176"/>
            <a:ext cx="3048000" cy="1243584"/>
          </a:xfrm>
          <a:prstGeom prst="rect">
            <a:avLst/>
          </a:prstGeom>
          <a:noFill/>
          <a:ln/>
        </p:spPr>
        <p:txBody>
          <a:bodyPr wrap="square" lIns="0" tIns="0" rIns="0" bIns="0" rtlCol="0" anchor="t"/>
          <a:lstStyle/>
          <a:p>
            <a:pPr indent="0" marL="0">
              <a:buNone/>
            </a:pPr>
            <a:r>
              <a:rPr lang="en-US" sz="1700" dirty="0">
                <a:solidFill>
                  <a:schemeClr val="tx1"/>
                </a:solidFill>
              </a:rPr>
              <a:t>Over 1,00,000 in India: </a:t>
            </a:r>
            <a:r>
              <a:rPr lang="en-US" sz="1700" b="1" dirty="0">
                <a:solidFill>
                  <a:schemeClr val="tx1"/>
                </a:solidFill>
              </a:rPr>
              <a:t>Devrai, Devarakadu, Kavu, Sarna</a:t>
            </a:r>
            <a:r>
              <a:rPr lang="en-US" sz="1700" dirty="0">
                <a:solidFill>
                  <a:schemeClr val="tx1"/>
                </a:solidFill>
              </a:rPr>
              <a:t>. Small but rich in rare plants and water sources.</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3D2B"/>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Map Work: Biodiversity Treasure Hunt</a:t>
            </a:r>
            <a:endParaRPr lang="en-US" sz="3600" dirty="0"/>
          </a:p>
        </p:txBody>
      </p:sp>
      <p:sp>
        <p:nvSpPr>
          <p:cNvPr id="3" name="activity info card"/>
          <p:cNvSpPr/>
          <p:nvPr/>
        </p:nvSpPr>
        <p:spPr>
          <a:xfrm>
            <a:off x="548640" y="1371600"/>
            <a:ext cx="3657600" cy="4846320"/>
          </a:xfrm>
          <a:prstGeom prst="roundRect">
            <a:avLst>
              <a:gd name="adj" fmla="val 3000"/>
            </a:avLst>
          </a:prstGeom>
          <a:solidFill>
            <a:schemeClr val="tx2"/>
          </a:solidFill>
          <a:ln w="12700">
            <a:solidFill>
              <a:schemeClr val="tx2"/>
            </a:solidFill>
            <a:prstDash val="solid"/>
          </a:ln>
          <a:effectLst>
            <a:outerShdw sx="100000" sy="100000" kx="0" ky="0" algn="bl" rotWithShape="0" blurRad="101600" dist="25400" dir="5400000">
              <a:srgbClr val="000000">
                <a:alpha val="14000"/>
              </a:srgbClr>
            </a:outerShdw>
          </a:effectLst>
        </p:spPr>
      </p:sp>
      <p:sp>
        <p:nvSpPr>
          <p:cNvPr id="4" name="activity disc"/>
          <p:cNvSpPr/>
          <p:nvPr/>
        </p:nvSpPr>
        <p:spPr>
          <a:xfrm>
            <a:off x="868680" y="1691640"/>
            <a:ext cx="914400" cy="914400"/>
          </a:xfrm>
          <a:prstGeom prst="ellipse">
            <a:avLst/>
          </a:prstGeom>
          <a:solidFill>
            <a:schemeClr val="accent3"/>
          </a:solidFill>
          <a:ln w="12700">
            <a:solidFill>
              <a:schemeClr val="accent3"/>
            </a:solidFill>
            <a:prstDash val="solid"/>
          </a:ln>
        </p:spPr>
      </p:sp>
      <p:pic>
        <p:nvPicPr>
          <p:cNvPr id="5" name="activity glyph" descr="preencoded.png">    </p:cNvPr>
          <p:cNvPicPr>
            <a:picLocks noChangeAspect="1"/>
          </p:cNvPicPr>
          <p:nvPr/>
        </p:nvPicPr>
        <p:blipFill>
          <a:blip r:embed="rId1"/>
          <a:stretch>
            <a:fillRect/>
          </a:stretch>
        </p:blipFill>
        <p:spPr>
          <a:xfrm>
            <a:off x="1069848" y="1892808"/>
            <a:ext cx="512064" cy="512064"/>
          </a:xfrm>
          <a:prstGeom prst="rect">
            <a:avLst/>
          </a:prstGeom>
        </p:spPr>
      </p:pic>
      <p:sp>
        <p:nvSpPr>
          <p:cNvPr id="6" name="Text 3"/>
          <p:cNvSpPr txBox="1"/>
          <p:nvPr/>
        </p:nvSpPr>
        <p:spPr>
          <a:xfrm>
            <a:off x="1965960" y="1737360"/>
            <a:ext cx="2103120" cy="365760"/>
          </a:xfrm>
          <a:prstGeom prst="rect">
            <a:avLst/>
          </a:prstGeom>
          <a:noFill/>
          <a:ln/>
        </p:spPr>
        <p:txBody>
          <a:bodyPr wrap="square" lIns="0" tIns="0" rIns="0" bIns="0" rtlCol="0" anchor="ctr"/>
          <a:lstStyle/>
          <a:p>
            <a:pPr indent="0" marL="0">
              <a:buNone/>
            </a:pPr>
            <a:r>
              <a:rPr lang="en-US" sz="1300" b="1" spc="200" kern="0" dirty="0">
                <a:solidFill>
                  <a:schemeClr val="accent3"/>
                </a:solidFill>
              </a:rPr>
              <a:t>MAP SKILLS</a:t>
            </a:r>
            <a:endParaRPr lang="en-US" sz="1300" dirty="0"/>
          </a:p>
        </p:txBody>
      </p:sp>
      <p:sp>
        <p:nvSpPr>
          <p:cNvPr id="7" name="Text 4"/>
          <p:cNvSpPr txBox="1"/>
          <p:nvPr/>
        </p:nvSpPr>
        <p:spPr>
          <a:xfrm>
            <a:off x="1965960" y="2103120"/>
            <a:ext cx="2103120" cy="640080"/>
          </a:xfrm>
          <a:prstGeom prst="rect">
            <a:avLst/>
          </a:prstGeom>
          <a:noFill/>
          <a:ln/>
        </p:spPr>
        <p:txBody>
          <a:bodyPr wrap="square" lIns="0" tIns="0" rIns="0" bIns="0" rtlCol="0" anchor="t"/>
          <a:lstStyle/>
          <a:p>
            <a:pPr indent="0" marL="0">
              <a:buNone/>
            </a:pPr>
            <a:r>
              <a:rPr lang="en-US" sz="1800" b="1" dirty="0">
                <a:solidFill>
                  <a:schemeClr val="bg1"/>
                </a:solidFill>
              </a:rPr>
              <a:t>Mark and name</a:t>
            </a:r>
            <a:endParaRPr lang="en-US" sz="1800" dirty="0"/>
          </a:p>
        </p:txBody>
      </p:sp>
      <p:pic>
        <p:nvPicPr>
          <p:cNvPr id="8" name="Time icon" descr="preencoded.png">    </p:cNvPr>
          <p:cNvPicPr>
            <a:picLocks noChangeAspect="1"/>
          </p:cNvPicPr>
          <p:nvPr/>
        </p:nvPicPr>
        <p:blipFill>
          <a:blip r:embed="rId2"/>
          <a:stretch>
            <a:fillRect/>
          </a:stretch>
        </p:blipFill>
        <p:spPr>
          <a:xfrm>
            <a:off x="868680" y="3063240"/>
            <a:ext cx="347472" cy="347472"/>
          </a:xfrm>
          <a:prstGeom prst="rect">
            <a:avLst/>
          </a:prstGeom>
        </p:spPr>
      </p:pic>
      <p:sp>
        <p:nvSpPr>
          <p:cNvPr id="9" name="Text 5"/>
          <p:cNvSpPr txBox="1"/>
          <p:nvPr/>
        </p:nvSpPr>
        <p:spPr>
          <a:xfrm>
            <a:off x="1371600" y="301752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Time: </a:t>
            </a:r>
            <a:r>
              <a:rPr lang="en-US" sz="1400" dirty="0">
                <a:solidFill>
                  <a:schemeClr val="bg1"/>
                </a:solidFill>
              </a:rPr>
              <a:t>20 minutes</a:t>
            </a:r>
            <a:endParaRPr lang="en-US" sz="1400" dirty="0"/>
          </a:p>
        </p:txBody>
      </p:sp>
      <p:pic>
        <p:nvPicPr>
          <p:cNvPr id="10" name="Group icon" descr="preencoded.png">    </p:cNvPr>
          <p:cNvPicPr>
            <a:picLocks noChangeAspect="1"/>
          </p:cNvPicPr>
          <p:nvPr/>
        </p:nvPicPr>
        <p:blipFill>
          <a:blip r:embed="rId3"/>
          <a:stretch>
            <a:fillRect/>
          </a:stretch>
        </p:blipFill>
        <p:spPr>
          <a:xfrm>
            <a:off x="868680" y="3703320"/>
            <a:ext cx="347472" cy="347472"/>
          </a:xfrm>
          <a:prstGeom prst="rect">
            <a:avLst/>
          </a:prstGeom>
        </p:spPr>
      </p:pic>
      <p:sp>
        <p:nvSpPr>
          <p:cNvPr id="11" name="Text 6"/>
          <p:cNvSpPr txBox="1"/>
          <p:nvPr/>
        </p:nvSpPr>
        <p:spPr>
          <a:xfrm>
            <a:off x="1371600" y="365760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Group: </a:t>
            </a:r>
            <a:r>
              <a:rPr lang="en-US" sz="1400" dirty="0">
                <a:solidFill>
                  <a:schemeClr val="bg1"/>
                </a:solidFill>
              </a:rPr>
              <a:t>Pairs</a:t>
            </a:r>
            <a:endParaRPr lang="en-US" sz="1400" dirty="0"/>
          </a:p>
        </p:txBody>
      </p:sp>
      <p:pic>
        <p:nvPicPr>
          <p:cNvPr id="12" name="You need icon" descr="preencoded.png">    </p:cNvPr>
          <p:cNvPicPr>
            <a:picLocks noChangeAspect="1"/>
          </p:cNvPicPr>
          <p:nvPr/>
        </p:nvPicPr>
        <p:blipFill>
          <a:blip r:embed="rId4"/>
          <a:stretch>
            <a:fillRect/>
          </a:stretch>
        </p:blipFill>
        <p:spPr>
          <a:xfrm>
            <a:off x="868680" y="4343400"/>
            <a:ext cx="347472" cy="347472"/>
          </a:xfrm>
          <a:prstGeom prst="rect">
            <a:avLst/>
          </a:prstGeom>
        </p:spPr>
      </p:pic>
      <p:sp>
        <p:nvSpPr>
          <p:cNvPr id="13" name="Text 7"/>
          <p:cNvSpPr txBox="1"/>
          <p:nvPr/>
        </p:nvSpPr>
        <p:spPr>
          <a:xfrm>
            <a:off x="1371600" y="429768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You need: </a:t>
            </a:r>
            <a:r>
              <a:rPr lang="en-US" sz="1400" dirty="0">
                <a:solidFill>
                  <a:schemeClr val="bg1"/>
                </a:solidFill>
              </a:rPr>
              <a:t>Political outline map of India, atlas, coloured pencils</a:t>
            </a:r>
            <a:endParaRPr lang="en-US" sz="1400" dirty="0"/>
          </a:p>
        </p:txBody>
      </p:sp>
      <p:sp>
        <p:nvSpPr>
          <p:cNvPr id="14" name="activity steps card"/>
          <p:cNvSpPr/>
          <p:nvPr/>
        </p:nvSpPr>
        <p:spPr>
          <a:xfrm>
            <a:off x="4526280" y="1371600"/>
            <a:ext cx="7086600" cy="4846320"/>
          </a:xfrm>
          <a:prstGeom prst="roundRect">
            <a:avLst>
              <a:gd name="adj" fmla="val 2264"/>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5" name="Text 9"/>
          <p:cNvSpPr txBox="1"/>
          <p:nvPr/>
        </p:nvSpPr>
        <p:spPr>
          <a:xfrm>
            <a:off x="4846320" y="1600200"/>
            <a:ext cx="6400800" cy="457200"/>
          </a:xfrm>
          <a:prstGeom prst="rect">
            <a:avLst/>
          </a:prstGeom>
          <a:noFill/>
          <a:ln/>
        </p:spPr>
        <p:txBody>
          <a:bodyPr wrap="square" lIns="0" tIns="0" rIns="0" bIns="0" rtlCol="0" anchor="ctr"/>
          <a:lstStyle/>
          <a:p>
            <a:pPr indent="0" marL="0">
              <a:buNone/>
            </a:pPr>
            <a:r>
              <a:rPr lang="en-US" sz="2000" b="1" dirty="0">
                <a:solidFill>
                  <a:schemeClr val="accent1"/>
                </a:solidFill>
              </a:rPr>
              <a:t>How to play</a:t>
            </a:r>
            <a:endParaRPr lang="en-US" sz="2000" dirty="0"/>
          </a:p>
        </p:txBody>
      </p:sp>
      <p:sp>
        <p:nvSpPr>
          <p:cNvPr id="16" name="step 1 badge"/>
          <p:cNvSpPr/>
          <p:nvPr/>
        </p:nvSpPr>
        <p:spPr>
          <a:xfrm>
            <a:off x="4846320" y="2212848"/>
            <a:ext cx="384048" cy="384048"/>
          </a:xfrm>
          <a:prstGeom prst="ellipse">
            <a:avLst/>
          </a:prstGeom>
          <a:solidFill>
            <a:schemeClr val="accent1"/>
          </a:solidFill>
          <a:ln w="12700">
            <a:solidFill>
              <a:schemeClr val="accent1"/>
            </a:solidFill>
            <a:prstDash val="solid"/>
          </a:ln>
        </p:spPr>
      </p:sp>
      <p:sp>
        <p:nvSpPr>
          <p:cNvPr id="17" name="Text 11"/>
          <p:cNvSpPr txBox="1"/>
          <p:nvPr/>
        </p:nvSpPr>
        <p:spPr>
          <a:xfrm>
            <a:off x="4846320" y="221284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8" name="Text 12"/>
          <p:cNvSpPr txBox="1"/>
          <p:nvPr/>
        </p:nvSpPr>
        <p:spPr>
          <a:xfrm>
            <a:off x="5394960" y="2194560"/>
            <a:ext cx="5943600" cy="493776"/>
          </a:xfrm>
          <a:prstGeom prst="rect">
            <a:avLst/>
          </a:prstGeom>
          <a:noFill/>
          <a:ln/>
        </p:spPr>
        <p:txBody>
          <a:bodyPr wrap="square" lIns="0" tIns="0" rIns="0" bIns="0" rtlCol="0" anchor="t"/>
          <a:lstStyle/>
          <a:p>
            <a:pPr indent="0" marL="0">
              <a:buNone/>
            </a:pPr>
            <a:r>
              <a:rPr lang="en-US" sz="1400" dirty="0">
                <a:solidFill>
                  <a:schemeClr val="tx1"/>
                </a:solidFill>
              </a:rPr>
              <a:t>Mark </a:t>
            </a:r>
            <a:r>
              <a:rPr lang="en-US" sz="1400" b="1" dirty="0">
                <a:solidFill>
                  <a:schemeClr val="tx1"/>
                </a:solidFill>
              </a:rPr>
              <a:t>Namdapha National Park</a:t>
            </a:r>
            <a:r>
              <a:rPr lang="en-US" sz="1400" dirty="0">
                <a:solidFill>
                  <a:schemeClr val="tx1"/>
                </a:solidFill>
              </a:rPr>
              <a:t> and </a:t>
            </a:r>
            <a:r>
              <a:rPr lang="en-US" sz="1400" b="1" dirty="0">
                <a:solidFill>
                  <a:schemeClr val="tx1"/>
                </a:solidFill>
              </a:rPr>
              <a:t>Rann of Kutch</a:t>
            </a:r>
            <a:r>
              <a:rPr lang="en-US" sz="1400" dirty="0">
                <a:solidFill>
                  <a:schemeClr val="tx1"/>
                </a:solidFill>
              </a:rPr>
              <a:t>.</a:t>
            </a:r>
            <a:endParaRPr lang="en-US" sz="1600" dirty="0"/>
          </a:p>
        </p:txBody>
      </p:sp>
      <p:sp>
        <p:nvSpPr>
          <p:cNvPr id="19" name="step 2 badge"/>
          <p:cNvSpPr/>
          <p:nvPr/>
        </p:nvSpPr>
        <p:spPr>
          <a:xfrm>
            <a:off x="4846320" y="2752344"/>
            <a:ext cx="384048" cy="384048"/>
          </a:xfrm>
          <a:prstGeom prst="ellipse">
            <a:avLst/>
          </a:prstGeom>
          <a:solidFill>
            <a:schemeClr val="accent1"/>
          </a:solidFill>
          <a:ln w="12700">
            <a:solidFill>
              <a:schemeClr val="accent1"/>
            </a:solidFill>
            <a:prstDash val="solid"/>
          </a:ln>
        </p:spPr>
      </p:sp>
      <p:sp>
        <p:nvSpPr>
          <p:cNvPr id="20" name="Text 14"/>
          <p:cNvSpPr txBox="1"/>
          <p:nvPr/>
        </p:nvSpPr>
        <p:spPr>
          <a:xfrm>
            <a:off x="4846320" y="275234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1" name="Text 15"/>
          <p:cNvSpPr txBox="1"/>
          <p:nvPr/>
        </p:nvSpPr>
        <p:spPr>
          <a:xfrm>
            <a:off x="5394960" y="2734056"/>
            <a:ext cx="5943600" cy="493776"/>
          </a:xfrm>
          <a:prstGeom prst="rect">
            <a:avLst/>
          </a:prstGeom>
          <a:noFill/>
          <a:ln/>
        </p:spPr>
        <p:txBody>
          <a:bodyPr wrap="square" lIns="0" tIns="0" rIns="0" bIns="0" rtlCol="0" anchor="t"/>
          <a:lstStyle/>
          <a:p>
            <a:pPr indent="0" marL="0">
              <a:buNone/>
            </a:pPr>
            <a:r>
              <a:rPr lang="en-US" sz="1400" dirty="0">
                <a:solidFill>
                  <a:schemeClr val="tx1"/>
                </a:solidFill>
              </a:rPr>
              <a:t>Mark </a:t>
            </a:r>
            <a:r>
              <a:rPr lang="en-US" sz="1400" b="1" dirty="0">
                <a:solidFill>
                  <a:schemeClr val="tx1"/>
                </a:solidFill>
              </a:rPr>
              <a:t>Gahirmatha beach</a:t>
            </a:r>
            <a:r>
              <a:rPr lang="en-US" sz="1400" dirty="0">
                <a:solidFill>
                  <a:schemeClr val="tx1"/>
                </a:solidFill>
              </a:rPr>
              <a:t> and the </a:t>
            </a:r>
            <a:r>
              <a:rPr lang="en-US" sz="1400" b="1" dirty="0">
                <a:solidFill>
                  <a:schemeClr val="tx1"/>
                </a:solidFill>
              </a:rPr>
              <a:t>Gulf of Mannar</a:t>
            </a:r>
            <a:r>
              <a:rPr lang="en-US" sz="1400" dirty="0">
                <a:solidFill>
                  <a:schemeClr val="tx1"/>
                </a:solidFill>
              </a:rPr>
              <a:t>.</a:t>
            </a:r>
            <a:endParaRPr lang="en-US" sz="1600" dirty="0"/>
          </a:p>
        </p:txBody>
      </p:sp>
      <p:sp>
        <p:nvSpPr>
          <p:cNvPr id="22" name="step 3 badge"/>
          <p:cNvSpPr/>
          <p:nvPr/>
        </p:nvSpPr>
        <p:spPr>
          <a:xfrm>
            <a:off x="4846320" y="3291840"/>
            <a:ext cx="384048" cy="384048"/>
          </a:xfrm>
          <a:prstGeom prst="ellipse">
            <a:avLst/>
          </a:prstGeom>
          <a:solidFill>
            <a:schemeClr val="accent1"/>
          </a:solidFill>
          <a:ln w="12700">
            <a:solidFill>
              <a:schemeClr val="accent1"/>
            </a:solidFill>
            <a:prstDash val="solid"/>
          </a:ln>
        </p:spPr>
      </p:sp>
      <p:sp>
        <p:nvSpPr>
          <p:cNvPr id="23" name="Text 17"/>
          <p:cNvSpPr txBox="1"/>
          <p:nvPr/>
        </p:nvSpPr>
        <p:spPr>
          <a:xfrm>
            <a:off x="4846320" y="32918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4" name="Text 18"/>
          <p:cNvSpPr txBox="1"/>
          <p:nvPr/>
        </p:nvSpPr>
        <p:spPr>
          <a:xfrm>
            <a:off x="5394960" y="3273552"/>
            <a:ext cx="5943600" cy="493776"/>
          </a:xfrm>
          <a:prstGeom prst="rect">
            <a:avLst/>
          </a:prstGeom>
          <a:noFill/>
          <a:ln/>
        </p:spPr>
        <p:txBody>
          <a:bodyPr wrap="square" lIns="0" tIns="0" rIns="0" bIns="0" rtlCol="0" anchor="t"/>
          <a:lstStyle/>
          <a:p>
            <a:pPr indent="0" marL="0">
              <a:buNone/>
            </a:pPr>
            <a:r>
              <a:rPr lang="en-US" sz="1400" dirty="0">
                <a:solidFill>
                  <a:schemeClr val="tx1"/>
                </a:solidFill>
              </a:rPr>
              <a:t>Mark </a:t>
            </a:r>
            <a:r>
              <a:rPr lang="en-US" sz="1400" b="1" dirty="0">
                <a:solidFill>
                  <a:schemeClr val="tx1"/>
                </a:solidFill>
              </a:rPr>
              <a:t>Pachmarhi</a:t>
            </a:r>
            <a:r>
              <a:rPr lang="en-US" sz="1400" dirty="0">
                <a:solidFill>
                  <a:schemeClr val="tx1"/>
                </a:solidFill>
              </a:rPr>
              <a:t> and </a:t>
            </a:r>
            <a:r>
              <a:rPr lang="en-US" sz="1400" b="1" dirty="0">
                <a:solidFill>
                  <a:schemeClr val="tx1"/>
                </a:solidFill>
              </a:rPr>
              <a:t>Achanakmar–Amarkantak</a:t>
            </a:r>
            <a:r>
              <a:rPr lang="en-US" sz="1400" dirty="0">
                <a:solidFill>
                  <a:schemeClr val="tx1"/>
                </a:solidFill>
              </a:rPr>
              <a:t>.</a:t>
            </a:r>
            <a:endParaRPr lang="en-US" sz="1600" dirty="0"/>
          </a:p>
        </p:txBody>
      </p:sp>
      <p:sp>
        <p:nvSpPr>
          <p:cNvPr id="25" name="step 4 badge"/>
          <p:cNvSpPr/>
          <p:nvPr/>
        </p:nvSpPr>
        <p:spPr>
          <a:xfrm>
            <a:off x="4846320" y="3831336"/>
            <a:ext cx="384048" cy="384048"/>
          </a:xfrm>
          <a:prstGeom prst="ellipse">
            <a:avLst/>
          </a:prstGeom>
          <a:solidFill>
            <a:schemeClr val="accent1"/>
          </a:solidFill>
          <a:ln w="12700">
            <a:solidFill>
              <a:schemeClr val="accent1"/>
            </a:solidFill>
            <a:prstDash val="solid"/>
          </a:ln>
        </p:spPr>
      </p:sp>
      <p:sp>
        <p:nvSpPr>
          <p:cNvPr id="26" name="Text 20"/>
          <p:cNvSpPr txBox="1"/>
          <p:nvPr/>
        </p:nvSpPr>
        <p:spPr>
          <a:xfrm>
            <a:off x="4846320" y="383133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7" name="Text 21"/>
          <p:cNvSpPr txBox="1"/>
          <p:nvPr/>
        </p:nvSpPr>
        <p:spPr>
          <a:xfrm>
            <a:off x="5394960" y="3813048"/>
            <a:ext cx="5943600" cy="493776"/>
          </a:xfrm>
          <a:prstGeom prst="rect">
            <a:avLst/>
          </a:prstGeom>
          <a:noFill/>
          <a:ln/>
        </p:spPr>
        <p:txBody>
          <a:bodyPr wrap="square" lIns="0" tIns="0" rIns="0" bIns="0" rtlCol="0" anchor="t"/>
          <a:lstStyle/>
          <a:p>
            <a:pPr indent="0" marL="0">
              <a:buNone/>
            </a:pPr>
            <a:r>
              <a:rPr lang="en-US" sz="1400" dirty="0">
                <a:solidFill>
                  <a:schemeClr val="tx1"/>
                </a:solidFill>
              </a:rPr>
              <a:t>Use a symbol key: tree = forest, wave = coast, star = biosphere reserve.</a:t>
            </a:r>
            <a:endParaRPr lang="en-US" sz="1600" dirty="0"/>
          </a:p>
        </p:txBody>
      </p:sp>
      <p:sp>
        <p:nvSpPr>
          <p:cNvPr id="28" name="step 5 badge"/>
          <p:cNvSpPr/>
          <p:nvPr/>
        </p:nvSpPr>
        <p:spPr>
          <a:xfrm>
            <a:off x="4846320" y="4370832"/>
            <a:ext cx="384048" cy="384048"/>
          </a:xfrm>
          <a:prstGeom prst="ellipse">
            <a:avLst/>
          </a:prstGeom>
          <a:solidFill>
            <a:schemeClr val="accent1"/>
          </a:solidFill>
          <a:ln w="12700">
            <a:solidFill>
              <a:schemeClr val="accent1"/>
            </a:solidFill>
            <a:prstDash val="solid"/>
          </a:ln>
        </p:spPr>
      </p:sp>
      <p:sp>
        <p:nvSpPr>
          <p:cNvPr id="29" name="Text 23"/>
          <p:cNvSpPr txBox="1"/>
          <p:nvPr/>
        </p:nvSpPr>
        <p:spPr>
          <a:xfrm>
            <a:off x="4846320" y="437083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0" name="Text 24"/>
          <p:cNvSpPr txBox="1"/>
          <p:nvPr/>
        </p:nvSpPr>
        <p:spPr>
          <a:xfrm>
            <a:off x="5394960" y="4352544"/>
            <a:ext cx="5943600" cy="493776"/>
          </a:xfrm>
          <a:prstGeom prst="rect">
            <a:avLst/>
          </a:prstGeom>
          <a:noFill/>
          <a:ln/>
        </p:spPr>
        <p:txBody>
          <a:bodyPr wrap="square" lIns="0" tIns="0" rIns="0" bIns="0" rtlCol="0" anchor="t"/>
          <a:lstStyle/>
          <a:p>
            <a:pPr indent="0" marL="0">
              <a:buNone/>
            </a:pPr>
            <a:r>
              <a:rPr lang="en-US" sz="1400" dirty="0">
                <a:solidFill>
                  <a:schemeClr val="tx1"/>
                </a:solidFill>
              </a:rPr>
              <a:t>Find one special animal or plant from each place.</a:t>
            </a:r>
            <a:endParaRPr lang="en-US" sz="1600" dirty="0"/>
          </a:p>
        </p:txBody>
      </p:sp>
      <p:sp>
        <p:nvSpPr>
          <p:cNvPr id="31" name="outcome band"/>
          <p:cNvSpPr/>
          <p:nvPr/>
        </p:nvSpPr>
        <p:spPr>
          <a:xfrm>
            <a:off x="4846320" y="5074920"/>
            <a:ext cx="6446520" cy="914400"/>
          </a:xfrm>
          <a:prstGeom prst="roundRect">
            <a:avLst>
              <a:gd name="adj" fmla="val 8000"/>
            </a:avLst>
          </a:prstGeom>
          <a:solidFill>
            <a:schemeClr val="bg2"/>
          </a:solidFill>
          <a:ln w="12700">
            <a:solidFill>
              <a:schemeClr val="bg2"/>
            </a:solidFill>
            <a:prstDash val="solid"/>
          </a:ln>
        </p:spPr>
      </p:sp>
      <p:sp>
        <p:nvSpPr>
          <p:cNvPr id="32" name="Text 26"/>
          <p:cNvSpPr txBox="1"/>
          <p:nvPr/>
        </p:nvSpPr>
        <p:spPr>
          <a:xfrm>
            <a:off x="5029200" y="5074920"/>
            <a:ext cx="6126480" cy="914400"/>
          </a:xfrm>
          <a:prstGeom prst="rect">
            <a:avLst/>
          </a:prstGeom>
          <a:noFill/>
          <a:ln/>
        </p:spPr>
        <p:txBody>
          <a:bodyPr wrap="square" lIns="0" tIns="0" rIns="0" bIns="0" rtlCol="0" anchor="ctr"/>
          <a:lstStyle/>
          <a:p>
            <a:pPr indent="0" marL="0">
              <a:buNone/>
            </a:pPr>
            <a:r>
              <a:rPr lang="en-US" sz="1400" b="1" dirty="0">
                <a:solidFill>
                  <a:schemeClr val="tx2"/>
                </a:solidFill>
              </a:rPr>
              <a:t>Learning link:</a:t>
            </a:r>
            <a:r>
              <a:rPr lang="en-US" sz="1400" dirty="0">
                <a:solidFill>
                  <a:schemeClr val="tx2"/>
                </a:solidFill>
              </a:rPr>
              <a:t> Biodiversity regions are spread across very different landscapes of India.</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3D2B"/>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731520" y="2011680"/>
            <a:ext cx="7772400" cy="457200"/>
          </a:xfrm>
          <a:prstGeom prst="rect">
            <a:avLst/>
          </a:prstGeom>
          <a:noFill/>
          <a:ln/>
        </p:spPr>
        <p:txBody>
          <a:bodyPr wrap="square" lIns="0" tIns="0" rIns="0" bIns="0" rtlCol="0"/>
          <a:lstStyle/>
          <a:p>
            <a:pPr indent="0" marL="0">
              <a:buNone/>
            </a:pPr>
            <a:r>
              <a:rPr lang="en-US" sz="1800" b="1" spc="300" kern="0" dirty="0">
                <a:solidFill>
                  <a:schemeClr val="bg2"/>
                </a:solidFill>
              </a:rPr>
              <a:t>PART 3</a:t>
            </a:r>
            <a:endParaRPr lang="en-US" sz="1800" dirty="0"/>
          </a:p>
        </p:txBody>
      </p:sp>
      <p:sp>
        <p:nvSpPr>
          <p:cNvPr id="3" name="Text 0"/>
          <p:cNvSpPr/>
          <p:nvPr>
            <p:ph idx="101" type="title" hasCustomPrompt="1"/>
          </p:nvPr>
        </p:nvSpPr>
        <p:spPr>
          <a:xfrm>
            <a:off x="731520" y="2514600"/>
            <a:ext cx="7772400" cy="1463040"/>
          </a:xfrm>
          <a:prstGeom prst="rect">
            <a:avLst/>
          </a:prstGeom>
          <a:noFill/>
          <a:ln/>
        </p:spPr>
        <p:txBody>
          <a:bodyPr wrap="square" lIns="0" tIns="0" rIns="0" bIns="0" rtlCol="0" anchor="t"/>
          <a:lstStyle/>
          <a:p>
            <a:pPr algn="l" indent="0" marL="0">
              <a:buNone/>
            </a:pPr>
            <a:r>
              <a:rPr lang="en-US" sz="4400" b="1" dirty="0">
                <a:solidFill>
                  <a:schemeClr val="bg1"/>
                </a:solidFill>
              </a:rPr>
              <a:t>Forests, People and Livelihoods</a:t>
            </a:r>
            <a:endParaRPr lang="en-US" sz="4400" dirty="0"/>
          </a:p>
        </p:txBody>
      </p:sp>
      <p:sp>
        <p:nvSpPr>
          <p:cNvPr id="4" name="Text 0"/>
          <p:cNvSpPr/>
          <p:nvPr>
            <p:ph idx="102" type="body" hasCustomPrompt="1"/>
          </p:nvPr>
        </p:nvSpPr>
        <p:spPr>
          <a:xfrm>
            <a:off x="731520" y="4069080"/>
            <a:ext cx="7772400" cy="1097280"/>
          </a:xfrm>
          <a:prstGeom prst="rect">
            <a:avLst/>
          </a:prstGeom>
          <a:noFill/>
          <a:ln/>
        </p:spPr>
        <p:txBody>
          <a:bodyPr wrap="square" lIns="0" tIns="0" rIns="0" bIns="0" rtlCol="0" anchor="t"/>
          <a:lstStyle/>
          <a:p>
            <a:pPr indent="0" marL="0">
              <a:buNone/>
            </a:pPr>
            <a:r>
              <a:rPr lang="en-US" sz="1800" dirty="0">
                <a:solidFill>
                  <a:schemeClr val="bg1"/>
                </a:solidFill>
              </a:rPr>
              <a:t>From primitive hunting to modern ecotourism, forests sustain lives and cultures.</a:t>
            </a:r>
            <a:endParaRPr lang="en-US" sz="1800" dirty="0"/>
          </a:p>
        </p:txBody>
      </p:sp>
      <p:sp>
        <p:nvSpPr>
          <p:cNvPr id="5" name="section disc"/>
          <p:cNvSpPr/>
          <p:nvPr/>
        </p:nvSpPr>
        <p:spPr>
          <a:xfrm>
            <a:off x="9006840" y="1828800"/>
            <a:ext cx="2560320" cy="2560320"/>
          </a:xfrm>
          <a:prstGeom prst="ellipse">
            <a:avLst/>
          </a:prstGeom>
          <a:solidFill>
            <a:schemeClr val="tx2"/>
          </a:solidFill>
          <a:ln w="25400">
            <a:solidFill>
              <a:schemeClr val="bg1"/>
            </a:solidFill>
            <a:prstDash val="solid"/>
          </a:ln>
        </p:spPr>
      </p:sp>
      <p:pic>
        <p:nvPicPr>
          <p:cNvPr id="6" name="section icon" descr="preencoded.png">    </p:cNvPr>
          <p:cNvPicPr>
            <a:picLocks noChangeAspect="1"/>
          </p:cNvPicPr>
          <p:nvPr/>
        </p:nvPicPr>
        <p:blipFill>
          <a:blip r:embed="rId1"/>
          <a:stretch>
            <a:fillRect/>
          </a:stretch>
        </p:blipFill>
        <p:spPr>
          <a:xfrm>
            <a:off x="9601200" y="2423160"/>
            <a:ext cx="1371600" cy="13716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Forest Ecotourism</a:t>
            </a:r>
            <a:endParaRPr lang="en-US" sz="3600" dirty="0"/>
          </a:p>
        </p:txBody>
      </p:sp>
      <p:sp>
        <p:nvSpPr>
          <p:cNvPr id="3" name="card 1"/>
          <p:cNvSpPr/>
          <p:nvPr/>
        </p:nvSpPr>
        <p:spPr>
          <a:xfrm>
            <a:off x="548640" y="1371600"/>
            <a:ext cx="5394960" cy="1988820"/>
          </a:xfrm>
          <a:prstGeom prst="roundRect">
            <a:avLst>
              <a:gd name="adj" fmla="val 5517"/>
            </a:avLst>
          </a:prstGeom>
          <a:solidFill>
            <a:schemeClr val="bg2"/>
          </a:solidFill>
          <a:ln w="12700">
            <a:solidFill>
              <a:schemeClr val="bg2"/>
            </a:solidFill>
            <a:prstDash val="solid"/>
          </a:ln>
        </p:spPr>
      </p:sp>
      <p:sp>
        <p:nvSpPr>
          <p:cNvPr id="4" name="card 1 disc"/>
          <p:cNvSpPr/>
          <p:nvPr/>
        </p:nvSpPr>
        <p:spPr>
          <a:xfrm>
            <a:off x="777240" y="1600200"/>
            <a:ext cx="566928" cy="566928"/>
          </a:xfrm>
          <a:prstGeom prst="ellipse">
            <a:avLst/>
          </a:prstGeom>
          <a:solidFill>
            <a:schemeClr val="accent1"/>
          </a:solidFill>
          <a:ln w="12700">
            <a:solidFill>
              <a:schemeClr val="accent1"/>
            </a:solidFill>
            <a:prstDash val="solid"/>
          </a:ln>
        </p:spPr>
      </p:sp>
      <p:pic>
        <p:nvPicPr>
          <p:cNvPr id="5" name="card 1 glyph" descr="preencoded.png">    </p:cNvPr>
          <p:cNvPicPr>
            <a:picLocks noChangeAspect="1"/>
          </p:cNvPicPr>
          <p:nvPr/>
        </p:nvPicPr>
        <p:blipFill>
          <a:blip r:embed="rId1"/>
          <a:stretch>
            <a:fillRect/>
          </a:stretch>
        </p:blipFill>
        <p:spPr>
          <a:xfrm>
            <a:off x="901964" y="1724924"/>
            <a:ext cx="317480" cy="317480"/>
          </a:xfrm>
          <a:prstGeom prst="rect">
            <a:avLst/>
          </a:prstGeom>
        </p:spPr>
      </p:pic>
      <p:sp>
        <p:nvSpPr>
          <p:cNvPr id="6" name="Text 3"/>
          <p:cNvSpPr txBox="1"/>
          <p:nvPr/>
        </p:nvSpPr>
        <p:spPr>
          <a:xfrm>
            <a:off x="1481328" y="1600200"/>
            <a:ext cx="4233672" cy="566928"/>
          </a:xfrm>
          <a:prstGeom prst="rect">
            <a:avLst/>
          </a:prstGeom>
          <a:noFill/>
          <a:ln/>
        </p:spPr>
        <p:txBody>
          <a:bodyPr wrap="square" lIns="0" tIns="0" rIns="0" bIns="0" rtlCol="0" anchor="ctr"/>
          <a:lstStyle/>
          <a:p>
            <a:pPr indent="0" marL="0">
              <a:buNone/>
            </a:pPr>
            <a:r>
              <a:rPr lang="en-US" sz="1800" b="1" dirty="0">
                <a:solidFill>
                  <a:schemeClr val="tx2"/>
                </a:solidFill>
              </a:rPr>
              <a:t>What is it?</a:t>
            </a:r>
            <a:endParaRPr lang="en-US" sz="1800" dirty="0"/>
          </a:p>
        </p:txBody>
      </p:sp>
      <p:sp>
        <p:nvSpPr>
          <p:cNvPr id="7" name="Text 4"/>
          <p:cNvSpPr txBox="1"/>
          <p:nvPr/>
        </p:nvSpPr>
        <p:spPr>
          <a:xfrm>
            <a:off x="777240" y="2276856"/>
            <a:ext cx="4937760" cy="946404"/>
          </a:xfrm>
          <a:prstGeom prst="rect">
            <a:avLst/>
          </a:prstGeom>
          <a:noFill/>
          <a:ln/>
        </p:spPr>
        <p:txBody>
          <a:bodyPr wrap="square" lIns="0" tIns="0" rIns="0" bIns="0" rtlCol="0" anchor="t"/>
          <a:lstStyle/>
          <a:p>
            <a:pPr indent="0" marL="0">
              <a:buNone/>
            </a:pPr>
            <a:r>
              <a:rPr lang="en-US" sz="1800" dirty="0">
                <a:solidFill>
                  <a:schemeClr val="tx1"/>
                </a:solidFill>
              </a:rPr>
              <a:t>Responsible travel to forests: enjoy nature with </a:t>
            </a:r>
            <a:r>
              <a:rPr lang="en-US" sz="1800" b="1" dirty="0">
                <a:solidFill>
                  <a:schemeClr val="tx1"/>
                </a:solidFill>
              </a:rPr>
              <a:t>minimal harm</a:t>
            </a:r>
            <a:r>
              <a:rPr lang="en-US" sz="1800" dirty="0">
                <a:solidFill>
                  <a:schemeClr val="tx1"/>
                </a:solidFill>
              </a:rPr>
              <a:t>, respect local people, learn about ecosystems.</a:t>
            </a:r>
            <a:endParaRPr lang="en-US" sz="1600" dirty="0"/>
          </a:p>
        </p:txBody>
      </p:sp>
      <p:sp>
        <p:nvSpPr>
          <p:cNvPr id="8" name="card 2"/>
          <p:cNvSpPr/>
          <p:nvPr/>
        </p:nvSpPr>
        <p:spPr>
          <a:xfrm>
            <a:off x="6217920" y="1371600"/>
            <a:ext cx="5394960" cy="1988820"/>
          </a:xfrm>
          <a:prstGeom prst="roundRect">
            <a:avLst>
              <a:gd name="adj" fmla="val 5517"/>
            </a:avLst>
          </a:prstGeom>
          <a:solidFill>
            <a:schemeClr val="bg2"/>
          </a:solidFill>
          <a:ln w="12700">
            <a:solidFill>
              <a:schemeClr val="bg2"/>
            </a:solidFill>
            <a:prstDash val="solid"/>
          </a:ln>
        </p:spPr>
      </p:sp>
      <p:sp>
        <p:nvSpPr>
          <p:cNvPr id="9" name="card 2 disc"/>
          <p:cNvSpPr/>
          <p:nvPr/>
        </p:nvSpPr>
        <p:spPr>
          <a:xfrm>
            <a:off x="6446520" y="1600200"/>
            <a:ext cx="566928" cy="566928"/>
          </a:xfrm>
          <a:prstGeom prst="ellipse">
            <a:avLst/>
          </a:prstGeom>
          <a:solidFill>
            <a:schemeClr val="accent2"/>
          </a:solidFill>
          <a:ln w="12700">
            <a:solidFill>
              <a:schemeClr val="accent2"/>
            </a:solidFill>
            <a:prstDash val="solid"/>
          </a:ln>
        </p:spPr>
      </p:sp>
      <p:pic>
        <p:nvPicPr>
          <p:cNvPr id="10" name="card 2 glyph" descr="preencoded.png">    </p:cNvPr>
          <p:cNvPicPr>
            <a:picLocks noChangeAspect="1"/>
          </p:cNvPicPr>
          <p:nvPr/>
        </p:nvPicPr>
        <p:blipFill>
          <a:blip r:embed="rId2"/>
          <a:stretch>
            <a:fillRect/>
          </a:stretch>
        </p:blipFill>
        <p:spPr>
          <a:xfrm>
            <a:off x="6571244" y="1724924"/>
            <a:ext cx="317480" cy="317480"/>
          </a:xfrm>
          <a:prstGeom prst="rect">
            <a:avLst/>
          </a:prstGeom>
        </p:spPr>
      </p:pic>
      <p:sp>
        <p:nvSpPr>
          <p:cNvPr id="11" name="Text 7"/>
          <p:cNvSpPr txBox="1"/>
          <p:nvPr/>
        </p:nvSpPr>
        <p:spPr>
          <a:xfrm>
            <a:off x="7150608" y="1600200"/>
            <a:ext cx="4233672" cy="566928"/>
          </a:xfrm>
          <a:prstGeom prst="rect">
            <a:avLst/>
          </a:prstGeom>
          <a:noFill/>
          <a:ln/>
        </p:spPr>
        <p:txBody>
          <a:bodyPr wrap="square" lIns="0" tIns="0" rIns="0" bIns="0" rtlCol="0" anchor="ctr"/>
          <a:lstStyle/>
          <a:p>
            <a:pPr indent="0" marL="0">
              <a:buNone/>
            </a:pPr>
            <a:r>
              <a:rPr lang="en-US" sz="1800" b="1" dirty="0">
                <a:solidFill>
                  <a:schemeClr val="tx2"/>
                </a:solidFill>
              </a:rPr>
              <a:t>Thenmala, Keralam</a:t>
            </a:r>
            <a:endParaRPr lang="en-US" sz="1800" dirty="0"/>
          </a:p>
        </p:txBody>
      </p:sp>
      <p:sp>
        <p:nvSpPr>
          <p:cNvPr id="12" name="Text 8"/>
          <p:cNvSpPr txBox="1"/>
          <p:nvPr/>
        </p:nvSpPr>
        <p:spPr>
          <a:xfrm>
            <a:off x="6446520" y="2276856"/>
            <a:ext cx="4937760" cy="946404"/>
          </a:xfrm>
          <a:prstGeom prst="rect">
            <a:avLst/>
          </a:prstGeom>
          <a:noFill/>
          <a:ln/>
        </p:spPr>
        <p:txBody>
          <a:bodyPr wrap="square" lIns="0" tIns="0" rIns="0" bIns="0" rtlCol="0" anchor="t"/>
          <a:lstStyle/>
          <a:p>
            <a:pPr indent="0" marL="0">
              <a:buNone/>
            </a:pPr>
            <a:r>
              <a:rPr lang="en-US" sz="1800" dirty="0">
                <a:solidFill>
                  <a:schemeClr val="tx1"/>
                </a:solidFill>
              </a:rPr>
              <a:t>India's </a:t>
            </a:r>
            <a:r>
              <a:rPr lang="en-US" sz="1800" b="1" dirty="0">
                <a:solidFill>
                  <a:schemeClr val="tx1"/>
                </a:solidFill>
              </a:rPr>
              <a:t>first planned ecotourism</a:t>
            </a:r>
            <a:r>
              <a:rPr lang="en-US" sz="1800" dirty="0">
                <a:solidFill>
                  <a:schemeClr val="tx1"/>
                </a:solidFill>
              </a:rPr>
              <a:t> destination (Kollam). 'Thenmala' means </a:t>
            </a:r>
            <a:r>
              <a:rPr lang="en-US" sz="1800" b="1" dirty="0">
                <a:solidFill>
                  <a:schemeClr val="tx1"/>
                </a:solidFill>
              </a:rPr>
              <a:t>Honey Hill</a:t>
            </a:r>
            <a:r>
              <a:rPr lang="en-US" sz="1800" dirty="0">
                <a:solidFill>
                  <a:schemeClr val="tx1"/>
                </a:solidFill>
              </a:rPr>
              <a:t>; in the Western Ghats.</a:t>
            </a:r>
            <a:endParaRPr lang="en-US" sz="1600" dirty="0"/>
          </a:p>
        </p:txBody>
      </p:sp>
      <p:sp>
        <p:nvSpPr>
          <p:cNvPr id="13" name="card 3"/>
          <p:cNvSpPr/>
          <p:nvPr/>
        </p:nvSpPr>
        <p:spPr>
          <a:xfrm>
            <a:off x="548640" y="3634740"/>
            <a:ext cx="5394960" cy="1988820"/>
          </a:xfrm>
          <a:prstGeom prst="roundRect">
            <a:avLst>
              <a:gd name="adj" fmla="val 5517"/>
            </a:avLst>
          </a:prstGeom>
          <a:solidFill>
            <a:schemeClr val="bg2"/>
          </a:solidFill>
          <a:ln w="12700">
            <a:solidFill>
              <a:schemeClr val="bg2"/>
            </a:solidFill>
            <a:prstDash val="solid"/>
          </a:ln>
        </p:spPr>
      </p:sp>
      <p:sp>
        <p:nvSpPr>
          <p:cNvPr id="14" name="card 3 disc"/>
          <p:cNvSpPr/>
          <p:nvPr/>
        </p:nvSpPr>
        <p:spPr>
          <a:xfrm>
            <a:off x="777240" y="3863340"/>
            <a:ext cx="566928" cy="566928"/>
          </a:xfrm>
          <a:prstGeom prst="ellipse">
            <a:avLst/>
          </a:prstGeom>
          <a:solidFill>
            <a:schemeClr val="accent4"/>
          </a:solidFill>
          <a:ln w="12700">
            <a:solidFill>
              <a:schemeClr val="accent4"/>
            </a:solidFill>
            <a:prstDash val="solid"/>
          </a:ln>
        </p:spPr>
      </p:sp>
      <p:pic>
        <p:nvPicPr>
          <p:cNvPr id="15" name="card 3 glyph" descr="preencoded.png">    </p:cNvPr>
          <p:cNvPicPr>
            <a:picLocks noChangeAspect="1"/>
          </p:cNvPicPr>
          <p:nvPr/>
        </p:nvPicPr>
        <p:blipFill>
          <a:blip r:embed="rId3"/>
          <a:stretch>
            <a:fillRect/>
          </a:stretch>
        </p:blipFill>
        <p:spPr>
          <a:xfrm>
            <a:off x="901964" y="3988064"/>
            <a:ext cx="317480" cy="317480"/>
          </a:xfrm>
          <a:prstGeom prst="rect">
            <a:avLst/>
          </a:prstGeom>
        </p:spPr>
      </p:pic>
      <p:sp>
        <p:nvSpPr>
          <p:cNvPr id="16" name="Text 11"/>
          <p:cNvSpPr txBox="1"/>
          <p:nvPr/>
        </p:nvSpPr>
        <p:spPr>
          <a:xfrm>
            <a:off x="1481328" y="3863340"/>
            <a:ext cx="4233672" cy="566928"/>
          </a:xfrm>
          <a:prstGeom prst="rect">
            <a:avLst/>
          </a:prstGeom>
          <a:noFill/>
          <a:ln/>
        </p:spPr>
        <p:txBody>
          <a:bodyPr wrap="square" lIns="0" tIns="0" rIns="0" bIns="0" rtlCol="0" anchor="ctr"/>
          <a:lstStyle/>
          <a:p>
            <a:pPr indent="0" marL="0">
              <a:buNone/>
            </a:pPr>
            <a:r>
              <a:rPr lang="en-US" sz="1800" b="1" dirty="0">
                <a:solidFill>
                  <a:schemeClr val="tx2"/>
                </a:solidFill>
              </a:rPr>
              <a:t>Locals benefit</a:t>
            </a:r>
            <a:endParaRPr lang="en-US" sz="1800" dirty="0"/>
          </a:p>
        </p:txBody>
      </p:sp>
      <p:sp>
        <p:nvSpPr>
          <p:cNvPr id="17" name="Text 12"/>
          <p:cNvSpPr txBox="1"/>
          <p:nvPr/>
        </p:nvSpPr>
        <p:spPr>
          <a:xfrm>
            <a:off x="777240" y="4539996"/>
            <a:ext cx="4937760" cy="946404"/>
          </a:xfrm>
          <a:prstGeom prst="rect">
            <a:avLst/>
          </a:prstGeom>
          <a:noFill/>
          <a:ln/>
        </p:spPr>
        <p:txBody>
          <a:bodyPr wrap="square" lIns="0" tIns="0" rIns="0" bIns="0" rtlCol="0" anchor="t"/>
          <a:lstStyle/>
          <a:p>
            <a:pPr indent="0" marL="0">
              <a:buNone/>
            </a:pPr>
            <a:r>
              <a:rPr lang="en-US" sz="1800" dirty="0">
                <a:solidFill>
                  <a:schemeClr val="tx1"/>
                </a:solidFill>
              </a:rPr>
              <a:t>Villagers work as guides, eco-guards and service providers, so tourism income stays in the community.</a:t>
            </a:r>
            <a:endParaRPr lang="en-US" sz="1600" dirty="0"/>
          </a:p>
        </p:txBody>
      </p:sp>
      <p:sp>
        <p:nvSpPr>
          <p:cNvPr id="18" name="card 4"/>
          <p:cNvSpPr/>
          <p:nvPr/>
        </p:nvSpPr>
        <p:spPr>
          <a:xfrm>
            <a:off x="6217920" y="3634740"/>
            <a:ext cx="5394960" cy="1988820"/>
          </a:xfrm>
          <a:prstGeom prst="roundRect">
            <a:avLst>
              <a:gd name="adj" fmla="val 5517"/>
            </a:avLst>
          </a:prstGeom>
          <a:solidFill>
            <a:schemeClr val="bg2"/>
          </a:solidFill>
          <a:ln w="12700">
            <a:solidFill>
              <a:schemeClr val="bg2"/>
            </a:solidFill>
            <a:prstDash val="solid"/>
          </a:ln>
        </p:spPr>
      </p:sp>
      <p:sp>
        <p:nvSpPr>
          <p:cNvPr id="19" name="card 4 disc"/>
          <p:cNvSpPr/>
          <p:nvPr/>
        </p:nvSpPr>
        <p:spPr>
          <a:xfrm>
            <a:off x="6446520" y="3863340"/>
            <a:ext cx="566928" cy="566928"/>
          </a:xfrm>
          <a:prstGeom prst="ellipse">
            <a:avLst/>
          </a:prstGeom>
          <a:solidFill>
            <a:schemeClr val="accent5"/>
          </a:solidFill>
          <a:ln w="12700">
            <a:solidFill>
              <a:schemeClr val="accent5"/>
            </a:solidFill>
            <a:prstDash val="solid"/>
          </a:ln>
        </p:spPr>
      </p:sp>
      <p:pic>
        <p:nvPicPr>
          <p:cNvPr id="20" name="card 4 glyph" descr="preencoded.png">    </p:cNvPr>
          <p:cNvPicPr>
            <a:picLocks noChangeAspect="1"/>
          </p:cNvPicPr>
          <p:nvPr/>
        </p:nvPicPr>
        <p:blipFill>
          <a:blip r:embed="rId4"/>
          <a:stretch>
            <a:fillRect/>
          </a:stretch>
        </p:blipFill>
        <p:spPr>
          <a:xfrm>
            <a:off x="6571244" y="3988064"/>
            <a:ext cx="317480" cy="317480"/>
          </a:xfrm>
          <a:prstGeom prst="rect">
            <a:avLst/>
          </a:prstGeom>
        </p:spPr>
      </p:pic>
      <p:sp>
        <p:nvSpPr>
          <p:cNvPr id="21" name="Text 15"/>
          <p:cNvSpPr txBox="1"/>
          <p:nvPr/>
        </p:nvSpPr>
        <p:spPr>
          <a:xfrm>
            <a:off x="7150608" y="3863340"/>
            <a:ext cx="4233672" cy="566928"/>
          </a:xfrm>
          <a:prstGeom prst="rect">
            <a:avLst/>
          </a:prstGeom>
          <a:noFill/>
          <a:ln/>
        </p:spPr>
        <p:txBody>
          <a:bodyPr wrap="square" lIns="0" tIns="0" rIns="0" bIns="0" rtlCol="0" anchor="ctr"/>
          <a:lstStyle/>
          <a:p>
            <a:pPr indent="0" marL="0">
              <a:buNone/>
            </a:pPr>
            <a:r>
              <a:rPr lang="en-US" sz="1800" b="1" dirty="0">
                <a:solidFill>
                  <a:schemeClr val="tx2"/>
                </a:solidFill>
              </a:rPr>
              <a:t>Swadesh Darshan 2.0</a:t>
            </a:r>
            <a:endParaRPr lang="en-US" sz="1800" dirty="0"/>
          </a:p>
        </p:txBody>
      </p:sp>
      <p:sp>
        <p:nvSpPr>
          <p:cNvPr id="22" name="Text 16"/>
          <p:cNvSpPr txBox="1"/>
          <p:nvPr/>
        </p:nvSpPr>
        <p:spPr>
          <a:xfrm>
            <a:off x="6446520" y="4539996"/>
            <a:ext cx="4937760" cy="946404"/>
          </a:xfrm>
          <a:prstGeom prst="rect">
            <a:avLst/>
          </a:prstGeom>
          <a:noFill/>
          <a:ln/>
        </p:spPr>
        <p:txBody>
          <a:bodyPr wrap="square" lIns="0" tIns="0" rIns="0" bIns="0" rtlCol="0" anchor="t"/>
          <a:lstStyle/>
          <a:p>
            <a:pPr indent="0" marL="0">
              <a:buNone/>
            </a:pPr>
            <a:r>
              <a:rPr lang="en-US" sz="1800" dirty="0">
                <a:solidFill>
                  <a:schemeClr val="tx1"/>
                </a:solidFill>
              </a:rPr>
              <a:t>Ministry of Tourism scheme for sustainable, community-involved tourist destinations.</a:t>
            </a:r>
            <a:endParaRPr lang="en-US" sz="1600" dirty="0"/>
          </a:p>
        </p:txBody>
      </p:sp>
      <p:sp>
        <p:nvSpPr>
          <p:cNvPr id="23" name="footnote band"/>
          <p:cNvSpPr/>
          <p:nvPr/>
        </p:nvSpPr>
        <p:spPr>
          <a:xfrm>
            <a:off x="548640" y="5760720"/>
            <a:ext cx="11064240" cy="502920"/>
          </a:xfrm>
          <a:prstGeom prst="roundRect">
            <a:avLst>
              <a:gd name="adj" fmla="val 14545"/>
            </a:avLst>
          </a:prstGeom>
          <a:solidFill>
            <a:schemeClr val="tx2"/>
          </a:solidFill>
          <a:ln w="12700">
            <a:solidFill>
              <a:schemeClr val="tx2"/>
            </a:solidFill>
            <a:prstDash val="solid"/>
          </a:ln>
        </p:spPr>
      </p:sp>
      <p:sp>
        <p:nvSpPr>
          <p:cNvPr id="24" name="Text 18"/>
          <p:cNvSpPr txBox="1"/>
          <p:nvPr/>
        </p:nvSpPr>
        <p:spPr>
          <a:xfrm>
            <a:off x="777240" y="5760720"/>
            <a:ext cx="10607040" cy="502920"/>
          </a:xfrm>
          <a:prstGeom prst="rect">
            <a:avLst/>
          </a:prstGeom>
          <a:noFill/>
          <a:ln/>
        </p:spPr>
        <p:txBody>
          <a:bodyPr wrap="square" lIns="0" tIns="0" rIns="0" bIns="0" rtlCol="0" anchor="ctr"/>
          <a:lstStyle/>
          <a:p>
            <a:pPr indent="0" marL="0">
              <a:buNone/>
            </a:pPr>
            <a:r>
              <a:rPr lang="en-US" sz="1500" b="1" dirty="0">
                <a:solidFill>
                  <a:schemeClr val="bg1"/>
                </a:solidFill>
              </a:rPr>
              <a:t>Discuss:</a:t>
            </a:r>
            <a:r>
              <a:rPr lang="en-US" sz="1500" dirty="0">
                <a:solidFill>
                  <a:schemeClr val="bg1"/>
                </a:solidFill>
              </a:rPr>
              <a:t> How should a tourist behave at a forest site? Make a class 'Eco-Tourist Code'.</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3D2B"/>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Forest Produce Across India</a:t>
            </a:r>
            <a:endParaRPr lang="en-US" sz="3600" dirty="0"/>
          </a:p>
        </p:txBody>
      </p:sp>
      <p:sp>
        <p:nvSpPr>
          <p:cNvPr id="3" name="card 1"/>
          <p:cNvSpPr/>
          <p:nvPr/>
        </p:nvSpPr>
        <p:spPr>
          <a:xfrm>
            <a:off x="548640" y="1371600"/>
            <a:ext cx="3505200" cy="1988820"/>
          </a:xfrm>
          <a:prstGeom prst="roundRect">
            <a:avLst>
              <a:gd name="adj" fmla="val 5517"/>
            </a:avLst>
          </a:prstGeom>
          <a:solidFill>
            <a:schemeClr val="bg2"/>
          </a:solidFill>
          <a:ln w="12700">
            <a:solidFill>
              <a:schemeClr val="bg2"/>
            </a:solidFill>
            <a:prstDash val="solid"/>
          </a:ln>
        </p:spPr>
      </p:sp>
      <p:sp>
        <p:nvSpPr>
          <p:cNvPr id="4" name="card 1 disc"/>
          <p:cNvSpPr/>
          <p:nvPr/>
        </p:nvSpPr>
        <p:spPr>
          <a:xfrm>
            <a:off x="777240" y="1600200"/>
            <a:ext cx="566928" cy="566928"/>
          </a:xfrm>
          <a:prstGeom prst="ellipse">
            <a:avLst/>
          </a:prstGeom>
          <a:solidFill>
            <a:schemeClr val="accent1"/>
          </a:solidFill>
          <a:ln w="12700">
            <a:solidFill>
              <a:schemeClr val="accent1"/>
            </a:solidFill>
            <a:prstDash val="solid"/>
          </a:ln>
        </p:spPr>
      </p:sp>
      <p:pic>
        <p:nvPicPr>
          <p:cNvPr id="5" name="card 1 glyph" descr="preencoded.png">    </p:cNvPr>
          <p:cNvPicPr>
            <a:picLocks noChangeAspect="1"/>
          </p:cNvPicPr>
          <p:nvPr/>
        </p:nvPicPr>
        <p:blipFill>
          <a:blip r:embed="rId1"/>
          <a:stretch>
            <a:fillRect/>
          </a:stretch>
        </p:blipFill>
        <p:spPr>
          <a:xfrm>
            <a:off x="901964" y="1724924"/>
            <a:ext cx="317480" cy="317480"/>
          </a:xfrm>
          <a:prstGeom prst="rect">
            <a:avLst/>
          </a:prstGeom>
        </p:spPr>
      </p:pic>
      <p:sp>
        <p:nvSpPr>
          <p:cNvPr id="6" name="Text 3"/>
          <p:cNvSpPr txBox="1"/>
          <p:nvPr/>
        </p:nvSpPr>
        <p:spPr>
          <a:xfrm>
            <a:off x="148132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Timber and bamboo</a:t>
            </a:r>
            <a:endParaRPr lang="en-US" sz="1800" dirty="0"/>
          </a:p>
        </p:txBody>
      </p:sp>
      <p:sp>
        <p:nvSpPr>
          <p:cNvPr id="7" name="Text 4"/>
          <p:cNvSpPr txBox="1"/>
          <p:nvPr/>
        </p:nvSpPr>
        <p:spPr>
          <a:xfrm>
            <a:off x="777240" y="2276856"/>
            <a:ext cx="3048000" cy="946404"/>
          </a:xfrm>
          <a:prstGeom prst="rect">
            <a:avLst/>
          </a:prstGeom>
          <a:noFill/>
          <a:ln/>
        </p:spPr>
        <p:txBody>
          <a:bodyPr wrap="square" lIns="0" tIns="0" rIns="0" bIns="0" rtlCol="0" anchor="t"/>
          <a:lstStyle/>
          <a:p>
            <a:pPr indent="0" marL="0">
              <a:buNone/>
            </a:pPr>
            <a:r>
              <a:rPr lang="en-US" sz="1800" dirty="0">
                <a:solidFill>
                  <a:schemeClr val="tx1"/>
                </a:solidFill>
              </a:rPr>
              <a:t>Assam, Tripura, Keralam</a:t>
            </a:r>
            <a:endParaRPr lang="en-US" sz="1600" dirty="0"/>
          </a:p>
        </p:txBody>
      </p:sp>
      <p:sp>
        <p:nvSpPr>
          <p:cNvPr id="8" name="card 2"/>
          <p:cNvSpPr/>
          <p:nvPr/>
        </p:nvSpPr>
        <p:spPr>
          <a:xfrm>
            <a:off x="4328160" y="1371600"/>
            <a:ext cx="3505200" cy="1988820"/>
          </a:xfrm>
          <a:prstGeom prst="roundRect">
            <a:avLst>
              <a:gd name="adj" fmla="val 5517"/>
            </a:avLst>
          </a:prstGeom>
          <a:solidFill>
            <a:schemeClr val="bg2"/>
          </a:solidFill>
          <a:ln w="12700">
            <a:solidFill>
              <a:schemeClr val="bg2"/>
            </a:solidFill>
            <a:prstDash val="solid"/>
          </a:ln>
        </p:spPr>
      </p:sp>
      <p:sp>
        <p:nvSpPr>
          <p:cNvPr id="9" name="card 2 disc"/>
          <p:cNvSpPr/>
          <p:nvPr/>
        </p:nvSpPr>
        <p:spPr>
          <a:xfrm>
            <a:off x="4556760" y="1600200"/>
            <a:ext cx="566928" cy="566928"/>
          </a:xfrm>
          <a:prstGeom prst="ellipse">
            <a:avLst/>
          </a:prstGeom>
          <a:solidFill>
            <a:schemeClr val="accent2"/>
          </a:solidFill>
          <a:ln w="12700">
            <a:solidFill>
              <a:schemeClr val="accent2"/>
            </a:solidFill>
            <a:prstDash val="solid"/>
          </a:ln>
        </p:spPr>
      </p:sp>
      <p:pic>
        <p:nvPicPr>
          <p:cNvPr id="10" name="card 2 glyph" descr="preencoded.png">    </p:cNvPr>
          <p:cNvPicPr>
            <a:picLocks noChangeAspect="1"/>
          </p:cNvPicPr>
          <p:nvPr/>
        </p:nvPicPr>
        <p:blipFill>
          <a:blip r:embed="rId2"/>
          <a:stretch>
            <a:fillRect/>
          </a:stretch>
        </p:blipFill>
        <p:spPr>
          <a:xfrm>
            <a:off x="4681484" y="1724924"/>
            <a:ext cx="317480" cy="317480"/>
          </a:xfrm>
          <a:prstGeom prst="rect">
            <a:avLst/>
          </a:prstGeom>
        </p:spPr>
      </p:pic>
      <p:sp>
        <p:nvSpPr>
          <p:cNvPr id="11" name="Text 7"/>
          <p:cNvSpPr txBox="1"/>
          <p:nvPr/>
        </p:nvSpPr>
        <p:spPr>
          <a:xfrm>
            <a:off x="526084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Fruits, honey, mushrooms, roots</a:t>
            </a:r>
            <a:endParaRPr lang="en-US" sz="1800" dirty="0"/>
          </a:p>
        </p:txBody>
      </p:sp>
      <p:sp>
        <p:nvSpPr>
          <p:cNvPr id="12" name="Text 8"/>
          <p:cNvSpPr txBox="1"/>
          <p:nvPr/>
        </p:nvSpPr>
        <p:spPr>
          <a:xfrm>
            <a:off x="4556760" y="2276856"/>
            <a:ext cx="3048000" cy="946404"/>
          </a:xfrm>
          <a:prstGeom prst="rect">
            <a:avLst/>
          </a:prstGeom>
          <a:noFill/>
          <a:ln/>
        </p:spPr>
        <p:txBody>
          <a:bodyPr wrap="square" lIns="0" tIns="0" rIns="0" bIns="0" rtlCol="0" anchor="t"/>
          <a:lstStyle/>
          <a:p>
            <a:pPr indent="0" marL="0">
              <a:buNone/>
            </a:pPr>
            <a:r>
              <a:rPr lang="en-US" sz="1800" dirty="0">
                <a:solidFill>
                  <a:schemeClr val="tx1"/>
                </a:solidFill>
              </a:rPr>
              <a:t>Jharkhand, Odisha</a:t>
            </a:r>
            <a:endParaRPr lang="en-US" sz="1600" dirty="0"/>
          </a:p>
        </p:txBody>
      </p:sp>
      <p:sp>
        <p:nvSpPr>
          <p:cNvPr id="13" name="card 3"/>
          <p:cNvSpPr/>
          <p:nvPr/>
        </p:nvSpPr>
        <p:spPr>
          <a:xfrm>
            <a:off x="8107680" y="1371600"/>
            <a:ext cx="3505200" cy="1988820"/>
          </a:xfrm>
          <a:prstGeom prst="roundRect">
            <a:avLst>
              <a:gd name="adj" fmla="val 5517"/>
            </a:avLst>
          </a:prstGeom>
          <a:solidFill>
            <a:schemeClr val="bg2"/>
          </a:solidFill>
          <a:ln w="12700">
            <a:solidFill>
              <a:schemeClr val="bg2"/>
            </a:solidFill>
            <a:prstDash val="solid"/>
          </a:ln>
        </p:spPr>
      </p:sp>
      <p:sp>
        <p:nvSpPr>
          <p:cNvPr id="14" name="card 3 disc"/>
          <p:cNvSpPr/>
          <p:nvPr/>
        </p:nvSpPr>
        <p:spPr>
          <a:xfrm>
            <a:off x="8336280" y="1600200"/>
            <a:ext cx="566928" cy="566928"/>
          </a:xfrm>
          <a:prstGeom prst="ellipse">
            <a:avLst/>
          </a:prstGeom>
          <a:solidFill>
            <a:schemeClr val="accent4"/>
          </a:solidFill>
          <a:ln w="12700">
            <a:solidFill>
              <a:schemeClr val="accent4"/>
            </a:solidFill>
            <a:prstDash val="solid"/>
          </a:ln>
        </p:spPr>
      </p:sp>
      <p:pic>
        <p:nvPicPr>
          <p:cNvPr id="15" name="card 3 glyph" descr="preencoded.png">    </p:cNvPr>
          <p:cNvPicPr>
            <a:picLocks noChangeAspect="1"/>
          </p:cNvPicPr>
          <p:nvPr/>
        </p:nvPicPr>
        <p:blipFill>
          <a:blip r:embed="rId3"/>
          <a:stretch>
            <a:fillRect/>
          </a:stretch>
        </p:blipFill>
        <p:spPr>
          <a:xfrm>
            <a:off x="8461004" y="1724924"/>
            <a:ext cx="317480" cy="317480"/>
          </a:xfrm>
          <a:prstGeom prst="rect">
            <a:avLst/>
          </a:prstGeom>
        </p:spPr>
      </p:pic>
      <p:sp>
        <p:nvSpPr>
          <p:cNvPr id="16" name="Text 11"/>
          <p:cNvSpPr txBox="1"/>
          <p:nvPr/>
        </p:nvSpPr>
        <p:spPr>
          <a:xfrm>
            <a:off x="904036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Tendu, mahua, sal seeds, gums</a:t>
            </a:r>
            <a:endParaRPr lang="en-US" sz="1800" dirty="0"/>
          </a:p>
        </p:txBody>
      </p:sp>
      <p:sp>
        <p:nvSpPr>
          <p:cNvPr id="17" name="Text 12"/>
          <p:cNvSpPr txBox="1"/>
          <p:nvPr/>
        </p:nvSpPr>
        <p:spPr>
          <a:xfrm>
            <a:off x="8336280" y="2276856"/>
            <a:ext cx="3048000" cy="946404"/>
          </a:xfrm>
          <a:prstGeom prst="rect">
            <a:avLst/>
          </a:prstGeom>
          <a:noFill/>
          <a:ln/>
        </p:spPr>
        <p:txBody>
          <a:bodyPr wrap="square" lIns="0" tIns="0" rIns="0" bIns="0" rtlCol="0" anchor="t"/>
          <a:lstStyle/>
          <a:p>
            <a:pPr indent="0" marL="0">
              <a:buNone/>
            </a:pPr>
            <a:r>
              <a:rPr lang="en-US" sz="1800" dirty="0">
                <a:solidFill>
                  <a:schemeClr val="tx1"/>
                </a:solidFill>
              </a:rPr>
              <a:t>Madhya Pradesh, Chhattisgarh</a:t>
            </a:r>
            <a:endParaRPr lang="en-US" sz="1600" dirty="0"/>
          </a:p>
        </p:txBody>
      </p:sp>
      <p:sp>
        <p:nvSpPr>
          <p:cNvPr id="18" name="card 4"/>
          <p:cNvSpPr/>
          <p:nvPr/>
        </p:nvSpPr>
        <p:spPr>
          <a:xfrm>
            <a:off x="548640" y="3634740"/>
            <a:ext cx="3505200" cy="1988820"/>
          </a:xfrm>
          <a:prstGeom prst="roundRect">
            <a:avLst>
              <a:gd name="adj" fmla="val 5517"/>
            </a:avLst>
          </a:prstGeom>
          <a:solidFill>
            <a:schemeClr val="bg2"/>
          </a:solidFill>
          <a:ln w="12700">
            <a:solidFill>
              <a:schemeClr val="bg2"/>
            </a:solidFill>
            <a:prstDash val="solid"/>
          </a:ln>
        </p:spPr>
      </p:sp>
      <p:sp>
        <p:nvSpPr>
          <p:cNvPr id="19" name="card 4 disc"/>
          <p:cNvSpPr/>
          <p:nvPr/>
        </p:nvSpPr>
        <p:spPr>
          <a:xfrm>
            <a:off x="777240" y="3863340"/>
            <a:ext cx="566928" cy="566928"/>
          </a:xfrm>
          <a:prstGeom prst="ellipse">
            <a:avLst/>
          </a:prstGeom>
          <a:solidFill>
            <a:schemeClr val="accent5"/>
          </a:solidFill>
          <a:ln w="12700">
            <a:solidFill>
              <a:schemeClr val="accent5"/>
            </a:solidFill>
            <a:prstDash val="solid"/>
          </a:ln>
        </p:spPr>
      </p:sp>
      <p:pic>
        <p:nvPicPr>
          <p:cNvPr id="20" name="card 4 glyph" descr="preencoded.png">    </p:cNvPr>
          <p:cNvPicPr>
            <a:picLocks noChangeAspect="1"/>
          </p:cNvPicPr>
          <p:nvPr/>
        </p:nvPicPr>
        <p:blipFill>
          <a:blip r:embed="rId4"/>
          <a:stretch>
            <a:fillRect/>
          </a:stretch>
        </p:blipFill>
        <p:spPr>
          <a:xfrm>
            <a:off x="901964" y="3988064"/>
            <a:ext cx="317480" cy="317480"/>
          </a:xfrm>
          <a:prstGeom prst="rect">
            <a:avLst/>
          </a:prstGeom>
        </p:spPr>
      </p:pic>
      <p:sp>
        <p:nvSpPr>
          <p:cNvPr id="21" name="Text 15"/>
          <p:cNvSpPr txBox="1"/>
          <p:nvPr/>
        </p:nvSpPr>
        <p:spPr>
          <a:xfrm>
            <a:off x="1481328" y="386334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Ecotourism</a:t>
            </a:r>
            <a:endParaRPr lang="en-US" sz="1800" dirty="0"/>
          </a:p>
        </p:txBody>
      </p:sp>
      <p:sp>
        <p:nvSpPr>
          <p:cNvPr id="22" name="Text 16"/>
          <p:cNvSpPr txBox="1"/>
          <p:nvPr/>
        </p:nvSpPr>
        <p:spPr>
          <a:xfrm>
            <a:off x="777240" y="4539996"/>
            <a:ext cx="3048000" cy="946404"/>
          </a:xfrm>
          <a:prstGeom prst="rect">
            <a:avLst/>
          </a:prstGeom>
          <a:noFill/>
          <a:ln/>
        </p:spPr>
        <p:txBody>
          <a:bodyPr wrap="square" lIns="0" tIns="0" rIns="0" bIns="0" rtlCol="0" anchor="t"/>
          <a:lstStyle/>
          <a:p>
            <a:pPr indent="0" marL="0">
              <a:buNone/>
            </a:pPr>
            <a:r>
              <a:rPr lang="en-US" sz="1800" dirty="0">
                <a:solidFill>
                  <a:schemeClr val="tx1"/>
                </a:solidFill>
              </a:rPr>
              <a:t>Uttarakhand, Assam, Keralam</a:t>
            </a:r>
            <a:endParaRPr lang="en-US" sz="1600" dirty="0"/>
          </a:p>
        </p:txBody>
      </p:sp>
      <p:sp>
        <p:nvSpPr>
          <p:cNvPr id="23" name="card 5"/>
          <p:cNvSpPr/>
          <p:nvPr/>
        </p:nvSpPr>
        <p:spPr>
          <a:xfrm>
            <a:off x="4328160" y="3634740"/>
            <a:ext cx="3505200" cy="1988820"/>
          </a:xfrm>
          <a:prstGeom prst="roundRect">
            <a:avLst>
              <a:gd name="adj" fmla="val 5517"/>
            </a:avLst>
          </a:prstGeom>
          <a:solidFill>
            <a:schemeClr val="bg2"/>
          </a:solidFill>
          <a:ln w="12700">
            <a:solidFill>
              <a:schemeClr val="bg2"/>
            </a:solidFill>
            <a:prstDash val="solid"/>
          </a:ln>
        </p:spPr>
      </p:sp>
      <p:sp>
        <p:nvSpPr>
          <p:cNvPr id="24" name="card 5 disc"/>
          <p:cNvSpPr/>
          <p:nvPr/>
        </p:nvSpPr>
        <p:spPr>
          <a:xfrm>
            <a:off x="4556760" y="3863340"/>
            <a:ext cx="566928" cy="566928"/>
          </a:xfrm>
          <a:prstGeom prst="ellipse">
            <a:avLst/>
          </a:prstGeom>
          <a:solidFill>
            <a:schemeClr val="accent6"/>
          </a:solidFill>
          <a:ln w="12700">
            <a:solidFill>
              <a:schemeClr val="accent6"/>
            </a:solidFill>
            <a:prstDash val="solid"/>
          </a:ln>
        </p:spPr>
      </p:sp>
      <p:pic>
        <p:nvPicPr>
          <p:cNvPr id="25" name="card 5 glyph" descr="preencoded.png">    </p:cNvPr>
          <p:cNvPicPr>
            <a:picLocks noChangeAspect="1"/>
          </p:cNvPicPr>
          <p:nvPr/>
        </p:nvPicPr>
        <p:blipFill>
          <a:blip r:embed="rId5"/>
          <a:stretch>
            <a:fillRect/>
          </a:stretch>
        </p:blipFill>
        <p:spPr>
          <a:xfrm>
            <a:off x="4681484" y="3988064"/>
            <a:ext cx="317480" cy="317480"/>
          </a:xfrm>
          <a:prstGeom prst="rect">
            <a:avLst/>
          </a:prstGeom>
        </p:spPr>
      </p:pic>
      <p:sp>
        <p:nvSpPr>
          <p:cNvPr id="26" name="Text 19"/>
          <p:cNvSpPr txBox="1"/>
          <p:nvPr/>
        </p:nvSpPr>
        <p:spPr>
          <a:xfrm>
            <a:off x="5260848" y="386334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Herbs: ashwagandha, neem, tulsi</a:t>
            </a:r>
            <a:endParaRPr lang="en-US" sz="1800" dirty="0"/>
          </a:p>
        </p:txBody>
      </p:sp>
      <p:sp>
        <p:nvSpPr>
          <p:cNvPr id="27" name="Text 20"/>
          <p:cNvSpPr txBox="1"/>
          <p:nvPr/>
        </p:nvSpPr>
        <p:spPr>
          <a:xfrm>
            <a:off x="4556760" y="4539996"/>
            <a:ext cx="3048000" cy="946404"/>
          </a:xfrm>
          <a:prstGeom prst="rect">
            <a:avLst/>
          </a:prstGeom>
          <a:noFill/>
          <a:ln/>
        </p:spPr>
        <p:txBody>
          <a:bodyPr wrap="square" lIns="0" tIns="0" rIns="0" bIns="0" rtlCol="0" anchor="t"/>
          <a:lstStyle/>
          <a:p>
            <a:pPr indent="0" marL="0">
              <a:buNone/>
            </a:pPr>
            <a:r>
              <a:rPr lang="en-US" sz="1800" dirty="0">
                <a:solidFill>
                  <a:schemeClr val="tx1"/>
                </a:solidFill>
              </a:rPr>
              <a:t>Himalayan region, Western Ghats</a:t>
            </a:r>
            <a:endParaRPr lang="en-US" sz="1600" dirty="0"/>
          </a:p>
        </p:txBody>
      </p:sp>
      <p:sp>
        <p:nvSpPr>
          <p:cNvPr id="28" name="card 6"/>
          <p:cNvSpPr/>
          <p:nvPr/>
        </p:nvSpPr>
        <p:spPr>
          <a:xfrm>
            <a:off x="8107680" y="3634740"/>
            <a:ext cx="3505200" cy="1988820"/>
          </a:xfrm>
          <a:prstGeom prst="roundRect">
            <a:avLst>
              <a:gd name="adj" fmla="val 5517"/>
            </a:avLst>
          </a:prstGeom>
          <a:solidFill>
            <a:schemeClr val="bg2"/>
          </a:solidFill>
          <a:ln w="12700">
            <a:solidFill>
              <a:schemeClr val="bg2"/>
            </a:solidFill>
            <a:prstDash val="solid"/>
          </a:ln>
        </p:spPr>
      </p:sp>
      <p:sp>
        <p:nvSpPr>
          <p:cNvPr id="29" name="card 6 disc"/>
          <p:cNvSpPr/>
          <p:nvPr/>
        </p:nvSpPr>
        <p:spPr>
          <a:xfrm>
            <a:off x="8336280" y="3863340"/>
            <a:ext cx="566928" cy="566928"/>
          </a:xfrm>
          <a:prstGeom prst="ellipse">
            <a:avLst/>
          </a:prstGeom>
          <a:solidFill>
            <a:schemeClr val="accent1"/>
          </a:solidFill>
          <a:ln w="12700">
            <a:solidFill>
              <a:schemeClr val="accent1"/>
            </a:solidFill>
            <a:prstDash val="solid"/>
          </a:ln>
        </p:spPr>
      </p:sp>
      <p:pic>
        <p:nvPicPr>
          <p:cNvPr id="30" name="card 6 glyph" descr="preencoded.png">    </p:cNvPr>
          <p:cNvPicPr>
            <a:picLocks noChangeAspect="1"/>
          </p:cNvPicPr>
          <p:nvPr/>
        </p:nvPicPr>
        <p:blipFill>
          <a:blip r:embed="rId6"/>
          <a:stretch>
            <a:fillRect/>
          </a:stretch>
        </p:blipFill>
        <p:spPr>
          <a:xfrm>
            <a:off x="8461004" y="3988064"/>
            <a:ext cx="317480" cy="317480"/>
          </a:xfrm>
          <a:prstGeom prst="rect">
            <a:avLst/>
          </a:prstGeom>
        </p:spPr>
      </p:pic>
      <p:sp>
        <p:nvSpPr>
          <p:cNvPr id="31" name="Text 23"/>
          <p:cNvSpPr txBox="1"/>
          <p:nvPr/>
        </p:nvSpPr>
        <p:spPr>
          <a:xfrm>
            <a:off x="9040368" y="386334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Handicrafts and cottage industries</a:t>
            </a:r>
            <a:endParaRPr lang="en-US" sz="1800" dirty="0"/>
          </a:p>
        </p:txBody>
      </p:sp>
      <p:sp>
        <p:nvSpPr>
          <p:cNvPr id="32" name="Text 24"/>
          <p:cNvSpPr txBox="1"/>
          <p:nvPr/>
        </p:nvSpPr>
        <p:spPr>
          <a:xfrm>
            <a:off x="8336280" y="4539996"/>
            <a:ext cx="3048000" cy="946404"/>
          </a:xfrm>
          <a:prstGeom prst="rect">
            <a:avLst/>
          </a:prstGeom>
          <a:noFill/>
          <a:ln/>
        </p:spPr>
        <p:txBody>
          <a:bodyPr wrap="square" lIns="0" tIns="0" rIns="0" bIns="0" rtlCol="0" anchor="t"/>
          <a:lstStyle/>
          <a:p>
            <a:pPr indent="0" marL="0">
              <a:buNone/>
            </a:pPr>
            <a:r>
              <a:rPr lang="en-US" sz="1800" dirty="0">
                <a:solidFill>
                  <a:schemeClr val="tx1"/>
                </a:solidFill>
              </a:rPr>
              <a:t>Rajasthan, Keralam</a:t>
            </a:r>
            <a:endParaRPr lang="en-US" sz="1600" dirty="0"/>
          </a:p>
        </p:txBody>
      </p:sp>
      <p:sp>
        <p:nvSpPr>
          <p:cNvPr id="33" name="footnote band"/>
          <p:cNvSpPr/>
          <p:nvPr/>
        </p:nvSpPr>
        <p:spPr>
          <a:xfrm>
            <a:off x="548640" y="5760720"/>
            <a:ext cx="11064240" cy="502920"/>
          </a:xfrm>
          <a:prstGeom prst="roundRect">
            <a:avLst>
              <a:gd name="adj" fmla="val 14545"/>
            </a:avLst>
          </a:prstGeom>
          <a:solidFill>
            <a:schemeClr val="tx2"/>
          </a:solidFill>
          <a:ln w="12700">
            <a:solidFill>
              <a:schemeClr val="tx2"/>
            </a:solidFill>
            <a:prstDash val="solid"/>
          </a:ln>
        </p:spPr>
      </p:sp>
      <p:sp>
        <p:nvSpPr>
          <p:cNvPr id="34" name="Text 26"/>
          <p:cNvSpPr txBox="1"/>
          <p:nvPr/>
        </p:nvSpPr>
        <p:spPr>
          <a:xfrm>
            <a:off x="777240" y="5760720"/>
            <a:ext cx="10607040" cy="502920"/>
          </a:xfrm>
          <a:prstGeom prst="rect">
            <a:avLst/>
          </a:prstGeom>
          <a:noFill/>
          <a:ln/>
        </p:spPr>
        <p:txBody>
          <a:bodyPr wrap="square" lIns="0" tIns="0" rIns="0" bIns="0" rtlCol="0" anchor="ctr"/>
          <a:lstStyle/>
          <a:p>
            <a:pPr indent="0" marL="0">
              <a:buNone/>
            </a:pPr>
            <a:r>
              <a:rPr lang="en-US" sz="1500" b="1" dirty="0">
                <a:solidFill>
                  <a:schemeClr val="bg1"/>
                </a:solidFill>
              </a:rPr>
              <a:t>Your turn:</a:t>
            </a:r>
            <a:r>
              <a:rPr lang="en-US" sz="1500" dirty="0">
                <a:solidFill>
                  <a:schemeClr val="bg1"/>
                </a:solidFill>
              </a:rPr>
              <a:t> Add one forest product from our own state or UT.</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3D2B"/>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Forest Dwellers: Guardians of the Forest</a:t>
            </a:r>
            <a:endParaRPr lang="en-US" sz="3600" dirty="0"/>
          </a:p>
        </p:txBody>
      </p:sp>
      <p:sp>
        <p:nvSpPr>
          <p:cNvPr id="3" name="card 1"/>
          <p:cNvSpPr/>
          <p:nvPr/>
        </p:nvSpPr>
        <p:spPr>
          <a:xfrm>
            <a:off x="548640" y="1371600"/>
            <a:ext cx="3505200" cy="2286000"/>
          </a:xfrm>
          <a:prstGeom prst="roundRect">
            <a:avLst>
              <a:gd name="adj" fmla="val 4800"/>
            </a:avLst>
          </a:prstGeom>
          <a:solidFill>
            <a:schemeClr val="bg2"/>
          </a:solidFill>
          <a:ln w="12700">
            <a:solidFill>
              <a:schemeClr val="bg2"/>
            </a:solidFill>
            <a:prstDash val="solid"/>
          </a:ln>
        </p:spPr>
      </p:sp>
      <p:sp>
        <p:nvSpPr>
          <p:cNvPr id="4" name="card 1 disc"/>
          <p:cNvSpPr/>
          <p:nvPr/>
        </p:nvSpPr>
        <p:spPr>
          <a:xfrm>
            <a:off x="777240" y="1600200"/>
            <a:ext cx="566928" cy="566928"/>
          </a:xfrm>
          <a:prstGeom prst="ellipse">
            <a:avLst/>
          </a:prstGeom>
          <a:solidFill>
            <a:schemeClr val="accent1"/>
          </a:solidFill>
          <a:ln w="12700">
            <a:solidFill>
              <a:schemeClr val="accent1"/>
            </a:solidFill>
            <a:prstDash val="solid"/>
          </a:ln>
        </p:spPr>
      </p:sp>
      <p:pic>
        <p:nvPicPr>
          <p:cNvPr id="5" name="card 1 glyph" descr="preencoded.png">    </p:cNvPr>
          <p:cNvPicPr>
            <a:picLocks noChangeAspect="1"/>
          </p:cNvPicPr>
          <p:nvPr/>
        </p:nvPicPr>
        <p:blipFill>
          <a:blip r:embed="rId1"/>
          <a:stretch>
            <a:fillRect/>
          </a:stretch>
        </p:blipFill>
        <p:spPr>
          <a:xfrm>
            <a:off x="901964" y="1724924"/>
            <a:ext cx="317480" cy="317480"/>
          </a:xfrm>
          <a:prstGeom prst="rect">
            <a:avLst/>
          </a:prstGeom>
        </p:spPr>
      </p:pic>
      <p:sp>
        <p:nvSpPr>
          <p:cNvPr id="6" name="Text 3"/>
          <p:cNvSpPr txBox="1"/>
          <p:nvPr/>
        </p:nvSpPr>
        <p:spPr>
          <a:xfrm>
            <a:off x="148132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Livelihood</a:t>
            </a:r>
            <a:endParaRPr lang="en-US" sz="1800" dirty="0"/>
          </a:p>
        </p:txBody>
      </p:sp>
      <p:sp>
        <p:nvSpPr>
          <p:cNvPr id="7" name="Text 4"/>
          <p:cNvSpPr txBox="1"/>
          <p:nvPr/>
        </p:nvSpPr>
        <p:spPr>
          <a:xfrm>
            <a:off x="77724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Collect and process </a:t>
            </a:r>
            <a:r>
              <a:rPr lang="en-US" sz="1800" b="1" dirty="0">
                <a:solidFill>
                  <a:schemeClr val="tx1"/>
                </a:solidFill>
              </a:rPr>
              <a:t>NTFPs</a:t>
            </a:r>
            <a:r>
              <a:rPr lang="en-US" sz="1800" dirty="0">
                <a:solidFill>
                  <a:schemeClr val="tx1"/>
                </a:solidFill>
              </a:rPr>
              <a:t>: tendu leaves, mahua, honey, lac, bamboo.</a:t>
            </a:r>
            <a:endParaRPr lang="en-US" sz="1600" dirty="0"/>
          </a:p>
        </p:txBody>
      </p:sp>
      <p:sp>
        <p:nvSpPr>
          <p:cNvPr id="8" name="card 2"/>
          <p:cNvSpPr/>
          <p:nvPr/>
        </p:nvSpPr>
        <p:spPr>
          <a:xfrm>
            <a:off x="4328160" y="1371600"/>
            <a:ext cx="3505200" cy="2286000"/>
          </a:xfrm>
          <a:prstGeom prst="roundRect">
            <a:avLst>
              <a:gd name="adj" fmla="val 4800"/>
            </a:avLst>
          </a:prstGeom>
          <a:solidFill>
            <a:schemeClr val="bg2"/>
          </a:solidFill>
          <a:ln w="12700">
            <a:solidFill>
              <a:schemeClr val="bg2"/>
            </a:solidFill>
            <a:prstDash val="solid"/>
          </a:ln>
        </p:spPr>
      </p:sp>
      <p:sp>
        <p:nvSpPr>
          <p:cNvPr id="9" name="card 2 disc"/>
          <p:cNvSpPr/>
          <p:nvPr/>
        </p:nvSpPr>
        <p:spPr>
          <a:xfrm>
            <a:off x="4556760" y="1600200"/>
            <a:ext cx="566928" cy="566928"/>
          </a:xfrm>
          <a:prstGeom prst="ellipse">
            <a:avLst/>
          </a:prstGeom>
          <a:solidFill>
            <a:schemeClr val="accent2"/>
          </a:solidFill>
          <a:ln w="12700">
            <a:solidFill>
              <a:schemeClr val="accent2"/>
            </a:solidFill>
            <a:prstDash val="solid"/>
          </a:ln>
        </p:spPr>
      </p:sp>
      <p:pic>
        <p:nvPicPr>
          <p:cNvPr id="10" name="card 2 glyph" descr="preencoded.png">    </p:cNvPr>
          <p:cNvPicPr>
            <a:picLocks noChangeAspect="1"/>
          </p:cNvPicPr>
          <p:nvPr/>
        </p:nvPicPr>
        <p:blipFill>
          <a:blip r:embed="rId2"/>
          <a:stretch>
            <a:fillRect/>
          </a:stretch>
        </p:blipFill>
        <p:spPr>
          <a:xfrm>
            <a:off x="4681484" y="1724924"/>
            <a:ext cx="317480" cy="317480"/>
          </a:xfrm>
          <a:prstGeom prst="rect">
            <a:avLst/>
          </a:prstGeom>
        </p:spPr>
      </p:pic>
      <p:sp>
        <p:nvSpPr>
          <p:cNvPr id="11" name="Text 7"/>
          <p:cNvSpPr txBox="1"/>
          <p:nvPr/>
        </p:nvSpPr>
        <p:spPr>
          <a:xfrm>
            <a:off x="526084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Household needs</a:t>
            </a:r>
            <a:endParaRPr lang="en-US" sz="1800" dirty="0"/>
          </a:p>
        </p:txBody>
      </p:sp>
      <p:sp>
        <p:nvSpPr>
          <p:cNvPr id="12" name="Text 8"/>
          <p:cNvSpPr txBox="1"/>
          <p:nvPr/>
        </p:nvSpPr>
        <p:spPr>
          <a:xfrm>
            <a:off x="455676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Firewood, fodder, wild fruits, roots, tubers and medicinal plants.</a:t>
            </a:r>
            <a:endParaRPr lang="en-US" sz="1600" dirty="0"/>
          </a:p>
        </p:txBody>
      </p:sp>
      <p:sp>
        <p:nvSpPr>
          <p:cNvPr id="13" name="card 3"/>
          <p:cNvSpPr/>
          <p:nvPr/>
        </p:nvSpPr>
        <p:spPr>
          <a:xfrm>
            <a:off x="8107680" y="1371600"/>
            <a:ext cx="3505200" cy="2286000"/>
          </a:xfrm>
          <a:prstGeom prst="roundRect">
            <a:avLst>
              <a:gd name="adj" fmla="val 4800"/>
            </a:avLst>
          </a:prstGeom>
          <a:solidFill>
            <a:schemeClr val="bg2"/>
          </a:solidFill>
          <a:ln w="12700">
            <a:solidFill>
              <a:schemeClr val="bg2"/>
            </a:solidFill>
            <a:prstDash val="solid"/>
          </a:ln>
        </p:spPr>
      </p:sp>
      <p:sp>
        <p:nvSpPr>
          <p:cNvPr id="14" name="card 3 disc"/>
          <p:cNvSpPr/>
          <p:nvPr/>
        </p:nvSpPr>
        <p:spPr>
          <a:xfrm>
            <a:off x="8336280" y="1600200"/>
            <a:ext cx="566928" cy="566928"/>
          </a:xfrm>
          <a:prstGeom prst="ellipse">
            <a:avLst/>
          </a:prstGeom>
          <a:solidFill>
            <a:schemeClr val="accent4"/>
          </a:solidFill>
          <a:ln w="12700">
            <a:solidFill>
              <a:schemeClr val="accent4"/>
            </a:solidFill>
            <a:prstDash val="solid"/>
          </a:ln>
        </p:spPr>
      </p:sp>
      <p:pic>
        <p:nvPicPr>
          <p:cNvPr id="15" name="card 3 glyph" descr="preencoded.png">    </p:cNvPr>
          <p:cNvPicPr>
            <a:picLocks noChangeAspect="1"/>
          </p:cNvPicPr>
          <p:nvPr/>
        </p:nvPicPr>
        <p:blipFill>
          <a:blip r:embed="rId3"/>
          <a:stretch>
            <a:fillRect/>
          </a:stretch>
        </p:blipFill>
        <p:spPr>
          <a:xfrm>
            <a:off x="8461004" y="1724924"/>
            <a:ext cx="317480" cy="317480"/>
          </a:xfrm>
          <a:prstGeom prst="rect">
            <a:avLst/>
          </a:prstGeom>
        </p:spPr>
      </p:pic>
      <p:sp>
        <p:nvSpPr>
          <p:cNvPr id="16" name="Text 11"/>
          <p:cNvSpPr txBox="1"/>
          <p:nvPr/>
        </p:nvSpPr>
        <p:spPr>
          <a:xfrm>
            <a:off x="904036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Knowledge holders</a:t>
            </a:r>
            <a:endParaRPr lang="en-US" sz="1800" dirty="0"/>
          </a:p>
        </p:txBody>
      </p:sp>
      <p:sp>
        <p:nvSpPr>
          <p:cNvPr id="17" name="Text 12"/>
          <p:cNvSpPr txBox="1"/>
          <p:nvPr/>
        </p:nvSpPr>
        <p:spPr>
          <a:xfrm>
            <a:off x="833628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Traditional knowledge of herbs and plants, passed down generations.</a:t>
            </a:r>
            <a:endParaRPr lang="en-US" sz="1600" dirty="0"/>
          </a:p>
        </p:txBody>
      </p:sp>
      <p:sp>
        <p:nvSpPr>
          <p:cNvPr id="18" name="card 4"/>
          <p:cNvSpPr/>
          <p:nvPr/>
        </p:nvSpPr>
        <p:spPr>
          <a:xfrm>
            <a:off x="548640" y="3931920"/>
            <a:ext cx="3505200" cy="2286000"/>
          </a:xfrm>
          <a:prstGeom prst="roundRect">
            <a:avLst>
              <a:gd name="adj" fmla="val 4800"/>
            </a:avLst>
          </a:prstGeom>
          <a:solidFill>
            <a:schemeClr val="bg2"/>
          </a:solidFill>
          <a:ln w="12700">
            <a:solidFill>
              <a:schemeClr val="bg2"/>
            </a:solidFill>
            <a:prstDash val="solid"/>
          </a:ln>
        </p:spPr>
      </p:sp>
      <p:sp>
        <p:nvSpPr>
          <p:cNvPr id="19" name="card 4 disc"/>
          <p:cNvSpPr/>
          <p:nvPr/>
        </p:nvSpPr>
        <p:spPr>
          <a:xfrm>
            <a:off x="777240" y="4160520"/>
            <a:ext cx="566928" cy="566928"/>
          </a:xfrm>
          <a:prstGeom prst="ellipse">
            <a:avLst/>
          </a:prstGeom>
          <a:solidFill>
            <a:schemeClr val="accent5"/>
          </a:solidFill>
          <a:ln w="12700">
            <a:solidFill>
              <a:schemeClr val="accent5"/>
            </a:solidFill>
            <a:prstDash val="solid"/>
          </a:ln>
        </p:spPr>
      </p:sp>
      <p:pic>
        <p:nvPicPr>
          <p:cNvPr id="20" name="card 4 glyph" descr="preencoded.png">    </p:cNvPr>
          <p:cNvPicPr>
            <a:picLocks noChangeAspect="1"/>
          </p:cNvPicPr>
          <p:nvPr/>
        </p:nvPicPr>
        <p:blipFill>
          <a:blip r:embed="rId4"/>
          <a:stretch>
            <a:fillRect/>
          </a:stretch>
        </p:blipFill>
        <p:spPr>
          <a:xfrm>
            <a:off x="901964" y="4285244"/>
            <a:ext cx="317480" cy="317480"/>
          </a:xfrm>
          <a:prstGeom prst="rect">
            <a:avLst/>
          </a:prstGeom>
        </p:spPr>
      </p:pic>
      <p:sp>
        <p:nvSpPr>
          <p:cNvPr id="21" name="Text 15"/>
          <p:cNvSpPr txBox="1"/>
          <p:nvPr/>
        </p:nvSpPr>
        <p:spPr>
          <a:xfrm>
            <a:off x="148132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Forest protectors</a:t>
            </a:r>
            <a:endParaRPr lang="en-US" sz="1800" dirty="0"/>
          </a:p>
        </p:txBody>
      </p:sp>
      <p:sp>
        <p:nvSpPr>
          <p:cNvPr id="22" name="Text 16"/>
          <p:cNvSpPr txBox="1"/>
          <p:nvPr/>
        </p:nvSpPr>
        <p:spPr>
          <a:xfrm>
            <a:off x="777240" y="4837176"/>
            <a:ext cx="3048000" cy="1243584"/>
          </a:xfrm>
          <a:prstGeom prst="rect">
            <a:avLst/>
          </a:prstGeom>
          <a:noFill/>
          <a:ln/>
        </p:spPr>
        <p:txBody>
          <a:bodyPr wrap="square" lIns="0" tIns="0" rIns="0" bIns="0" rtlCol="0" anchor="t"/>
          <a:lstStyle/>
          <a:p>
            <a:pPr indent="0" marL="0">
              <a:buNone/>
            </a:pPr>
            <a:r>
              <a:rPr lang="en-US" sz="1800" b="1" dirty="0">
                <a:solidFill>
                  <a:schemeClr val="tx1"/>
                </a:solidFill>
              </a:rPr>
              <a:t>Bishnoi Movement</a:t>
            </a:r>
            <a:r>
              <a:rPr lang="en-US" sz="1800" dirty="0">
                <a:solidFill>
                  <a:schemeClr val="tx1"/>
                </a:solidFill>
              </a:rPr>
              <a:t> (Amrita Devi, Rajasthan) inspired the </a:t>
            </a:r>
            <a:r>
              <a:rPr lang="en-US" sz="1800" b="1" dirty="0">
                <a:solidFill>
                  <a:schemeClr val="tx1"/>
                </a:solidFill>
              </a:rPr>
              <a:t>Chipko Movement</a:t>
            </a:r>
            <a:r>
              <a:rPr lang="en-US" sz="1800" dirty="0">
                <a:solidFill>
                  <a:schemeClr val="tx1"/>
                </a:solidFill>
              </a:rPr>
              <a:t> (Uttarakhand).</a:t>
            </a:r>
            <a:endParaRPr lang="en-US" sz="1600" dirty="0"/>
          </a:p>
        </p:txBody>
      </p:sp>
      <p:sp>
        <p:nvSpPr>
          <p:cNvPr id="23" name="card 5"/>
          <p:cNvSpPr/>
          <p:nvPr/>
        </p:nvSpPr>
        <p:spPr>
          <a:xfrm>
            <a:off x="4328160" y="3931920"/>
            <a:ext cx="3505200" cy="2286000"/>
          </a:xfrm>
          <a:prstGeom prst="roundRect">
            <a:avLst>
              <a:gd name="adj" fmla="val 4800"/>
            </a:avLst>
          </a:prstGeom>
          <a:solidFill>
            <a:schemeClr val="bg2"/>
          </a:solidFill>
          <a:ln w="12700">
            <a:solidFill>
              <a:schemeClr val="bg2"/>
            </a:solidFill>
            <a:prstDash val="solid"/>
          </a:ln>
        </p:spPr>
      </p:sp>
      <p:sp>
        <p:nvSpPr>
          <p:cNvPr id="24" name="card 5 disc"/>
          <p:cNvSpPr/>
          <p:nvPr/>
        </p:nvSpPr>
        <p:spPr>
          <a:xfrm>
            <a:off x="4556760" y="4160520"/>
            <a:ext cx="566928" cy="566928"/>
          </a:xfrm>
          <a:prstGeom prst="ellipse">
            <a:avLst/>
          </a:prstGeom>
          <a:solidFill>
            <a:schemeClr val="accent6"/>
          </a:solidFill>
          <a:ln w="12700">
            <a:solidFill>
              <a:schemeClr val="accent6"/>
            </a:solidFill>
            <a:prstDash val="solid"/>
          </a:ln>
        </p:spPr>
      </p:sp>
      <p:pic>
        <p:nvPicPr>
          <p:cNvPr id="25" name="card 5 glyph" descr="preencoded.png">    </p:cNvPr>
          <p:cNvPicPr>
            <a:picLocks noChangeAspect="1"/>
          </p:cNvPicPr>
          <p:nvPr/>
        </p:nvPicPr>
        <p:blipFill>
          <a:blip r:embed="rId5"/>
          <a:stretch>
            <a:fillRect/>
          </a:stretch>
        </p:blipFill>
        <p:spPr>
          <a:xfrm>
            <a:off x="4681484" y="4285244"/>
            <a:ext cx="317480" cy="317480"/>
          </a:xfrm>
          <a:prstGeom prst="rect">
            <a:avLst/>
          </a:prstGeom>
        </p:spPr>
      </p:pic>
      <p:sp>
        <p:nvSpPr>
          <p:cNvPr id="26" name="Text 19"/>
          <p:cNvSpPr txBox="1"/>
          <p:nvPr/>
        </p:nvSpPr>
        <p:spPr>
          <a:xfrm>
            <a:off x="526084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Culture</a:t>
            </a:r>
            <a:endParaRPr lang="en-US" sz="1800" dirty="0"/>
          </a:p>
        </p:txBody>
      </p:sp>
      <p:sp>
        <p:nvSpPr>
          <p:cNvPr id="27" name="Text 20"/>
          <p:cNvSpPr txBox="1"/>
          <p:nvPr/>
        </p:nvSpPr>
        <p:spPr>
          <a:xfrm>
            <a:off x="455676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Gonds and Bhils honour forest deities before collecting resources.</a:t>
            </a:r>
            <a:endParaRPr lang="en-US" sz="1600" dirty="0"/>
          </a:p>
        </p:txBody>
      </p:sp>
      <p:sp>
        <p:nvSpPr>
          <p:cNvPr id="28" name="card 6"/>
          <p:cNvSpPr/>
          <p:nvPr/>
        </p:nvSpPr>
        <p:spPr>
          <a:xfrm>
            <a:off x="8107680" y="3931920"/>
            <a:ext cx="3505200" cy="2286000"/>
          </a:xfrm>
          <a:prstGeom prst="roundRect">
            <a:avLst>
              <a:gd name="adj" fmla="val 4800"/>
            </a:avLst>
          </a:prstGeom>
          <a:solidFill>
            <a:schemeClr val="bg2"/>
          </a:solidFill>
          <a:ln w="12700">
            <a:solidFill>
              <a:schemeClr val="bg2"/>
            </a:solidFill>
            <a:prstDash val="solid"/>
          </a:ln>
        </p:spPr>
      </p:sp>
      <p:sp>
        <p:nvSpPr>
          <p:cNvPr id="29" name="card 6 disc"/>
          <p:cNvSpPr/>
          <p:nvPr/>
        </p:nvSpPr>
        <p:spPr>
          <a:xfrm>
            <a:off x="8336280" y="4160520"/>
            <a:ext cx="566928" cy="566928"/>
          </a:xfrm>
          <a:prstGeom prst="ellipse">
            <a:avLst/>
          </a:prstGeom>
          <a:solidFill>
            <a:schemeClr val="accent1"/>
          </a:solidFill>
          <a:ln w="12700">
            <a:solidFill>
              <a:schemeClr val="accent1"/>
            </a:solidFill>
            <a:prstDash val="solid"/>
          </a:ln>
        </p:spPr>
      </p:sp>
      <p:pic>
        <p:nvPicPr>
          <p:cNvPr id="30" name="card 6 glyph" descr="preencoded.png">    </p:cNvPr>
          <p:cNvPicPr>
            <a:picLocks noChangeAspect="1"/>
          </p:cNvPicPr>
          <p:nvPr/>
        </p:nvPicPr>
        <p:blipFill>
          <a:blip r:embed="rId6"/>
          <a:stretch>
            <a:fillRect/>
          </a:stretch>
        </p:blipFill>
        <p:spPr>
          <a:xfrm>
            <a:off x="8461004" y="4285244"/>
            <a:ext cx="317480" cy="317480"/>
          </a:xfrm>
          <a:prstGeom prst="rect">
            <a:avLst/>
          </a:prstGeom>
        </p:spPr>
      </p:pic>
      <p:sp>
        <p:nvSpPr>
          <p:cNvPr id="31" name="Text 23"/>
          <p:cNvSpPr txBox="1"/>
          <p:nvPr/>
        </p:nvSpPr>
        <p:spPr>
          <a:xfrm>
            <a:off x="904036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Women's role</a:t>
            </a:r>
            <a:endParaRPr lang="en-US" sz="1800" dirty="0"/>
          </a:p>
        </p:txBody>
      </p:sp>
      <p:sp>
        <p:nvSpPr>
          <p:cNvPr id="32" name="Text 24"/>
          <p:cNvSpPr txBox="1"/>
          <p:nvPr/>
        </p:nvSpPr>
        <p:spPr>
          <a:xfrm>
            <a:off x="833628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Women collect and manage forest resources and keep traditional knowledge alive.</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3D2B"/>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GI-Tagged Forest Products of India</a:t>
            </a:r>
            <a:endParaRPr lang="en-US" sz="3600" dirty="0"/>
          </a:p>
        </p:txBody>
      </p:sp>
      <p:sp>
        <p:nvSpPr>
          <p:cNvPr id="3" name="Text 1"/>
          <p:cNvSpPr txBox="1"/>
          <p:nvPr/>
        </p:nvSpPr>
        <p:spPr>
          <a:xfrm>
            <a:off x="548640" y="1280160"/>
            <a:ext cx="11064240" cy="594360"/>
          </a:xfrm>
          <a:prstGeom prst="rect">
            <a:avLst/>
          </a:prstGeom>
          <a:noFill/>
          <a:ln/>
        </p:spPr>
        <p:txBody>
          <a:bodyPr wrap="square" lIns="0" tIns="0" rIns="0" bIns="0" rtlCol="0" anchor="ctr"/>
          <a:lstStyle/>
          <a:p>
            <a:pPr indent="0" marL="0">
              <a:buNone/>
            </a:pPr>
            <a:r>
              <a:rPr lang="en-US" sz="1700" dirty="0">
                <a:solidFill>
                  <a:schemeClr val="tx1"/>
                </a:solidFill>
              </a:rPr>
              <a:t>A </a:t>
            </a:r>
            <a:r>
              <a:rPr lang="en-US" sz="1700" b="1" dirty="0">
                <a:solidFill>
                  <a:schemeClr val="tx1"/>
                </a:solidFill>
              </a:rPr>
              <a:t>Geographical Indication (GI)</a:t>
            </a:r>
            <a:r>
              <a:rPr lang="en-US" sz="1700" dirty="0">
                <a:solidFill>
                  <a:schemeClr val="tx1"/>
                </a:solidFill>
              </a:rPr>
              <a:t> tag shows that a product comes from a particular place and gets its quality from there.</a:t>
            </a:r>
            <a:endParaRPr lang="en-US" sz="1600" dirty="0"/>
          </a:p>
        </p:txBody>
      </p:sp>
      <p:graphicFrame>
        <p:nvGraphicFramePr>
          <p:cNvPr id="20" name="table"/>
          <p:cNvGraphicFramePr>
            <a:graphicFrameLocks noGrp="1"/>
          </p:cNvGraphicFramePr>
          <p:nvPr>
            <p:extLst>
              <p:ext uri="{D42A27DB-BD31-4B8C-83A1-F6EECF244321}">
                <p14:modId xmlns:p14="http://schemas.microsoft.com/office/powerpoint/2010/main" val="1579011935"/>
              </p:ext>
            </p:extLst>
          </p:nvPr>
        </p:nvGraphicFramePr>
        <p:xfrm>
          <a:off x="548640" y="2011680"/>
          <a:ext cx="11064240" cy="914400"/>
        </p:xfrm>
        <a:graphic>
          <a:graphicData uri="http://schemas.openxmlformats.org/drawingml/2006/table">
            <a:tbl>
              <a:tblPr/>
              <a:tblGrid>
                <a:gridCol w="3017520"/>
                <a:gridCol w="2743200"/>
                <a:gridCol w="5303520"/>
              </a:tblGrid>
              <a:tr h="438912">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Product</a:t>
                      </a:r>
                      <a:endParaRPr lang="en-US" sz="1500" dirty="0">
                        <a:latin typeface="Calibri" charset="0"/>
                        <a:ea typeface="Calibri" charset="0"/>
                        <a:cs typeface="Calibri" charset="0"/>
                      </a:endParaRPr>
                    </a:p>
                  </a:txBody>
                  <a:tcPr marL="73152" marR="73152" marT="73152" marB="73152" anchor="ctr">
                    <a:lnL w="9525" cap="flat" cmpd="sng" algn="ctr">
                      <a:solidFill>
                        <a:srgbClr val="EAF3E6"/>
                      </a:solidFill>
                      <a:prstDash val="solid"/>
                      <a:round/>
                      <a:headEnd type="none" w="med" len="med"/>
                      <a:tailEnd type="none" w="med" len="med"/>
                    </a:lnL>
                    <a:lnR w="9525" cap="flat" cmpd="sng" algn="ctr">
                      <a:solidFill>
                        <a:srgbClr val="EAF3E6"/>
                      </a:solidFill>
                      <a:prstDash val="solid"/>
                      <a:round/>
                      <a:headEnd type="none" w="med" len="med"/>
                      <a:tailEnd type="none" w="med" len="med"/>
                    </a:lnR>
                    <a:lnT w="9525" cap="flat" cmpd="sng" algn="ctr">
                      <a:solidFill>
                        <a:srgbClr val="EAF3E6"/>
                      </a:solidFill>
                      <a:prstDash val="solid"/>
                      <a:round/>
                      <a:headEnd type="none" w="med" len="med"/>
                      <a:tailEnd type="none" w="med" len="med"/>
                    </a:lnT>
                    <a:lnB w="9525" cap="flat" cmpd="sng" algn="ctr">
                      <a:solidFill>
                        <a:srgbClr val="EAF3E6"/>
                      </a:solidFill>
                      <a:prstDash val="solid"/>
                      <a:round/>
                      <a:headEnd type="none" w="med" len="med"/>
                      <a:tailEnd type="none" w="med" len="med"/>
                    </a:lnB>
                    <a:solidFill>
                      <a:srgbClr val="2E7D4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State</a:t>
                      </a:r>
                      <a:endParaRPr lang="en-US" sz="1500" dirty="0">
                        <a:latin typeface="Calibri" charset="0"/>
                        <a:ea typeface="Calibri" charset="0"/>
                        <a:cs typeface="Calibri" charset="0"/>
                      </a:endParaRPr>
                    </a:p>
                  </a:txBody>
                  <a:tcPr marL="73152" marR="73152" marT="73152" marB="73152" anchor="ctr">
                    <a:lnL w="9525" cap="flat" cmpd="sng" algn="ctr">
                      <a:solidFill>
                        <a:srgbClr val="EAF3E6"/>
                      </a:solidFill>
                      <a:prstDash val="solid"/>
                      <a:round/>
                      <a:headEnd type="none" w="med" len="med"/>
                      <a:tailEnd type="none" w="med" len="med"/>
                    </a:lnL>
                    <a:lnR w="9525" cap="flat" cmpd="sng" algn="ctr">
                      <a:solidFill>
                        <a:srgbClr val="EAF3E6"/>
                      </a:solidFill>
                      <a:prstDash val="solid"/>
                      <a:round/>
                      <a:headEnd type="none" w="med" len="med"/>
                      <a:tailEnd type="none" w="med" len="med"/>
                    </a:lnR>
                    <a:lnT w="9525" cap="flat" cmpd="sng" algn="ctr">
                      <a:solidFill>
                        <a:srgbClr val="EAF3E6"/>
                      </a:solidFill>
                      <a:prstDash val="solid"/>
                      <a:round/>
                      <a:headEnd type="none" w="med" len="med"/>
                      <a:tailEnd type="none" w="med" len="med"/>
                    </a:lnT>
                    <a:lnB w="9525" cap="flat" cmpd="sng" algn="ctr">
                      <a:solidFill>
                        <a:srgbClr val="EAF3E6"/>
                      </a:solidFill>
                      <a:prstDash val="solid"/>
                      <a:round/>
                      <a:headEnd type="none" w="med" len="med"/>
                      <a:tailEnd type="none" w="med" len="med"/>
                    </a:lnB>
                    <a:solidFill>
                      <a:srgbClr val="2E7D4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What makes it special</a:t>
                      </a:r>
                      <a:endParaRPr lang="en-US" sz="1500" dirty="0">
                        <a:latin typeface="Calibri" charset="0"/>
                        <a:ea typeface="Calibri" charset="0"/>
                        <a:cs typeface="Calibri" charset="0"/>
                      </a:endParaRPr>
                    </a:p>
                  </a:txBody>
                  <a:tcPr marL="73152" marR="73152" marT="73152" marB="73152" anchor="ctr">
                    <a:lnL w="9525" cap="flat" cmpd="sng" algn="ctr">
                      <a:solidFill>
                        <a:srgbClr val="EAF3E6"/>
                      </a:solidFill>
                      <a:prstDash val="solid"/>
                      <a:round/>
                      <a:headEnd type="none" w="med" len="med"/>
                      <a:tailEnd type="none" w="med" len="med"/>
                    </a:lnL>
                    <a:lnR w="9525" cap="flat" cmpd="sng" algn="ctr">
                      <a:solidFill>
                        <a:srgbClr val="EAF3E6"/>
                      </a:solidFill>
                      <a:prstDash val="solid"/>
                      <a:round/>
                      <a:headEnd type="none" w="med" len="med"/>
                      <a:tailEnd type="none" w="med" len="med"/>
                    </a:lnR>
                    <a:lnT w="9525" cap="flat" cmpd="sng" algn="ctr">
                      <a:solidFill>
                        <a:srgbClr val="EAF3E6"/>
                      </a:solidFill>
                      <a:prstDash val="solid"/>
                      <a:round/>
                      <a:headEnd type="none" w="med" len="med"/>
                      <a:tailEnd type="none" w="med" len="med"/>
                    </a:lnT>
                    <a:lnB w="9525" cap="flat" cmpd="sng" algn="ctr">
                      <a:solidFill>
                        <a:srgbClr val="EAF3E6"/>
                      </a:solidFill>
                      <a:prstDash val="solid"/>
                      <a:round/>
                      <a:headEnd type="none" w="med" len="med"/>
                      <a:tailEnd type="none" w="med" len="med"/>
                    </a:lnB>
                    <a:solidFill>
                      <a:srgbClr val="2E7D4F"/>
                    </a:solidFill>
                  </a:tcPr>
                </a:tc>
              </a:tr>
              <a:tr h="438912">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Ramban Sulai Honey</a:t>
                      </a:r>
                      <a:endParaRPr lang="en-US" sz="1500" dirty="0">
                        <a:latin typeface="Calibri" charset="0"/>
                        <a:ea typeface="Calibri" charset="0"/>
                        <a:cs typeface="Calibri" charset="0"/>
                      </a:endParaRPr>
                    </a:p>
                  </a:txBody>
                  <a:tcPr marL="73152" marR="73152" marT="73152" marB="73152" anchor="ctr">
                    <a:lnL w="9525" cap="flat" cmpd="sng" algn="ctr">
                      <a:solidFill>
                        <a:srgbClr val="EAF3E6"/>
                      </a:solidFill>
                      <a:prstDash val="solid"/>
                      <a:round/>
                      <a:headEnd type="none" w="med" len="med"/>
                      <a:tailEnd type="none" w="med" len="med"/>
                    </a:lnL>
                    <a:lnR w="9525" cap="flat" cmpd="sng" algn="ctr">
                      <a:solidFill>
                        <a:srgbClr val="EAF3E6"/>
                      </a:solidFill>
                      <a:prstDash val="solid"/>
                      <a:round/>
                      <a:headEnd type="none" w="med" len="med"/>
                      <a:tailEnd type="none" w="med" len="med"/>
                    </a:lnR>
                    <a:lnT w="9525" cap="flat" cmpd="sng" algn="ctr">
                      <a:solidFill>
                        <a:srgbClr val="EAF3E6"/>
                      </a:solidFill>
                      <a:prstDash val="solid"/>
                      <a:round/>
                      <a:headEnd type="none" w="med" len="med"/>
                      <a:tailEnd type="none" w="med" len="med"/>
                    </a:lnT>
                    <a:lnB w="9525" cap="flat" cmpd="sng" algn="ctr">
                      <a:solidFill>
                        <a:srgbClr val="EAF3E6"/>
                      </a:solidFill>
                      <a:prstDash val="solid"/>
                      <a:round/>
                      <a:headEnd type="none" w="med" len="med"/>
                      <a:tailEnd type="none" w="med" len="med"/>
                    </a:lnB>
                    <a:solidFill>
                      <a:srgbClr val="EAF3E6"/>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Jammu and Kashmir</a:t>
                      </a:r>
                      <a:endParaRPr lang="en-US" sz="1500" dirty="0">
                        <a:latin typeface="Calibri" charset="0"/>
                        <a:ea typeface="Calibri" charset="0"/>
                        <a:cs typeface="Calibri" charset="0"/>
                      </a:endParaRPr>
                    </a:p>
                  </a:txBody>
                  <a:tcPr marL="73152" marR="73152" marT="73152" marB="73152" anchor="ctr">
                    <a:lnL w="9525" cap="flat" cmpd="sng" algn="ctr">
                      <a:solidFill>
                        <a:srgbClr val="EAF3E6"/>
                      </a:solidFill>
                      <a:prstDash val="solid"/>
                      <a:round/>
                      <a:headEnd type="none" w="med" len="med"/>
                      <a:tailEnd type="none" w="med" len="med"/>
                    </a:lnL>
                    <a:lnR w="9525" cap="flat" cmpd="sng" algn="ctr">
                      <a:solidFill>
                        <a:srgbClr val="EAF3E6"/>
                      </a:solidFill>
                      <a:prstDash val="solid"/>
                      <a:round/>
                      <a:headEnd type="none" w="med" len="med"/>
                      <a:tailEnd type="none" w="med" len="med"/>
                    </a:lnR>
                    <a:lnT w="9525" cap="flat" cmpd="sng" algn="ctr">
                      <a:solidFill>
                        <a:srgbClr val="EAF3E6"/>
                      </a:solidFill>
                      <a:prstDash val="solid"/>
                      <a:round/>
                      <a:headEnd type="none" w="med" len="med"/>
                      <a:tailEnd type="none" w="med" len="med"/>
                    </a:lnT>
                    <a:lnB w="9525" cap="flat" cmpd="sng" algn="ctr">
                      <a:solidFill>
                        <a:srgbClr val="EAF3E6"/>
                      </a:solidFill>
                      <a:prstDash val="solid"/>
                      <a:round/>
                      <a:headEnd type="none" w="med" len="med"/>
                      <a:tailEnd type="none" w="med" len="med"/>
                    </a:lnB>
                    <a:solidFill>
                      <a:srgbClr val="EAF3E6"/>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Nutritious, antioxidant, distinct flavour and aroma</a:t>
                      </a:r>
                      <a:endParaRPr lang="en-US" sz="1500" dirty="0">
                        <a:latin typeface="Calibri" charset="0"/>
                        <a:ea typeface="Calibri" charset="0"/>
                        <a:cs typeface="Calibri" charset="0"/>
                      </a:endParaRPr>
                    </a:p>
                  </a:txBody>
                  <a:tcPr marL="73152" marR="73152" marT="73152" marB="73152" anchor="ctr">
                    <a:lnL w="9525" cap="flat" cmpd="sng" algn="ctr">
                      <a:solidFill>
                        <a:srgbClr val="EAF3E6"/>
                      </a:solidFill>
                      <a:prstDash val="solid"/>
                      <a:round/>
                      <a:headEnd type="none" w="med" len="med"/>
                      <a:tailEnd type="none" w="med" len="med"/>
                    </a:lnL>
                    <a:lnR w="9525" cap="flat" cmpd="sng" algn="ctr">
                      <a:solidFill>
                        <a:srgbClr val="EAF3E6"/>
                      </a:solidFill>
                      <a:prstDash val="solid"/>
                      <a:round/>
                      <a:headEnd type="none" w="med" len="med"/>
                      <a:tailEnd type="none" w="med" len="med"/>
                    </a:lnR>
                    <a:lnT w="9525" cap="flat" cmpd="sng" algn="ctr">
                      <a:solidFill>
                        <a:srgbClr val="EAF3E6"/>
                      </a:solidFill>
                      <a:prstDash val="solid"/>
                      <a:round/>
                      <a:headEnd type="none" w="med" len="med"/>
                      <a:tailEnd type="none" w="med" len="med"/>
                    </a:lnT>
                    <a:lnB w="9525" cap="flat" cmpd="sng" algn="ctr">
                      <a:solidFill>
                        <a:srgbClr val="EAF3E6"/>
                      </a:solidFill>
                      <a:prstDash val="solid"/>
                      <a:round/>
                      <a:headEnd type="none" w="med" len="med"/>
                      <a:tailEnd type="none" w="med" len="med"/>
                    </a:lnB>
                    <a:solidFill>
                      <a:srgbClr val="EAF3E6"/>
                    </a:solidFill>
                  </a:tcPr>
                </a:tc>
              </a:tr>
              <a:tr h="438912">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Tezpur Litchi</a:t>
                      </a:r>
                      <a:endParaRPr lang="en-US" sz="1500" dirty="0">
                        <a:latin typeface="Calibri" charset="0"/>
                        <a:ea typeface="Calibri" charset="0"/>
                        <a:cs typeface="Calibri" charset="0"/>
                      </a:endParaRPr>
                    </a:p>
                  </a:txBody>
                  <a:tcPr marL="73152" marR="73152" marT="73152" marB="73152" anchor="ctr">
                    <a:lnL w="9525" cap="flat" cmpd="sng" algn="ctr">
                      <a:solidFill>
                        <a:srgbClr val="EAF3E6"/>
                      </a:solidFill>
                      <a:prstDash val="solid"/>
                      <a:round/>
                      <a:headEnd type="none" w="med" len="med"/>
                      <a:tailEnd type="none" w="med" len="med"/>
                    </a:lnL>
                    <a:lnR w="9525" cap="flat" cmpd="sng" algn="ctr">
                      <a:solidFill>
                        <a:srgbClr val="EAF3E6"/>
                      </a:solidFill>
                      <a:prstDash val="solid"/>
                      <a:round/>
                      <a:headEnd type="none" w="med" len="med"/>
                      <a:tailEnd type="none" w="med" len="med"/>
                    </a:lnR>
                    <a:lnT w="9525" cap="flat" cmpd="sng" algn="ctr">
                      <a:solidFill>
                        <a:srgbClr val="EAF3E6"/>
                      </a:solidFill>
                      <a:prstDash val="solid"/>
                      <a:round/>
                      <a:headEnd type="none" w="med" len="med"/>
                      <a:tailEnd type="none" w="med" len="med"/>
                    </a:lnT>
                    <a:lnB w="9525" cap="flat" cmpd="sng" algn="ctr">
                      <a:solidFill>
                        <a:srgbClr val="EAF3E6"/>
                      </a:solidFill>
                      <a:prstDash val="solid"/>
                      <a:round/>
                      <a:headEnd type="none" w="med" len="med"/>
                      <a:tailEnd type="none" w="med" len="med"/>
                    </a:lnB>
                    <a:solidFill>
                      <a:srgbClr val="FFFFFF"/>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Assam</a:t>
                      </a:r>
                      <a:endParaRPr lang="en-US" sz="1500" dirty="0">
                        <a:latin typeface="Calibri" charset="0"/>
                        <a:ea typeface="Calibri" charset="0"/>
                        <a:cs typeface="Calibri" charset="0"/>
                      </a:endParaRPr>
                    </a:p>
                  </a:txBody>
                  <a:tcPr marL="73152" marR="73152" marT="73152" marB="73152" anchor="ctr">
                    <a:lnL w="9525" cap="flat" cmpd="sng" algn="ctr">
                      <a:solidFill>
                        <a:srgbClr val="EAF3E6"/>
                      </a:solidFill>
                      <a:prstDash val="solid"/>
                      <a:round/>
                      <a:headEnd type="none" w="med" len="med"/>
                      <a:tailEnd type="none" w="med" len="med"/>
                    </a:lnL>
                    <a:lnR w="9525" cap="flat" cmpd="sng" algn="ctr">
                      <a:solidFill>
                        <a:srgbClr val="EAF3E6"/>
                      </a:solidFill>
                      <a:prstDash val="solid"/>
                      <a:round/>
                      <a:headEnd type="none" w="med" len="med"/>
                      <a:tailEnd type="none" w="med" len="med"/>
                    </a:lnR>
                    <a:lnT w="9525" cap="flat" cmpd="sng" algn="ctr">
                      <a:solidFill>
                        <a:srgbClr val="EAF3E6"/>
                      </a:solidFill>
                      <a:prstDash val="solid"/>
                      <a:round/>
                      <a:headEnd type="none" w="med" len="med"/>
                      <a:tailEnd type="none" w="med" len="med"/>
                    </a:lnT>
                    <a:lnB w="9525" cap="flat" cmpd="sng" algn="ctr">
                      <a:solidFill>
                        <a:srgbClr val="EAF3E6"/>
                      </a:solidFill>
                      <a:prstDash val="solid"/>
                      <a:round/>
                      <a:headEnd type="none" w="med" len="med"/>
                      <a:tailEnd type="none" w="med" len="med"/>
                    </a:lnB>
                    <a:solidFill>
                      <a:srgbClr val="FFFFFF"/>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Bright colour, high pulp content</a:t>
                      </a:r>
                      <a:endParaRPr lang="en-US" sz="1500" dirty="0">
                        <a:latin typeface="Calibri" charset="0"/>
                        <a:ea typeface="Calibri" charset="0"/>
                        <a:cs typeface="Calibri" charset="0"/>
                      </a:endParaRPr>
                    </a:p>
                  </a:txBody>
                  <a:tcPr marL="73152" marR="73152" marT="73152" marB="73152" anchor="ctr">
                    <a:lnL w="9525" cap="flat" cmpd="sng" algn="ctr">
                      <a:solidFill>
                        <a:srgbClr val="EAF3E6"/>
                      </a:solidFill>
                      <a:prstDash val="solid"/>
                      <a:round/>
                      <a:headEnd type="none" w="med" len="med"/>
                      <a:tailEnd type="none" w="med" len="med"/>
                    </a:lnL>
                    <a:lnR w="9525" cap="flat" cmpd="sng" algn="ctr">
                      <a:solidFill>
                        <a:srgbClr val="EAF3E6"/>
                      </a:solidFill>
                      <a:prstDash val="solid"/>
                      <a:round/>
                      <a:headEnd type="none" w="med" len="med"/>
                      <a:tailEnd type="none" w="med" len="med"/>
                    </a:lnR>
                    <a:lnT w="9525" cap="flat" cmpd="sng" algn="ctr">
                      <a:solidFill>
                        <a:srgbClr val="EAF3E6"/>
                      </a:solidFill>
                      <a:prstDash val="solid"/>
                      <a:round/>
                      <a:headEnd type="none" w="med" len="med"/>
                      <a:tailEnd type="none" w="med" len="med"/>
                    </a:lnT>
                    <a:lnB w="9525" cap="flat" cmpd="sng" algn="ctr">
                      <a:solidFill>
                        <a:srgbClr val="EAF3E6"/>
                      </a:solidFill>
                      <a:prstDash val="solid"/>
                      <a:round/>
                      <a:headEnd type="none" w="med" len="med"/>
                      <a:tailEnd type="none" w="med" len="med"/>
                    </a:lnB>
                    <a:solidFill>
                      <a:srgbClr val="FFFFFF"/>
                    </a:solidFill>
                  </a:tcPr>
                </a:tc>
              </a:tr>
              <a:tr h="438912">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Channapatna Toys</a:t>
                      </a:r>
                      <a:endParaRPr lang="en-US" sz="1500" dirty="0">
                        <a:latin typeface="Calibri" charset="0"/>
                        <a:ea typeface="Calibri" charset="0"/>
                        <a:cs typeface="Calibri" charset="0"/>
                      </a:endParaRPr>
                    </a:p>
                  </a:txBody>
                  <a:tcPr marL="73152" marR="73152" marT="73152" marB="73152" anchor="ctr">
                    <a:lnL w="9525" cap="flat" cmpd="sng" algn="ctr">
                      <a:solidFill>
                        <a:srgbClr val="EAF3E6"/>
                      </a:solidFill>
                      <a:prstDash val="solid"/>
                      <a:round/>
                      <a:headEnd type="none" w="med" len="med"/>
                      <a:tailEnd type="none" w="med" len="med"/>
                    </a:lnL>
                    <a:lnR w="9525" cap="flat" cmpd="sng" algn="ctr">
                      <a:solidFill>
                        <a:srgbClr val="EAF3E6"/>
                      </a:solidFill>
                      <a:prstDash val="solid"/>
                      <a:round/>
                      <a:headEnd type="none" w="med" len="med"/>
                      <a:tailEnd type="none" w="med" len="med"/>
                    </a:lnR>
                    <a:lnT w="9525" cap="flat" cmpd="sng" algn="ctr">
                      <a:solidFill>
                        <a:srgbClr val="EAF3E6"/>
                      </a:solidFill>
                      <a:prstDash val="solid"/>
                      <a:round/>
                      <a:headEnd type="none" w="med" len="med"/>
                      <a:tailEnd type="none" w="med" len="med"/>
                    </a:lnT>
                    <a:lnB w="9525" cap="flat" cmpd="sng" algn="ctr">
                      <a:solidFill>
                        <a:srgbClr val="EAF3E6"/>
                      </a:solidFill>
                      <a:prstDash val="solid"/>
                      <a:round/>
                      <a:headEnd type="none" w="med" len="med"/>
                      <a:tailEnd type="none" w="med" len="med"/>
                    </a:lnB>
                    <a:solidFill>
                      <a:srgbClr val="EAF3E6"/>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Karnataka</a:t>
                      </a:r>
                      <a:endParaRPr lang="en-US" sz="1500" dirty="0">
                        <a:latin typeface="Calibri" charset="0"/>
                        <a:ea typeface="Calibri" charset="0"/>
                        <a:cs typeface="Calibri" charset="0"/>
                      </a:endParaRPr>
                    </a:p>
                  </a:txBody>
                  <a:tcPr marL="73152" marR="73152" marT="73152" marB="73152" anchor="ctr">
                    <a:lnL w="9525" cap="flat" cmpd="sng" algn="ctr">
                      <a:solidFill>
                        <a:srgbClr val="EAF3E6"/>
                      </a:solidFill>
                      <a:prstDash val="solid"/>
                      <a:round/>
                      <a:headEnd type="none" w="med" len="med"/>
                      <a:tailEnd type="none" w="med" len="med"/>
                    </a:lnL>
                    <a:lnR w="9525" cap="flat" cmpd="sng" algn="ctr">
                      <a:solidFill>
                        <a:srgbClr val="EAF3E6"/>
                      </a:solidFill>
                      <a:prstDash val="solid"/>
                      <a:round/>
                      <a:headEnd type="none" w="med" len="med"/>
                      <a:tailEnd type="none" w="med" len="med"/>
                    </a:lnR>
                    <a:lnT w="9525" cap="flat" cmpd="sng" algn="ctr">
                      <a:solidFill>
                        <a:srgbClr val="EAF3E6"/>
                      </a:solidFill>
                      <a:prstDash val="solid"/>
                      <a:round/>
                      <a:headEnd type="none" w="med" len="med"/>
                      <a:tailEnd type="none" w="med" len="med"/>
                    </a:lnT>
                    <a:lnB w="9525" cap="flat" cmpd="sng" algn="ctr">
                      <a:solidFill>
                        <a:srgbClr val="EAF3E6"/>
                      </a:solidFill>
                      <a:prstDash val="solid"/>
                      <a:round/>
                      <a:headEnd type="none" w="med" len="med"/>
                      <a:tailEnd type="none" w="med" len="med"/>
                    </a:lnB>
                    <a:solidFill>
                      <a:srgbClr val="EAF3E6"/>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Made from the forest tree 'Aale mara'</a:t>
                      </a:r>
                      <a:endParaRPr lang="en-US" sz="1500" dirty="0">
                        <a:latin typeface="Calibri" charset="0"/>
                        <a:ea typeface="Calibri" charset="0"/>
                        <a:cs typeface="Calibri" charset="0"/>
                      </a:endParaRPr>
                    </a:p>
                  </a:txBody>
                  <a:tcPr marL="73152" marR="73152" marT="73152" marB="73152" anchor="ctr">
                    <a:lnL w="9525" cap="flat" cmpd="sng" algn="ctr">
                      <a:solidFill>
                        <a:srgbClr val="EAF3E6"/>
                      </a:solidFill>
                      <a:prstDash val="solid"/>
                      <a:round/>
                      <a:headEnd type="none" w="med" len="med"/>
                      <a:tailEnd type="none" w="med" len="med"/>
                    </a:lnL>
                    <a:lnR w="9525" cap="flat" cmpd="sng" algn="ctr">
                      <a:solidFill>
                        <a:srgbClr val="EAF3E6"/>
                      </a:solidFill>
                      <a:prstDash val="solid"/>
                      <a:round/>
                      <a:headEnd type="none" w="med" len="med"/>
                      <a:tailEnd type="none" w="med" len="med"/>
                    </a:lnR>
                    <a:lnT w="9525" cap="flat" cmpd="sng" algn="ctr">
                      <a:solidFill>
                        <a:srgbClr val="EAF3E6"/>
                      </a:solidFill>
                      <a:prstDash val="solid"/>
                      <a:round/>
                      <a:headEnd type="none" w="med" len="med"/>
                      <a:tailEnd type="none" w="med" len="med"/>
                    </a:lnT>
                    <a:lnB w="9525" cap="flat" cmpd="sng" algn="ctr">
                      <a:solidFill>
                        <a:srgbClr val="EAF3E6"/>
                      </a:solidFill>
                      <a:prstDash val="solid"/>
                      <a:round/>
                      <a:headEnd type="none" w="med" len="med"/>
                      <a:tailEnd type="none" w="med" len="med"/>
                    </a:lnB>
                    <a:solidFill>
                      <a:srgbClr val="EAF3E6"/>
                    </a:solidFill>
                  </a:tcPr>
                </a:tc>
              </a:tr>
              <a:tr h="438912">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Kandhamal Haldi</a:t>
                      </a:r>
                      <a:endParaRPr lang="en-US" sz="1500" dirty="0">
                        <a:latin typeface="Calibri" charset="0"/>
                        <a:ea typeface="Calibri" charset="0"/>
                        <a:cs typeface="Calibri" charset="0"/>
                      </a:endParaRPr>
                    </a:p>
                  </a:txBody>
                  <a:tcPr marL="73152" marR="73152" marT="73152" marB="73152" anchor="ctr">
                    <a:lnL w="9525" cap="flat" cmpd="sng" algn="ctr">
                      <a:solidFill>
                        <a:srgbClr val="EAF3E6"/>
                      </a:solidFill>
                      <a:prstDash val="solid"/>
                      <a:round/>
                      <a:headEnd type="none" w="med" len="med"/>
                      <a:tailEnd type="none" w="med" len="med"/>
                    </a:lnL>
                    <a:lnR w="9525" cap="flat" cmpd="sng" algn="ctr">
                      <a:solidFill>
                        <a:srgbClr val="EAF3E6"/>
                      </a:solidFill>
                      <a:prstDash val="solid"/>
                      <a:round/>
                      <a:headEnd type="none" w="med" len="med"/>
                      <a:tailEnd type="none" w="med" len="med"/>
                    </a:lnR>
                    <a:lnT w="9525" cap="flat" cmpd="sng" algn="ctr">
                      <a:solidFill>
                        <a:srgbClr val="EAF3E6"/>
                      </a:solidFill>
                      <a:prstDash val="solid"/>
                      <a:round/>
                      <a:headEnd type="none" w="med" len="med"/>
                      <a:tailEnd type="none" w="med" len="med"/>
                    </a:lnT>
                    <a:lnB w="9525" cap="flat" cmpd="sng" algn="ctr">
                      <a:solidFill>
                        <a:srgbClr val="EAF3E6"/>
                      </a:solidFill>
                      <a:prstDash val="solid"/>
                      <a:round/>
                      <a:headEnd type="none" w="med" len="med"/>
                      <a:tailEnd type="none" w="med" len="med"/>
                    </a:lnB>
                    <a:solidFill>
                      <a:srgbClr val="FFFFFF"/>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Odisha</a:t>
                      </a:r>
                      <a:endParaRPr lang="en-US" sz="1500" dirty="0">
                        <a:latin typeface="Calibri" charset="0"/>
                        <a:ea typeface="Calibri" charset="0"/>
                        <a:cs typeface="Calibri" charset="0"/>
                      </a:endParaRPr>
                    </a:p>
                  </a:txBody>
                  <a:tcPr marL="73152" marR="73152" marT="73152" marB="73152" anchor="ctr">
                    <a:lnL w="9525" cap="flat" cmpd="sng" algn="ctr">
                      <a:solidFill>
                        <a:srgbClr val="EAF3E6"/>
                      </a:solidFill>
                      <a:prstDash val="solid"/>
                      <a:round/>
                      <a:headEnd type="none" w="med" len="med"/>
                      <a:tailEnd type="none" w="med" len="med"/>
                    </a:lnL>
                    <a:lnR w="9525" cap="flat" cmpd="sng" algn="ctr">
                      <a:solidFill>
                        <a:srgbClr val="EAF3E6"/>
                      </a:solidFill>
                      <a:prstDash val="solid"/>
                      <a:round/>
                      <a:headEnd type="none" w="med" len="med"/>
                      <a:tailEnd type="none" w="med" len="med"/>
                    </a:lnR>
                    <a:lnT w="9525" cap="flat" cmpd="sng" algn="ctr">
                      <a:solidFill>
                        <a:srgbClr val="EAF3E6"/>
                      </a:solidFill>
                      <a:prstDash val="solid"/>
                      <a:round/>
                      <a:headEnd type="none" w="med" len="med"/>
                      <a:tailEnd type="none" w="med" len="med"/>
                    </a:lnT>
                    <a:lnB w="9525" cap="flat" cmpd="sng" algn="ctr">
                      <a:solidFill>
                        <a:srgbClr val="EAF3E6"/>
                      </a:solidFill>
                      <a:prstDash val="solid"/>
                      <a:round/>
                      <a:headEnd type="none" w="med" len="med"/>
                      <a:tailEnd type="none" w="med" len="med"/>
                    </a:lnB>
                    <a:solidFill>
                      <a:srgbClr val="FFFFFF"/>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Grown by tribal communities; high curcumin</a:t>
                      </a:r>
                      <a:endParaRPr lang="en-US" sz="1500" dirty="0">
                        <a:latin typeface="Calibri" charset="0"/>
                        <a:ea typeface="Calibri" charset="0"/>
                        <a:cs typeface="Calibri" charset="0"/>
                      </a:endParaRPr>
                    </a:p>
                  </a:txBody>
                  <a:tcPr marL="73152" marR="73152" marT="73152" marB="73152" anchor="ctr">
                    <a:lnL w="9525" cap="flat" cmpd="sng" algn="ctr">
                      <a:solidFill>
                        <a:srgbClr val="EAF3E6"/>
                      </a:solidFill>
                      <a:prstDash val="solid"/>
                      <a:round/>
                      <a:headEnd type="none" w="med" len="med"/>
                      <a:tailEnd type="none" w="med" len="med"/>
                    </a:lnL>
                    <a:lnR w="9525" cap="flat" cmpd="sng" algn="ctr">
                      <a:solidFill>
                        <a:srgbClr val="EAF3E6"/>
                      </a:solidFill>
                      <a:prstDash val="solid"/>
                      <a:round/>
                      <a:headEnd type="none" w="med" len="med"/>
                      <a:tailEnd type="none" w="med" len="med"/>
                    </a:lnR>
                    <a:lnT w="9525" cap="flat" cmpd="sng" algn="ctr">
                      <a:solidFill>
                        <a:srgbClr val="EAF3E6"/>
                      </a:solidFill>
                      <a:prstDash val="solid"/>
                      <a:round/>
                      <a:headEnd type="none" w="med" len="med"/>
                      <a:tailEnd type="none" w="med" len="med"/>
                    </a:lnT>
                    <a:lnB w="9525" cap="flat" cmpd="sng" algn="ctr">
                      <a:solidFill>
                        <a:srgbClr val="EAF3E6"/>
                      </a:solidFill>
                      <a:prstDash val="solid"/>
                      <a:round/>
                      <a:headEnd type="none" w="med" len="med"/>
                      <a:tailEnd type="none" w="med" len="med"/>
                    </a:lnB>
                    <a:solidFill>
                      <a:srgbClr val="FFFFFF"/>
                    </a:solidFill>
                  </a:tcPr>
                </a:tc>
              </a:tr>
              <a:tr h="438912">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Erode Turmeric</a:t>
                      </a:r>
                      <a:endParaRPr lang="en-US" sz="1500" dirty="0">
                        <a:latin typeface="Calibri" charset="0"/>
                        <a:ea typeface="Calibri" charset="0"/>
                        <a:cs typeface="Calibri" charset="0"/>
                      </a:endParaRPr>
                    </a:p>
                  </a:txBody>
                  <a:tcPr marL="73152" marR="73152" marT="73152" marB="73152" anchor="ctr">
                    <a:lnL w="9525" cap="flat" cmpd="sng" algn="ctr">
                      <a:solidFill>
                        <a:srgbClr val="EAF3E6"/>
                      </a:solidFill>
                      <a:prstDash val="solid"/>
                      <a:round/>
                      <a:headEnd type="none" w="med" len="med"/>
                      <a:tailEnd type="none" w="med" len="med"/>
                    </a:lnL>
                    <a:lnR w="9525" cap="flat" cmpd="sng" algn="ctr">
                      <a:solidFill>
                        <a:srgbClr val="EAF3E6"/>
                      </a:solidFill>
                      <a:prstDash val="solid"/>
                      <a:round/>
                      <a:headEnd type="none" w="med" len="med"/>
                      <a:tailEnd type="none" w="med" len="med"/>
                    </a:lnR>
                    <a:lnT w="9525" cap="flat" cmpd="sng" algn="ctr">
                      <a:solidFill>
                        <a:srgbClr val="EAF3E6"/>
                      </a:solidFill>
                      <a:prstDash val="solid"/>
                      <a:round/>
                      <a:headEnd type="none" w="med" len="med"/>
                      <a:tailEnd type="none" w="med" len="med"/>
                    </a:lnT>
                    <a:lnB w="9525" cap="flat" cmpd="sng" algn="ctr">
                      <a:solidFill>
                        <a:srgbClr val="EAF3E6"/>
                      </a:solidFill>
                      <a:prstDash val="solid"/>
                      <a:round/>
                      <a:headEnd type="none" w="med" len="med"/>
                      <a:tailEnd type="none" w="med" len="med"/>
                    </a:lnB>
                    <a:solidFill>
                      <a:srgbClr val="EAF3E6"/>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Tamil Nadu</a:t>
                      </a:r>
                      <a:endParaRPr lang="en-US" sz="1500" dirty="0">
                        <a:latin typeface="Calibri" charset="0"/>
                        <a:ea typeface="Calibri" charset="0"/>
                        <a:cs typeface="Calibri" charset="0"/>
                      </a:endParaRPr>
                    </a:p>
                  </a:txBody>
                  <a:tcPr marL="73152" marR="73152" marT="73152" marB="73152" anchor="ctr">
                    <a:lnL w="9525" cap="flat" cmpd="sng" algn="ctr">
                      <a:solidFill>
                        <a:srgbClr val="EAF3E6"/>
                      </a:solidFill>
                      <a:prstDash val="solid"/>
                      <a:round/>
                      <a:headEnd type="none" w="med" len="med"/>
                      <a:tailEnd type="none" w="med" len="med"/>
                    </a:lnL>
                    <a:lnR w="9525" cap="flat" cmpd="sng" algn="ctr">
                      <a:solidFill>
                        <a:srgbClr val="EAF3E6"/>
                      </a:solidFill>
                      <a:prstDash val="solid"/>
                      <a:round/>
                      <a:headEnd type="none" w="med" len="med"/>
                      <a:tailEnd type="none" w="med" len="med"/>
                    </a:lnR>
                    <a:lnT w="9525" cap="flat" cmpd="sng" algn="ctr">
                      <a:solidFill>
                        <a:srgbClr val="EAF3E6"/>
                      </a:solidFill>
                      <a:prstDash val="solid"/>
                      <a:round/>
                      <a:headEnd type="none" w="med" len="med"/>
                      <a:tailEnd type="none" w="med" len="med"/>
                    </a:lnT>
                    <a:lnB w="9525" cap="flat" cmpd="sng" algn="ctr">
                      <a:solidFill>
                        <a:srgbClr val="EAF3E6"/>
                      </a:solidFill>
                      <a:prstDash val="solid"/>
                      <a:round/>
                      <a:headEnd type="none" w="med" len="med"/>
                      <a:tailEnd type="none" w="med" len="med"/>
                    </a:lnB>
                    <a:solidFill>
                      <a:srgbClr val="EAF3E6"/>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Used in cooking and ayurvedic medicine</a:t>
                      </a:r>
                      <a:endParaRPr lang="en-US" sz="1500" dirty="0">
                        <a:latin typeface="Calibri" charset="0"/>
                        <a:ea typeface="Calibri" charset="0"/>
                        <a:cs typeface="Calibri" charset="0"/>
                      </a:endParaRPr>
                    </a:p>
                  </a:txBody>
                  <a:tcPr marL="73152" marR="73152" marT="73152" marB="73152" anchor="ctr">
                    <a:lnL w="9525" cap="flat" cmpd="sng" algn="ctr">
                      <a:solidFill>
                        <a:srgbClr val="EAF3E6"/>
                      </a:solidFill>
                      <a:prstDash val="solid"/>
                      <a:round/>
                      <a:headEnd type="none" w="med" len="med"/>
                      <a:tailEnd type="none" w="med" len="med"/>
                    </a:lnL>
                    <a:lnR w="9525" cap="flat" cmpd="sng" algn="ctr">
                      <a:solidFill>
                        <a:srgbClr val="EAF3E6"/>
                      </a:solidFill>
                      <a:prstDash val="solid"/>
                      <a:round/>
                      <a:headEnd type="none" w="med" len="med"/>
                      <a:tailEnd type="none" w="med" len="med"/>
                    </a:lnR>
                    <a:lnT w="9525" cap="flat" cmpd="sng" algn="ctr">
                      <a:solidFill>
                        <a:srgbClr val="EAF3E6"/>
                      </a:solidFill>
                      <a:prstDash val="solid"/>
                      <a:round/>
                      <a:headEnd type="none" w="med" len="med"/>
                      <a:tailEnd type="none" w="med" len="med"/>
                    </a:lnT>
                    <a:lnB w="9525" cap="flat" cmpd="sng" algn="ctr">
                      <a:solidFill>
                        <a:srgbClr val="EAF3E6"/>
                      </a:solidFill>
                      <a:prstDash val="solid"/>
                      <a:round/>
                      <a:headEnd type="none" w="med" len="med"/>
                      <a:tailEnd type="none" w="med" len="med"/>
                    </a:lnB>
                    <a:solidFill>
                      <a:srgbClr val="EAF3E6"/>
                    </a:solidFill>
                  </a:tcPr>
                </a:tc>
              </a:tr>
              <a:tr h="438912">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Nilgiri Tea</a:t>
                      </a:r>
                      <a:endParaRPr lang="en-US" sz="1500" dirty="0">
                        <a:latin typeface="Calibri" charset="0"/>
                        <a:ea typeface="Calibri" charset="0"/>
                        <a:cs typeface="Calibri" charset="0"/>
                      </a:endParaRPr>
                    </a:p>
                  </a:txBody>
                  <a:tcPr marL="73152" marR="73152" marT="73152" marB="73152" anchor="ctr">
                    <a:lnL w="9525" cap="flat" cmpd="sng" algn="ctr">
                      <a:solidFill>
                        <a:srgbClr val="EAF3E6"/>
                      </a:solidFill>
                      <a:prstDash val="solid"/>
                      <a:round/>
                      <a:headEnd type="none" w="med" len="med"/>
                      <a:tailEnd type="none" w="med" len="med"/>
                    </a:lnL>
                    <a:lnR w="9525" cap="flat" cmpd="sng" algn="ctr">
                      <a:solidFill>
                        <a:srgbClr val="EAF3E6"/>
                      </a:solidFill>
                      <a:prstDash val="solid"/>
                      <a:round/>
                      <a:headEnd type="none" w="med" len="med"/>
                      <a:tailEnd type="none" w="med" len="med"/>
                    </a:lnR>
                    <a:lnT w="9525" cap="flat" cmpd="sng" algn="ctr">
                      <a:solidFill>
                        <a:srgbClr val="EAF3E6"/>
                      </a:solidFill>
                      <a:prstDash val="solid"/>
                      <a:round/>
                      <a:headEnd type="none" w="med" len="med"/>
                      <a:tailEnd type="none" w="med" len="med"/>
                    </a:lnT>
                    <a:lnB w="9525" cap="flat" cmpd="sng" algn="ctr">
                      <a:solidFill>
                        <a:srgbClr val="EAF3E6"/>
                      </a:solidFill>
                      <a:prstDash val="solid"/>
                      <a:round/>
                      <a:headEnd type="none" w="med" len="med"/>
                      <a:tailEnd type="none" w="med" len="med"/>
                    </a:lnB>
                    <a:solidFill>
                      <a:srgbClr val="FFFFFF"/>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TN, Keralam, Karnataka</a:t>
                      </a:r>
                      <a:endParaRPr lang="en-US" sz="1500" dirty="0">
                        <a:latin typeface="Calibri" charset="0"/>
                        <a:ea typeface="Calibri" charset="0"/>
                        <a:cs typeface="Calibri" charset="0"/>
                      </a:endParaRPr>
                    </a:p>
                  </a:txBody>
                  <a:tcPr marL="73152" marR="73152" marT="73152" marB="73152" anchor="ctr">
                    <a:lnL w="9525" cap="flat" cmpd="sng" algn="ctr">
                      <a:solidFill>
                        <a:srgbClr val="EAF3E6"/>
                      </a:solidFill>
                      <a:prstDash val="solid"/>
                      <a:round/>
                      <a:headEnd type="none" w="med" len="med"/>
                      <a:tailEnd type="none" w="med" len="med"/>
                    </a:lnL>
                    <a:lnR w="9525" cap="flat" cmpd="sng" algn="ctr">
                      <a:solidFill>
                        <a:srgbClr val="EAF3E6"/>
                      </a:solidFill>
                      <a:prstDash val="solid"/>
                      <a:round/>
                      <a:headEnd type="none" w="med" len="med"/>
                      <a:tailEnd type="none" w="med" len="med"/>
                    </a:lnR>
                    <a:lnT w="9525" cap="flat" cmpd="sng" algn="ctr">
                      <a:solidFill>
                        <a:srgbClr val="EAF3E6"/>
                      </a:solidFill>
                      <a:prstDash val="solid"/>
                      <a:round/>
                      <a:headEnd type="none" w="med" len="med"/>
                      <a:tailEnd type="none" w="med" len="med"/>
                    </a:lnT>
                    <a:lnB w="9525" cap="flat" cmpd="sng" algn="ctr">
                      <a:solidFill>
                        <a:srgbClr val="EAF3E6"/>
                      </a:solidFill>
                      <a:prstDash val="solid"/>
                      <a:round/>
                      <a:headEnd type="none" w="med" len="med"/>
                      <a:tailEnd type="none" w="med" len="med"/>
                    </a:lnB>
                    <a:solidFill>
                      <a:srgbClr val="FFFFFF"/>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Quality depends on Western Ghats forests</a:t>
                      </a:r>
                      <a:endParaRPr lang="en-US" sz="1500" dirty="0">
                        <a:latin typeface="Calibri" charset="0"/>
                        <a:ea typeface="Calibri" charset="0"/>
                        <a:cs typeface="Calibri" charset="0"/>
                      </a:endParaRPr>
                    </a:p>
                  </a:txBody>
                  <a:tcPr marL="73152" marR="73152" marT="73152" marB="73152" anchor="ctr">
                    <a:lnL w="9525" cap="flat" cmpd="sng" algn="ctr">
                      <a:solidFill>
                        <a:srgbClr val="EAF3E6"/>
                      </a:solidFill>
                      <a:prstDash val="solid"/>
                      <a:round/>
                      <a:headEnd type="none" w="med" len="med"/>
                      <a:tailEnd type="none" w="med" len="med"/>
                    </a:lnL>
                    <a:lnR w="9525" cap="flat" cmpd="sng" algn="ctr">
                      <a:solidFill>
                        <a:srgbClr val="EAF3E6"/>
                      </a:solidFill>
                      <a:prstDash val="solid"/>
                      <a:round/>
                      <a:headEnd type="none" w="med" len="med"/>
                      <a:tailEnd type="none" w="med" len="med"/>
                    </a:lnR>
                    <a:lnT w="9525" cap="flat" cmpd="sng" algn="ctr">
                      <a:solidFill>
                        <a:srgbClr val="EAF3E6"/>
                      </a:solidFill>
                      <a:prstDash val="solid"/>
                      <a:round/>
                      <a:headEnd type="none" w="med" len="med"/>
                      <a:tailEnd type="none" w="med" len="med"/>
                    </a:lnT>
                    <a:lnB w="9525" cap="flat" cmpd="sng" algn="ctr">
                      <a:solidFill>
                        <a:srgbClr val="EAF3E6"/>
                      </a:solidFill>
                      <a:prstDash val="solid"/>
                      <a:round/>
                      <a:headEnd type="none" w="med" len="med"/>
                      <a:tailEnd type="none" w="med" len="med"/>
                    </a:lnB>
                    <a:solidFill>
                      <a:srgbClr val="FFFFFF"/>
                    </a:solidFill>
                  </a:tcPr>
                </a:tc>
              </a:tr>
              <a:tr h="438912">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Tripura Queen Pineapple</a:t>
                      </a:r>
                      <a:endParaRPr lang="en-US" sz="1500" dirty="0">
                        <a:latin typeface="Calibri" charset="0"/>
                        <a:ea typeface="Calibri" charset="0"/>
                        <a:cs typeface="Calibri" charset="0"/>
                      </a:endParaRPr>
                    </a:p>
                  </a:txBody>
                  <a:tcPr marL="73152" marR="73152" marT="73152" marB="73152" anchor="ctr">
                    <a:lnL w="9525" cap="flat" cmpd="sng" algn="ctr">
                      <a:solidFill>
                        <a:srgbClr val="EAF3E6"/>
                      </a:solidFill>
                      <a:prstDash val="solid"/>
                      <a:round/>
                      <a:headEnd type="none" w="med" len="med"/>
                      <a:tailEnd type="none" w="med" len="med"/>
                    </a:lnL>
                    <a:lnR w="9525" cap="flat" cmpd="sng" algn="ctr">
                      <a:solidFill>
                        <a:srgbClr val="EAF3E6"/>
                      </a:solidFill>
                      <a:prstDash val="solid"/>
                      <a:round/>
                      <a:headEnd type="none" w="med" len="med"/>
                      <a:tailEnd type="none" w="med" len="med"/>
                    </a:lnR>
                    <a:lnT w="9525" cap="flat" cmpd="sng" algn="ctr">
                      <a:solidFill>
                        <a:srgbClr val="EAF3E6"/>
                      </a:solidFill>
                      <a:prstDash val="solid"/>
                      <a:round/>
                      <a:headEnd type="none" w="med" len="med"/>
                      <a:tailEnd type="none" w="med" len="med"/>
                    </a:lnT>
                    <a:lnB w="9525" cap="flat" cmpd="sng" algn="ctr">
                      <a:solidFill>
                        <a:srgbClr val="EAF3E6"/>
                      </a:solidFill>
                      <a:prstDash val="solid"/>
                      <a:round/>
                      <a:headEnd type="none" w="med" len="med"/>
                      <a:tailEnd type="none" w="med" len="med"/>
                    </a:lnB>
                    <a:solidFill>
                      <a:srgbClr val="EAF3E6"/>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Tripura</a:t>
                      </a:r>
                      <a:endParaRPr lang="en-US" sz="1500" dirty="0">
                        <a:latin typeface="Calibri" charset="0"/>
                        <a:ea typeface="Calibri" charset="0"/>
                        <a:cs typeface="Calibri" charset="0"/>
                      </a:endParaRPr>
                    </a:p>
                  </a:txBody>
                  <a:tcPr marL="73152" marR="73152" marT="73152" marB="73152" anchor="ctr">
                    <a:lnL w="9525" cap="flat" cmpd="sng" algn="ctr">
                      <a:solidFill>
                        <a:srgbClr val="EAF3E6"/>
                      </a:solidFill>
                      <a:prstDash val="solid"/>
                      <a:round/>
                      <a:headEnd type="none" w="med" len="med"/>
                      <a:tailEnd type="none" w="med" len="med"/>
                    </a:lnL>
                    <a:lnR w="9525" cap="flat" cmpd="sng" algn="ctr">
                      <a:solidFill>
                        <a:srgbClr val="EAF3E6"/>
                      </a:solidFill>
                      <a:prstDash val="solid"/>
                      <a:round/>
                      <a:headEnd type="none" w="med" len="med"/>
                      <a:tailEnd type="none" w="med" len="med"/>
                    </a:lnR>
                    <a:lnT w="9525" cap="flat" cmpd="sng" algn="ctr">
                      <a:solidFill>
                        <a:srgbClr val="EAF3E6"/>
                      </a:solidFill>
                      <a:prstDash val="solid"/>
                      <a:round/>
                      <a:headEnd type="none" w="med" len="med"/>
                      <a:tailEnd type="none" w="med" len="med"/>
                    </a:lnT>
                    <a:lnB w="9525" cap="flat" cmpd="sng" algn="ctr">
                      <a:solidFill>
                        <a:srgbClr val="EAF3E6"/>
                      </a:solidFill>
                      <a:prstDash val="solid"/>
                      <a:round/>
                      <a:headEnd type="none" w="med" len="med"/>
                      <a:tailEnd type="none" w="med" len="med"/>
                    </a:lnB>
                    <a:solidFill>
                      <a:srgbClr val="EAF3E6"/>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Famous for sweetness and aroma</a:t>
                      </a:r>
                      <a:endParaRPr lang="en-US" sz="1500" dirty="0">
                        <a:latin typeface="Calibri" charset="0"/>
                        <a:ea typeface="Calibri" charset="0"/>
                        <a:cs typeface="Calibri" charset="0"/>
                      </a:endParaRPr>
                    </a:p>
                  </a:txBody>
                  <a:tcPr marL="73152" marR="73152" marT="73152" marB="73152" anchor="ctr">
                    <a:lnL w="9525" cap="flat" cmpd="sng" algn="ctr">
                      <a:solidFill>
                        <a:srgbClr val="EAF3E6"/>
                      </a:solidFill>
                      <a:prstDash val="solid"/>
                      <a:round/>
                      <a:headEnd type="none" w="med" len="med"/>
                      <a:tailEnd type="none" w="med" len="med"/>
                    </a:lnL>
                    <a:lnR w="9525" cap="flat" cmpd="sng" algn="ctr">
                      <a:solidFill>
                        <a:srgbClr val="EAF3E6"/>
                      </a:solidFill>
                      <a:prstDash val="solid"/>
                      <a:round/>
                      <a:headEnd type="none" w="med" len="med"/>
                      <a:tailEnd type="none" w="med" len="med"/>
                    </a:lnR>
                    <a:lnT w="9525" cap="flat" cmpd="sng" algn="ctr">
                      <a:solidFill>
                        <a:srgbClr val="EAF3E6"/>
                      </a:solidFill>
                      <a:prstDash val="solid"/>
                      <a:round/>
                      <a:headEnd type="none" w="med" len="med"/>
                      <a:tailEnd type="none" w="med" len="med"/>
                    </a:lnT>
                    <a:lnB w="9525" cap="flat" cmpd="sng" algn="ctr">
                      <a:solidFill>
                        <a:srgbClr val="EAF3E6"/>
                      </a:solidFill>
                      <a:prstDash val="solid"/>
                      <a:round/>
                      <a:headEnd type="none" w="med" len="med"/>
                      <a:tailEnd type="none" w="med" len="med"/>
                    </a:lnB>
                    <a:solidFill>
                      <a:srgbClr val="EAF3E6"/>
                    </a:solidFill>
                  </a:tcPr>
                </a:tc>
              </a:tr>
              <a:tr h="438912">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Khasi Mandarin</a:t>
                      </a:r>
                      <a:endParaRPr lang="en-US" sz="1500" dirty="0">
                        <a:latin typeface="Calibri" charset="0"/>
                        <a:ea typeface="Calibri" charset="0"/>
                        <a:cs typeface="Calibri" charset="0"/>
                      </a:endParaRPr>
                    </a:p>
                  </a:txBody>
                  <a:tcPr marL="73152" marR="73152" marT="73152" marB="73152" anchor="ctr">
                    <a:lnL w="9525" cap="flat" cmpd="sng" algn="ctr">
                      <a:solidFill>
                        <a:srgbClr val="EAF3E6"/>
                      </a:solidFill>
                      <a:prstDash val="solid"/>
                      <a:round/>
                      <a:headEnd type="none" w="med" len="med"/>
                      <a:tailEnd type="none" w="med" len="med"/>
                    </a:lnL>
                    <a:lnR w="9525" cap="flat" cmpd="sng" algn="ctr">
                      <a:solidFill>
                        <a:srgbClr val="EAF3E6"/>
                      </a:solidFill>
                      <a:prstDash val="solid"/>
                      <a:round/>
                      <a:headEnd type="none" w="med" len="med"/>
                      <a:tailEnd type="none" w="med" len="med"/>
                    </a:lnR>
                    <a:lnT w="9525" cap="flat" cmpd="sng" algn="ctr">
                      <a:solidFill>
                        <a:srgbClr val="EAF3E6"/>
                      </a:solidFill>
                      <a:prstDash val="solid"/>
                      <a:round/>
                      <a:headEnd type="none" w="med" len="med"/>
                      <a:tailEnd type="none" w="med" len="med"/>
                    </a:lnT>
                    <a:lnB w="9525" cap="flat" cmpd="sng" algn="ctr">
                      <a:solidFill>
                        <a:srgbClr val="EAF3E6"/>
                      </a:solidFill>
                      <a:prstDash val="solid"/>
                      <a:round/>
                      <a:headEnd type="none" w="med" len="med"/>
                      <a:tailEnd type="none" w="med" len="med"/>
                    </a:lnB>
                    <a:solidFill>
                      <a:srgbClr val="FFFFFF"/>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Meghalaya</a:t>
                      </a:r>
                      <a:endParaRPr lang="en-US" sz="1500" dirty="0">
                        <a:latin typeface="Calibri" charset="0"/>
                        <a:ea typeface="Calibri" charset="0"/>
                        <a:cs typeface="Calibri" charset="0"/>
                      </a:endParaRPr>
                    </a:p>
                  </a:txBody>
                  <a:tcPr marL="73152" marR="73152" marT="73152" marB="73152" anchor="ctr">
                    <a:lnL w="9525" cap="flat" cmpd="sng" algn="ctr">
                      <a:solidFill>
                        <a:srgbClr val="EAF3E6"/>
                      </a:solidFill>
                      <a:prstDash val="solid"/>
                      <a:round/>
                      <a:headEnd type="none" w="med" len="med"/>
                      <a:tailEnd type="none" w="med" len="med"/>
                    </a:lnL>
                    <a:lnR w="9525" cap="flat" cmpd="sng" algn="ctr">
                      <a:solidFill>
                        <a:srgbClr val="EAF3E6"/>
                      </a:solidFill>
                      <a:prstDash val="solid"/>
                      <a:round/>
                      <a:headEnd type="none" w="med" len="med"/>
                      <a:tailEnd type="none" w="med" len="med"/>
                    </a:lnR>
                    <a:lnT w="9525" cap="flat" cmpd="sng" algn="ctr">
                      <a:solidFill>
                        <a:srgbClr val="EAF3E6"/>
                      </a:solidFill>
                      <a:prstDash val="solid"/>
                      <a:round/>
                      <a:headEnd type="none" w="med" len="med"/>
                      <a:tailEnd type="none" w="med" len="med"/>
                    </a:lnT>
                    <a:lnB w="9525" cap="flat" cmpd="sng" algn="ctr">
                      <a:solidFill>
                        <a:srgbClr val="EAF3E6"/>
                      </a:solidFill>
                      <a:prstDash val="solid"/>
                      <a:round/>
                      <a:headEnd type="none" w="med" len="med"/>
                      <a:tailEnd type="none" w="med" len="med"/>
                    </a:lnB>
                    <a:solidFill>
                      <a:srgbClr val="FFFFFF"/>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Citrus fruit from forest-rich hills</a:t>
                      </a:r>
                      <a:endParaRPr lang="en-US" sz="1500" dirty="0">
                        <a:latin typeface="Calibri" charset="0"/>
                        <a:ea typeface="Calibri" charset="0"/>
                        <a:cs typeface="Calibri" charset="0"/>
                      </a:endParaRPr>
                    </a:p>
                  </a:txBody>
                  <a:tcPr marL="73152" marR="73152" marT="73152" marB="73152" anchor="ctr">
                    <a:lnL w="9525" cap="flat" cmpd="sng" algn="ctr">
                      <a:solidFill>
                        <a:srgbClr val="EAF3E6"/>
                      </a:solidFill>
                      <a:prstDash val="solid"/>
                      <a:round/>
                      <a:headEnd type="none" w="med" len="med"/>
                      <a:tailEnd type="none" w="med" len="med"/>
                    </a:lnL>
                    <a:lnR w="9525" cap="flat" cmpd="sng" algn="ctr">
                      <a:solidFill>
                        <a:srgbClr val="EAF3E6"/>
                      </a:solidFill>
                      <a:prstDash val="solid"/>
                      <a:round/>
                      <a:headEnd type="none" w="med" len="med"/>
                      <a:tailEnd type="none" w="med" len="med"/>
                    </a:lnR>
                    <a:lnT w="9525" cap="flat" cmpd="sng" algn="ctr">
                      <a:solidFill>
                        <a:srgbClr val="EAF3E6"/>
                      </a:solidFill>
                      <a:prstDash val="solid"/>
                      <a:round/>
                      <a:headEnd type="none" w="med" len="med"/>
                      <a:tailEnd type="none" w="med" len="med"/>
                    </a:lnT>
                    <a:lnB w="9525" cap="flat" cmpd="sng" algn="ctr">
                      <a:solidFill>
                        <a:srgbClr val="EAF3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3D2B"/>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Challenges of Forest Life</a:t>
            </a:r>
            <a:endParaRPr lang="en-US" sz="3600" dirty="0"/>
          </a:p>
        </p:txBody>
      </p:sp>
      <p:sp>
        <p:nvSpPr>
          <p:cNvPr id="3" name="card 1"/>
          <p:cNvSpPr/>
          <p:nvPr/>
        </p:nvSpPr>
        <p:spPr>
          <a:xfrm>
            <a:off x="548640" y="1371600"/>
            <a:ext cx="3505200" cy="2286000"/>
          </a:xfrm>
          <a:prstGeom prst="roundRect">
            <a:avLst>
              <a:gd name="adj" fmla="val 4800"/>
            </a:avLst>
          </a:prstGeom>
          <a:solidFill>
            <a:schemeClr val="bg2"/>
          </a:solidFill>
          <a:ln w="12700">
            <a:solidFill>
              <a:schemeClr val="bg2"/>
            </a:solidFill>
            <a:prstDash val="solid"/>
          </a:ln>
        </p:spPr>
      </p:sp>
      <p:sp>
        <p:nvSpPr>
          <p:cNvPr id="4" name="card 1 disc"/>
          <p:cNvSpPr/>
          <p:nvPr/>
        </p:nvSpPr>
        <p:spPr>
          <a:xfrm>
            <a:off x="777240" y="1600200"/>
            <a:ext cx="566928" cy="566928"/>
          </a:xfrm>
          <a:prstGeom prst="ellipse">
            <a:avLst/>
          </a:prstGeom>
          <a:solidFill>
            <a:schemeClr val="accent1"/>
          </a:solidFill>
          <a:ln w="12700">
            <a:solidFill>
              <a:schemeClr val="accent1"/>
            </a:solidFill>
            <a:prstDash val="solid"/>
          </a:ln>
        </p:spPr>
      </p:sp>
      <p:pic>
        <p:nvPicPr>
          <p:cNvPr id="5" name="card 1 glyph" descr="preencoded.png">    </p:cNvPr>
          <p:cNvPicPr>
            <a:picLocks noChangeAspect="1"/>
          </p:cNvPicPr>
          <p:nvPr/>
        </p:nvPicPr>
        <p:blipFill>
          <a:blip r:embed="rId1"/>
          <a:stretch>
            <a:fillRect/>
          </a:stretch>
        </p:blipFill>
        <p:spPr>
          <a:xfrm>
            <a:off x="901964" y="1724924"/>
            <a:ext cx="317480" cy="317480"/>
          </a:xfrm>
          <a:prstGeom prst="rect">
            <a:avLst/>
          </a:prstGeom>
        </p:spPr>
      </p:pic>
      <p:sp>
        <p:nvSpPr>
          <p:cNvPr id="6" name="Text 3"/>
          <p:cNvSpPr txBox="1"/>
          <p:nvPr/>
        </p:nvSpPr>
        <p:spPr>
          <a:xfrm>
            <a:off x="148132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Basic services</a:t>
            </a:r>
            <a:endParaRPr lang="en-US" sz="1800" dirty="0"/>
          </a:p>
        </p:txBody>
      </p:sp>
      <p:sp>
        <p:nvSpPr>
          <p:cNvPr id="7" name="Text 4"/>
          <p:cNvSpPr txBox="1"/>
          <p:nvPr/>
        </p:nvSpPr>
        <p:spPr>
          <a:xfrm>
            <a:off x="77724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Hard to reach healthcare, education and clean water.</a:t>
            </a:r>
            <a:endParaRPr lang="en-US" sz="1600" dirty="0"/>
          </a:p>
        </p:txBody>
      </p:sp>
      <p:sp>
        <p:nvSpPr>
          <p:cNvPr id="8" name="card 2"/>
          <p:cNvSpPr/>
          <p:nvPr/>
        </p:nvSpPr>
        <p:spPr>
          <a:xfrm>
            <a:off x="4328160" y="1371600"/>
            <a:ext cx="3505200" cy="2286000"/>
          </a:xfrm>
          <a:prstGeom prst="roundRect">
            <a:avLst>
              <a:gd name="adj" fmla="val 4800"/>
            </a:avLst>
          </a:prstGeom>
          <a:solidFill>
            <a:schemeClr val="bg2"/>
          </a:solidFill>
          <a:ln w="12700">
            <a:solidFill>
              <a:schemeClr val="bg2"/>
            </a:solidFill>
            <a:prstDash val="solid"/>
          </a:ln>
        </p:spPr>
      </p:sp>
      <p:sp>
        <p:nvSpPr>
          <p:cNvPr id="9" name="card 2 disc"/>
          <p:cNvSpPr/>
          <p:nvPr/>
        </p:nvSpPr>
        <p:spPr>
          <a:xfrm>
            <a:off x="4556760" y="1600200"/>
            <a:ext cx="566928" cy="566928"/>
          </a:xfrm>
          <a:prstGeom prst="ellipse">
            <a:avLst/>
          </a:prstGeom>
          <a:solidFill>
            <a:schemeClr val="accent2"/>
          </a:solidFill>
          <a:ln w="12700">
            <a:solidFill>
              <a:schemeClr val="accent2"/>
            </a:solidFill>
            <a:prstDash val="solid"/>
          </a:ln>
        </p:spPr>
      </p:sp>
      <p:pic>
        <p:nvPicPr>
          <p:cNvPr id="10" name="card 2 glyph" descr="preencoded.png">    </p:cNvPr>
          <p:cNvPicPr>
            <a:picLocks noChangeAspect="1"/>
          </p:cNvPicPr>
          <p:nvPr/>
        </p:nvPicPr>
        <p:blipFill>
          <a:blip r:embed="rId2"/>
          <a:stretch>
            <a:fillRect/>
          </a:stretch>
        </p:blipFill>
        <p:spPr>
          <a:xfrm>
            <a:off x="4681484" y="1724924"/>
            <a:ext cx="317480" cy="317480"/>
          </a:xfrm>
          <a:prstGeom prst="rect">
            <a:avLst/>
          </a:prstGeom>
        </p:spPr>
      </p:pic>
      <p:sp>
        <p:nvSpPr>
          <p:cNvPr id="11" name="Text 7"/>
          <p:cNvSpPr txBox="1"/>
          <p:nvPr/>
        </p:nvSpPr>
        <p:spPr>
          <a:xfrm>
            <a:off x="526084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Health and fires</a:t>
            </a:r>
            <a:endParaRPr lang="en-US" sz="1800" dirty="0"/>
          </a:p>
        </p:txBody>
      </p:sp>
      <p:sp>
        <p:nvSpPr>
          <p:cNvPr id="12" name="Text 8"/>
          <p:cNvSpPr txBox="1"/>
          <p:nvPr/>
        </p:nvSpPr>
        <p:spPr>
          <a:xfrm>
            <a:off x="455676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Women breathe fuelwood smoke. About </a:t>
            </a:r>
            <a:r>
              <a:rPr lang="en-US" sz="1800" b="1" dirty="0">
                <a:solidFill>
                  <a:schemeClr val="tx1"/>
                </a:solidFill>
              </a:rPr>
              <a:t>36%</a:t>
            </a:r>
            <a:r>
              <a:rPr lang="en-US" sz="1800" dirty="0">
                <a:solidFill>
                  <a:schemeClr val="tx1"/>
                </a:solidFill>
              </a:rPr>
              <a:t> of India's forest cover is prone to fires.</a:t>
            </a:r>
            <a:endParaRPr lang="en-US" sz="1600" dirty="0"/>
          </a:p>
        </p:txBody>
      </p:sp>
      <p:sp>
        <p:nvSpPr>
          <p:cNvPr id="13" name="card 3"/>
          <p:cNvSpPr/>
          <p:nvPr/>
        </p:nvSpPr>
        <p:spPr>
          <a:xfrm>
            <a:off x="8107680" y="1371600"/>
            <a:ext cx="3505200" cy="2286000"/>
          </a:xfrm>
          <a:prstGeom prst="roundRect">
            <a:avLst>
              <a:gd name="adj" fmla="val 4800"/>
            </a:avLst>
          </a:prstGeom>
          <a:solidFill>
            <a:schemeClr val="bg2"/>
          </a:solidFill>
          <a:ln w="12700">
            <a:solidFill>
              <a:schemeClr val="bg2"/>
            </a:solidFill>
            <a:prstDash val="solid"/>
          </a:ln>
        </p:spPr>
      </p:sp>
      <p:sp>
        <p:nvSpPr>
          <p:cNvPr id="14" name="card 3 disc"/>
          <p:cNvSpPr/>
          <p:nvPr/>
        </p:nvSpPr>
        <p:spPr>
          <a:xfrm>
            <a:off x="8336280" y="1600200"/>
            <a:ext cx="566928" cy="566928"/>
          </a:xfrm>
          <a:prstGeom prst="ellipse">
            <a:avLst/>
          </a:prstGeom>
          <a:solidFill>
            <a:schemeClr val="accent4"/>
          </a:solidFill>
          <a:ln w="12700">
            <a:solidFill>
              <a:schemeClr val="accent4"/>
            </a:solidFill>
            <a:prstDash val="solid"/>
          </a:ln>
        </p:spPr>
      </p:sp>
      <p:pic>
        <p:nvPicPr>
          <p:cNvPr id="15" name="card 3 glyph" descr="preencoded.png">    </p:cNvPr>
          <p:cNvPicPr>
            <a:picLocks noChangeAspect="1"/>
          </p:cNvPicPr>
          <p:nvPr/>
        </p:nvPicPr>
        <p:blipFill>
          <a:blip r:embed="rId3"/>
          <a:stretch>
            <a:fillRect/>
          </a:stretch>
        </p:blipFill>
        <p:spPr>
          <a:xfrm>
            <a:off x="8461004" y="1724924"/>
            <a:ext cx="317480" cy="317480"/>
          </a:xfrm>
          <a:prstGeom prst="rect">
            <a:avLst/>
          </a:prstGeom>
        </p:spPr>
      </p:pic>
      <p:sp>
        <p:nvSpPr>
          <p:cNvPr id="16" name="Text 11"/>
          <p:cNvSpPr txBox="1"/>
          <p:nvPr/>
        </p:nvSpPr>
        <p:spPr>
          <a:xfrm>
            <a:off x="904036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Rules vs needs</a:t>
            </a:r>
            <a:endParaRPr lang="en-US" sz="1800" dirty="0"/>
          </a:p>
        </p:txBody>
      </p:sp>
      <p:sp>
        <p:nvSpPr>
          <p:cNvPr id="17" name="Text 12"/>
          <p:cNvSpPr txBox="1"/>
          <p:nvPr/>
        </p:nvSpPr>
        <p:spPr>
          <a:xfrm>
            <a:off x="833628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Restrictions and deforestation limit access, creating conflict with survival needs.</a:t>
            </a:r>
            <a:endParaRPr lang="en-US" sz="1600" dirty="0"/>
          </a:p>
        </p:txBody>
      </p:sp>
      <p:sp>
        <p:nvSpPr>
          <p:cNvPr id="18" name="card 4"/>
          <p:cNvSpPr/>
          <p:nvPr/>
        </p:nvSpPr>
        <p:spPr>
          <a:xfrm>
            <a:off x="548640" y="3931920"/>
            <a:ext cx="3505200" cy="2286000"/>
          </a:xfrm>
          <a:prstGeom prst="roundRect">
            <a:avLst>
              <a:gd name="adj" fmla="val 4800"/>
            </a:avLst>
          </a:prstGeom>
          <a:solidFill>
            <a:schemeClr val="bg2"/>
          </a:solidFill>
          <a:ln w="12700">
            <a:solidFill>
              <a:schemeClr val="bg2"/>
            </a:solidFill>
            <a:prstDash val="solid"/>
          </a:ln>
        </p:spPr>
      </p:sp>
      <p:sp>
        <p:nvSpPr>
          <p:cNvPr id="19" name="card 4 disc"/>
          <p:cNvSpPr/>
          <p:nvPr/>
        </p:nvSpPr>
        <p:spPr>
          <a:xfrm>
            <a:off x="777240" y="4160520"/>
            <a:ext cx="566928" cy="566928"/>
          </a:xfrm>
          <a:prstGeom prst="ellipse">
            <a:avLst/>
          </a:prstGeom>
          <a:solidFill>
            <a:schemeClr val="accent5"/>
          </a:solidFill>
          <a:ln w="12700">
            <a:solidFill>
              <a:schemeClr val="accent5"/>
            </a:solidFill>
            <a:prstDash val="solid"/>
          </a:ln>
        </p:spPr>
      </p:sp>
      <p:pic>
        <p:nvPicPr>
          <p:cNvPr id="20" name="card 4 glyph" descr="preencoded.png">    </p:cNvPr>
          <p:cNvPicPr>
            <a:picLocks noChangeAspect="1"/>
          </p:cNvPicPr>
          <p:nvPr/>
        </p:nvPicPr>
        <p:blipFill>
          <a:blip r:embed="rId4"/>
          <a:stretch>
            <a:fillRect/>
          </a:stretch>
        </p:blipFill>
        <p:spPr>
          <a:xfrm>
            <a:off x="901964" y="4285244"/>
            <a:ext cx="317480" cy="317480"/>
          </a:xfrm>
          <a:prstGeom prst="rect">
            <a:avLst/>
          </a:prstGeom>
        </p:spPr>
      </p:pic>
      <p:sp>
        <p:nvSpPr>
          <p:cNvPr id="21" name="Text 15"/>
          <p:cNvSpPr txBox="1"/>
          <p:nvPr/>
        </p:nvSpPr>
        <p:spPr>
          <a:xfrm>
            <a:off x="148132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Human–wildlife conflict</a:t>
            </a:r>
            <a:endParaRPr lang="en-US" sz="1800" dirty="0"/>
          </a:p>
        </p:txBody>
      </p:sp>
      <p:sp>
        <p:nvSpPr>
          <p:cNvPr id="22" name="Text 16"/>
          <p:cNvSpPr txBox="1"/>
          <p:nvPr/>
        </p:nvSpPr>
        <p:spPr>
          <a:xfrm>
            <a:off x="77724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Elephants, monkeys and wild boars damage crops; attacks create fear.</a:t>
            </a:r>
            <a:endParaRPr lang="en-US" sz="1600" dirty="0"/>
          </a:p>
        </p:txBody>
      </p:sp>
      <p:sp>
        <p:nvSpPr>
          <p:cNvPr id="23" name="card 5"/>
          <p:cNvSpPr/>
          <p:nvPr/>
        </p:nvSpPr>
        <p:spPr>
          <a:xfrm>
            <a:off x="4328160" y="3931920"/>
            <a:ext cx="3505200" cy="2286000"/>
          </a:xfrm>
          <a:prstGeom prst="roundRect">
            <a:avLst>
              <a:gd name="adj" fmla="val 4800"/>
            </a:avLst>
          </a:prstGeom>
          <a:solidFill>
            <a:schemeClr val="bg2"/>
          </a:solidFill>
          <a:ln w="12700">
            <a:solidFill>
              <a:schemeClr val="bg2"/>
            </a:solidFill>
            <a:prstDash val="solid"/>
          </a:ln>
        </p:spPr>
      </p:sp>
      <p:sp>
        <p:nvSpPr>
          <p:cNvPr id="24" name="card 5 disc"/>
          <p:cNvSpPr/>
          <p:nvPr/>
        </p:nvSpPr>
        <p:spPr>
          <a:xfrm>
            <a:off x="4556760" y="4160520"/>
            <a:ext cx="566928" cy="566928"/>
          </a:xfrm>
          <a:prstGeom prst="ellipse">
            <a:avLst/>
          </a:prstGeom>
          <a:solidFill>
            <a:schemeClr val="accent6"/>
          </a:solidFill>
          <a:ln w="12700">
            <a:solidFill>
              <a:schemeClr val="accent6"/>
            </a:solidFill>
            <a:prstDash val="solid"/>
          </a:ln>
        </p:spPr>
      </p:sp>
      <p:pic>
        <p:nvPicPr>
          <p:cNvPr id="25" name="card 5 glyph" descr="preencoded.png">    </p:cNvPr>
          <p:cNvPicPr>
            <a:picLocks noChangeAspect="1"/>
          </p:cNvPicPr>
          <p:nvPr/>
        </p:nvPicPr>
        <p:blipFill>
          <a:blip r:embed="rId5"/>
          <a:stretch>
            <a:fillRect/>
          </a:stretch>
        </p:blipFill>
        <p:spPr>
          <a:xfrm>
            <a:off x="4681484" y="4285244"/>
            <a:ext cx="317480" cy="317480"/>
          </a:xfrm>
          <a:prstGeom prst="rect">
            <a:avLst/>
          </a:prstGeom>
        </p:spPr>
      </p:pic>
      <p:sp>
        <p:nvSpPr>
          <p:cNvPr id="26" name="Text 19"/>
          <p:cNvSpPr txBox="1"/>
          <p:nvPr/>
        </p:nvSpPr>
        <p:spPr>
          <a:xfrm>
            <a:off x="526084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Disasters</a:t>
            </a:r>
            <a:endParaRPr lang="en-US" sz="1800" dirty="0"/>
          </a:p>
        </p:txBody>
      </p:sp>
      <p:sp>
        <p:nvSpPr>
          <p:cNvPr id="27" name="Text 20"/>
          <p:cNvSpPr txBox="1"/>
          <p:nvPr/>
        </p:nvSpPr>
        <p:spPr>
          <a:xfrm>
            <a:off x="455676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Floods and landslides in forested hills wash away homes and roads.</a:t>
            </a:r>
            <a:endParaRPr lang="en-US" sz="1600" dirty="0"/>
          </a:p>
        </p:txBody>
      </p:sp>
      <p:sp>
        <p:nvSpPr>
          <p:cNvPr id="28" name="card 6"/>
          <p:cNvSpPr/>
          <p:nvPr/>
        </p:nvSpPr>
        <p:spPr>
          <a:xfrm>
            <a:off x="8107680" y="3931920"/>
            <a:ext cx="3505200" cy="2286000"/>
          </a:xfrm>
          <a:prstGeom prst="roundRect">
            <a:avLst>
              <a:gd name="adj" fmla="val 4800"/>
            </a:avLst>
          </a:prstGeom>
          <a:solidFill>
            <a:schemeClr val="bg2"/>
          </a:solidFill>
          <a:ln w="12700">
            <a:solidFill>
              <a:schemeClr val="bg2"/>
            </a:solidFill>
            <a:prstDash val="solid"/>
          </a:ln>
        </p:spPr>
      </p:sp>
      <p:sp>
        <p:nvSpPr>
          <p:cNvPr id="29" name="card 6 disc"/>
          <p:cNvSpPr/>
          <p:nvPr/>
        </p:nvSpPr>
        <p:spPr>
          <a:xfrm>
            <a:off x="8336280" y="4160520"/>
            <a:ext cx="566928" cy="566928"/>
          </a:xfrm>
          <a:prstGeom prst="ellipse">
            <a:avLst/>
          </a:prstGeom>
          <a:solidFill>
            <a:schemeClr val="accent1"/>
          </a:solidFill>
          <a:ln w="12700">
            <a:solidFill>
              <a:schemeClr val="accent1"/>
            </a:solidFill>
            <a:prstDash val="solid"/>
          </a:ln>
        </p:spPr>
      </p:sp>
      <p:pic>
        <p:nvPicPr>
          <p:cNvPr id="30" name="card 6 glyph" descr="preencoded.png">    </p:cNvPr>
          <p:cNvPicPr>
            <a:picLocks noChangeAspect="1"/>
          </p:cNvPicPr>
          <p:nvPr/>
        </p:nvPicPr>
        <p:blipFill>
          <a:blip r:embed="rId6"/>
          <a:stretch>
            <a:fillRect/>
          </a:stretch>
        </p:blipFill>
        <p:spPr>
          <a:xfrm>
            <a:off x="8461004" y="4285244"/>
            <a:ext cx="317480" cy="317480"/>
          </a:xfrm>
          <a:prstGeom prst="rect">
            <a:avLst/>
          </a:prstGeom>
        </p:spPr>
      </p:pic>
      <p:sp>
        <p:nvSpPr>
          <p:cNvPr id="31" name="Text 23"/>
          <p:cNvSpPr txBox="1"/>
          <p:nvPr/>
        </p:nvSpPr>
        <p:spPr>
          <a:xfrm>
            <a:off x="904036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Low prices</a:t>
            </a:r>
            <a:endParaRPr lang="en-US" sz="1800" dirty="0"/>
          </a:p>
        </p:txBody>
      </p:sp>
      <p:sp>
        <p:nvSpPr>
          <p:cNvPr id="32" name="Text 24"/>
          <p:cNvSpPr txBox="1"/>
          <p:nvPr/>
        </p:nvSpPr>
        <p:spPr>
          <a:xfrm>
            <a:off x="833628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Forest products sell cheaply; processing and marketing support is needed.</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3D2B"/>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Government Support for Forest Dwellers</a:t>
            </a:r>
            <a:endParaRPr lang="en-US" sz="3600" dirty="0"/>
          </a:p>
        </p:txBody>
      </p:sp>
      <p:sp>
        <p:nvSpPr>
          <p:cNvPr id="3" name="card 1"/>
          <p:cNvSpPr/>
          <p:nvPr/>
        </p:nvSpPr>
        <p:spPr>
          <a:xfrm>
            <a:off x="548640" y="1371600"/>
            <a:ext cx="5394960" cy="2286000"/>
          </a:xfrm>
          <a:prstGeom prst="roundRect">
            <a:avLst>
              <a:gd name="adj" fmla="val 4800"/>
            </a:avLst>
          </a:prstGeom>
          <a:solidFill>
            <a:schemeClr val="bg2"/>
          </a:solidFill>
          <a:ln w="12700">
            <a:solidFill>
              <a:schemeClr val="bg2"/>
            </a:solidFill>
            <a:prstDash val="solid"/>
          </a:ln>
        </p:spPr>
      </p:sp>
      <p:sp>
        <p:nvSpPr>
          <p:cNvPr id="4" name="card 1 disc"/>
          <p:cNvSpPr/>
          <p:nvPr/>
        </p:nvSpPr>
        <p:spPr>
          <a:xfrm>
            <a:off x="777240" y="1600200"/>
            <a:ext cx="566928" cy="566928"/>
          </a:xfrm>
          <a:prstGeom prst="ellipse">
            <a:avLst/>
          </a:prstGeom>
          <a:solidFill>
            <a:schemeClr val="accent1"/>
          </a:solidFill>
          <a:ln w="12700">
            <a:solidFill>
              <a:schemeClr val="accent1"/>
            </a:solidFill>
            <a:prstDash val="solid"/>
          </a:ln>
        </p:spPr>
      </p:sp>
      <p:pic>
        <p:nvPicPr>
          <p:cNvPr id="5" name="card 1 glyph" descr="preencoded.png">    </p:cNvPr>
          <p:cNvPicPr>
            <a:picLocks noChangeAspect="1"/>
          </p:cNvPicPr>
          <p:nvPr/>
        </p:nvPicPr>
        <p:blipFill>
          <a:blip r:embed="rId1"/>
          <a:stretch>
            <a:fillRect/>
          </a:stretch>
        </p:blipFill>
        <p:spPr>
          <a:xfrm>
            <a:off x="901964" y="1724924"/>
            <a:ext cx="317480" cy="317480"/>
          </a:xfrm>
          <a:prstGeom prst="rect">
            <a:avLst/>
          </a:prstGeom>
        </p:spPr>
      </p:pic>
      <p:sp>
        <p:nvSpPr>
          <p:cNvPr id="6" name="Text 3"/>
          <p:cNvSpPr txBox="1"/>
          <p:nvPr/>
        </p:nvSpPr>
        <p:spPr>
          <a:xfrm>
            <a:off x="1481328" y="1600200"/>
            <a:ext cx="4233672" cy="566928"/>
          </a:xfrm>
          <a:prstGeom prst="rect">
            <a:avLst/>
          </a:prstGeom>
          <a:noFill/>
          <a:ln/>
        </p:spPr>
        <p:txBody>
          <a:bodyPr wrap="square" lIns="0" tIns="0" rIns="0" bIns="0" rtlCol="0" anchor="ctr"/>
          <a:lstStyle/>
          <a:p>
            <a:pPr indent="0" marL="0">
              <a:buNone/>
            </a:pPr>
            <a:r>
              <a:rPr lang="en-US" sz="1800" b="1" dirty="0">
                <a:solidFill>
                  <a:schemeClr val="tx2"/>
                </a:solidFill>
              </a:rPr>
              <a:t>Forest Rights Act, 2006</a:t>
            </a:r>
            <a:endParaRPr lang="en-US" sz="1800" dirty="0"/>
          </a:p>
        </p:txBody>
      </p:sp>
      <p:sp>
        <p:nvSpPr>
          <p:cNvPr id="7" name="Text 4"/>
          <p:cNvSpPr txBox="1"/>
          <p:nvPr/>
        </p:nvSpPr>
        <p:spPr>
          <a:xfrm>
            <a:off x="777240" y="2276856"/>
            <a:ext cx="4937760" cy="1243584"/>
          </a:xfrm>
          <a:prstGeom prst="rect">
            <a:avLst/>
          </a:prstGeom>
          <a:noFill/>
          <a:ln/>
        </p:spPr>
        <p:txBody>
          <a:bodyPr wrap="square" lIns="0" tIns="0" rIns="0" bIns="0" rtlCol="0" anchor="t"/>
          <a:lstStyle/>
          <a:p>
            <a:pPr indent="0" marL="0">
              <a:buNone/>
            </a:pPr>
            <a:r>
              <a:rPr lang="en-US" sz="1800" dirty="0">
                <a:solidFill>
                  <a:schemeClr val="tx1"/>
                </a:solidFill>
              </a:rPr>
              <a:t>Recognises rights over forest land and resources: collect minor forest produce; ownership of small cultivated plots.</a:t>
            </a:r>
            <a:endParaRPr lang="en-US" sz="1600" dirty="0"/>
          </a:p>
        </p:txBody>
      </p:sp>
      <p:sp>
        <p:nvSpPr>
          <p:cNvPr id="8" name="card 2"/>
          <p:cNvSpPr/>
          <p:nvPr/>
        </p:nvSpPr>
        <p:spPr>
          <a:xfrm>
            <a:off x="6217920" y="1371600"/>
            <a:ext cx="5394960" cy="2286000"/>
          </a:xfrm>
          <a:prstGeom prst="roundRect">
            <a:avLst>
              <a:gd name="adj" fmla="val 4800"/>
            </a:avLst>
          </a:prstGeom>
          <a:solidFill>
            <a:schemeClr val="bg2"/>
          </a:solidFill>
          <a:ln w="12700">
            <a:solidFill>
              <a:schemeClr val="bg2"/>
            </a:solidFill>
            <a:prstDash val="solid"/>
          </a:ln>
        </p:spPr>
      </p:sp>
      <p:sp>
        <p:nvSpPr>
          <p:cNvPr id="9" name="card 2 disc"/>
          <p:cNvSpPr/>
          <p:nvPr/>
        </p:nvSpPr>
        <p:spPr>
          <a:xfrm>
            <a:off x="6446520" y="1600200"/>
            <a:ext cx="566928" cy="566928"/>
          </a:xfrm>
          <a:prstGeom prst="ellipse">
            <a:avLst/>
          </a:prstGeom>
          <a:solidFill>
            <a:schemeClr val="accent2"/>
          </a:solidFill>
          <a:ln w="12700">
            <a:solidFill>
              <a:schemeClr val="accent2"/>
            </a:solidFill>
            <a:prstDash val="solid"/>
          </a:ln>
        </p:spPr>
      </p:sp>
      <p:pic>
        <p:nvPicPr>
          <p:cNvPr id="10" name="card 2 glyph" descr="preencoded.png">    </p:cNvPr>
          <p:cNvPicPr>
            <a:picLocks noChangeAspect="1"/>
          </p:cNvPicPr>
          <p:nvPr/>
        </p:nvPicPr>
        <p:blipFill>
          <a:blip r:embed="rId2"/>
          <a:stretch>
            <a:fillRect/>
          </a:stretch>
        </p:blipFill>
        <p:spPr>
          <a:xfrm>
            <a:off x="6571244" y="1724924"/>
            <a:ext cx="317480" cy="317480"/>
          </a:xfrm>
          <a:prstGeom prst="rect">
            <a:avLst/>
          </a:prstGeom>
        </p:spPr>
      </p:pic>
      <p:sp>
        <p:nvSpPr>
          <p:cNvPr id="11" name="Text 7"/>
          <p:cNvSpPr txBox="1"/>
          <p:nvPr/>
        </p:nvSpPr>
        <p:spPr>
          <a:xfrm>
            <a:off x="7150608" y="1600200"/>
            <a:ext cx="4233672" cy="566928"/>
          </a:xfrm>
          <a:prstGeom prst="rect">
            <a:avLst/>
          </a:prstGeom>
          <a:noFill/>
          <a:ln/>
        </p:spPr>
        <p:txBody>
          <a:bodyPr wrap="square" lIns="0" tIns="0" rIns="0" bIns="0" rtlCol="0" anchor="ctr"/>
          <a:lstStyle/>
          <a:p>
            <a:pPr indent="0" marL="0">
              <a:buNone/>
            </a:pPr>
            <a:r>
              <a:rPr lang="en-US" sz="1800" b="1" dirty="0">
                <a:solidFill>
                  <a:schemeClr val="tx2"/>
                </a:solidFill>
              </a:rPr>
              <a:t>Joint Forest Management</a:t>
            </a:r>
            <a:endParaRPr lang="en-US" sz="1800" dirty="0"/>
          </a:p>
        </p:txBody>
      </p:sp>
      <p:sp>
        <p:nvSpPr>
          <p:cNvPr id="12" name="Text 8"/>
          <p:cNvSpPr txBox="1"/>
          <p:nvPr/>
        </p:nvSpPr>
        <p:spPr>
          <a:xfrm>
            <a:off x="6446520" y="2276856"/>
            <a:ext cx="4937760" cy="1243584"/>
          </a:xfrm>
          <a:prstGeom prst="rect">
            <a:avLst/>
          </a:prstGeom>
          <a:noFill/>
          <a:ln/>
        </p:spPr>
        <p:txBody>
          <a:bodyPr wrap="square" lIns="0" tIns="0" rIns="0" bIns="0" rtlCol="0" anchor="t"/>
          <a:lstStyle/>
          <a:p>
            <a:pPr indent="0" marL="0">
              <a:buNone/>
            </a:pPr>
            <a:r>
              <a:rPr lang="en-US" sz="1800" dirty="0">
                <a:solidFill>
                  <a:schemeClr val="tx1"/>
                </a:solidFill>
              </a:rPr>
              <a:t>Communities protect forests and share the forest produce.</a:t>
            </a:r>
            <a:endParaRPr lang="en-US" sz="1600" dirty="0"/>
          </a:p>
        </p:txBody>
      </p:sp>
      <p:sp>
        <p:nvSpPr>
          <p:cNvPr id="13" name="card 3"/>
          <p:cNvSpPr/>
          <p:nvPr/>
        </p:nvSpPr>
        <p:spPr>
          <a:xfrm>
            <a:off x="548640" y="3931920"/>
            <a:ext cx="5394960" cy="2286000"/>
          </a:xfrm>
          <a:prstGeom prst="roundRect">
            <a:avLst>
              <a:gd name="adj" fmla="val 4800"/>
            </a:avLst>
          </a:prstGeom>
          <a:solidFill>
            <a:schemeClr val="bg2"/>
          </a:solidFill>
          <a:ln w="12700">
            <a:solidFill>
              <a:schemeClr val="bg2"/>
            </a:solidFill>
            <a:prstDash val="solid"/>
          </a:ln>
        </p:spPr>
      </p:sp>
      <p:sp>
        <p:nvSpPr>
          <p:cNvPr id="14" name="card 3 disc"/>
          <p:cNvSpPr/>
          <p:nvPr/>
        </p:nvSpPr>
        <p:spPr>
          <a:xfrm>
            <a:off x="777240" y="4160520"/>
            <a:ext cx="566928" cy="566928"/>
          </a:xfrm>
          <a:prstGeom prst="ellipse">
            <a:avLst/>
          </a:prstGeom>
          <a:solidFill>
            <a:schemeClr val="accent4"/>
          </a:solidFill>
          <a:ln w="12700">
            <a:solidFill>
              <a:schemeClr val="accent4"/>
            </a:solidFill>
            <a:prstDash val="solid"/>
          </a:ln>
        </p:spPr>
      </p:sp>
      <p:pic>
        <p:nvPicPr>
          <p:cNvPr id="15" name="card 3 glyph" descr="preencoded.png">    </p:cNvPr>
          <p:cNvPicPr>
            <a:picLocks noChangeAspect="1"/>
          </p:cNvPicPr>
          <p:nvPr/>
        </p:nvPicPr>
        <p:blipFill>
          <a:blip r:embed="rId3"/>
          <a:stretch>
            <a:fillRect/>
          </a:stretch>
        </p:blipFill>
        <p:spPr>
          <a:xfrm>
            <a:off x="901964" y="4285244"/>
            <a:ext cx="317480" cy="317480"/>
          </a:xfrm>
          <a:prstGeom prst="rect">
            <a:avLst/>
          </a:prstGeom>
        </p:spPr>
      </p:pic>
      <p:sp>
        <p:nvSpPr>
          <p:cNvPr id="16" name="Text 11"/>
          <p:cNvSpPr txBox="1"/>
          <p:nvPr/>
        </p:nvSpPr>
        <p:spPr>
          <a:xfrm>
            <a:off x="1481328" y="4160520"/>
            <a:ext cx="4233672" cy="566928"/>
          </a:xfrm>
          <a:prstGeom prst="rect">
            <a:avLst/>
          </a:prstGeom>
          <a:noFill/>
          <a:ln/>
        </p:spPr>
        <p:txBody>
          <a:bodyPr wrap="square" lIns="0" tIns="0" rIns="0" bIns="0" rtlCol="0" anchor="ctr"/>
          <a:lstStyle/>
          <a:p>
            <a:pPr indent="0" marL="0">
              <a:buNone/>
            </a:pPr>
            <a:r>
              <a:rPr lang="en-US" sz="1800" b="1" dirty="0">
                <a:solidFill>
                  <a:schemeClr val="tx2"/>
                </a:solidFill>
              </a:rPr>
              <a:t>PESA Act</a:t>
            </a:r>
            <a:endParaRPr lang="en-US" sz="1800" dirty="0"/>
          </a:p>
        </p:txBody>
      </p:sp>
      <p:sp>
        <p:nvSpPr>
          <p:cNvPr id="17" name="Text 12"/>
          <p:cNvSpPr txBox="1"/>
          <p:nvPr/>
        </p:nvSpPr>
        <p:spPr>
          <a:xfrm>
            <a:off x="777240" y="4837176"/>
            <a:ext cx="4937760" cy="1243584"/>
          </a:xfrm>
          <a:prstGeom prst="rect">
            <a:avLst/>
          </a:prstGeom>
          <a:noFill/>
          <a:ln/>
        </p:spPr>
        <p:txBody>
          <a:bodyPr wrap="square" lIns="0" tIns="0" rIns="0" bIns="0" rtlCol="0" anchor="t"/>
          <a:lstStyle/>
          <a:p>
            <a:pPr indent="0" marL="0">
              <a:buNone/>
            </a:pPr>
            <a:r>
              <a:rPr lang="en-US" sz="1800" dirty="0">
                <a:solidFill>
                  <a:schemeClr val="tx1"/>
                </a:solidFill>
              </a:rPr>
              <a:t>Strengthens local self-governance (Gram Sabhas) in Scheduled Areas.</a:t>
            </a:r>
            <a:endParaRPr lang="en-US" sz="1600" dirty="0"/>
          </a:p>
        </p:txBody>
      </p:sp>
      <p:sp>
        <p:nvSpPr>
          <p:cNvPr id="18" name="card 4"/>
          <p:cNvSpPr/>
          <p:nvPr/>
        </p:nvSpPr>
        <p:spPr>
          <a:xfrm>
            <a:off x="6217920" y="3931920"/>
            <a:ext cx="5394960" cy="2286000"/>
          </a:xfrm>
          <a:prstGeom prst="roundRect">
            <a:avLst>
              <a:gd name="adj" fmla="val 4800"/>
            </a:avLst>
          </a:prstGeom>
          <a:solidFill>
            <a:schemeClr val="bg2"/>
          </a:solidFill>
          <a:ln w="12700">
            <a:solidFill>
              <a:schemeClr val="bg2"/>
            </a:solidFill>
            <a:prstDash val="solid"/>
          </a:ln>
        </p:spPr>
      </p:sp>
      <p:sp>
        <p:nvSpPr>
          <p:cNvPr id="19" name="card 4 disc"/>
          <p:cNvSpPr/>
          <p:nvPr/>
        </p:nvSpPr>
        <p:spPr>
          <a:xfrm>
            <a:off x="6446520" y="4160520"/>
            <a:ext cx="566928" cy="566928"/>
          </a:xfrm>
          <a:prstGeom prst="ellipse">
            <a:avLst/>
          </a:prstGeom>
          <a:solidFill>
            <a:schemeClr val="accent5"/>
          </a:solidFill>
          <a:ln w="12700">
            <a:solidFill>
              <a:schemeClr val="accent5"/>
            </a:solidFill>
            <a:prstDash val="solid"/>
          </a:ln>
        </p:spPr>
      </p:sp>
      <p:pic>
        <p:nvPicPr>
          <p:cNvPr id="20" name="card 4 glyph" descr="preencoded.png">    </p:cNvPr>
          <p:cNvPicPr>
            <a:picLocks noChangeAspect="1"/>
          </p:cNvPicPr>
          <p:nvPr/>
        </p:nvPicPr>
        <p:blipFill>
          <a:blip r:embed="rId4"/>
          <a:stretch>
            <a:fillRect/>
          </a:stretch>
        </p:blipFill>
        <p:spPr>
          <a:xfrm>
            <a:off x="6571244" y="4285244"/>
            <a:ext cx="317480" cy="317480"/>
          </a:xfrm>
          <a:prstGeom prst="rect">
            <a:avLst/>
          </a:prstGeom>
        </p:spPr>
      </p:pic>
      <p:sp>
        <p:nvSpPr>
          <p:cNvPr id="21" name="Text 15"/>
          <p:cNvSpPr txBox="1"/>
          <p:nvPr/>
        </p:nvSpPr>
        <p:spPr>
          <a:xfrm>
            <a:off x="7150608" y="4160520"/>
            <a:ext cx="4233672" cy="566928"/>
          </a:xfrm>
          <a:prstGeom prst="rect">
            <a:avLst/>
          </a:prstGeom>
          <a:noFill/>
          <a:ln/>
        </p:spPr>
        <p:txBody>
          <a:bodyPr wrap="square" lIns="0" tIns="0" rIns="0" bIns="0" rtlCol="0" anchor="ctr"/>
          <a:lstStyle/>
          <a:p>
            <a:pPr indent="0" marL="0">
              <a:buNone/>
            </a:pPr>
            <a:r>
              <a:rPr lang="en-US" sz="1800" b="1" dirty="0">
                <a:solidFill>
                  <a:schemeClr val="tx2"/>
                </a:solidFill>
              </a:rPr>
              <a:t>Welfare schemes</a:t>
            </a:r>
            <a:endParaRPr lang="en-US" sz="1800" dirty="0"/>
          </a:p>
        </p:txBody>
      </p:sp>
      <p:sp>
        <p:nvSpPr>
          <p:cNvPr id="22" name="Text 16"/>
          <p:cNvSpPr txBox="1"/>
          <p:nvPr/>
        </p:nvSpPr>
        <p:spPr>
          <a:xfrm>
            <a:off x="6446520" y="4837176"/>
            <a:ext cx="4937760" cy="1243584"/>
          </a:xfrm>
          <a:prstGeom prst="rect">
            <a:avLst/>
          </a:prstGeom>
          <a:noFill/>
          <a:ln/>
        </p:spPr>
        <p:txBody>
          <a:bodyPr wrap="square" lIns="0" tIns="0" rIns="0" bIns="0" rtlCol="0" anchor="t"/>
          <a:lstStyle/>
          <a:p>
            <a:pPr indent="0" marL="0">
              <a:buNone/>
            </a:pPr>
            <a:r>
              <a:rPr lang="en-US" sz="1800" dirty="0">
                <a:solidFill>
                  <a:schemeClr val="tx1"/>
                </a:solidFill>
              </a:rPr>
              <a:t>Scholarships, healthcare, skill training; </a:t>
            </a:r>
            <a:r>
              <a:rPr lang="en-US" sz="1800" b="1" dirty="0">
                <a:solidFill>
                  <a:schemeClr val="tx1"/>
                </a:solidFill>
              </a:rPr>
              <a:t>DAJGUA</a:t>
            </a:r>
            <a:r>
              <a:rPr lang="en-US" sz="1800" dirty="0">
                <a:solidFill>
                  <a:schemeClr val="tx1"/>
                </a:solidFill>
              </a:rPr>
              <a:t> and </a:t>
            </a:r>
            <a:r>
              <a:rPr lang="en-US" sz="1800" b="1" dirty="0">
                <a:solidFill>
                  <a:schemeClr val="tx1"/>
                </a:solidFill>
              </a:rPr>
              <a:t>PM JANMAN</a:t>
            </a:r>
            <a:r>
              <a:rPr lang="en-US" sz="1800" dirty="0">
                <a:solidFill>
                  <a:schemeClr val="tx1"/>
                </a:solidFill>
              </a:rPr>
              <a:t> for tribal welfare.</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3D2B"/>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Case Study: Mendha Lekha, Maharashtra</a:t>
            </a:r>
            <a:endParaRPr lang="en-US" sz="3600" dirty="0"/>
          </a:p>
        </p:txBody>
      </p:sp>
      <p:sp>
        <p:nvSpPr>
          <p:cNvPr id="3" name="Text 1"/>
          <p:cNvSpPr txBox="1"/>
          <p:nvPr/>
        </p:nvSpPr>
        <p:spPr>
          <a:xfrm>
            <a:off x="548640" y="1280160"/>
            <a:ext cx="11064240" cy="594360"/>
          </a:xfrm>
          <a:prstGeom prst="rect">
            <a:avLst/>
          </a:prstGeom>
          <a:noFill/>
          <a:ln/>
        </p:spPr>
        <p:txBody>
          <a:bodyPr wrap="square" lIns="0" tIns="0" rIns="0" bIns="0" rtlCol="0" anchor="ctr"/>
          <a:lstStyle/>
          <a:p>
            <a:pPr indent="0" marL="0">
              <a:buNone/>
            </a:pPr>
            <a:r>
              <a:rPr lang="en-US" sz="1700" dirty="0">
                <a:solidFill>
                  <a:schemeClr val="tx1"/>
                </a:solidFill>
              </a:rPr>
              <a:t>A Gond village in </a:t>
            </a:r>
            <a:r>
              <a:rPr lang="en-US" sz="1700" b="1" dirty="0">
                <a:solidFill>
                  <a:schemeClr val="tx1"/>
                </a:solidFill>
              </a:rPr>
              <a:t>Gadchiroli</a:t>
            </a:r>
            <a:r>
              <a:rPr lang="en-US" sz="1700" dirty="0">
                <a:solidFill>
                  <a:schemeClr val="tx1"/>
                </a:solidFill>
              </a:rPr>
              <a:t>: the </a:t>
            </a:r>
            <a:r>
              <a:rPr lang="en-US" sz="1700" b="1" dirty="0">
                <a:solidFill>
                  <a:schemeClr val="tx1"/>
                </a:solidFill>
              </a:rPr>
              <a:t>first in India</a:t>
            </a:r>
            <a:r>
              <a:rPr lang="en-US" sz="1700" dirty="0">
                <a:solidFill>
                  <a:schemeClr val="tx1"/>
                </a:solidFill>
              </a:rPr>
              <a:t> to gain rights over its forest under the FRA. Motto: </a:t>
            </a:r>
            <a:r>
              <a:rPr lang="en-US" sz="1700" b="1" dirty="0">
                <a:solidFill>
                  <a:schemeClr val="tx1"/>
                </a:solidFill>
              </a:rPr>
              <a:t>'Mawa Nate Mawa Raj'</a:t>
            </a:r>
            <a:r>
              <a:rPr lang="en-US" sz="1700" dirty="0">
                <a:solidFill>
                  <a:schemeClr val="tx1"/>
                </a:solidFill>
              </a:rPr>
              <a:t> (our village, our rule).</a:t>
            </a:r>
            <a:endParaRPr lang="en-US" sz="1600" dirty="0"/>
          </a:p>
        </p:txBody>
      </p:sp>
      <p:sp>
        <p:nvSpPr>
          <p:cNvPr id="4" name="step 1 card"/>
          <p:cNvSpPr/>
          <p:nvPr/>
        </p:nvSpPr>
        <p:spPr>
          <a:xfrm>
            <a:off x="548640" y="2057400"/>
            <a:ext cx="2457450" cy="3520440"/>
          </a:xfrm>
          <a:prstGeom prst="roundRect">
            <a:avLst>
              <a:gd name="adj" fmla="val 4465"/>
            </a:avLst>
          </a:prstGeom>
          <a:solidFill>
            <a:schemeClr val="bg2"/>
          </a:solidFill>
          <a:ln w="12700">
            <a:solidFill>
              <a:schemeClr val="bg2"/>
            </a:solidFill>
            <a:prstDash val="solid"/>
          </a:ln>
        </p:spPr>
      </p:sp>
      <p:sp>
        <p:nvSpPr>
          <p:cNvPr id="5" name="step 1 disc"/>
          <p:cNvSpPr/>
          <p:nvPr/>
        </p:nvSpPr>
        <p:spPr>
          <a:xfrm>
            <a:off x="1343025" y="2331720"/>
            <a:ext cx="868680" cy="868680"/>
          </a:xfrm>
          <a:prstGeom prst="ellipse">
            <a:avLst/>
          </a:prstGeom>
          <a:solidFill>
            <a:schemeClr val="accent1"/>
          </a:solidFill>
          <a:ln w="12700">
            <a:solidFill>
              <a:schemeClr val="accent1"/>
            </a:solidFill>
            <a:prstDash val="solid"/>
          </a:ln>
        </p:spPr>
      </p:sp>
      <p:pic>
        <p:nvPicPr>
          <p:cNvPr id="6" name="step 1 glyph" descr="preencoded.png">    </p:cNvPr>
          <p:cNvPicPr>
            <a:picLocks noChangeAspect="1"/>
          </p:cNvPicPr>
          <p:nvPr/>
        </p:nvPicPr>
        <p:blipFill>
          <a:blip r:embed="rId1"/>
          <a:stretch>
            <a:fillRect/>
          </a:stretch>
        </p:blipFill>
        <p:spPr>
          <a:xfrm>
            <a:off x="1534135" y="2522830"/>
            <a:ext cx="486461" cy="486461"/>
          </a:xfrm>
          <a:prstGeom prst="rect">
            <a:avLst/>
          </a:prstGeom>
        </p:spPr>
      </p:pic>
      <p:sp>
        <p:nvSpPr>
          <p:cNvPr id="7" name="Text 4"/>
          <p:cNvSpPr txBox="1"/>
          <p:nvPr/>
        </p:nvSpPr>
        <p:spPr>
          <a:xfrm>
            <a:off x="685800" y="3291840"/>
            <a:ext cx="2183130" cy="685800"/>
          </a:xfrm>
          <a:prstGeom prst="rect">
            <a:avLst/>
          </a:prstGeom>
          <a:noFill/>
          <a:ln/>
        </p:spPr>
        <p:txBody>
          <a:bodyPr wrap="square" lIns="0" tIns="0" rIns="0" bIns="0" rtlCol="0" anchor="ctr"/>
          <a:lstStyle/>
          <a:p>
            <a:pPr algn="ctr" indent="0" marL="0">
              <a:buNone/>
            </a:pPr>
            <a:r>
              <a:rPr lang="en-US" sz="1700" b="1" dirty="0">
                <a:solidFill>
                  <a:schemeClr val="tx2"/>
                </a:solidFill>
              </a:rPr>
              <a:t>1. Gram Sabha decides</a:t>
            </a:r>
            <a:endParaRPr lang="en-US" sz="1700" dirty="0"/>
          </a:p>
        </p:txBody>
      </p:sp>
      <p:sp>
        <p:nvSpPr>
          <p:cNvPr id="8" name="Text 5"/>
          <p:cNvSpPr txBox="1"/>
          <p:nvPr/>
        </p:nvSpPr>
        <p:spPr>
          <a:xfrm>
            <a:off x="731520" y="4023360"/>
            <a:ext cx="2091690" cy="1417320"/>
          </a:xfrm>
          <a:prstGeom prst="rect">
            <a:avLst/>
          </a:prstGeom>
          <a:noFill/>
          <a:ln/>
        </p:spPr>
        <p:txBody>
          <a:bodyPr wrap="square" lIns="0" tIns="0" rIns="0" bIns="0" rtlCol="0" anchor="t"/>
          <a:lstStyle/>
          <a:p>
            <a:pPr algn="l" indent="0" marL="0">
              <a:buNone/>
            </a:pPr>
            <a:r>
              <a:rPr lang="en-US" sz="1700" dirty="0">
                <a:solidFill>
                  <a:schemeClr val="tx1"/>
                </a:solidFill>
              </a:rPr>
              <a:t>All decisions are taken together by the village assembly.</a:t>
            </a:r>
            <a:endParaRPr lang="en-US" sz="1600" dirty="0"/>
          </a:p>
        </p:txBody>
      </p:sp>
      <p:sp>
        <p:nvSpPr>
          <p:cNvPr id="9" name="arrow 1"/>
          <p:cNvSpPr/>
          <p:nvPr/>
        </p:nvSpPr>
        <p:spPr>
          <a:xfrm>
            <a:off x="3060954" y="2619756"/>
            <a:ext cx="301752" cy="292608"/>
          </a:xfrm>
          <a:prstGeom prst="rightArrow">
            <a:avLst/>
          </a:prstGeom>
          <a:solidFill>
            <a:schemeClr val="accent3"/>
          </a:solidFill>
          <a:ln w="12700">
            <a:solidFill>
              <a:schemeClr val="accent3"/>
            </a:solidFill>
            <a:prstDash val="solid"/>
          </a:ln>
        </p:spPr>
      </p:sp>
      <p:sp>
        <p:nvSpPr>
          <p:cNvPr id="10" name="step 2 card"/>
          <p:cNvSpPr/>
          <p:nvPr/>
        </p:nvSpPr>
        <p:spPr>
          <a:xfrm>
            <a:off x="3417570" y="2057400"/>
            <a:ext cx="2457450" cy="3520440"/>
          </a:xfrm>
          <a:prstGeom prst="roundRect">
            <a:avLst>
              <a:gd name="adj" fmla="val 4465"/>
            </a:avLst>
          </a:prstGeom>
          <a:solidFill>
            <a:schemeClr val="bg2"/>
          </a:solidFill>
          <a:ln w="12700">
            <a:solidFill>
              <a:schemeClr val="bg2"/>
            </a:solidFill>
            <a:prstDash val="solid"/>
          </a:ln>
        </p:spPr>
      </p:sp>
      <p:sp>
        <p:nvSpPr>
          <p:cNvPr id="11" name="step 2 disc"/>
          <p:cNvSpPr/>
          <p:nvPr/>
        </p:nvSpPr>
        <p:spPr>
          <a:xfrm>
            <a:off x="4211955" y="2331720"/>
            <a:ext cx="868680" cy="868680"/>
          </a:xfrm>
          <a:prstGeom prst="ellipse">
            <a:avLst/>
          </a:prstGeom>
          <a:solidFill>
            <a:schemeClr val="accent2"/>
          </a:solidFill>
          <a:ln w="12700">
            <a:solidFill>
              <a:schemeClr val="accent2"/>
            </a:solidFill>
            <a:prstDash val="solid"/>
          </a:ln>
        </p:spPr>
      </p:sp>
      <p:pic>
        <p:nvPicPr>
          <p:cNvPr id="12" name="step 2 glyph" descr="preencoded.png">    </p:cNvPr>
          <p:cNvPicPr>
            <a:picLocks noChangeAspect="1"/>
          </p:cNvPicPr>
          <p:nvPr/>
        </p:nvPicPr>
        <p:blipFill>
          <a:blip r:embed="rId2"/>
          <a:stretch>
            <a:fillRect/>
          </a:stretch>
        </p:blipFill>
        <p:spPr>
          <a:xfrm>
            <a:off x="4403065" y="2522830"/>
            <a:ext cx="486461" cy="486461"/>
          </a:xfrm>
          <a:prstGeom prst="rect">
            <a:avLst/>
          </a:prstGeom>
        </p:spPr>
      </p:pic>
      <p:sp>
        <p:nvSpPr>
          <p:cNvPr id="13" name="Text 9"/>
          <p:cNvSpPr txBox="1"/>
          <p:nvPr/>
        </p:nvSpPr>
        <p:spPr>
          <a:xfrm>
            <a:off x="3554730" y="3291840"/>
            <a:ext cx="2183130" cy="685800"/>
          </a:xfrm>
          <a:prstGeom prst="rect">
            <a:avLst/>
          </a:prstGeom>
          <a:noFill/>
          <a:ln/>
        </p:spPr>
        <p:txBody>
          <a:bodyPr wrap="square" lIns="0" tIns="0" rIns="0" bIns="0" rtlCol="0" anchor="ctr"/>
          <a:lstStyle/>
          <a:p>
            <a:pPr algn="ctr" indent="0" marL="0">
              <a:buNone/>
            </a:pPr>
            <a:r>
              <a:rPr lang="en-US" sz="1700" b="1" dirty="0">
                <a:solidFill>
                  <a:schemeClr val="tx2"/>
                </a:solidFill>
              </a:rPr>
              <a:t>2. Protect 1,800 ha</a:t>
            </a:r>
            <a:endParaRPr lang="en-US" sz="1700" dirty="0"/>
          </a:p>
        </p:txBody>
      </p:sp>
      <p:sp>
        <p:nvSpPr>
          <p:cNvPr id="14" name="Text 10"/>
          <p:cNvSpPr txBox="1"/>
          <p:nvPr/>
        </p:nvSpPr>
        <p:spPr>
          <a:xfrm>
            <a:off x="3600450" y="4023360"/>
            <a:ext cx="2091690" cy="1417320"/>
          </a:xfrm>
          <a:prstGeom prst="rect">
            <a:avLst/>
          </a:prstGeom>
          <a:noFill/>
          <a:ln/>
        </p:spPr>
        <p:txBody>
          <a:bodyPr wrap="square" lIns="0" tIns="0" rIns="0" bIns="0" rtlCol="0" anchor="t"/>
          <a:lstStyle/>
          <a:p>
            <a:pPr algn="l" indent="0" marL="0">
              <a:buNone/>
            </a:pPr>
            <a:r>
              <a:rPr lang="en-US" sz="1700" dirty="0">
                <a:solidFill>
                  <a:schemeClr val="tx1"/>
                </a:solidFill>
              </a:rPr>
              <a:t>Regulate tree cutting and prevent forest fires.</a:t>
            </a:r>
            <a:endParaRPr lang="en-US" sz="1600" dirty="0"/>
          </a:p>
        </p:txBody>
      </p:sp>
      <p:sp>
        <p:nvSpPr>
          <p:cNvPr id="15" name="arrow 2"/>
          <p:cNvSpPr/>
          <p:nvPr/>
        </p:nvSpPr>
        <p:spPr>
          <a:xfrm>
            <a:off x="5929884" y="2619756"/>
            <a:ext cx="301752" cy="292608"/>
          </a:xfrm>
          <a:prstGeom prst="rightArrow">
            <a:avLst/>
          </a:prstGeom>
          <a:solidFill>
            <a:schemeClr val="accent3"/>
          </a:solidFill>
          <a:ln w="12700">
            <a:solidFill>
              <a:schemeClr val="accent3"/>
            </a:solidFill>
            <a:prstDash val="solid"/>
          </a:ln>
        </p:spPr>
      </p:sp>
      <p:sp>
        <p:nvSpPr>
          <p:cNvPr id="16" name="step 3 card"/>
          <p:cNvSpPr/>
          <p:nvPr/>
        </p:nvSpPr>
        <p:spPr>
          <a:xfrm>
            <a:off x="6286500" y="2057400"/>
            <a:ext cx="2457450" cy="3520440"/>
          </a:xfrm>
          <a:prstGeom prst="roundRect">
            <a:avLst>
              <a:gd name="adj" fmla="val 4465"/>
            </a:avLst>
          </a:prstGeom>
          <a:solidFill>
            <a:schemeClr val="bg2"/>
          </a:solidFill>
          <a:ln w="12700">
            <a:solidFill>
              <a:schemeClr val="bg2"/>
            </a:solidFill>
            <a:prstDash val="solid"/>
          </a:ln>
        </p:spPr>
      </p:sp>
      <p:sp>
        <p:nvSpPr>
          <p:cNvPr id="17" name="step 3 disc"/>
          <p:cNvSpPr/>
          <p:nvPr/>
        </p:nvSpPr>
        <p:spPr>
          <a:xfrm>
            <a:off x="7080885" y="2331720"/>
            <a:ext cx="868680" cy="868680"/>
          </a:xfrm>
          <a:prstGeom prst="ellipse">
            <a:avLst/>
          </a:prstGeom>
          <a:solidFill>
            <a:schemeClr val="accent1"/>
          </a:solidFill>
          <a:ln w="12700">
            <a:solidFill>
              <a:schemeClr val="accent1"/>
            </a:solidFill>
            <a:prstDash val="solid"/>
          </a:ln>
        </p:spPr>
      </p:sp>
      <p:pic>
        <p:nvPicPr>
          <p:cNvPr id="18" name="step 3 glyph" descr="preencoded.png">    </p:cNvPr>
          <p:cNvPicPr>
            <a:picLocks noChangeAspect="1"/>
          </p:cNvPicPr>
          <p:nvPr/>
        </p:nvPicPr>
        <p:blipFill>
          <a:blip r:embed="rId3"/>
          <a:stretch>
            <a:fillRect/>
          </a:stretch>
        </p:blipFill>
        <p:spPr>
          <a:xfrm>
            <a:off x="7271995" y="2522830"/>
            <a:ext cx="486461" cy="486461"/>
          </a:xfrm>
          <a:prstGeom prst="rect">
            <a:avLst/>
          </a:prstGeom>
        </p:spPr>
      </p:pic>
      <p:sp>
        <p:nvSpPr>
          <p:cNvPr id="19" name="Text 14"/>
          <p:cNvSpPr txBox="1"/>
          <p:nvPr/>
        </p:nvSpPr>
        <p:spPr>
          <a:xfrm>
            <a:off x="6423660" y="3291840"/>
            <a:ext cx="2183130" cy="685800"/>
          </a:xfrm>
          <a:prstGeom prst="rect">
            <a:avLst/>
          </a:prstGeom>
          <a:noFill/>
          <a:ln/>
        </p:spPr>
        <p:txBody>
          <a:bodyPr wrap="square" lIns="0" tIns="0" rIns="0" bIns="0" rtlCol="0" anchor="ctr"/>
          <a:lstStyle/>
          <a:p>
            <a:pPr algn="ctr" indent="0" marL="0">
              <a:buNone/>
            </a:pPr>
            <a:r>
              <a:rPr lang="en-US" sz="1700" b="1" dirty="0">
                <a:solidFill>
                  <a:schemeClr val="tx2"/>
                </a:solidFill>
              </a:rPr>
              <a:t>3. Use wisely</a:t>
            </a:r>
            <a:endParaRPr lang="en-US" sz="1700" dirty="0"/>
          </a:p>
        </p:txBody>
      </p:sp>
      <p:sp>
        <p:nvSpPr>
          <p:cNvPr id="20" name="Text 15"/>
          <p:cNvSpPr txBox="1"/>
          <p:nvPr/>
        </p:nvSpPr>
        <p:spPr>
          <a:xfrm>
            <a:off x="6469380" y="4023360"/>
            <a:ext cx="2091690" cy="1417320"/>
          </a:xfrm>
          <a:prstGeom prst="rect">
            <a:avLst/>
          </a:prstGeom>
          <a:noFill/>
          <a:ln/>
        </p:spPr>
        <p:txBody>
          <a:bodyPr wrap="square" lIns="0" tIns="0" rIns="0" bIns="0" rtlCol="0" anchor="t"/>
          <a:lstStyle/>
          <a:p>
            <a:pPr algn="l" indent="0" marL="0">
              <a:buNone/>
            </a:pPr>
            <a:r>
              <a:rPr lang="en-US" sz="1700" dirty="0">
                <a:solidFill>
                  <a:schemeClr val="tx1"/>
                </a:solidFill>
              </a:rPr>
              <a:t>Harvest bamboo as a renewable resource; control grazing.</a:t>
            </a:r>
            <a:endParaRPr lang="en-US" sz="1600" dirty="0"/>
          </a:p>
        </p:txBody>
      </p:sp>
      <p:sp>
        <p:nvSpPr>
          <p:cNvPr id="21" name="arrow 3"/>
          <p:cNvSpPr/>
          <p:nvPr/>
        </p:nvSpPr>
        <p:spPr>
          <a:xfrm>
            <a:off x="8798814" y="2619756"/>
            <a:ext cx="301752" cy="292608"/>
          </a:xfrm>
          <a:prstGeom prst="rightArrow">
            <a:avLst/>
          </a:prstGeom>
          <a:solidFill>
            <a:schemeClr val="accent3"/>
          </a:solidFill>
          <a:ln w="12700">
            <a:solidFill>
              <a:schemeClr val="accent3"/>
            </a:solidFill>
            <a:prstDash val="solid"/>
          </a:ln>
        </p:spPr>
      </p:sp>
      <p:sp>
        <p:nvSpPr>
          <p:cNvPr id="22" name="step 4 card"/>
          <p:cNvSpPr/>
          <p:nvPr/>
        </p:nvSpPr>
        <p:spPr>
          <a:xfrm>
            <a:off x="9155430" y="2057400"/>
            <a:ext cx="2457450" cy="3520440"/>
          </a:xfrm>
          <a:prstGeom prst="roundRect">
            <a:avLst>
              <a:gd name="adj" fmla="val 4465"/>
            </a:avLst>
          </a:prstGeom>
          <a:solidFill>
            <a:schemeClr val="bg2"/>
          </a:solidFill>
          <a:ln w="12700">
            <a:solidFill>
              <a:schemeClr val="bg2"/>
            </a:solidFill>
            <a:prstDash val="solid"/>
          </a:ln>
        </p:spPr>
      </p:sp>
      <p:sp>
        <p:nvSpPr>
          <p:cNvPr id="23" name="step 4 disc"/>
          <p:cNvSpPr/>
          <p:nvPr/>
        </p:nvSpPr>
        <p:spPr>
          <a:xfrm>
            <a:off x="9949815" y="2331720"/>
            <a:ext cx="868680" cy="868680"/>
          </a:xfrm>
          <a:prstGeom prst="ellipse">
            <a:avLst/>
          </a:prstGeom>
          <a:solidFill>
            <a:schemeClr val="accent2"/>
          </a:solidFill>
          <a:ln w="12700">
            <a:solidFill>
              <a:schemeClr val="accent2"/>
            </a:solidFill>
            <a:prstDash val="solid"/>
          </a:ln>
        </p:spPr>
      </p:sp>
      <p:pic>
        <p:nvPicPr>
          <p:cNvPr id="24" name="step 4 glyph" descr="preencoded.png">    </p:cNvPr>
          <p:cNvPicPr>
            <a:picLocks noChangeAspect="1"/>
          </p:cNvPicPr>
          <p:nvPr/>
        </p:nvPicPr>
        <p:blipFill>
          <a:blip r:embed="rId4"/>
          <a:stretch>
            <a:fillRect/>
          </a:stretch>
        </p:blipFill>
        <p:spPr>
          <a:xfrm>
            <a:off x="10140925" y="2522830"/>
            <a:ext cx="486461" cy="486461"/>
          </a:xfrm>
          <a:prstGeom prst="rect">
            <a:avLst/>
          </a:prstGeom>
        </p:spPr>
      </p:pic>
      <p:sp>
        <p:nvSpPr>
          <p:cNvPr id="25" name="Text 19"/>
          <p:cNvSpPr txBox="1"/>
          <p:nvPr/>
        </p:nvSpPr>
        <p:spPr>
          <a:xfrm>
            <a:off x="9292590" y="3291840"/>
            <a:ext cx="2183130" cy="685800"/>
          </a:xfrm>
          <a:prstGeom prst="rect">
            <a:avLst/>
          </a:prstGeom>
          <a:noFill/>
          <a:ln/>
        </p:spPr>
        <p:txBody>
          <a:bodyPr wrap="square" lIns="0" tIns="0" rIns="0" bIns="0" rtlCol="0" anchor="ctr"/>
          <a:lstStyle/>
          <a:p>
            <a:pPr algn="ctr" indent="0" marL="0">
              <a:buNone/>
            </a:pPr>
            <a:r>
              <a:rPr lang="en-US" sz="1700" b="1" dirty="0">
                <a:solidFill>
                  <a:schemeClr val="tx2"/>
                </a:solidFill>
              </a:rPr>
              <a:t>4. Share the gains</a:t>
            </a:r>
            <a:endParaRPr lang="en-US" sz="1700" dirty="0"/>
          </a:p>
        </p:txBody>
      </p:sp>
      <p:sp>
        <p:nvSpPr>
          <p:cNvPr id="26" name="Text 20"/>
          <p:cNvSpPr txBox="1"/>
          <p:nvPr/>
        </p:nvSpPr>
        <p:spPr>
          <a:xfrm>
            <a:off x="9338310" y="4023360"/>
            <a:ext cx="2091690" cy="1417320"/>
          </a:xfrm>
          <a:prstGeom prst="rect">
            <a:avLst/>
          </a:prstGeom>
          <a:noFill/>
          <a:ln/>
        </p:spPr>
        <p:txBody>
          <a:bodyPr wrap="square" lIns="0" tIns="0" rIns="0" bIns="0" rtlCol="0" anchor="t"/>
          <a:lstStyle/>
          <a:p>
            <a:pPr algn="l" indent="0" marL="0">
              <a:buNone/>
            </a:pPr>
            <a:r>
              <a:rPr lang="en-US" sz="1700" dirty="0">
                <a:solidFill>
                  <a:schemeClr val="tx1"/>
                </a:solidFill>
              </a:rPr>
              <a:t>Forest income funds education and village infrastructure.</a:t>
            </a:r>
            <a:endParaRPr lang="en-US" sz="1600" dirty="0"/>
          </a:p>
        </p:txBody>
      </p:sp>
      <p:sp>
        <p:nvSpPr>
          <p:cNvPr id="27" name="footnote band"/>
          <p:cNvSpPr/>
          <p:nvPr/>
        </p:nvSpPr>
        <p:spPr>
          <a:xfrm>
            <a:off x="548640" y="5715000"/>
            <a:ext cx="11064240" cy="548640"/>
          </a:xfrm>
          <a:prstGeom prst="roundRect">
            <a:avLst>
              <a:gd name="adj" fmla="val 13333"/>
            </a:avLst>
          </a:prstGeom>
          <a:solidFill>
            <a:schemeClr val="tx2"/>
          </a:solidFill>
          <a:ln w="12700">
            <a:solidFill>
              <a:schemeClr val="tx2"/>
            </a:solidFill>
            <a:prstDash val="solid"/>
          </a:ln>
        </p:spPr>
      </p:sp>
      <p:sp>
        <p:nvSpPr>
          <p:cNvPr id="28" name="Text 22"/>
          <p:cNvSpPr txBox="1"/>
          <p:nvPr/>
        </p:nvSpPr>
        <p:spPr>
          <a:xfrm>
            <a:off x="777240" y="5715000"/>
            <a:ext cx="10607040" cy="548640"/>
          </a:xfrm>
          <a:prstGeom prst="rect">
            <a:avLst/>
          </a:prstGeom>
          <a:noFill/>
          <a:ln/>
        </p:spPr>
        <p:txBody>
          <a:bodyPr wrap="square" lIns="0" tIns="0" rIns="0" bIns="0" rtlCol="0" anchor="ctr"/>
          <a:lstStyle/>
          <a:p>
            <a:pPr indent="0" marL="0">
              <a:buNone/>
            </a:pPr>
            <a:r>
              <a:rPr lang="en-US" sz="1500" dirty="0">
                <a:solidFill>
                  <a:schemeClr val="bg1"/>
                </a:solidFill>
              </a:rPr>
              <a:t>Rights + duties + democratic participation = </a:t>
            </a:r>
            <a:r>
              <a:rPr lang="en-US" sz="1500" b="1" dirty="0">
                <a:solidFill>
                  <a:schemeClr val="bg1"/>
                </a:solidFill>
              </a:rPr>
              <a:t>sustainable forest conservation</a:t>
            </a:r>
            <a:r>
              <a:rPr lang="en-US" sz="1500" dirty="0">
                <a:solidFill>
                  <a:schemeClr val="bg1"/>
                </a:solidFill>
              </a:rPr>
              <a:t>.</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3D2B"/>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Ecological Commons: Shared by All</a:t>
            </a:r>
            <a:endParaRPr lang="en-US" sz="3600" dirty="0"/>
          </a:p>
        </p:txBody>
      </p:sp>
      <p:sp>
        <p:nvSpPr>
          <p:cNvPr id="3" name="Text 1"/>
          <p:cNvSpPr txBox="1"/>
          <p:nvPr/>
        </p:nvSpPr>
        <p:spPr>
          <a:xfrm>
            <a:off x="548640" y="1280160"/>
            <a:ext cx="11064240" cy="640080"/>
          </a:xfrm>
          <a:prstGeom prst="rect">
            <a:avLst/>
          </a:prstGeom>
          <a:noFill/>
          <a:ln/>
        </p:spPr>
        <p:txBody>
          <a:bodyPr wrap="square" lIns="0" tIns="0" rIns="0" bIns="0" rtlCol="0" anchor="ctr"/>
          <a:lstStyle/>
          <a:p>
            <a:pPr indent="0" marL="0">
              <a:buNone/>
            </a:pPr>
            <a:r>
              <a:rPr lang="en-US" sz="1700" b="1" dirty="0">
                <a:solidFill>
                  <a:schemeClr val="tx1"/>
                </a:solidFill>
              </a:rPr>
              <a:t>Ecological commons</a:t>
            </a:r>
            <a:r>
              <a:rPr lang="en-US" sz="1700" dirty="0">
                <a:solidFill>
                  <a:schemeClr val="tx1"/>
                </a:solidFill>
              </a:rPr>
              <a:t> are forests, rivers, lakes, grazing lands, air and biodiversity used and managed together by a community.</a:t>
            </a:r>
            <a:endParaRPr lang="en-US" sz="1600" dirty="0"/>
          </a:p>
        </p:txBody>
      </p:sp>
      <p:sp>
        <p:nvSpPr>
          <p:cNvPr id="4" name="card 1"/>
          <p:cNvSpPr/>
          <p:nvPr/>
        </p:nvSpPr>
        <p:spPr>
          <a:xfrm>
            <a:off x="548640" y="2057400"/>
            <a:ext cx="3505200" cy="4160520"/>
          </a:xfrm>
          <a:prstGeom prst="roundRect">
            <a:avLst>
              <a:gd name="adj" fmla="val 3130"/>
            </a:avLst>
          </a:prstGeom>
          <a:solidFill>
            <a:schemeClr val="bg2"/>
          </a:solidFill>
          <a:ln w="12700">
            <a:solidFill>
              <a:schemeClr val="bg2"/>
            </a:solidFill>
            <a:prstDash val="solid"/>
          </a:ln>
        </p:spPr>
      </p:sp>
      <p:sp>
        <p:nvSpPr>
          <p:cNvPr id="5" name="card 1 disc"/>
          <p:cNvSpPr/>
          <p:nvPr/>
        </p:nvSpPr>
        <p:spPr>
          <a:xfrm>
            <a:off x="777240" y="2286000"/>
            <a:ext cx="566928" cy="566928"/>
          </a:xfrm>
          <a:prstGeom prst="ellipse">
            <a:avLst/>
          </a:prstGeom>
          <a:solidFill>
            <a:schemeClr val="accent1"/>
          </a:solidFill>
          <a:ln w="12700">
            <a:solidFill>
              <a:schemeClr val="accent1"/>
            </a:solidFill>
            <a:prstDash val="solid"/>
          </a:ln>
        </p:spPr>
      </p:sp>
      <p:pic>
        <p:nvPicPr>
          <p:cNvPr id="6" name="card 1 glyph" descr="preencoded.png">    </p:cNvPr>
          <p:cNvPicPr>
            <a:picLocks noChangeAspect="1"/>
          </p:cNvPicPr>
          <p:nvPr/>
        </p:nvPicPr>
        <p:blipFill>
          <a:blip r:embed="rId1"/>
          <a:stretch>
            <a:fillRect/>
          </a:stretch>
        </p:blipFill>
        <p:spPr>
          <a:xfrm>
            <a:off x="901964" y="2410724"/>
            <a:ext cx="317480" cy="317480"/>
          </a:xfrm>
          <a:prstGeom prst="rect">
            <a:avLst/>
          </a:prstGeom>
        </p:spPr>
      </p:pic>
      <p:sp>
        <p:nvSpPr>
          <p:cNvPr id="7" name="Text 4"/>
          <p:cNvSpPr txBox="1"/>
          <p:nvPr/>
        </p:nvSpPr>
        <p:spPr>
          <a:xfrm>
            <a:off x="1481328" y="22860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Bihar's fisheries</a:t>
            </a:r>
            <a:endParaRPr lang="en-US" sz="1800" dirty="0"/>
          </a:p>
        </p:txBody>
      </p:sp>
      <p:sp>
        <p:nvSpPr>
          <p:cNvPr id="8" name="Text 5"/>
          <p:cNvSpPr txBox="1"/>
          <p:nvPr/>
        </p:nvSpPr>
        <p:spPr>
          <a:xfrm>
            <a:off x="777240" y="2962656"/>
            <a:ext cx="3048000" cy="3118104"/>
          </a:xfrm>
          <a:prstGeom prst="rect">
            <a:avLst/>
          </a:prstGeom>
          <a:noFill/>
          <a:ln/>
        </p:spPr>
        <p:txBody>
          <a:bodyPr wrap="square" lIns="0" tIns="0" rIns="0" bIns="0" rtlCol="0" anchor="t"/>
          <a:lstStyle/>
          <a:p>
            <a:pPr indent="0" marL="0">
              <a:buNone/>
            </a:pPr>
            <a:r>
              <a:rPr lang="en-US" sz="1800" dirty="0">
                <a:solidFill>
                  <a:schemeClr val="tx1"/>
                </a:solidFill>
              </a:rPr>
              <a:t>The </a:t>
            </a:r>
            <a:r>
              <a:rPr lang="en-US" sz="1800" b="1" dirty="0">
                <a:solidFill>
                  <a:schemeClr val="tx1"/>
                </a:solidFill>
              </a:rPr>
              <a:t>Bihar Fish Jalkar Management Act, 2006</a:t>
            </a:r>
            <a:r>
              <a:rPr lang="en-US" sz="1800" dirty="0">
                <a:solidFill>
                  <a:schemeClr val="tx1"/>
                </a:solidFill>
              </a:rPr>
              <a:t> gave communities control of water bodies; fish production keeps growing.</a:t>
            </a:r>
            <a:endParaRPr lang="en-US" sz="1600" dirty="0"/>
          </a:p>
        </p:txBody>
      </p:sp>
      <p:sp>
        <p:nvSpPr>
          <p:cNvPr id="9" name="card 2"/>
          <p:cNvSpPr/>
          <p:nvPr/>
        </p:nvSpPr>
        <p:spPr>
          <a:xfrm>
            <a:off x="4328160" y="2057400"/>
            <a:ext cx="3505200" cy="4160520"/>
          </a:xfrm>
          <a:prstGeom prst="roundRect">
            <a:avLst>
              <a:gd name="adj" fmla="val 3130"/>
            </a:avLst>
          </a:prstGeom>
          <a:solidFill>
            <a:schemeClr val="bg2"/>
          </a:solidFill>
          <a:ln w="12700">
            <a:solidFill>
              <a:schemeClr val="bg2"/>
            </a:solidFill>
            <a:prstDash val="solid"/>
          </a:ln>
        </p:spPr>
      </p:sp>
      <p:sp>
        <p:nvSpPr>
          <p:cNvPr id="10" name="card 2 disc"/>
          <p:cNvSpPr/>
          <p:nvPr/>
        </p:nvSpPr>
        <p:spPr>
          <a:xfrm>
            <a:off x="4556760" y="2286000"/>
            <a:ext cx="566928" cy="566928"/>
          </a:xfrm>
          <a:prstGeom prst="ellipse">
            <a:avLst/>
          </a:prstGeom>
          <a:solidFill>
            <a:schemeClr val="accent2"/>
          </a:solidFill>
          <a:ln w="12700">
            <a:solidFill>
              <a:schemeClr val="accent2"/>
            </a:solidFill>
            <a:prstDash val="solid"/>
          </a:ln>
        </p:spPr>
      </p:sp>
      <p:pic>
        <p:nvPicPr>
          <p:cNvPr id="11" name="card 2 glyph" descr="preencoded.png">    </p:cNvPr>
          <p:cNvPicPr>
            <a:picLocks noChangeAspect="1"/>
          </p:cNvPicPr>
          <p:nvPr/>
        </p:nvPicPr>
        <p:blipFill>
          <a:blip r:embed="rId2"/>
          <a:stretch>
            <a:fillRect/>
          </a:stretch>
        </p:blipFill>
        <p:spPr>
          <a:xfrm>
            <a:off x="4681484" y="2410724"/>
            <a:ext cx="317480" cy="317480"/>
          </a:xfrm>
          <a:prstGeom prst="rect">
            <a:avLst/>
          </a:prstGeom>
        </p:spPr>
      </p:pic>
      <p:sp>
        <p:nvSpPr>
          <p:cNvPr id="12" name="Text 8"/>
          <p:cNvSpPr txBox="1"/>
          <p:nvPr/>
        </p:nvSpPr>
        <p:spPr>
          <a:xfrm>
            <a:off x="5260848" y="22860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Traditional tanks</a:t>
            </a:r>
            <a:endParaRPr lang="en-US" sz="1800" dirty="0"/>
          </a:p>
        </p:txBody>
      </p:sp>
      <p:sp>
        <p:nvSpPr>
          <p:cNvPr id="13" name="Text 9"/>
          <p:cNvSpPr txBox="1"/>
          <p:nvPr/>
        </p:nvSpPr>
        <p:spPr>
          <a:xfrm>
            <a:off x="4556760" y="2962656"/>
            <a:ext cx="3048000" cy="3118104"/>
          </a:xfrm>
          <a:prstGeom prst="rect">
            <a:avLst/>
          </a:prstGeom>
          <a:noFill/>
          <a:ln/>
        </p:spPr>
        <p:txBody>
          <a:bodyPr wrap="square" lIns="0" tIns="0" rIns="0" bIns="0" rtlCol="0" anchor="t"/>
          <a:lstStyle/>
          <a:p>
            <a:pPr indent="0" marL="0">
              <a:buNone/>
            </a:pPr>
            <a:r>
              <a:rPr lang="en-US" sz="1800" dirty="0">
                <a:solidFill>
                  <a:schemeClr val="tx1"/>
                </a:solidFill>
              </a:rPr>
              <a:t>Chandellas and Bundelas built ~</a:t>
            </a:r>
            <a:r>
              <a:rPr lang="en-US" sz="1800" b="1" dirty="0">
                <a:solidFill>
                  <a:schemeClr val="tx1"/>
                </a:solidFill>
              </a:rPr>
              <a:t>8,000 tanks</a:t>
            </a:r>
            <a:r>
              <a:rPr lang="en-US" sz="1800" dirty="0">
                <a:solidFill>
                  <a:schemeClr val="tx1"/>
                </a:solidFill>
              </a:rPr>
              <a:t> in Bundelkhand (800–1200 CE). Keres, eri, chevuru, ahar-pynes, Gond </a:t>
            </a:r>
            <a:r>
              <a:rPr lang="en-US" sz="1800" b="1" dirty="0">
                <a:solidFill>
                  <a:schemeClr val="tx1"/>
                </a:solidFill>
              </a:rPr>
              <a:t>katas</a:t>
            </a:r>
            <a:r>
              <a:rPr lang="en-US" sz="1800" dirty="0">
                <a:solidFill>
                  <a:schemeClr val="tx1"/>
                </a:solidFill>
              </a:rPr>
              <a:t>.</a:t>
            </a:r>
            <a:endParaRPr lang="en-US" sz="1600" dirty="0"/>
          </a:p>
        </p:txBody>
      </p:sp>
      <p:sp>
        <p:nvSpPr>
          <p:cNvPr id="14" name="card 3"/>
          <p:cNvSpPr/>
          <p:nvPr/>
        </p:nvSpPr>
        <p:spPr>
          <a:xfrm>
            <a:off x="8107680" y="2057400"/>
            <a:ext cx="3505200" cy="4160520"/>
          </a:xfrm>
          <a:prstGeom prst="roundRect">
            <a:avLst>
              <a:gd name="adj" fmla="val 3130"/>
            </a:avLst>
          </a:prstGeom>
          <a:solidFill>
            <a:schemeClr val="bg2"/>
          </a:solidFill>
          <a:ln w="12700">
            <a:solidFill>
              <a:schemeClr val="bg2"/>
            </a:solidFill>
            <a:prstDash val="solid"/>
          </a:ln>
        </p:spPr>
      </p:sp>
      <p:sp>
        <p:nvSpPr>
          <p:cNvPr id="15" name="card 3 disc"/>
          <p:cNvSpPr/>
          <p:nvPr/>
        </p:nvSpPr>
        <p:spPr>
          <a:xfrm>
            <a:off x="8336280" y="2286000"/>
            <a:ext cx="566928" cy="566928"/>
          </a:xfrm>
          <a:prstGeom prst="ellipse">
            <a:avLst/>
          </a:prstGeom>
          <a:solidFill>
            <a:schemeClr val="accent4"/>
          </a:solidFill>
          <a:ln w="12700">
            <a:solidFill>
              <a:schemeClr val="accent4"/>
            </a:solidFill>
            <a:prstDash val="solid"/>
          </a:ln>
        </p:spPr>
      </p:sp>
      <p:pic>
        <p:nvPicPr>
          <p:cNvPr id="16" name="card 3 glyph" descr="preencoded.png">    </p:cNvPr>
          <p:cNvPicPr>
            <a:picLocks noChangeAspect="1"/>
          </p:cNvPicPr>
          <p:nvPr/>
        </p:nvPicPr>
        <p:blipFill>
          <a:blip r:embed="rId3"/>
          <a:stretch>
            <a:fillRect/>
          </a:stretch>
        </p:blipFill>
        <p:spPr>
          <a:xfrm>
            <a:off x="8461004" y="2410724"/>
            <a:ext cx="317480" cy="317480"/>
          </a:xfrm>
          <a:prstGeom prst="rect">
            <a:avLst/>
          </a:prstGeom>
        </p:spPr>
      </p:pic>
      <p:sp>
        <p:nvSpPr>
          <p:cNvPr id="17" name="Text 12"/>
          <p:cNvSpPr txBox="1"/>
          <p:nvPr/>
        </p:nvSpPr>
        <p:spPr>
          <a:xfrm>
            <a:off x="9040368" y="22860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Under pressure</a:t>
            </a:r>
            <a:endParaRPr lang="en-US" sz="1800" dirty="0"/>
          </a:p>
        </p:txBody>
      </p:sp>
      <p:sp>
        <p:nvSpPr>
          <p:cNvPr id="18" name="Text 13"/>
          <p:cNvSpPr txBox="1"/>
          <p:nvPr/>
        </p:nvSpPr>
        <p:spPr>
          <a:xfrm>
            <a:off x="8336280" y="2962656"/>
            <a:ext cx="3048000" cy="3118104"/>
          </a:xfrm>
          <a:prstGeom prst="rect">
            <a:avLst/>
          </a:prstGeom>
          <a:noFill/>
          <a:ln/>
        </p:spPr>
        <p:txBody>
          <a:bodyPr wrap="square" lIns="0" tIns="0" rIns="0" bIns="0" rtlCol="0" anchor="t"/>
          <a:lstStyle/>
          <a:p>
            <a:pPr indent="0" marL="0">
              <a:buNone/>
            </a:pPr>
            <a:r>
              <a:rPr lang="en-US" sz="1800" dirty="0">
                <a:solidFill>
                  <a:schemeClr val="tx1"/>
                </a:solidFill>
              </a:rPr>
              <a:t>Population growth, industry and privatisation are shrinking commons. India still has </a:t>
            </a:r>
            <a:r>
              <a:rPr lang="en-US" sz="1800" b="1" dirty="0">
                <a:solidFill>
                  <a:schemeClr val="tx1"/>
                </a:solidFill>
              </a:rPr>
              <a:t>15 lakh+</a:t>
            </a:r>
            <a:r>
              <a:rPr lang="en-US" sz="1800" dirty="0">
                <a:solidFill>
                  <a:schemeClr val="tx1"/>
                </a:solidFill>
              </a:rPr>
              <a:t> working tanks.</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3D2B"/>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Role-Play: The Gram Sabha Decides</a:t>
            </a:r>
            <a:endParaRPr lang="en-US" sz="3600" dirty="0"/>
          </a:p>
        </p:txBody>
      </p:sp>
      <p:sp>
        <p:nvSpPr>
          <p:cNvPr id="3" name="activity info card"/>
          <p:cNvSpPr/>
          <p:nvPr/>
        </p:nvSpPr>
        <p:spPr>
          <a:xfrm>
            <a:off x="548640" y="1371600"/>
            <a:ext cx="3657600" cy="4846320"/>
          </a:xfrm>
          <a:prstGeom prst="roundRect">
            <a:avLst>
              <a:gd name="adj" fmla="val 3000"/>
            </a:avLst>
          </a:prstGeom>
          <a:solidFill>
            <a:schemeClr val="tx2"/>
          </a:solidFill>
          <a:ln w="12700">
            <a:solidFill>
              <a:schemeClr val="tx2"/>
            </a:solidFill>
            <a:prstDash val="solid"/>
          </a:ln>
          <a:effectLst>
            <a:outerShdw sx="100000" sy="100000" kx="0" ky="0" algn="bl" rotWithShape="0" blurRad="101600" dist="25400" dir="5400000">
              <a:srgbClr val="000000">
                <a:alpha val="14000"/>
              </a:srgbClr>
            </a:outerShdw>
          </a:effectLst>
        </p:spPr>
      </p:sp>
      <p:sp>
        <p:nvSpPr>
          <p:cNvPr id="4" name="activity disc"/>
          <p:cNvSpPr/>
          <p:nvPr/>
        </p:nvSpPr>
        <p:spPr>
          <a:xfrm>
            <a:off x="868680" y="1691640"/>
            <a:ext cx="914400" cy="914400"/>
          </a:xfrm>
          <a:prstGeom prst="ellipse">
            <a:avLst/>
          </a:prstGeom>
          <a:solidFill>
            <a:schemeClr val="accent3"/>
          </a:solidFill>
          <a:ln w="12700">
            <a:solidFill>
              <a:schemeClr val="accent3"/>
            </a:solidFill>
            <a:prstDash val="solid"/>
          </a:ln>
        </p:spPr>
      </p:sp>
      <p:pic>
        <p:nvPicPr>
          <p:cNvPr id="5" name="activity glyph" descr="preencoded.png">    </p:cNvPr>
          <p:cNvPicPr>
            <a:picLocks noChangeAspect="1"/>
          </p:cNvPicPr>
          <p:nvPr/>
        </p:nvPicPr>
        <p:blipFill>
          <a:blip r:embed="rId1"/>
          <a:stretch>
            <a:fillRect/>
          </a:stretch>
        </p:blipFill>
        <p:spPr>
          <a:xfrm>
            <a:off x="1069848" y="1892808"/>
            <a:ext cx="512064" cy="512064"/>
          </a:xfrm>
          <a:prstGeom prst="rect">
            <a:avLst/>
          </a:prstGeom>
        </p:spPr>
      </p:pic>
      <p:sp>
        <p:nvSpPr>
          <p:cNvPr id="6" name="Text 3"/>
          <p:cNvSpPr txBox="1"/>
          <p:nvPr/>
        </p:nvSpPr>
        <p:spPr>
          <a:xfrm>
            <a:off x="1965960" y="1737360"/>
            <a:ext cx="2103120" cy="365760"/>
          </a:xfrm>
          <a:prstGeom prst="rect">
            <a:avLst/>
          </a:prstGeom>
          <a:noFill/>
          <a:ln/>
        </p:spPr>
        <p:txBody>
          <a:bodyPr wrap="square" lIns="0" tIns="0" rIns="0" bIns="0" rtlCol="0" anchor="ctr"/>
          <a:lstStyle/>
          <a:p>
            <a:pPr indent="0" marL="0">
              <a:buNone/>
            </a:pPr>
            <a:r>
              <a:rPr lang="en-US" sz="1300" b="1" spc="200" kern="0" dirty="0">
                <a:solidFill>
                  <a:schemeClr val="accent3"/>
                </a:solidFill>
              </a:rPr>
              <a:t>ROLE-PLAY</a:t>
            </a:r>
            <a:endParaRPr lang="en-US" sz="1300" dirty="0"/>
          </a:p>
        </p:txBody>
      </p:sp>
      <p:sp>
        <p:nvSpPr>
          <p:cNvPr id="7" name="Text 4"/>
          <p:cNvSpPr txBox="1"/>
          <p:nvPr/>
        </p:nvSpPr>
        <p:spPr>
          <a:xfrm>
            <a:off x="1965960" y="2103120"/>
            <a:ext cx="2103120" cy="640080"/>
          </a:xfrm>
          <a:prstGeom prst="rect">
            <a:avLst/>
          </a:prstGeom>
          <a:noFill/>
          <a:ln/>
        </p:spPr>
        <p:txBody>
          <a:bodyPr wrap="square" lIns="0" tIns="0" rIns="0" bIns="0" rtlCol="0" anchor="t"/>
          <a:lstStyle/>
          <a:p>
            <a:pPr indent="0" marL="0">
              <a:buNone/>
            </a:pPr>
            <a:r>
              <a:rPr lang="en-US" sz="1800" b="1" dirty="0">
                <a:solidFill>
                  <a:schemeClr val="bg1"/>
                </a:solidFill>
              </a:rPr>
              <a:t>Should the forest be cleared?</a:t>
            </a:r>
            <a:endParaRPr lang="en-US" sz="1800" dirty="0"/>
          </a:p>
        </p:txBody>
      </p:sp>
      <p:pic>
        <p:nvPicPr>
          <p:cNvPr id="8" name="Time icon" descr="preencoded.png">    </p:cNvPr>
          <p:cNvPicPr>
            <a:picLocks noChangeAspect="1"/>
          </p:cNvPicPr>
          <p:nvPr/>
        </p:nvPicPr>
        <p:blipFill>
          <a:blip r:embed="rId2"/>
          <a:stretch>
            <a:fillRect/>
          </a:stretch>
        </p:blipFill>
        <p:spPr>
          <a:xfrm>
            <a:off x="868680" y="3063240"/>
            <a:ext cx="347472" cy="347472"/>
          </a:xfrm>
          <a:prstGeom prst="rect">
            <a:avLst/>
          </a:prstGeom>
        </p:spPr>
      </p:pic>
      <p:sp>
        <p:nvSpPr>
          <p:cNvPr id="9" name="Text 5"/>
          <p:cNvSpPr txBox="1"/>
          <p:nvPr/>
        </p:nvSpPr>
        <p:spPr>
          <a:xfrm>
            <a:off x="1371600" y="301752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Time: </a:t>
            </a:r>
            <a:r>
              <a:rPr lang="en-US" sz="1400" dirty="0">
                <a:solidFill>
                  <a:schemeClr val="bg1"/>
                </a:solidFill>
              </a:rPr>
              <a:t>30 minutes</a:t>
            </a:r>
            <a:endParaRPr lang="en-US" sz="1400" dirty="0"/>
          </a:p>
        </p:txBody>
      </p:sp>
      <p:pic>
        <p:nvPicPr>
          <p:cNvPr id="10" name="Group icon" descr="preencoded.png">    </p:cNvPr>
          <p:cNvPicPr>
            <a:picLocks noChangeAspect="1"/>
          </p:cNvPicPr>
          <p:nvPr/>
        </p:nvPicPr>
        <p:blipFill>
          <a:blip r:embed="rId3"/>
          <a:stretch>
            <a:fillRect/>
          </a:stretch>
        </p:blipFill>
        <p:spPr>
          <a:xfrm>
            <a:off x="868680" y="3703320"/>
            <a:ext cx="347472" cy="347472"/>
          </a:xfrm>
          <a:prstGeom prst="rect">
            <a:avLst/>
          </a:prstGeom>
        </p:spPr>
      </p:pic>
      <p:sp>
        <p:nvSpPr>
          <p:cNvPr id="11" name="Text 6"/>
          <p:cNvSpPr txBox="1"/>
          <p:nvPr/>
        </p:nvSpPr>
        <p:spPr>
          <a:xfrm>
            <a:off x="1371600" y="365760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Group: </a:t>
            </a:r>
            <a:r>
              <a:rPr lang="en-US" sz="1400" dirty="0">
                <a:solidFill>
                  <a:schemeClr val="bg1"/>
                </a:solidFill>
              </a:rPr>
              <a:t>Whole class, 6 roles</a:t>
            </a:r>
            <a:endParaRPr lang="en-US" sz="1400" dirty="0"/>
          </a:p>
        </p:txBody>
      </p:sp>
      <p:pic>
        <p:nvPicPr>
          <p:cNvPr id="12" name="You need icon" descr="preencoded.png">    </p:cNvPr>
          <p:cNvPicPr>
            <a:picLocks noChangeAspect="1"/>
          </p:cNvPicPr>
          <p:nvPr/>
        </p:nvPicPr>
        <p:blipFill>
          <a:blip r:embed="rId4"/>
          <a:stretch>
            <a:fillRect/>
          </a:stretch>
        </p:blipFill>
        <p:spPr>
          <a:xfrm>
            <a:off x="868680" y="4343400"/>
            <a:ext cx="347472" cy="347472"/>
          </a:xfrm>
          <a:prstGeom prst="rect">
            <a:avLst/>
          </a:prstGeom>
        </p:spPr>
      </p:pic>
      <p:sp>
        <p:nvSpPr>
          <p:cNvPr id="13" name="Text 7"/>
          <p:cNvSpPr txBox="1"/>
          <p:nvPr/>
        </p:nvSpPr>
        <p:spPr>
          <a:xfrm>
            <a:off x="1371600" y="429768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You need: </a:t>
            </a:r>
            <a:r>
              <a:rPr lang="en-US" sz="1400" dirty="0">
                <a:solidFill>
                  <a:schemeClr val="bg1"/>
                </a:solidFill>
              </a:rPr>
              <a:t>Role cards, a 'proposal' letter, voting slips</a:t>
            </a:r>
            <a:endParaRPr lang="en-US" sz="1400" dirty="0"/>
          </a:p>
        </p:txBody>
      </p:sp>
      <p:sp>
        <p:nvSpPr>
          <p:cNvPr id="14" name="activity steps card"/>
          <p:cNvSpPr/>
          <p:nvPr/>
        </p:nvSpPr>
        <p:spPr>
          <a:xfrm>
            <a:off x="4526280" y="1371600"/>
            <a:ext cx="7086600" cy="4846320"/>
          </a:xfrm>
          <a:prstGeom prst="roundRect">
            <a:avLst>
              <a:gd name="adj" fmla="val 2264"/>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5" name="Text 9"/>
          <p:cNvSpPr txBox="1"/>
          <p:nvPr/>
        </p:nvSpPr>
        <p:spPr>
          <a:xfrm>
            <a:off x="4846320" y="1600200"/>
            <a:ext cx="6400800" cy="457200"/>
          </a:xfrm>
          <a:prstGeom prst="rect">
            <a:avLst/>
          </a:prstGeom>
          <a:noFill/>
          <a:ln/>
        </p:spPr>
        <p:txBody>
          <a:bodyPr wrap="square" lIns="0" tIns="0" rIns="0" bIns="0" rtlCol="0" anchor="ctr"/>
          <a:lstStyle/>
          <a:p>
            <a:pPr indent="0" marL="0">
              <a:buNone/>
            </a:pPr>
            <a:r>
              <a:rPr lang="en-US" sz="2000" b="1" dirty="0">
                <a:solidFill>
                  <a:schemeClr val="accent1"/>
                </a:solidFill>
              </a:rPr>
              <a:t>How to play</a:t>
            </a:r>
            <a:endParaRPr lang="en-US" sz="2000" dirty="0"/>
          </a:p>
        </p:txBody>
      </p:sp>
      <p:sp>
        <p:nvSpPr>
          <p:cNvPr id="16" name="step 1 badge"/>
          <p:cNvSpPr/>
          <p:nvPr/>
        </p:nvSpPr>
        <p:spPr>
          <a:xfrm>
            <a:off x="4846320" y="2212848"/>
            <a:ext cx="384048" cy="384048"/>
          </a:xfrm>
          <a:prstGeom prst="ellipse">
            <a:avLst/>
          </a:prstGeom>
          <a:solidFill>
            <a:schemeClr val="accent1"/>
          </a:solidFill>
          <a:ln w="12700">
            <a:solidFill>
              <a:schemeClr val="accent1"/>
            </a:solidFill>
            <a:prstDash val="solid"/>
          </a:ln>
        </p:spPr>
      </p:sp>
      <p:sp>
        <p:nvSpPr>
          <p:cNvPr id="17" name="Text 11"/>
          <p:cNvSpPr txBox="1"/>
          <p:nvPr/>
        </p:nvSpPr>
        <p:spPr>
          <a:xfrm>
            <a:off x="4846320" y="221284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8" name="Text 12"/>
          <p:cNvSpPr txBox="1"/>
          <p:nvPr/>
        </p:nvSpPr>
        <p:spPr>
          <a:xfrm>
            <a:off x="5394960" y="2194560"/>
            <a:ext cx="5943600" cy="493776"/>
          </a:xfrm>
          <a:prstGeom prst="rect">
            <a:avLst/>
          </a:prstGeom>
          <a:noFill/>
          <a:ln/>
        </p:spPr>
        <p:txBody>
          <a:bodyPr wrap="square" lIns="0" tIns="0" rIns="0" bIns="0" rtlCol="0" anchor="t"/>
          <a:lstStyle/>
          <a:p>
            <a:pPr indent="0" marL="0">
              <a:buNone/>
            </a:pPr>
            <a:r>
              <a:rPr lang="en-US" sz="1400" dirty="0">
                <a:solidFill>
                  <a:schemeClr val="tx1"/>
                </a:solidFill>
              </a:rPr>
              <a:t>Proposal: a company wants to clear 50 ha of village forest for a resort.</a:t>
            </a:r>
            <a:endParaRPr lang="en-US" sz="1600" dirty="0"/>
          </a:p>
        </p:txBody>
      </p:sp>
      <p:sp>
        <p:nvSpPr>
          <p:cNvPr id="19" name="step 2 badge"/>
          <p:cNvSpPr/>
          <p:nvPr/>
        </p:nvSpPr>
        <p:spPr>
          <a:xfrm>
            <a:off x="4846320" y="2752344"/>
            <a:ext cx="384048" cy="384048"/>
          </a:xfrm>
          <a:prstGeom prst="ellipse">
            <a:avLst/>
          </a:prstGeom>
          <a:solidFill>
            <a:schemeClr val="accent1"/>
          </a:solidFill>
          <a:ln w="12700">
            <a:solidFill>
              <a:schemeClr val="accent1"/>
            </a:solidFill>
            <a:prstDash val="solid"/>
          </a:ln>
        </p:spPr>
      </p:sp>
      <p:sp>
        <p:nvSpPr>
          <p:cNvPr id="20" name="Text 14"/>
          <p:cNvSpPr txBox="1"/>
          <p:nvPr/>
        </p:nvSpPr>
        <p:spPr>
          <a:xfrm>
            <a:off x="4846320" y="275234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1" name="Text 15"/>
          <p:cNvSpPr txBox="1"/>
          <p:nvPr/>
        </p:nvSpPr>
        <p:spPr>
          <a:xfrm>
            <a:off x="5394960" y="2734056"/>
            <a:ext cx="5943600" cy="493776"/>
          </a:xfrm>
          <a:prstGeom prst="rect">
            <a:avLst/>
          </a:prstGeom>
          <a:noFill/>
          <a:ln/>
        </p:spPr>
        <p:txBody>
          <a:bodyPr wrap="square" lIns="0" tIns="0" rIns="0" bIns="0" rtlCol="0" anchor="t"/>
          <a:lstStyle/>
          <a:p>
            <a:pPr indent="0" marL="0">
              <a:buNone/>
            </a:pPr>
            <a:r>
              <a:rPr lang="en-US" sz="1400" dirty="0">
                <a:solidFill>
                  <a:schemeClr val="tx1"/>
                </a:solidFill>
              </a:rPr>
              <a:t>Roles: </a:t>
            </a:r>
            <a:r>
              <a:rPr lang="en-US" sz="1400" b="1" dirty="0">
                <a:solidFill>
                  <a:schemeClr val="tx1"/>
                </a:solidFill>
              </a:rPr>
              <a:t>elder, woman NTFP collector, forest officer, entrepreneur, environmentalist, youth</a:t>
            </a:r>
            <a:r>
              <a:rPr lang="en-US" sz="1400" dirty="0">
                <a:solidFill>
                  <a:schemeClr val="tx1"/>
                </a:solidFill>
              </a:rPr>
              <a:t>.</a:t>
            </a:r>
            <a:endParaRPr lang="en-US" sz="1600" dirty="0"/>
          </a:p>
        </p:txBody>
      </p:sp>
      <p:sp>
        <p:nvSpPr>
          <p:cNvPr id="22" name="step 3 badge"/>
          <p:cNvSpPr/>
          <p:nvPr/>
        </p:nvSpPr>
        <p:spPr>
          <a:xfrm>
            <a:off x="4846320" y="3291840"/>
            <a:ext cx="384048" cy="384048"/>
          </a:xfrm>
          <a:prstGeom prst="ellipse">
            <a:avLst/>
          </a:prstGeom>
          <a:solidFill>
            <a:schemeClr val="accent1"/>
          </a:solidFill>
          <a:ln w="12700">
            <a:solidFill>
              <a:schemeClr val="accent1"/>
            </a:solidFill>
            <a:prstDash val="solid"/>
          </a:ln>
        </p:spPr>
      </p:sp>
      <p:sp>
        <p:nvSpPr>
          <p:cNvPr id="23" name="Text 17"/>
          <p:cNvSpPr txBox="1"/>
          <p:nvPr/>
        </p:nvSpPr>
        <p:spPr>
          <a:xfrm>
            <a:off x="4846320" y="32918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4" name="Text 18"/>
          <p:cNvSpPr txBox="1"/>
          <p:nvPr/>
        </p:nvSpPr>
        <p:spPr>
          <a:xfrm>
            <a:off x="5394960" y="3273552"/>
            <a:ext cx="5943600" cy="493776"/>
          </a:xfrm>
          <a:prstGeom prst="rect">
            <a:avLst/>
          </a:prstGeom>
          <a:noFill/>
          <a:ln/>
        </p:spPr>
        <p:txBody>
          <a:bodyPr wrap="square" lIns="0" tIns="0" rIns="0" bIns="0" rtlCol="0" anchor="t"/>
          <a:lstStyle/>
          <a:p>
            <a:pPr indent="0" marL="0">
              <a:buNone/>
            </a:pPr>
            <a:r>
              <a:rPr lang="en-US" sz="1400" dirty="0">
                <a:solidFill>
                  <a:schemeClr val="tx1"/>
                </a:solidFill>
              </a:rPr>
              <a:t>Each role speaks for 1 minute using facts from the chapter.</a:t>
            </a:r>
            <a:endParaRPr lang="en-US" sz="1600" dirty="0"/>
          </a:p>
        </p:txBody>
      </p:sp>
      <p:sp>
        <p:nvSpPr>
          <p:cNvPr id="25" name="step 4 badge"/>
          <p:cNvSpPr/>
          <p:nvPr/>
        </p:nvSpPr>
        <p:spPr>
          <a:xfrm>
            <a:off x="4846320" y="3831336"/>
            <a:ext cx="384048" cy="384048"/>
          </a:xfrm>
          <a:prstGeom prst="ellipse">
            <a:avLst/>
          </a:prstGeom>
          <a:solidFill>
            <a:schemeClr val="accent1"/>
          </a:solidFill>
          <a:ln w="12700">
            <a:solidFill>
              <a:schemeClr val="accent1"/>
            </a:solidFill>
            <a:prstDash val="solid"/>
          </a:ln>
        </p:spPr>
      </p:sp>
      <p:sp>
        <p:nvSpPr>
          <p:cNvPr id="26" name="Text 20"/>
          <p:cNvSpPr txBox="1"/>
          <p:nvPr/>
        </p:nvSpPr>
        <p:spPr>
          <a:xfrm>
            <a:off x="4846320" y="383133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7" name="Text 21"/>
          <p:cNvSpPr txBox="1"/>
          <p:nvPr/>
        </p:nvSpPr>
        <p:spPr>
          <a:xfrm>
            <a:off x="5394960" y="3813048"/>
            <a:ext cx="5943600" cy="493776"/>
          </a:xfrm>
          <a:prstGeom prst="rect">
            <a:avLst/>
          </a:prstGeom>
          <a:noFill/>
          <a:ln/>
        </p:spPr>
        <p:txBody>
          <a:bodyPr wrap="square" lIns="0" tIns="0" rIns="0" bIns="0" rtlCol="0" anchor="t"/>
          <a:lstStyle/>
          <a:p>
            <a:pPr indent="0" marL="0">
              <a:buNone/>
            </a:pPr>
            <a:r>
              <a:rPr lang="en-US" sz="1400" dirty="0">
                <a:solidFill>
                  <a:schemeClr val="tx1"/>
                </a:solidFill>
              </a:rPr>
              <a:t>The class (Gram Sabha) asks questions, then votes.</a:t>
            </a:r>
            <a:endParaRPr lang="en-US" sz="1600" dirty="0"/>
          </a:p>
        </p:txBody>
      </p:sp>
      <p:sp>
        <p:nvSpPr>
          <p:cNvPr id="28" name="step 5 badge"/>
          <p:cNvSpPr/>
          <p:nvPr/>
        </p:nvSpPr>
        <p:spPr>
          <a:xfrm>
            <a:off x="4846320" y="4370832"/>
            <a:ext cx="384048" cy="384048"/>
          </a:xfrm>
          <a:prstGeom prst="ellipse">
            <a:avLst/>
          </a:prstGeom>
          <a:solidFill>
            <a:schemeClr val="accent1"/>
          </a:solidFill>
          <a:ln w="12700">
            <a:solidFill>
              <a:schemeClr val="accent1"/>
            </a:solidFill>
            <a:prstDash val="solid"/>
          </a:ln>
        </p:spPr>
      </p:sp>
      <p:sp>
        <p:nvSpPr>
          <p:cNvPr id="29" name="Text 23"/>
          <p:cNvSpPr txBox="1"/>
          <p:nvPr/>
        </p:nvSpPr>
        <p:spPr>
          <a:xfrm>
            <a:off x="4846320" y="437083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0" name="Text 24"/>
          <p:cNvSpPr txBox="1"/>
          <p:nvPr/>
        </p:nvSpPr>
        <p:spPr>
          <a:xfrm>
            <a:off x="5394960" y="4352544"/>
            <a:ext cx="5943600" cy="493776"/>
          </a:xfrm>
          <a:prstGeom prst="rect">
            <a:avLst/>
          </a:prstGeom>
          <a:noFill/>
          <a:ln/>
        </p:spPr>
        <p:txBody>
          <a:bodyPr wrap="square" lIns="0" tIns="0" rIns="0" bIns="0" rtlCol="0" anchor="t"/>
          <a:lstStyle/>
          <a:p>
            <a:pPr indent="0" marL="0">
              <a:buNone/>
            </a:pPr>
            <a:r>
              <a:rPr lang="en-US" sz="1400" dirty="0">
                <a:solidFill>
                  <a:schemeClr val="tx1"/>
                </a:solidFill>
              </a:rPr>
              <a:t>Reflect: Can we find a 'win–win' plan (e.g. ecotourism run by villagers)?</a:t>
            </a:r>
            <a:endParaRPr lang="en-US" sz="1600" dirty="0"/>
          </a:p>
        </p:txBody>
      </p:sp>
      <p:sp>
        <p:nvSpPr>
          <p:cNvPr id="31" name="outcome band"/>
          <p:cNvSpPr/>
          <p:nvPr/>
        </p:nvSpPr>
        <p:spPr>
          <a:xfrm>
            <a:off x="4846320" y="5074920"/>
            <a:ext cx="6446520" cy="914400"/>
          </a:xfrm>
          <a:prstGeom prst="roundRect">
            <a:avLst>
              <a:gd name="adj" fmla="val 8000"/>
            </a:avLst>
          </a:prstGeom>
          <a:solidFill>
            <a:schemeClr val="bg2"/>
          </a:solidFill>
          <a:ln w="12700">
            <a:solidFill>
              <a:schemeClr val="bg2"/>
            </a:solidFill>
            <a:prstDash val="solid"/>
          </a:ln>
        </p:spPr>
      </p:sp>
      <p:sp>
        <p:nvSpPr>
          <p:cNvPr id="32" name="Text 26"/>
          <p:cNvSpPr txBox="1"/>
          <p:nvPr/>
        </p:nvSpPr>
        <p:spPr>
          <a:xfrm>
            <a:off x="5029200" y="5074920"/>
            <a:ext cx="6126480" cy="914400"/>
          </a:xfrm>
          <a:prstGeom prst="rect">
            <a:avLst/>
          </a:prstGeom>
          <a:noFill/>
          <a:ln/>
        </p:spPr>
        <p:txBody>
          <a:bodyPr wrap="square" lIns="0" tIns="0" rIns="0" bIns="0" rtlCol="0" anchor="ctr"/>
          <a:lstStyle/>
          <a:p>
            <a:pPr indent="0" marL="0">
              <a:buNone/>
            </a:pPr>
            <a:r>
              <a:rPr lang="en-US" sz="1400" b="1" dirty="0">
                <a:solidFill>
                  <a:schemeClr val="tx2"/>
                </a:solidFill>
              </a:rPr>
              <a:t>Learning link:</a:t>
            </a:r>
            <a:r>
              <a:rPr lang="en-US" sz="1400" dirty="0">
                <a:solidFill>
                  <a:schemeClr val="tx2"/>
                </a:solidFill>
              </a:rPr>
              <a:t> Communities balance livelihoods, rights and conservation through democratic decisions.</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3D2B"/>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Quick Quiz</a:t>
            </a:r>
            <a:endParaRPr lang="en-US" sz="3600" dirty="0"/>
          </a:p>
        </p:txBody>
      </p:sp>
      <p:sp>
        <p:nvSpPr>
          <p:cNvPr id="3" name="quiz q1"/>
          <p:cNvSpPr/>
          <p:nvPr/>
        </p:nvSpPr>
        <p:spPr>
          <a:xfrm>
            <a:off x="548640" y="1371600"/>
            <a:ext cx="5394960" cy="2286000"/>
          </a:xfrm>
          <a:prstGeom prst="roundRect">
            <a:avLst>
              <a:gd name="adj" fmla="val 4800"/>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4" name="quiz q1 badge"/>
          <p:cNvSpPr/>
          <p:nvPr/>
        </p:nvSpPr>
        <p:spPr>
          <a:xfrm>
            <a:off x="731520" y="1554480"/>
            <a:ext cx="457200" cy="457200"/>
          </a:xfrm>
          <a:prstGeom prst="ellipse">
            <a:avLst/>
          </a:prstGeom>
          <a:solidFill>
            <a:schemeClr val="accent1"/>
          </a:solidFill>
          <a:ln w="12700">
            <a:solidFill>
              <a:schemeClr val="accent1"/>
            </a:solidFill>
            <a:prstDash val="solid"/>
          </a:ln>
        </p:spPr>
      </p:sp>
      <p:sp>
        <p:nvSpPr>
          <p:cNvPr id="5" name="Text 3"/>
          <p:cNvSpPr txBox="1"/>
          <p:nvPr/>
        </p:nvSpPr>
        <p:spPr>
          <a:xfrm>
            <a:off x="731520" y="155448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Q1</a:t>
            </a:r>
            <a:endParaRPr lang="en-US" sz="1300" dirty="0"/>
          </a:p>
        </p:txBody>
      </p:sp>
      <p:sp>
        <p:nvSpPr>
          <p:cNvPr id="6" name="Text 4"/>
          <p:cNvSpPr txBox="1"/>
          <p:nvPr/>
        </p:nvSpPr>
        <p:spPr>
          <a:xfrm>
            <a:off x="1325880" y="1508760"/>
            <a:ext cx="4434840" cy="685800"/>
          </a:xfrm>
          <a:prstGeom prst="rect">
            <a:avLst/>
          </a:prstGeom>
          <a:noFill/>
          <a:ln/>
        </p:spPr>
        <p:txBody>
          <a:bodyPr wrap="square" lIns="0" tIns="0" rIns="0" bIns="0" rtlCol="0" anchor="ctr"/>
          <a:lstStyle/>
          <a:p>
            <a:pPr indent="0" marL="0">
              <a:buNone/>
            </a:pPr>
            <a:r>
              <a:rPr lang="en-US" sz="1600" b="1" dirty="0">
                <a:solidFill>
                  <a:schemeClr val="tx2"/>
                </a:solidFill>
              </a:rPr>
              <a:t>Permafrost is found in the…</a:t>
            </a:r>
            <a:endParaRPr lang="en-US" sz="1600" dirty="0"/>
          </a:p>
        </p:txBody>
      </p:sp>
      <p:sp>
        <p:nvSpPr>
          <p:cNvPr id="7" name="Text 5"/>
          <p:cNvSpPr txBox="1"/>
          <p:nvPr/>
        </p:nvSpPr>
        <p:spPr>
          <a:xfrm>
            <a:off x="1325880" y="2240280"/>
            <a:ext cx="4434840" cy="1325880"/>
          </a:xfrm>
          <a:prstGeom prst="rect">
            <a:avLst/>
          </a:prstGeom>
          <a:noFill/>
          <a:ln/>
        </p:spPr>
        <p:txBody>
          <a:bodyPr wrap="square" lIns="0" tIns="0" rIns="0" bIns="0" rtlCol="0" anchor="t"/>
          <a:lstStyle/>
          <a:p>
            <a:pPr indent="0" marL="0">
              <a:spcAft>
                <a:spcPts val="300"/>
              </a:spcAft>
              <a:buNone/>
            </a:pPr>
            <a:r>
              <a:rPr lang="en-US" sz="1700" b="1" dirty="0">
                <a:solidFill>
                  <a:schemeClr val="accent1"/>
                </a:solidFill>
              </a:rPr>
              <a:t>A)  </a:t>
            </a:r>
            <a:r>
              <a:rPr lang="en-US" sz="1700" dirty="0">
                <a:solidFill>
                  <a:schemeClr val="tx1"/>
                </a:solidFill>
              </a:rPr>
              <a:t>desert biome</a:t>
            </a:r>
            <a:endParaRPr lang="en-US" sz="1700" dirty="0"/>
          </a:p>
          <a:p>
            <a:pPr indent="0" marL="0">
              <a:spcAft>
                <a:spcPts val="300"/>
              </a:spcAft>
              <a:buNone/>
            </a:pPr>
            <a:r>
              <a:rPr lang="en-US" sz="1700" b="1" dirty="0">
                <a:solidFill>
                  <a:schemeClr val="accent1"/>
                </a:solidFill>
              </a:rPr>
              <a:t>B)  </a:t>
            </a:r>
            <a:r>
              <a:rPr lang="en-US" sz="1700" dirty="0">
                <a:solidFill>
                  <a:schemeClr val="tx1"/>
                </a:solidFill>
              </a:rPr>
              <a:t>tundra biome</a:t>
            </a:r>
            <a:endParaRPr lang="en-US" sz="1700" dirty="0"/>
          </a:p>
          <a:p>
            <a:pPr indent="0" marL="0">
              <a:spcAft>
                <a:spcPts val="300"/>
              </a:spcAft>
              <a:buNone/>
            </a:pPr>
            <a:r>
              <a:rPr lang="en-US" sz="1700" b="1" dirty="0">
                <a:solidFill>
                  <a:schemeClr val="accent1"/>
                </a:solidFill>
              </a:rPr>
              <a:t>C)  </a:t>
            </a:r>
            <a:r>
              <a:rPr lang="en-US" sz="1700" dirty="0">
                <a:solidFill>
                  <a:schemeClr val="tx1"/>
                </a:solidFill>
              </a:rPr>
              <a:t>savanna</a:t>
            </a:r>
            <a:endParaRPr lang="en-US" sz="1700" dirty="0"/>
          </a:p>
          <a:p>
            <a:pPr indent="0" marL="0">
              <a:spcAft>
                <a:spcPts val="300"/>
              </a:spcAft>
              <a:buNone/>
            </a:pPr>
            <a:r>
              <a:rPr lang="en-US" sz="1700" b="1" dirty="0">
                <a:solidFill>
                  <a:schemeClr val="accent1"/>
                </a:solidFill>
              </a:rPr>
              <a:t>D)  </a:t>
            </a:r>
            <a:r>
              <a:rPr lang="en-US" sz="1700" dirty="0">
                <a:solidFill>
                  <a:schemeClr val="tx1"/>
                </a:solidFill>
              </a:rPr>
              <a:t>rainforest</a:t>
            </a:r>
            <a:endParaRPr lang="en-US" sz="1700" dirty="0"/>
          </a:p>
        </p:txBody>
      </p:sp>
      <p:sp>
        <p:nvSpPr>
          <p:cNvPr id="8" name="quiz q2"/>
          <p:cNvSpPr/>
          <p:nvPr/>
        </p:nvSpPr>
        <p:spPr>
          <a:xfrm>
            <a:off x="6217920" y="1371600"/>
            <a:ext cx="5394960" cy="2286000"/>
          </a:xfrm>
          <a:prstGeom prst="roundRect">
            <a:avLst>
              <a:gd name="adj" fmla="val 4800"/>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9" name="quiz q2 badge"/>
          <p:cNvSpPr/>
          <p:nvPr/>
        </p:nvSpPr>
        <p:spPr>
          <a:xfrm>
            <a:off x="6400800" y="1554480"/>
            <a:ext cx="457200" cy="457200"/>
          </a:xfrm>
          <a:prstGeom prst="ellipse">
            <a:avLst/>
          </a:prstGeom>
          <a:solidFill>
            <a:schemeClr val="accent1"/>
          </a:solidFill>
          <a:ln w="12700">
            <a:solidFill>
              <a:schemeClr val="accent1"/>
            </a:solidFill>
            <a:prstDash val="solid"/>
          </a:ln>
        </p:spPr>
      </p:sp>
      <p:sp>
        <p:nvSpPr>
          <p:cNvPr id="10" name="Text 8"/>
          <p:cNvSpPr txBox="1"/>
          <p:nvPr/>
        </p:nvSpPr>
        <p:spPr>
          <a:xfrm>
            <a:off x="6400800" y="155448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Q2</a:t>
            </a:r>
            <a:endParaRPr lang="en-US" sz="1300" dirty="0"/>
          </a:p>
        </p:txBody>
      </p:sp>
      <p:sp>
        <p:nvSpPr>
          <p:cNvPr id="11" name="Text 9"/>
          <p:cNvSpPr txBox="1"/>
          <p:nvPr/>
        </p:nvSpPr>
        <p:spPr>
          <a:xfrm>
            <a:off x="6995160" y="1508760"/>
            <a:ext cx="4434840" cy="685800"/>
          </a:xfrm>
          <a:prstGeom prst="rect">
            <a:avLst/>
          </a:prstGeom>
          <a:noFill/>
          <a:ln/>
        </p:spPr>
        <p:txBody>
          <a:bodyPr wrap="square" lIns="0" tIns="0" rIns="0" bIns="0" rtlCol="0" anchor="ctr"/>
          <a:lstStyle/>
          <a:p>
            <a:pPr indent="0" marL="0">
              <a:buNone/>
            </a:pPr>
            <a:r>
              <a:rPr lang="en-US" sz="1600" b="1" dirty="0">
                <a:solidFill>
                  <a:schemeClr val="tx2"/>
                </a:solidFill>
              </a:rPr>
              <a:t>Thenmala is famous as India's first…</a:t>
            </a:r>
            <a:endParaRPr lang="en-US" sz="1600" dirty="0"/>
          </a:p>
        </p:txBody>
      </p:sp>
      <p:sp>
        <p:nvSpPr>
          <p:cNvPr id="12" name="Text 10"/>
          <p:cNvSpPr txBox="1"/>
          <p:nvPr/>
        </p:nvSpPr>
        <p:spPr>
          <a:xfrm>
            <a:off x="6995160" y="2240280"/>
            <a:ext cx="4434840" cy="1325880"/>
          </a:xfrm>
          <a:prstGeom prst="rect">
            <a:avLst/>
          </a:prstGeom>
          <a:noFill/>
          <a:ln/>
        </p:spPr>
        <p:txBody>
          <a:bodyPr wrap="square" lIns="0" tIns="0" rIns="0" bIns="0" rtlCol="0" anchor="t"/>
          <a:lstStyle/>
          <a:p>
            <a:pPr indent="0" marL="0">
              <a:spcAft>
                <a:spcPts val="300"/>
              </a:spcAft>
              <a:buNone/>
            </a:pPr>
            <a:r>
              <a:rPr lang="en-US" sz="1700" b="1" dirty="0">
                <a:solidFill>
                  <a:schemeClr val="accent1"/>
                </a:solidFill>
              </a:rPr>
              <a:t>A)  </a:t>
            </a:r>
            <a:r>
              <a:rPr lang="en-US" sz="1700" dirty="0">
                <a:solidFill>
                  <a:schemeClr val="tx1"/>
                </a:solidFill>
              </a:rPr>
              <a:t>tiger reserve</a:t>
            </a:r>
            <a:endParaRPr lang="en-US" sz="1700" dirty="0"/>
          </a:p>
          <a:p>
            <a:pPr indent="0" marL="0">
              <a:spcAft>
                <a:spcPts val="300"/>
              </a:spcAft>
              <a:buNone/>
            </a:pPr>
            <a:r>
              <a:rPr lang="en-US" sz="1700" b="1" dirty="0">
                <a:solidFill>
                  <a:schemeClr val="accent1"/>
                </a:solidFill>
              </a:rPr>
              <a:t>B)  </a:t>
            </a:r>
            <a:r>
              <a:rPr lang="en-US" sz="1700" dirty="0">
                <a:solidFill>
                  <a:schemeClr val="tx1"/>
                </a:solidFill>
              </a:rPr>
              <a:t>planned ecotourism destination</a:t>
            </a:r>
            <a:endParaRPr lang="en-US" sz="1700" dirty="0"/>
          </a:p>
          <a:p>
            <a:pPr indent="0" marL="0">
              <a:spcAft>
                <a:spcPts val="300"/>
              </a:spcAft>
              <a:buNone/>
            </a:pPr>
            <a:r>
              <a:rPr lang="en-US" sz="1700" b="1" dirty="0">
                <a:solidFill>
                  <a:schemeClr val="accent1"/>
                </a:solidFill>
              </a:rPr>
              <a:t>C)  </a:t>
            </a:r>
            <a:r>
              <a:rPr lang="en-US" sz="1700" dirty="0">
                <a:solidFill>
                  <a:schemeClr val="tx1"/>
                </a:solidFill>
              </a:rPr>
              <a:t>salt desert</a:t>
            </a:r>
            <a:endParaRPr lang="en-US" sz="1700" dirty="0"/>
          </a:p>
          <a:p>
            <a:pPr indent="0" marL="0">
              <a:spcAft>
                <a:spcPts val="300"/>
              </a:spcAft>
              <a:buNone/>
            </a:pPr>
            <a:r>
              <a:rPr lang="en-US" sz="1700" b="1" dirty="0">
                <a:solidFill>
                  <a:schemeClr val="accent1"/>
                </a:solidFill>
              </a:rPr>
              <a:t>D)  </a:t>
            </a:r>
            <a:r>
              <a:rPr lang="en-US" sz="1700" dirty="0">
                <a:solidFill>
                  <a:schemeClr val="tx1"/>
                </a:solidFill>
              </a:rPr>
              <a:t>GI-tagged honey</a:t>
            </a:r>
            <a:endParaRPr lang="en-US" sz="1700" dirty="0"/>
          </a:p>
        </p:txBody>
      </p:sp>
      <p:sp>
        <p:nvSpPr>
          <p:cNvPr id="13" name="quiz q3"/>
          <p:cNvSpPr/>
          <p:nvPr/>
        </p:nvSpPr>
        <p:spPr>
          <a:xfrm>
            <a:off x="548640" y="3931920"/>
            <a:ext cx="5394960" cy="2286000"/>
          </a:xfrm>
          <a:prstGeom prst="roundRect">
            <a:avLst>
              <a:gd name="adj" fmla="val 4800"/>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4" name="quiz q3 badge"/>
          <p:cNvSpPr/>
          <p:nvPr/>
        </p:nvSpPr>
        <p:spPr>
          <a:xfrm>
            <a:off x="731520" y="4114800"/>
            <a:ext cx="457200" cy="457200"/>
          </a:xfrm>
          <a:prstGeom prst="ellipse">
            <a:avLst/>
          </a:prstGeom>
          <a:solidFill>
            <a:schemeClr val="accent1"/>
          </a:solidFill>
          <a:ln w="12700">
            <a:solidFill>
              <a:schemeClr val="accent1"/>
            </a:solidFill>
            <a:prstDash val="solid"/>
          </a:ln>
        </p:spPr>
      </p:sp>
      <p:sp>
        <p:nvSpPr>
          <p:cNvPr id="15" name="Text 13"/>
          <p:cNvSpPr txBox="1"/>
          <p:nvPr/>
        </p:nvSpPr>
        <p:spPr>
          <a:xfrm>
            <a:off x="731520" y="411480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Q3</a:t>
            </a:r>
            <a:endParaRPr lang="en-US" sz="1300" dirty="0"/>
          </a:p>
        </p:txBody>
      </p:sp>
      <p:sp>
        <p:nvSpPr>
          <p:cNvPr id="16" name="Text 14"/>
          <p:cNvSpPr txBox="1"/>
          <p:nvPr/>
        </p:nvSpPr>
        <p:spPr>
          <a:xfrm>
            <a:off x="1325880" y="4069080"/>
            <a:ext cx="4434840" cy="685800"/>
          </a:xfrm>
          <a:prstGeom prst="rect">
            <a:avLst/>
          </a:prstGeom>
          <a:noFill/>
          <a:ln/>
        </p:spPr>
        <p:txBody>
          <a:bodyPr wrap="square" lIns="0" tIns="0" rIns="0" bIns="0" rtlCol="0" anchor="ctr"/>
          <a:lstStyle/>
          <a:p>
            <a:pPr indent="0" marL="0">
              <a:buNone/>
            </a:pPr>
            <a:r>
              <a:rPr lang="en-US" sz="1600" b="1" dirty="0">
                <a:solidFill>
                  <a:schemeClr val="tx2"/>
                </a:solidFill>
              </a:rPr>
              <a:t>Moving up a biome pyramid, energy…</a:t>
            </a:r>
            <a:endParaRPr lang="en-US" sz="1600" dirty="0"/>
          </a:p>
        </p:txBody>
      </p:sp>
      <p:sp>
        <p:nvSpPr>
          <p:cNvPr id="17" name="Text 15"/>
          <p:cNvSpPr txBox="1"/>
          <p:nvPr/>
        </p:nvSpPr>
        <p:spPr>
          <a:xfrm>
            <a:off x="1325880" y="4800600"/>
            <a:ext cx="4434840" cy="1325880"/>
          </a:xfrm>
          <a:prstGeom prst="rect">
            <a:avLst/>
          </a:prstGeom>
          <a:noFill/>
          <a:ln/>
        </p:spPr>
        <p:txBody>
          <a:bodyPr wrap="square" lIns="0" tIns="0" rIns="0" bIns="0" rtlCol="0" anchor="t"/>
          <a:lstStyle/>
          <a:p>
            <a:pPr indent="0" marL="0">
              <a:spcAft>
                <a:spcPts val="300"/>
              </a:spcAft>
              <a:buNone/>
            </a:pPr>
            <a:r>
              <a:rPr lang="en-US" sz="1700" b="1" dirty="0">
                <a:solidFill>
                  <a:schemeClr val="accent1"/>
                </a:solidFill>
              </a:rPr>
              <a:t>A)  </a:t>
            </a:r>
            <a:r>
              <a:rPr lang="en-US" sz="1700" dirty="0">
                <a:solidFill>
                  <a:schemeClr val="tx1"/>
                </a:solidFill>
              </a:rPr>
              <a:t>increases</a:t>
            </a:r>
            <a:endParaRPr lang="en-US" sz="1700" dirty="0"/>
          </a:p>
          <a:p>
            <a:pPr indent="0" marL="0">
              <a:spcAft>
                <a:spcPts val="300"/>
              </a:spcAft>
              <a:buNone/>
            </a:pPr>
            <a:r>
              <a:rPr lang="en-US" sz="1700" b="1" dirty="0">
                <a:solidFill>
                  <a:schemeClr val="accent1"/>
                </a:solidFill>
              </a:rPr>
              <a:t>B)  </a:t>
            </a:r>
            <a:r>
              <a:rPr lang="en-US" sz="1700" dirty="0">
                <a:solidFill>
                  <a:schemeClr val="tx1"/>
                </a:solidFill>
              </a:rPr>
              <a:t>stays the same</a:t>
            </a:r>
            <a:endParaRPr lang="en-US" sz="1700" dirty="0"/>
          </a:p>
          <a:p>
            <a:pPr indent="0" marL="0">
              <a:spcAft>
                <a:spcPts val="300"/>
              </a:spcAft>
              <a:buNone/>
            </a:pPr>
            <a:r>
              <a:rPr lang="en-US" sz="1700" b="1" dirty="0">
                <a:solidFill>
                  <a:schemeClr val="accent1"/>
                </a:solidFill>
              </a:rPr>
              <a:t>C)  </a:t>
            </a:r>
            <a:r>
              <a:rPr lang="en-US" sz="1700" dirty="0">
                <a:solidFill>
                  <a:schemeClr val="tx1"/>
                </a:solidFill>
              </a:rPr>
              <a:t>decreases</a:t>
            </a:r>
            <a:endParaRPr lang="en-US" sz="1700" dirty="0"/>
          </a:p>
          <a:p>
            <a:pPr indent="0" marL="0">
              <a:spcAft>
                <a:spcPts val="300"/>
              </a:spcAft>
              <a:buNone/>
            </a:pPr>
            <a:r>
              <a:rPr lang="en-US" sz="1700" b="1" dirty="0">
                <a:solidFill>
                  <a:schemeClr val="accent1"/>
                </a:solidFill>
              </a:rPr>
              <a:t>D)  </a:t>
            </a:r>
            <a:r>
              <a:rPr lang="en-US" sz="1700" dirty="0">
                <a:solidFill>
                  <a:schemeClr val="tx1"/>
                </a:solidFill>
              </a:rPr>
              <a:t>doubles</a:t>
            </a:r>
            <a:endParaRPr lang="en-US" sz="1700" dirty="0"/>
          </a:p>
        </p:txBody>
      </p:sp>
      <p:sp>
        <p:nvSpPr>
          <p:cNvPr id="18" name="quiz q4"/>
          <p:cNvSpPr/>
          <p:nvPr/>
        </p:nvSpPr>
        <p:spPr>
          <a:xfrm>
            <a:off x="6217920" y="3931920"/>
            <a:ext cx="5394960" cy="2286000"/>
          </a:xfrm>
          <a:prstGeom prst="roundRect">
            <a:avLst>
              <a:gd name="adj" fmla="val 4800"/>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9" name="quiz q4 badge"/>
          <p:cNvSpPr/>
          <p:nvPr/>
        </p:nvSpPr>
        <p:spPr>
          <a:xfrm>
            <a:off x="6400800" y="4114800"/>
            <a:ext cx="457200" cy="457200"/>
          </a:xfrm>
          <a:prstGeom prst="ellipse">
            <a:avLst/>
          </a:prstGeom>
          <a:solidFill>
            <a:schemeClr val="accent1"/>
          </a:solidFill>
          <a:ln w="12700">
            <a:solidFill>
              <a:schemeClr val="accent1"/>
            </a:solidFill>
            <a:prstDash val="solid"/>
          </a:ln>
        </p:spPr>
      </p:sp>
      <p:sp>
        <p:nvSpPr>
          <p:cNvPr id="20" name="Text 18"/>
          <p:cNvSpPr txBox="1"/>
          <p:nvPr/>
        </p:nvSpPr>
        <p:spPr>
          <a:xfrm>
            <a:off x="6400800" y="411480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Q4</a:t>
            </a:r>
            <a:endParaRPr lang="en-US" sz="1300" dirty="0"/>
          </a:p>
        </p:txBody>
      </p:sp>
      <p:sp>
        <p:nvSpPr>
          <p:cNvPr id="21" name="Text 19"/>
          <p:cNvSpPr txBox="1"/>
          <p:nvPr/>
        </p:nvSpPr>
        <p:spPr>
          <a:xfrm>
            <a:off x="6995160" y="4069080"/>
            <a:ext cx="4434840" cy="685800"/>
          </a:xfrm>
          <a:prstGeom prst="rect">
            <a:avLst/>
          </a:prstGeom>
          <a:noFill/>
          <a:ln/>
        </p:spPr>
        <p:txBody>
          <a:bodyPr wrap="square" lIns="0" tIns="0" rIns="0" bIns="0" rtlCol="0" anchor="ctr"/>
          <a:lstStyle/>
          <a:p>
            <a:pPr indent="0" marL="0">
              <a:buNone/>
            </a:pPr>
            <a:r>
              <a:rPr lang="en-US" sz="1600" b="1" dirty="0">
                <a:solidFill>
                  <a:schemeClr val="tx2"/>
                </a:solidFill>
              </a:rPr>
              <a:t>Which village first won forest rights under the FRA?</a:t>
            </a:r>
            <a:endParaRPr lang="en-US" sz="1600" dirty="0"/>
          </a:p>
        </p:txBody>
      </p:sp>
      <p:sp>
        <p:nvSpPr>
          <p:cNvPr id="22" name="Text 20"/>
          <p:cNvSpPr txBox="1"/>
          <p:nvPr/>
        </p:nvSpPr>
        <p:spPr>
          <a:xfrm>
            <a:off x="6995160" y="4800600"/>
            <a:ext cx="4434840" cy="1325880"/>
          </a:xfrm>
          <a:prstGeom prst="rect">
            <a:avLst/>
          </a:prstGeom>
          <a:noFill/>
          <a:ln/>
        </p:spPr>
        <p:txBody>
          <a:bodyPr wrap="square" lIns="0" tIns="0" rIns="0" bIns="0" rtlCol="0" anchor="t"/>
          <a:lstStyle/>
          <a:p>
            <a:pPr indent="0" marL="0">
              <a:spcAft>
                <a:spcPts val="300"/>
              </a:spcAft>
              <a:buNone/>
            </a:pPr>
            <a:r>
              <a:rPr lang="en-US" sz="1700" b="1" dirty="0">
                <a:solidFill>
                  <a:schemeClr val="accent1"/>
                </a:solidFill>
              </a:rPr>
              <a:t>A)  </a:t>
            </a:r>
            <a:r>
              <a:rPr lang="en-US" sz="1700" dirty="0">
                <a:solidFill>
                  <a:schemeClr val="tx1"/>
                </a:solidFill>
              </a:rPr>
              <a:t>Mendha Lekha</a:t>
            </a:r>
            <a:endParaRPr lang="en-US" sz="1700" dirty="0"/>
          </a:p>
          <a:p>
            <a:pPr indent="0" marL="0">
              <a:spcAft>
                <a:spcPts val="300"/>
              </a:spcAft>
              <a:buNone/>
            </a:pPr>
            <a:r>
              <a:rPr lang="en-US" sz="1700" b="1" dirty="0">
                <a:solidFill>
                  <a:schemeClr val="accent1"/>
                </a:solidFill>
              </a:rPr>
              <a:t>B)  </a:t>
            </a:r>
            <a:r>
              <a:rPr lang="en-US" sz="1700" dirty="0">
                <a:solidFill>
                  <a:schemeClr val="tx1"/>
                </a:solidFill>
              </a:rPr>
              <a:t>Sohra</a:t>
            </a:r>
            <a:endParaRPr lang="en-US" sz="1700" dirty="0"/>
          </a:p>
          <a:p>
            <a:pPr indent="0" marL="0">
              <a:spcAft>
                <a:spcPts val="300"/>
              </a:spcAft>
              <a:buNone/>
            </a:pPr>
            <a:r>
              <a:rPr lang="en-US" sz="1700" b="1" dirty="0">
                <a:solidFill>
                  <a:schemeClr val="accent1"/>
                </a:solidFill>
              </a:rPr>
              <a:t>C)  </a:t>
            </a:r>
            <a:r>
              <a:rPr lang="en-US" sz="1700" dirty="0">
                <a:solidFill>
                  <a:schemeClr val="tx1"/>
                </a:solidFill>
              </a:rPr>
              <a:t>Nubra</a:t>
            </a:r>
            <a:endParaRPr lang="en-US" sz="1700" dirty="0"/>
          </a:p>
          <a:p>
            <a:pPr indent="0" marL="0">
              <a:spcAft>
                <a:spcPts val="300"/>
              </a:spcAft>
              <a:buNone/>
            </a:pPr>
            <a:r>
              <a:rPr lang="en-US" sz="1700" b="1" dirty="0">
                <a:solidFill>
                  <a:schemeClr val="accent1"/>
                </a:solidFill>
              </a:rPr>
              <a:t>D)  </a:t>
            </a:r>
            <a:r>
              <a:rPr lang="en-US" sz="1700" dirty="0">
                <a:solidFill>
                  <a:schemeClr val="tx1"/>
                </a:solidFill>
              </a:rPr>
              <a:t>Bhandara</a:t>
            </a:r>
            <a:endParaRPr lang="en-US" sz="17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3D2B"/>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Quick Quiz: Answers</a:t>
            </a:r>
            <a:endParaRPr lang="en-US" sz="3600" dirty="0"/>
          </a:p>
        </p:txBody>
      </p:sp>
      <p:sp>
        <p:nvSpPr>
          <p:cNvPr id="3" name="answer 1"/>
          <p:cNvSpPr/>
          <p:nvPr/>
        </p:nvSpPr>
        <p:spPr>
          <a:xfrm>
            <a:off x="548640" y="1371600"/>
            <a:ext cx="11064240" cy="1074420"/>
          </a:xfrm>
          <a:prstGeom prst="roundRect">
            <a:avLst>
              <a:gd name="adj" fmla="val 10213"/>
            </a:avLst>
          </a:prstGeom>
          <a:solidFill>
            <a:schemeClr val="bg2"/>
          </a:solidFill>
          <a:ln w="12700">
            <a:solidFill>
              <a:schemeClr val="bg2"/>
            </a:solidFill>
            <a:prstDash val="solid"/>
          </a:ln>
        </p:spPr>
      </p:sp>
      <p:sp>
        <p:nvSpPr>
          <p:cNvPr id="4" name="answer 1 badge"/>
          <p:cNvSpPr/>
          <p:nvPr/>
        </p:nvSpPr>
        <p:spPr>
          <a:xfrm>
            <a:off x="731520" y="1680210"/>
            <a:ext cx="457200" cy="457200"/>
          </a:xfrm>
          <a:prstGeom prst="ellipse">
            <a:avLst/>
          </a:prstGeom>
          <a:solidFill>
            <a:schemeClr val="accent2"/>
          </a:solidFill>
          <a:ln w="12700">
            <a:solidFill>
              <a:schemeClr val="accent2"/>
            </a:solidFill>
            <a:prstDash val="solid"/>
          </a:ln>
        </p:spPr>
      </p:sp>
      <p:sp>
        <p:nvSpPr>
          <p:cNvPr id="5" name="Text 3"/>
          <p:cNvSpPr txBox="1"/>
          <p:nvPr/>
        </p:nvSpPr>
        <p:spPr>
          <a:xfrm>
            <a:off x="731520" y="168021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6" name="Text 4"/>
          <p:cNvSpPr txBox="1"/>
          <p:nvPr/>
        </p:nvSpPr>
        <p:spPr>
          <a:xfrm>
            <a:off x="1371600" y="1371600"/>
            <a:ext cx="10058400" cy="1074420"/>
          </a:xfrm>
          <a:prstGeom prst="rect">
            <a:avLst/>
          </a:prstGeom>
          <a:noFill/>
          <a:ln/>
        </p:spPr>
        <p:txBody>
          <a:bodyPr wrap="square" lIns="0" tIns="0" rIns="0" bIns="0" rtlCol="0" anchor="ctr"/>
          <a:lstStyle/>
          <a:p>
            <a:pPr indent="0" marL="0">
              <a:buNone/>
            </a:pPr>
            <a:r>
              <a:rPr lang="en-US" sz="1600" b="1" dirty="0">
                <a:solidFill>
                  <a:schemeClr val="tx2"/>
                </a:solidFill>
              </a:rPr>
              <a:t>Q1. Tundra biome</a:t>
            </a:r>
            <a:endParaRPr lang="en-US" sz="1600" dirty="0"/>
          </a:p>
          <a:p>
            <a:pPr indent="0" marL="0">
              <a:buNone/>
            </a:pPr>
            <a:r>
              <a:rPr lang="en-US" sz="1400" dirty="0">
                <a:solidFill>
                  <a:schemeClr val="tx1"/>
                </a:solidFill>
              </a:rPr>
              <a:t>In the tundra, soil stays frozen almost all year, so trees cannot grow.</a:t>
            </a:r>
            <a:endParaRPr lang="en-US" sz="1600" dirty="0"/>
          </a:p>
        </p:txBody>
      </p:sp>
      <p:sp>
        <p:nvSpPr>
          <p:cNvPr id="7" name="answer 2"/>
          <p:cNvSpPr/>
          <p:nvPr/>
        </p:nvSpPr>
        <p:spPr>
          <a:xfrm>
            <a:off x="548640" y="2583180"/>
            <a:ext cx="11064240" cy="1074420"/>
          </a:xfrm>
          <a:prstGeom prst="roundRect">
            <a:avLst>
              <a:gd name="adj" fmla="val 10213"/>
            </a:avLst>
          </a:prstGeom>
          <a:solidFill>
            <a:schemeClr val="bg2"/>
          </a:solidFill>
          <a:ln w="12700">
            <a:solidFill>
              <a:schemeClr val="bg2"/>
            </a:solidFill>
            <a:prstDash val="solid"/>
          </a:ln>
        </p:spPr>
      </p:sp>
      <p:sp>
        <p:nvSpPr>
          <p:cNvPr id="8" name="answer 2 badge"/>
          <p:cNvSpPr/>
          <p:nvPr/>
        </p:nvSpPr>
        <p:spPr>
          <a:xfrm>
            <a:off x="731520" y="2891790"/>
            <a:ext cx="457200" cy="457200"/>
          </a:xfrm>
          <a:prstGeom prst="ellipse">
            <a:avLst/>
          </a:prstGeom>
          <a:solidFill>
            <a:schemeClr val="accent2"/>
          </a:solidFill>
          <a:ln w="12700">
            <a:solidFill>
              <a:schemeClr val="accent2"/>
            </a:solidFill>
            <a:prstDash val="solid"/>
          </a:ln>
        </p:spPr>
      </p:sp>
      <p:sp>
        <p:nvSpPr>
          <p:cNvPr id="9" name="Text 7"/>
          <p:cNvSpPr txBox="1"/>
          <p:nvPr/>
        </p:nvSpPr>
        <p:spPr>
          <a:xfrm>
            <a:off x="731520" y="289179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10" name="Text 8"/>
          <p:cNvSpPr txBox="1"/>
          <p:nvPr/>
        </p:nvSpPr>
        <p:spPr>
          <a:xfrm>
            <a:off x="1371600" y="2583180"/>
            <a:ext cx="10058400" cy="1074420"/>
          </a:xfrm>
          <a:prstGeom prst="rect">
            <a:avLst/>
          </a:prstGeom>
          <a:noFill/>
          <a:ln/>
        </p:spPr>
        <p:txBody>
          <a:bodyPr wrap="square" lIns="0" tIns="0" rIns="0" bIns="0" rtlCol="0" anchor="ctr"/>
          <a:lstStyle/>
          <a:p>
            <a:pPr indent="0" marL="0">
              <a:buNone/>
            </a:pPr>
            <a:r>
              <a:rPr lang="en-US" sz="1600" b="1" dirty="0">
                <a:solidFill>
                  <a:schemeClr val="tx2"/>
                </a:solidFill>
              </a:rPr>
              <a:t>Q2. Planned ecotourism destination</a:t>
            </a:r>
            <a:endParaRPr lang="en-US" sz="1600" dirty="0"/>
          </a:p>
          <a:p>
            <a:pPr indent="0" marL="0">
              <a:buNone/>
            </a:pPr>
            <a:r>
              <a:rPr lang="en-US" sz="1400" dirty="0">
                <a:solidFill>
                  <a:schemeClr val="tx1"/>
                </a:solidFill>
              </a:rPr>
              <a:t>Thenmala (Kollam, Keralam) is India's first planned ecotourism destination.</a:t>
            </a:r>
            <a:endParaRPr lang="en-US" sz="1600" dirty="0"/>
          </a:p>
        </p:txBody>
      </p:sp>
      <p:sp>
        <p:nvSpPr>
          <p:cNvPr id="11" name="answer 3"/>
          <p:cNvSpPr/>
          <p:nvPr/>
        </p:nvSpPr>
        <p:spPr>
          <a:xfrm>
            <a:off x="548640" y="3794760"/>
            <a:ext cx="11064240" cy="1074420"/>
          </a:xfrm>
          <a:prstGeom prst="roundRect">
            <a:avLst>
              <a:gd name="adj" fmla="val 10213"/>
            </a:avLst>
          </a:prstGeom>
          <a:solidFill>
            <a:schemeClr val="bg2"/>
          </a:solidFill>
          <a:ln w="12700">
            <a:solidFill>
              <a:schemeClr val="bg2"/>
            </a:solidFill>
            <a:prstDash val="solid"/>
          </a:ln>
        </p:spPr>
      </p:sp>
      <p:sp>
        <p:nvSpPr>
          <p:cNvPr id="12" name="answer 3 badge"/>
          <p:cNvSpPr/>
          <p:nvPr/>
        </p:nvSpPr>
        <p:spPr>
          <a:xfrm>
            <a:off x="731520" y="4103370"/>
            <a:ext cx="457200" cy="457200"/>
          </a:xfrm>
          <a:prstGeom prst="ellipse">
            <a:avLst/>
          </a:prstGeom>
          <a:solidFill>
            <a:schemeClr val="accent2"/>
          </a:solidFill>
          <a:ln w="12700">
            <a:solidFill>
              <a:schemeClr val="accent2"/>
            </a:solidFill>
            <a:prstDash val="solid"/>
          </a:ln>
        </p:spPr>
      </p:sp>
      <p:sp>
        <p:nvSpPr>
          <p:cNvPr id="13" name="Text 11"/>
          <p:cNvSpPr txBox="1"/>
          <p:nvPr/>
        </p:nvSpPr>
        <p:spPr>
          <a:xfrm>
            <a:off x="731520" y="410337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C</a:t>
            </a:r>
            <a:endParaRPr lang="en-US" sz="1600" dirty="0"/>
          </a:p>
        </p:txBody>
      </p:sp>
      <p:sp>
        <p:nvSpPr>
          <p:cNvPr id="14" name="Text 12"/>
          <p:cNvSpPr txBox="1"/>
          <p:nvPr/>
        </p:nvSpPr>
        <p:spPr>
          <a:xfrm>
            <a:off x="1371600" y="3794760"/>
            <a:ext cx="10058400" cy="1074420"/>
          </a:xfrm>
          <a:prstGeom prst="rect">
            <a:avLst/>
          </a:prstGeom>
          <a:noFill/>
          <a:ln/>
        </p:spPr>
        <p:txBody>
          <a:bodyPr wrap="square" lIns="0" tIns="0" rIns="0" bIns="0" rtlCol="0" anchor="ctr"/>
          <a:lstStyle/>
          <a:p>
            <a:pPr indent="0" marL="0">
              <a:buNone/>
            </a:pPr>
            <a:r>
              <a:rPr lang="en-US" sz="1600" b="1" dirty="0">
                <a:solidFill>
                  <a:schemeClr val="tx2"/>
                </a:solidFill>
              </a:rPr>
              <a:t>Q3. Decreases</a:t>
            </a:r>
            <a:endParaRPr lang="en-US" sz="1600" dirty="0"/>
          </a:p>
          <a:p>
            <a:pPr indent="0" marL="0">
              <a:buNone/>
            </a:pPr>
            <a:r>
              <a:rPr lang="en-US" sz="1400" dirty="0">
                <a:solidFill>
                  <a:schemeClr val="tx1"/>
                </a:solidFill>
              </a:rPr>
              <a:t>Energy is lost as heat at each trophic level.</a:t>
            </a:r>
            <a:endParaRPr lang="en-US" sz="1600" dirty="0"/>
          </a:p>
        </p:txBody>
      </p:sp>
      <p:sp>
        <p:nvSpPr>
          <p:cNvPr id="15" name="answer 4"/>
          <p:cNvSpPr/>
          <p:nvPr/>
        </p:nvSpPr>
        <p:spPr>
          <a:xfrm>
            <a:off x="548640" y="5006340"/>
            <a:ext cx="11064240" cy="1074420"/>
          </a:xfrm>
          <a:prstGeom prst="roundRect">
            <a:avLst>
              <a:gd name="adj" fmla="val 10213"/>
            </a:avLst>
          </a:prstGeom>
          <a:solidFill>
            <a:schemeClr val="bg2"/>
          </a:solidFill>
          <a:ln w="12700">
            <a:solidFill>
              <a:schemeClr val="bg2"/>
            </a:solidFill>
            <a:prstDash val="solid"/>
          </a:ln>
        </p:spPr>
      </p:sp>
      <p:sp>
        <p:nvSpPr>
          <p:cNvPr id="16" name="answer 4 badge"/>
          <p:cNvSpPr/>
          <p:nvPr/>
        </p:nvSpPr>
        <p:spPr>
          <a:xfrm>
            <a:off x="731520" y="5314950"/>
            <a:ext cx="457200" cy="457200"/>
          </a:xfrm>
          <a:prstGeom prst="ellipse">
            <a:avLst/>
          </a:prstGeom>
          <a:solidFill>
            <a:schemeClr val="accent2"/>
          </a:solidFill>
          <a:ln w="12700">
            <a:solidFill>
              <a:schemeClr val="accent2"/>
            </a:solidFill>
            <a:prstDash val="solid"/>
          </a:ln>
        </p:spPr>
      </p:sp>
      <p:sp>
        <p:nvSpPr>
          <p:cNvPr id="17" name="Text 15"/>
          <p:cNvSpPr txBox="1"/>
          <p:nvPr/>
        </p:nvSpPr>
        <p:spPr>
          <a:xfrm>
            <a:off x="731520" y="531495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A</a:t>
            </a:r>
            <a:endParaRPr lang="en-US" sz="1600" dirty="0"/>
          </a:p>
        </p:txBody>
      </p:sp>
      <p:sp>
        <p:nvSpPr>
          <p:cNvPr id="18" name="Text 16"/>
          <p:cNvSpPr txBox="1"/>
          <p:nvPr/>
        </p:nvSpPr>
        <p:spPr>
          <a:xfrm>
            <a:off x="1371600" y="5006340"/>
            <a:ext cx="10058400" cy="1074420"/>
          </a:xfrm>
          <a:prstGeom prst="rect">
            <a:avLst/>
          </a:prstGeom>
          <a:noFill/>
          <a:ln/>
        </p:spPr>
        <p:txBody>
          <a:bodyPr wrap="square" lIns="0" tIns="0" rIns="0" bIns="0" rtlCol="0" anchor="ctr"/>
          <a:lstStyle/>
          <a:p>
            <a:pPr indent="0" marL="0">
              <a:buNone/>
            </a:pPr>
            <a:r>
              <a:rPr lang="en-US" sz="1600" b="1" dirty="0">
                <a:solidFill>
                  <a:schemeClr val="tx2"/>
                </a:solidFill>
              </a:rPr>
              <a:t>Q4. Mendha Lekha</a:t>
            </a:r>
            <a:endParaRPr lang="en-US" sz="1600" dirty="0"/>
          </a:p>
          <a:p>
            <a:pPr indent="0" marL="0">
              <a:buNone/>
            </a:pPr>
            <a:r>
              <a:rPr lang="en-US" sz="1400" dirty="0">
                <a:solidFill>
                  <a:schemeClr val="tx1"/>
                </a:solidFill>
              </a:rPr>
              <a:t>Mendha Lekha (Gadchiroli, Maharashtra): 'Mawa Nate Mawa Raj'.</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3D2B"/>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Myth or Fact?</a:t>
            </a:r>
            <a:endParaRPr lang="en-US" sz="3600" dirty="0"/>
          </a:p>
        </p:txBody>
      </p:sp>
      <p:sp>
        <p:nvSpPr>
          <p:cNvPr id="3" name="statement 1"/>
          <p:cNvSpPr/>
          <p:nvPr/>
        </p:nvSpPr>
        <p:spPr>
          <a:xfrm>
            <a:off x="548640" y="1371600"/>
            <a:ext cx="11064240" cy="832104"/>
          </a:xfrm>
          <a:prstGeom prst="roundRect">
            <a:avLst>
              <a:gd name="adj" fmla="val 13187"/>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4" name="Text 2"/>
          <p:cNvSpPr txBox="1"/>
          <p:nvPr/>
        </p:nvSpPr>
        <p:spPr>
          <a:xfrm>
            <a:off x="822960" y="1371600"/>
            <a:ext cx="8595360" cy="832104"/>
          </a:xfrm>
          <a:prstGeom prst="rect">
            <a:avLst/>
          </a:prstGeom>
          <a:noFill/>
          <a:ln/>
        </p:spPr>
        <p:txBody>
          <a:bodyPr wrap="square" lIns="0" tIns="0" rIns="0" bIns="0" rtlCol="0" anchor="ctr"/>
          <a:lstStyle/>
          <a:p>
            <a:pPr indent="0" marL="0">
              <a:buNone/>
            </a:pPr>
            <a:r>
              <a:rPr lang="en-US" sz="1700" dirty="0">
                <a:solidFill>
                  <a:schemeClr val="tx1"/>
                </a:solidFill>
              </a:rPr>
              <a:t>1.  A biome and an ecosystem mean exactly the same thing.</a:t>
            </a:r>
            <a:endParaRPr lang="en-US" sz="1700" dirty="0"/>
          </a:p>
        </p:txBody>
      </p:sp>
      <p:sp>
        <p:nvSpPr>
          <p:cNvPr id="5" name="vote 1"/>
          <p:cNvSpPr/>
          <p:nvPr/>
        </p:nvSpPr>
        <p:spPr>
          <a:xfrm>
            <a:off x="9646920" y="1559052"/>
            <a:ext cx="1737360" cy="457200"/>
          </a:xfrm>
          <a:prstGeom prst="roundRect">
            <a:avLst>
              <a:gd name="adj" fmla="val 50000"/>
            </a:avLst>
          </a:prstGeom>
          <a:solidFill>
            <a:schemeClr val="bg2"/>
          </a:solidFill>
          <a:ln w="12700">
            <a:solidFill>
              <a:schemeClr val="bg2"/>
            </a:solidFill>
            <a:prstDash val="solid"/>
          </a:ln>
        </p:spPr>
      </p:sp>
      <p:sp>
        <p:nvSpPr>
          <p:cNvPr id="6" name="Text 4"/>
          <p:cNvSpPr txBox="1"/>
          <p:nvPr/>
        </p:nvSpPr>
        <p:spPr>
          <a:xfrm>
            <a:off x="9646920" y="1559052"/>
            <a:ext cx="1737360" cy="457200"/>
          </a:xfrm>
          <a:prstGeom prst="rect">
            <a:avLst/>
          </a:prstGeom>
          <a:noFill/>
          <a:ln/>
        </p:spPr>
        <p:txBody>
          <a:bodyPr wrap="square" lIns="0" tIns="0" rIns="0" bIns="0" rtlCol="0" anchor="ctr"/>
          <a:lstStyle/>
          <a:p>
            <a:pPr algn="ctr" indent="0" marL="0">
              <a:buNone/>
            </a:pPr>
            <a:r>
              <a:rPr lang="en-US" sz="1300" b="1" dirty="0">
                <a:solidFill>
                  <a:schemeClr val="tx2"/>
                </a:solidFill>
              </a:rPr>
              <a:t>Myth  /  Fact</a:t>
            </a:r>
            <a:endParaRPr lang="en-US" sz="1300" dirty="0"/>
          </a:p>
        </p:txBody>
      </p:sp>
      <p:sp>
        <p:nvSpPr>
          <p:cNvPr id="7" name="statement 2"/>
          <p:cNvSpPr/>
          <p:nvPr/>
        </p:nvSpPr>
        <p:spPr>
          <a:xfrm>
            <a:off x="548640" y="2340864"/>
            <a:ext cx="11064240" cy="832104"/>
          </a:xfrm>
          <a:prstGeom prst="roundRect">
            <a:avLst>
              <a:gd name="adj" fmla="val 13187"/>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8" name="Text 6"/>
          <p:cNvSpPr txBox="1"/>
          <p:nvPr/>
        </p:nvSpPr>
        <p:spPr>
          <a:xfrm>
            <a:off x="822960" y="2340864"/>
            <a:ext cx="8595360" cy="832104"/>
          </a:xfrm>
          <a:prstGeom prst="rect">
            <a:avLst/>
          </a:prstGeom>
          <a:noFill/>
          <a:ln/>
        </p:spPr>
        <p:txBody>
          <a:bodyPr wrap="square" lIns="0" tIns="0" rIns="0" bIns="0" rtlCol="0" anchor="ctr"/>
          <a:lstStyle/>
          <a:p>
            <a:pPr indent="0" marL="0">
              <a:buNone/>
            </a:pPr>
            <a:r>
              <a:rPr lang="en-US" sz="1700" dirty="0">
                <a:solidFill>
                  <a:schemeClr val="tx1"/>
                </a:solidFill>
              </a:rPr>
              <a:t>2.  Tropical rainforests are called a 'gene bank'.</a:t>
            </a:r>
            <a:endParaRPr lang="en-US" sz="1700" dirty="0"/>
          </a:p>
        </p:txBody>
      </p:sp>
      <p:sp>
        <p:nvSpPr>
          <p:cNvPr id="9" name="vote 2"/>
          <p:cNvSpPr/>
          <p:nvPr/>
        </p:nvSpPr>
        <p:spPr>
          <a:xfrm>
            <a:off x="9646920" y="2528316"/>
            <a:ext cx="1737360" cy="457200"/>
          </a:xfrm>
          <a:prstGeom prst="roundRect">
            <a:avLst>
              <a:gd name="adj" fmla="val 50000"/>
            </a:avLst>
          </a:prstGeom>
          <a:solidFill>
            <a:schemeClr val="bg2"/>
          </a:solidFill>
          <a:ln w="12700">
            <a:solidFill>
              <a:schemeClr val="bg2"/>
            </a:solidFill>
            <a:prstDash val="solid"/>
          </a:ln>
        </p:spPr>
      </p:sp>
      <p:sp>
        <p:nvSpPr>
          <p:cNvPr id="10" name="Text 8"/>
          <p:cNvSpPr txBox="1"/>
          <p:nvPr/>
        </p:nvSpPr>
        <p:spPr>
          <a:xfrm>
            <a:off x="9646920" y="2528316"/>
            <a:ext cx="1737360" cy="457200"/>
          </a:xfrm>
          <a:prstGeom prst="rect">
            <a:avLst/>
          </a:prstGeom>
          <a:noFill/>
          <a:ln/>
        </p:spPr>
        <p:txBody>
          <a:bodyPr wrap="square" lIns="0" tIns="0" rIns="0" bIns="0" rtlCol="0" anchor="ctr"/>
          <a:lstStyle/>
          <a:p>
            <a:pPr algn="ctr" indent="0" marL="0">
              <a:buNone/>
            </a:pPr>
            <a:r>
              <a:rPr lang="en-US" sz="1300" b="1" dirty="0">
                <a:solidFill>
                  <a:schemeClr val="tx2"/>
                </a:solidFill>
              </a:rPr>
              <a:t>Myth  /  Fact</a:t>
            </a:r>
            <a:endParaRPr lang="en-US" sz="1300" dirty="0"/>
          </a:p>
        </p:txBody>
      </p:sp>
      <p:sp>
        <p:nvSpPr>
          <p:cNvPr id="11" name="statement 3"/>
          <p:cNvSpPr/>
          <p:nvPr/>
        </p:nvSpPr>
        <p:spPr>
          <a:xfrm>
            <a:off x="548640" y="3310128"/>
            <a:ext cx="11064240" cy="832104"/>
          </a:xfrm>
          <a:prstGeom prst="roundRect">
            <a:avLst>
              <a:gd name="adj" fmla="val 13187"/>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2" name="Text 10"/>
          <p:cNvSpPr txBox="1"/>
          <p:nvPr/>
        </p:nvSpPr>
        <p:spPr>
          <a:xfrm>
            <a:off x="822960" y="3310128"/>
            <a:ext cx="8595360" cy="832104"/>
          </a:xfrm>
          <a:prstGeom prst="rect">
            <a:avLst/>
          </a:prstGeom>
          <a:noFill/>
          <a:ln/>
        </p:spPr>
        <p:txBody>
          <a:bodyPr wrap="square" lIns="0" tIns="0" rIns="0" bIns="0" rtlCol="0" anchor="ctr"/>
          <a:lstStyle/>
          <a:p>
            <a:pPr indent="0" marL="0">
              <a:buNone/>
            </a:pPr>
            <a:r>
              <a:rPr lang="en-US" sz="1700" dirty="0">
                <a:solidFill>
                  <a:schemeClr val="tx1"/>
                </a:solidFill>
              </a:rPr>
              <a:t>3.  All deserts are hot.</a:t>
            </a:r>
            <a:endParaRPr lang="en-US" sz="1700" dirty="0"/>
          </a:p>
        </p:txBody>
      </p:sp>
      <p:sp>
        <p:nvSpPr>
          <p:cNvPr id="13" name="vote 3"/>
          <p:cNvSpPr/>
          <p:nvPr/>
        </p:nvSpPr>
        <p:spPr>
          <a:xfrm>
            <a:off x="9646920" y="3497580"/>
            <a:ext cx="1737360" cy="457200"/>
          </a:xfrm>
          <a:prstGeom prst="roundRect">
            <a:avLst>
              <a:gd name="adj" fmla="val 50000"/>
            </a:avLst>
          </a:prstGeom>
          <a:solidFill>
            <a:schemeClr val="bg2"/>
          </a:solidFill>
          <a:ln w="12700">
            <a:solidFill>
              <a:schemeClr val="bg2"/>
            </a:solidFill>
            <a:prstDash val="solid"/>
          </a:ln>
        </p:spPr>
      </p:sp>
      <p:sp>
        <p:nvSpPr>
          <p:cNvPr id="14" name="Text 12"/>
          <p:cNvSpPr txBox="1"/>
          <p:nvPr/>
        </p:nvSpPr>
        <p:spPr>
          <a:xfrm>
            <a:off x="9646920" y="3497580"/>
            <a:ext cx="1737360" cy="457200"/>
          </a:xfrm>
          <a:prstGeom prst="rect">
            <a:avLst/>
          </a:prstGeom>
          <a:noFill/>
          <a:ln/>
        </p:spPr>
        <p:txBody>
          <a:bodyPr wrap="square" lIns="0" tIns="0" rIns="0" bIns="0" rtlCol="0" anchor="ctr"/>
          <a:lstStyle/>
          <a:p>
            <a:pPr algn="ctr" indent="0" marL="0">
              <a:buNone/>
            </a:pPr>
            <a:r>
              <a:rPr lang="en-US" sz="1300" b="1" dirty="0">
                <a:solidFill>
                  <a:schemeClr val="tx2"/>
                </a:solidFill>
              </a:rPr>
              <a:t>Myth  /  Fact</a:t>
            </a:r>
            <a:endParaRPr lang="en-US" sz="1300" dirty="0"/>
          </a:p>
        </p:txBody>
      </p:sp>
      <p:sp>
        <p:nvSpPr>
          <p:cNvPr id="15" name="statement 4"/>
          <p:cNvSpPr/>
          <p:nvPr/>
        </p:nvSpPr>
        <p:spPr>
          <a:xfrm>
            <a:off x="548640" y="4279392"/>
            <a:ext cx="11064240" cy="832104"/>
          </a:xfrm>
          <a:prstGeom prst="roundRect">
            <a:avLst>
              <a:gd name="adj" fmla="val 13187"/>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6" name="Text 14"/>
          <p:cNvSpPr txBox="1"/>
          <p:nvPr/>
        </p:nvSpPr>
        <p:spPr>
          <a:xfrm>
            <a:off x="822960" y="4279392"/>
            <a:ext cx="8595360" cy="832104"/>
          </a:xfrm>
          <a:prstGeom prst="rect">
            <a:avLst/>
          </a:prstGeom>
          <a:noFill/>
          <a:ln/>
        </p:spPr>
        <p:txBody>
          <a:bodyPr wrap="square" lIns="0" tIns="0" rIns="0" bIns="0" rtlCol="0" anchor="ctr"/>
          <a:lstStyle/>
          <a:p>
            <a:pPr indent="0" marL="0">
              <a:buNone/>
            </a:pPr>
            <a:r>
              <a:rPr lang="en-US" sz="1700" dirty="0">
                <a:solidFill>
                  <a:schemeClr val="tx1"/>
                </a:solidFill>
              </a:rPr>
              <a:t>4.  The Chipko Movement was inspired by the Bishnoi Movement.</a:t>
            </a:r>
            <a:endParaRPr lang="en-US" sz="1700" dirty="0"/>
          </a:p>
        </p:txBody>
      </p:sp>
      <p:sp>
        <p:nvSpPr>
          <p:cNvPr id="17" name="vote 4"/>
          <p:cNvSpPr/>
          <p:nvPr/>
        </p:nvSpPr>
        <p:spPr>
          <a:xfrm>
            <a:off x="9646920" y="4466844"/>
            <a:ext cx="1737360" cy="457200"/>
          </a:xfrm>
          <a:prstGeom prst="roundRect">
            <a:avLst>
              <a:gd name="adj" fmla="val 50000"/>
            </a:avLst>
          </a:prstGeom>
          <a:solidFill>
            <a:schemeClr val="bg2"/>
          </a:solidFill>
          <a:ln w="12700">
            <a:solidFill>
              <a:schemeClr val="bg2"/>
            </a:solidFill>
            <a:prstDash val="solid"/>
          </a:ln>
        </p:spPr>
      </p:sp>
      <p:sp>
        <p:nvSpPr>
          <p:cNvPr id="18" name="Text 16"/>
          <p:cNvSpPr txBox="1"/>
          <p:nvPr/>
        </p:nvSpPr>
        <p:spPr>
          <a:xfrm>
            <a:off x="9646920" y="4466844"/>
            <a:ext cx="1737360" cy="457200"/>
          </a:xfrm>
          <a:prstGeom prst="rect">
            <a:avLst/>
          </a:prstGeom>
          <a:noFill/>
          <a:ln/>
        </p:spPr>
        <p:txBody>
          <a:bodyPr wrap="square" lIns="0" tIns="0" rIns="0" bIns="0" rtlCol="0" anchor="ctr"/>
          <a:lstStyle/>
          <a:p>
            <a:pPr algn="ctr" indent="0" marL="0">
              <a:buNone/>
            </a:pPr>
            <a:r>
              <a:rPr lang="en-US" sz="1300" b="1" dirty="0">
                <a:solidFill>
                  <a:schemeClr val="tx2"/>
                </a:solidFill>
              </a:rPr>
              <a:t>Myth  /  Fact</a:t>
            </a:r>
            <a:endParaRPr lang="en-US" sz="1300" dirty="0"/>
          </a:p>
        </p:txBody>
      </p:sp>
      <p:sp>
        <p:nvSpPr>
          <p:cNvPr id="19" name="statement 5"/>
          <p:cNvSpPr/>
          <p:nvPr/>
        </p:nvSpPr>
        <p:spPr>
          <a:xfrm>
            <a:off x="548640" y="5248656"/>
            <a:ext cx="11064240" cy="832104"/>
          </a:xfrm>
          <a:prstGeom prst="roundRect">
            <a:avLst>
              <a:gd name="adj" fmla="val 13187"/>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20" name="Text 18"/>
          <p:cNvSpPr txBox="1"/>
          <p:nvPr/>
        </p:nvSpPr>
        <p:spPr>
          <a:xfrm>
            <a:off x="822960" y="5248656"/>
            <a:ext cx="8595360" cy="832104"/>
          </a:xfrm>
          <a:prstGeom prst="rect">
            <a:avLst/>
          </a:prstGeom>
          <a:noFill/>
          <a:ln/>
        </p:spPr>
        <p:txBody>
          <a:bodyPr wrap="square" lIns="0" tIns="0" rIns="0" bIns="0" rtlCol="0" anchor="ctr"/>
          <a:lstStyle/>
          <a:p>
            <a:pPr indent="0" marL="0">
              <a:buNone/>
            </a:pPr>
            <a:r>
              <a:rPr lang="en-US" sz="1700" dirty="0">
                <a:solidFill>
                  <a:schemeClr val="tx1"/>
                </a:solidFill>
              </a:rPr>
              <a:t>5.  A GI tag tells us where a product comes from.</a:t>
            </a:r>
            <a:endParaRPr lang="en-US" sz="1700" dirty="0"/>
          </a:p>
        </p:txBody>
      </p:sp>
      <p:sp>
        <p:nvSpPr>
          <p:cNvPr id="21" name="vote 5"/>
          <p:cNvSpPr/>
          <p:nvPr/>
        </p:nvSpPr>
        <p:spPr>
          <a:xfrm>
            <a:off x="9646920" y="5436108"/>
            <a:ext cx="1737360" cy="457200"/>
          </a:xfrm>
          <a:prstGeom prst="roundRect">
            <a:avLst>
              <a:gd name="adj" fmla="val 50000"/>
            </a:avLst>
          </a:prstGeom>
          <a:solidFill>
            <a:schemeClr val="bg2"/>
          </a:solidFill>
          <a:ln w="12700">
            <a:solidFill>
              <a:schemeClr val="bg2"/>
            </a:solidFill>
            <a:prstDash val="solid"/>
          </a:ln>
        </p:spPr>
      </p:sp>
      <p:sp>
        <p:nvSpPr>
          <p:cNvPr id="22" name="Text 20"/>
          <p:cNvSpPr txBox="1"/>
          <p:nvPr/>
        </p:nvSpPr>
        <p:spPr>
          <a:xfrm>
            <a:off x="9646920" y="5436108"/>
            <a:ext cx="1737360" cy="457200"/>
          </a:xfrm>
          <a:prstGeom prst="rect">
            <a:avLst/>
          </a:prstGeom>
          <a:noFill/>
          <a:ln/>
        </p:spPr>
        <p:txBody>
          <a:bodyPr wrap="square" lIns="0" tIns="0" rIns="0" bIns="0" rtlCol="0" anchor="ctr"/>
          <a:lstStyle/>
          <a:p>
            <a:pPr algn="ctr" indent="0" marL="0">
              <a:buNone/>
            </a:pPr>
            <a:r>
              <a:rPr lang="en-US" sz="1300" b="1" dirty="0">
                <a:solidFill>
                  <a:schemeClr val="tx2"/>
                </a:solidFill>
              </a:rPr>
              <a:t>Myth  /  Fact</a:t>
            </a:r>
            <a:endParaRPr lang="en-US" sz="13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3D2B"/>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Before We Move On</a:t>
            </a:r>
            <a:endParaRPr lang="en-US" sz="3600" dirty="0"/>
          </a:p>
        </p:txBody>
      </p:sp>
      <p:sp>
        <p:nvSpPr>
          <p:cNvPr id="3" name="mind map centre"/>
          <p:cNvSpPr/>
          <p:nvPr/>
        </p:nvSpPr>
        <p:spPr>
          <a:xfrm>
            <a:off x="4861408" y="3063240"/>
            <a:ext cx="2468880" cy="1463040"/>
          </a:xfrm>
          <a:prstGeom prst="ellipse">
            <a:avLst/>
          </a:prstGeom>
          <a:solidFill>
            <a:schemeClr val="tx2"/>
          </a:solidFill>
          <a:ln w="12700">
            <a:solidFill>
              <a:schemeClr val="tx2"/>
            </a:solidFill>
            <a:prstDash val="solid"/>
          </a:ln>
        </p:spPr>
      </p:sp>
      <p:sp>
        <p:nvSpPr>
          <p:cNvPr id="4" name="Text 2"/>
          <p:cNvSpPr txBox="1"/>
          <p:nvPr/>
        </p:nvSpPr>
        <p:spPr>
          <a:xfrm>
            <a:off x="4952848" y="3063240"/>
            <a:ext cx="2286000" cy="146304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Life on Earth</a:t>
            </a:r>
            <a:endParaRPr lang="en-US" sz="1800" dirty="0"/>
          </a:p>
        </p:txBody>
      </p:sp>
      <p:sp>
        <p:nvSpPr>
          <p:cNvPr id="5" name="branch 1 line"/>
          <p:cNvSpPr/>
          <p:nvPr/>
        </p:nvSpPr>
        <p:spPr>
          <a:xfrm>
            <a:off x="4114800" y="2103120"/>
            <a:ext cx="792328" cy="1691640"/>
          </a:xfrm>
          <a:prstGeom prst="line">
            <a:avLst/>
          </a:prstGeom>
          <a:noFill/>
          <a:ln w="25400">
            <a:solidFill>
              <a:srgbClr val="F2C14E"/>
            </a:solidFill>
            <a:prstDash val="solid"/>
          </a:ln>
        </p:spPr>
      </p:sp>
      <p:sp>
        <p:nvSpPr>
          <p:cNvPr id="6" name="branch 1"/>
          <p:cNvSpPr/>
          <p:nvPr/>
        </p:nvSpPr>
        <p:spPr>
          <a:xfrm>
            <a:off x="548640" y="1371600"/>
            <a:ext cx="3566160" cy="1463040"/>
          </a:xfrm>
          <a:prstGeom prst="roundRect">
            <a:avLst>
              <a:gd name="adj" fmla="val 7500"/>
            </a:avLst>
          </a:prstGeom>
          <a:solidFill>
            <a:schemeClr val="bg2"/>
          </a:solidFill>
          <a:ln w="12700">
            <a:solidFill>
              <a:schemeClr val="bg2"/>
            </a:solidFill>
            <a:prstDash val="solid"/>
          </a:ln>
        </p:spPr>
      </p:sp>
      <p:sp>
        <p:nvSpPr>
          <p:cNvPr id="7" name="Text 5"/>
          <p:cNvSpPr txBox="1"/>
          <p:nvPr/>
        </p:nvSpPr>
        <p:spPr>
          <a:xfrm>
            <a:off x="731520" y="1481328"/>
            <a:ext cx="3200400" cy="1243584"/>
          </a:xfrm>
          <a:prstGeom prst="rect">
            <a:avLst/>
          </a:prstGeom>
          <a:noFill/>
          <a:ln/>
        </p:spPr>
        <p:txBody>
          <a:bodyPr wrap="square" lIns="0" tIns="0" rIns="0" bIns="0" rtlCol="0" anchor="t"/>
          <a:lstStyle/>
          <a:p>
            <a:pPr indent="0" marL="0">
              <a:buNone/>
            </a:pPr>
            <a:r>
              <a:rPr lang="en-US" sz="1600" b="1" dirty="0">
                <a:solidFill>
                  <a:schemeClr val="accent1"/>
                </a:solidFill>
              </a:rPr>
              <a:t>Biomes</a:t>
            </a:r>
            <a:endParaRPr lang="en-US" sz="1600" dirty="0"/>
          </a:p>
          <a:p>
            <a:pPr indent="0" marL="0">
              <a:buNone/>
            </a:pPr>
            <a:r>
              <a:rPr lang="en-US" sz="1600" dirty="0">
                <a:solidFill>
                  <a:schemeClr val="tx1"/>
                </a:solidFill>
              </a:rPr>
              <a:t>Forest, grassland, desert, tundra; freshwater and marine</a:t>
            </a:r>
            <a:endParaRPr lang="en-US" sz="1600" dirty="0"/>
          </a:p>
        </p:txBody>
      </p:sp>
      <p:sp>
        <p:nvSpPr>
          <p:cNvPr id="8" name="branch 2 line"/>
          <p:cNvSpPr/>
          <p:nvPr/>
        </p:nvSpPr>
        <p:spPr>
          <a:xfrm>
            <a:off x="4114800" y="3794760"/>
            <a:ext cx="792328" cy="914"/>
          </a:xfrm>
          <a:prstGeom prst="line">
            <a:avLst/>
          </a:prstGeom>
          <a:noFill/>
          <a:ln w="25400">
            <a:solidFill>
              <a:srgbClr val="F2C14E"/>
            </a:solidFill>
            <a:prstDash val="solid"/>
          </a:ln>
        </p:spPr>
      </p:sp>
      <p:sp>
        <p:nvSpPr>
          <p:cNvPr id="9" name="branch 2"/>
          <p:cNvSpPr/>
          <p:nvPr/>
        </p:nvSpPr>
        <p:spPr>
          <a:xfrm>
            <a:off x="548640" y="3063240"/>
            <a:ext cx="3566160" cy="1463040"/>
          </a:xfrm>
          <a:prstGeom prst="roundRect">
            <a:avLst>
              <a:gd name="adj" fmla="val 7500"/>
            </a:avLst>
          </a:prstGeom>
          <a:solidFill>
            <a:schemeClr val="bg2"/>
          </a:solidFill>
          <a:ln w="12700">
            <a:solidFill>
              <a:schemeClr val="bg2"/>
            </a:solidFill>
            <a:prstDash val="solid"/>
          </a:ln>
        </p:spPr>
      </p:sp>
      <p:sp>
        <p:nvSpPr>
          <p:cNvPr id="10" name="Text 8"/>
          <p:cNvSpPr txBox="1"/>
          <p:nvPr/>
        </p:nvSpPr>
        <p:spPr>
          <a:xfrm>
            <a:off x="731520" y="3172968"/>
            <a:ext cx="3200400" cy="1243584"/>
          </a:xfrm>
          <a:prstGeom prst="rect">
            <a:avLst/>
          </a:prstGeom>
          <a:noFill/>
          <a:ln/>
        </p:spPr>
        <p:txBody>
          <a:bodyPr wrap="square" lIns="0" tIns="0" rIns="0" bIns="0" rtlCol="0" anchor="t"/>
          <a:lstStyle/>
          <a:p>
            <a:pPr indent="0" marL="0">
              <a:buNone/>
            </a:pPr>
            <a:r>
              <a:rPr lang="en-US" sz="1600" b="1" dirty="0">
                <a:solidFill>
                  <a:schemeClr val="accent1"/>
                </a:solidFill>
              </a:rPr>
              <a:t>Biome pyramid</a:t>
            </a:r>
            <a:endParaRPr lang="en-US" sz="1600" dirty="0"/>
          </a:p>
          <a:p>
            <a:pPr indent="0" marL="0">
              <a:buNone/>
            </a:pPr>
            <a:r>
              <a:rPr lang="en-US" sz="1600" dirty="0">
                <a:solidFill>
                  <a:schemeClr val="tx1"/>
                </a:solidFill>
              </a:rPr>
              <a:t>Producers to top predators; energy decreases upward</a:t>
            </a:r>
            <a:endParaRPr lang="en-US" sz="1600" dirty="0"/>
          </a:p>
        </p:txBody>
      </p:sp>
      <p:sp>
        <p:nvSpPr>
          <p:cNvPr id="11" name="branch 3 line"/>
          <p:cNvSpPr/>
          <p:nvPr/>
        </p:nvSpPr>
        <p:spPr>
          <a:xfrm flipV="1">
            <a:off x="4114800" y="3794760"/>
            <a:ext cx="792328" cy="1691640"/>
          </a:xfrm>
          <a:prstGeom prst="line">
            <a:avLst/>
          </a:prstGeom>
          <a:noFill/>
          <a:ln w="25400">
            <a:solidFill>
              <a:srgbClr val="F2C14E"/>
            </a:solidFill>
            <a:prstDash val="solid"/>
          </a:ln>
        </p:spPr>
      </p:sp>
      <p:sp>
        <p:nvSpPr>
          <p:cNvPr id="12" name="branch 3"/>
          <p:cNvSpPr/>
          <p:nvPr/>
        </p:nvSpPr>
        <p:spPr>
          <a:xfrm>
            <a:off x="548640" y="4754880"/>
            <a:ext cx="3566160" cy="1463040"/>
          </a:xfrm>
          <a:prstGeom prst="roundRect">
            <a:avLst>
              <a:gd name="adj" fmla="val 7500"/>
            </a:avLst>
          </a:prstGeom>
          <a:solidFill>
            <a:schemeClr val="bg2"/>
          </a:solidFill>
          <a:ln w="12700">
            <a:solidFill>
              <a:schemeClr val="bg2"/>
            </a:solidFill>
            <a:prstDash val="solid"/>
          </a:ln>
        </p:spPr>
      </p:sp>
      <p:sp>
        <p:nvSpPr>
          <p:cNvPr id="13" name="Text 11"/>
          <p:cNvSpPr txBox="1"/>
          <p:nvPr/>
        </p:nvSpPr>
        <p:spPr>
          <a:xfrm>
            <a:off x="731520" y="4864608"/>
            <a:ext cx="3200400" cy="1243584"/>
          </a:xfrm>
          <a:prstGeom prst="rect">
            <a:avLst/>
          </a:prstGeom>
          <a:noFill/>
          <a:ln/>
        </p:spPr>
        <p:txBody>
          <a:bodyPr wrap="square" lIns="0" tIns="0" rIns="0" bIns="0" rtlCol="0" anchor="t"/>
          <a:lstStyle/>
          <a:p>
            <a:pPr indent="0" marL="0">
              <a:buNone/>
            </a:pPr>
            <a:r>
              <a:rPr lang="en-US" sz="1600" b="1" dirty="0">
                <a:solidFill>
                  <a:schemeClr val="accent1"/>
                </a:solidFill>
              </a:rPr>
              <a:t>Biodiversity</a:t>
            </a:r>
            <a:endParaRPr lang="en-US" sz="1600" dirty="0"/>
          </a:p>
          <a:p>
            <a:pPr indent="0" marL="0">
              <a:buNone/>
            </a:pPr>
            <a:r>
              <a:rPr lang="en-US" sz="1600" dirty="0">
                <a:solidFill>
                  <a:schemeClr val="tx1"/>
                </a:solidFill>
              </a:rPr>
              <a:t>Hotspots, protected areas, corridors, sacred groves</a:t>
            </a:r>
            <a:endParaRPr lang="en-US" sz="1600" dirty="0"/>
          </a:p>
        </p:txBody>
      </p:sp>
      <p:sp>
        <p:nvSpPr>
          <p:cNvPr id="14" name="branch 4 line"/>
          <p:cNvSpPr/>
          <p:nvPr/>
        </p:nvSpPr>
        <p:spPr>
          <a:xfrm flipV="1">
            <a:off x="7284568" y="2103120"/>
            <a:ext cx="789584" cy="1691640"/>
          </a:xfrm>
          <a:prstGeom prst="line">
            <a:avLst/>
          </a:prstGeom>
          <a:noFill/>
          <a:ln w="25400">
            <a:solidFill>
              <a:srgbClr val="F2C14E"/>
            </a:solidFill>
            <a:prstDash val="solid"/>
          </a:ln>
        </p:spPr>
      </p:sp>
      <p:sp>
        <p:nvSpPr>
          <p:cNvPr id="15" name="branch 4"/>
          <p:cNvSpPr/>
          <p:nvPr/>
        </p:nvSpPr>
        <p:spPr>
          <a:xfrm>
            <a:off x="8074152" y="1371600"/>
            <a:ext cx="3566160" cy="1463040"/>
          </a:xfrm>
          <a:prstGeom prst="roundRect">
            <a:avLst>
              <a:gd name="adj" fmla="val 7500"/>
            </a:avLst>
          </a:prstGeom>
          <a:solidFill>
            <a:schemeClr val="bg2"/>
          </a:solidFill>
          <a:ln w="12700">
            <a:solidFill>
              <a:schemeClr val="bg2"/>
            </a:solidFill>
            <a:prstDash val="solid"/>
          </a:ln>
        </p:spPr>
      </p:sp>
      <p:sp>
        <p:nvSpPr>
          <p:cNvPr id="16" name="Text 14"/>
          <p:cNvSpPr txBox="1"/>
          <p:nvPr/>
        </p:nvSpPr>
        <p:spPr>
          <a:xfrm>
            <a:off x="8257032" y="1481328"/>
            <a:ext cx="3200400" cy="1243584"/>
          </a:xfrm>
          <a:prstGeom prst="rect">
            <a:avLst/>
          </a:prstGeom>
          <a:noFill/>
          <a:ln/>
        </p:spPr>
        <p:txBody>
          <a:bodyPr wrap="square" lIns="0" tIns="0" rIns="0" bIns="0" rtlCol="0" anchor="t"/>
          <a:lstStyle/>
          <a:p>
            <a:pPr indent="0" marL="0">
              <a:buNone/>
            </a:pPr>
            <a:r>
              <a:rPr lang="en-US" sz="1600" b="1" dirty="0">
                <a:solidFill>
                  <a:schemeClr val="accent1"/>
                </a:solidFill>
              </a:rPr>
              <a:t>Forests and livelihoods</a:t>
            </a:r>
            <a:endParaRPr lang="en-US" sz="1600" dirty="0"/>
          </a:p>
          <a:p>
            <a:pPr indent="0" marL="0">
              <a:buNone/>
            </a:pPr>
            <a:r>
              <a:rPr lang="en-US" sz="1600" dirty="0">
                <a:solidFill>
                  <a:schemeClr val="tx1"/>
                </a:solidFill>
              </a:rPr>
              <a:t>NTFPs, ecotourism, GI tags, forest dwellers</a:t>
            </a:r>
            <a:endParaRPr lang="en-US" sz="1600" dirty="0"/>
          </a:p>
        </p:txBody>
      </p:sp>
      <p:sp>
        <p:nvSpPr>
          <p:cNvPr id="17" name="branch 5 line"/>
          <p:cNvSpPr/>
          <p:nvPr/>
        </p:nvSpPr>
        <p:spPr>
          <a:xfrm>
            <a:off x="7284568" y="3794760"/>
            <a:ext cx="789584" cy="914"/>
          </a:xfrm>
          <a:prstGeom prst="line">
            <a:avLst/>
          </a:prstGeom>
          <a:noFill/>
          <a:ln w="25400">
            <a:solidFill>
              <a:srgbClr val="F2C14E"/>
            </a:solidFill>
            <a:prstDash val="solid"/>
          </a:ln>
        </p:spPr>
      </p:sp>
      <p:sp>
        <p:nvSpPr>
          <p:cNvPr id="18" name="branch 5"/>
          <p:cNvSpPr/>
          <p:nvPr/>
        </p:nvSpPr>
        <p:spPr>
          <a:xfrm>
            <a:off x="8074152" y="3063240"/>
            <a:ext cx="3566160" cy="1463040"/>
          </a:xfrm>
          <a:prstGeom prst="roundRect">
            <a:avLst>
              <a:gd name="adj" fmla="val 7500"/>
            </a:avLst>
          </a:prstGeom>
          <a:solidFill>
            <a:schemeClr val="bg2"/>
          </a:solidFill>
          <a:ln w="12700">
            <a:solidFill>
              <a:schemeClr val="bg2"/>
            </a:solidFill>
            <a:prstDash val="solid"/>
          </a:ln>
        </p:spPr>
      </p:sp>
      <p:sp>
        <p:nvSpPr>
          <p:cNvPr id="19" name="Text 17"/>
          <p:cNvSpPr txBox="1"/>
          <p:nvPr/>
        </p:nvSpPr>
        <p:spPr>
          <a:xfrm>
            <a:off x="8257032" y="3172968"/>
            <a:ext cx="3200400" cy="1243584"/>
          </a:xfrm>
          <a:prstGeom prst="rect">
            <a:avLst/>
          </a:prstGeom>
          <a:noFill/>
          <a:ln/>
        </p:spPr>
        <p:txBody>
          <a:bodyPr wrap="square" lIns="0" tIns="0" rIns="0" bIns="0" rtlCol="0" anchor="t"/>
          <a:lstStyle/>
          <a:p>
            <a:pPr indent="0" marL="0">
              <a:buNone/>
            </a:pPr>
            <a:r>
              <a:rPr lang="en-US" sz="1600" b="1" dirty="0">
                <a:solidFill>
                  <a:schemeClr val="accent1"/>
                </a:solidFill>
              </a:rPr>
              <a:t>Challenges and support</a:t>
            </a:r>
            <a:endParaRPr lang="en-US" sz="1600" dirty="0"/>
          </a:p>
          <a:p>
            <a:pPr indent="0" marL="0">
              <a:buNone/>
            </a:pPr>
            <a:r>
              <a:rPr lang="en-US" sz="1600" dirty="0">
                <a:solidFill>
                  <a:schemeClr val="tx1"/>
                </a:solidFill>
              </a:rPr>
              <a:t>Fires, conflict, low prices; FRA, JFM, PESA, PM JANMAN</a:t>
            </a:r>
            <a:endParaRPr lang="en-US" sz="1600" dirty="0"/>
          </a:p>
        </p:txBody>
      </p:sp>
      <p:sp>
        <p:nvSpPr>
          <p:cNvPr id="20" name="branch 6 line"/>
          <p:cNvSpPr/>
          <p:nvPr/>
        </p:nvSpPr>
        <p:spPr>
          <a:xfrm>
            <a:off x="7284568" y="3794760"/>
            <a:ext cx="789584" cy="1691640"/>
          </a:xfrm>
          <a:prstGeom prst="line">
            <a:avLst/>
          </a:prstGeom>
          <a:noFill/>
          <a:ln w="25400">
            <a:solidFill>
              <a:srgbClr val="F2C14E"/>
            </a:solidFill>
            <a:prstDash val="solid"/>
          </a:ln>
        </p:spPr>
      </p:sp>
      <p:sp>
        <p:nvSpPr>
          <p:cNvPr id="21" name="branch 6"/>
          <p:cNvSpPr/>
          <p:nvPr/>
        </p:nvSpPr>
        <p:spPr>
          <a:xfrm>
            <a:off x="8074152" y="4754880"/>
            <a:ext cx="3566160" cy="1463040"/>
          </a:xfrm>
          <a:prstGeom prst="roundRect">
            <a:avLst>
              <a:gd name="adj" fmla="val 7500"/>
            </a:avLst>
          </a:prstGeom>
          <a:solidFill>
            <a:schemeClr val="bg2"/>
          </a:solidFill>
          <a:ln w="12700">
            <a:solidFill>
              <a:schemeClr val="bg2"/>
            </a:solidFill>
            <a:prstDash val="solid"/>
          </a:ln>
        </p:spPr>
      </p:sp>
      <p:sp>
        <p:nvSpPr>
          <p:cNvPr id="22" name="Text 20"/>
          <p:cNvSpPr txBox="1"/>
          <p:nvPr/>
        </p:nvSpPr>
        <p:spPr>
          <a:xfrm>
            <a:off x="8257032" y="4864608"/>
            <a:ext cx="3200400" cy="1243584"/>
          </a:xfrm>
          <a:prstGeom prst="rect">
            <a:avLst/>
          </a:prstGeom>
          <a:noFill/>
          <a:ln/>
        </p:spPr>
        <p:txBody>
          <a:bodyPr wrap="square" lIns="0" tIns="0" rIns="0" bIns="0" rtlCol="0" anchor="t"/>
          <a:lstStyle/>
          <a:p>
            <a:pPr indent="0" marL="0">
              <a:buNone/>
            </a:pPr>
            <a:r>
              <a:rPr lang="en-US" sz="1600" b="1" dirty="0">
                <a:solidFill>
                  <a:schemeClr val="accent1"/>
                </a:solidFill>
              </a:rPr>
              <a:t>Ecological commons</a:t>
            </a:r>
            <a:endParaRPr lang="en-US" sz="1600" dirty="0"/>
          </a:p>
          <a:p>
            <a:pPr indent="0" marL="0">
              <a:buNone/>
            </a:pPr>
            <a:r>
              <a:rPr lang="en-US" sz="1600" dirty="0">
                <a:solidFill>
                  <a:schemeClr val="tx1"/>
                </a:solidFill>
              </a:rPr>
              <a:t>Mendha Lekha, Bihar fisheries, traditional tanks</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F3D2B"/>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ctr"/>
          <a:lstStyle/>
          <a:p>
            <a:pPr algn="l" indent="0" marL="0">
              <a:buNone/>
            </a:pPr>
            <a:r>
              <a:rPr lang="en-US" sz="3600" b="1" dirty="0">
                <a:solidFill>
                  <a:schemeClr val="bg1"/>
                </a:solidFill>
              </a:rPr>
              <a:t>Exit Ticket and Homework</a:t>
            </a:r>
            <a:endParaRPr lang="en-US" sz="3600" dirty="0"/>
          </a:p>
        </p:txBody>
      </p:sp>
      <p:sp>
        <p:nvSpPr>
          <p:cNvPr id="3" name="exit 3"/>
          <p:cNvSpPr/>
          <p:nvPr/>
        </p:nvSpPr>
        <p:spPr>
          <a:xfrm>
            <a:off x="731520" y="1508760"/>
            <a:ext cx="2103120" cy="2743200"/>
          </a:xfrm>
          <a:prstGeom prst="roundRect">
            <a:avLst>
              <a:gd name="adj" fmla="val 5217"/>
            </a:avLst>
          </a:prstGeom>
          <a:solidFill>
            <a:schemeClr val="bg1"/>
          </a:solidFill>
          <a:ln w="12700">
            <a:solidFill>
              <a:schemeClr val="bg1"/>
            </a:solidFill>
            <a:prstDash val="solid"/>
          </a:ln>
        </p:spPr>
      </p:sp>
      <p:sp>
        <p:nvSpPr>
          <p:cNvPr id="4" name="Text 2"/>
          <p:cNvSpPr txBox="1"/>
          <p:nvPr/>
        </p:nvSpPr>
        <p:spPr>
          <a:xfrm>
            <a:off x="731520" y="1645920"/>
            <a:ext cx="2103120" cy="914400"/>
          </a:xfrm>
          <a:prstGeom prst="rect">
            <a:avLst/>
          </a:prstGeom>
          <a:noFill/>
          <a:ln/>
        </p:spPr>
        <p:txBody>
          <a:bodyPr wrap="square" lIns="0" tIns="0" rIns="0" bIns="0" rtlCol="0" anchor="ctr"/>
          <a:lstStyle/>
          <a:p>
            <a:pPr algn="ctr" indent="0" marL="0">
              <a:buNone/>
            </a:pPr>
            <a:r>
              <a:rPr lang="en-US" sz="5400" b="1" dirty="0">
                <a:solidFill>
                  <a:schemeClr val="accent1"/>
                </a:solidFill>
                <a:latin typeface="Cambria" pitchFamily="34" charset="0"/>
                <a:ea typeface="Cambria" pitchFamily="34" charset="-122"/>
                <a:cs typeface="Cambria" pitchFamily="34" charset="-120"/>
              </a:rPr>
              <a:t>3</a:t>
            </a:r>
            <a:endParaRPr lang="en-US" sz="5400" dirty="0"/>
          </a:p>
        </p:txBody>
      </p:sp>
      <p:sp>
        <p:nvSpPr>
          <p:cNvPr id="5" name="Text 3"/>
          <p:cNvSpPr txBox="1"/>
          <p:nvPr/>
        </p:nvSpPr>
        <p:spPr>
          <a:xfrm>
            <a:off x="868680" y="2606040"/>
            <a:ext cx="1828800" cy="411480"/>
          </a:xfrm>
          <a:prstGeom prst="rect">
            <a:avLst/>
          </a:prstGeom>
          <a:noFill/>
          <a:ln/>
        </p:spPr>
        <p:txBody>
          <a:bodyPr wrap="square" lIns="0" tIns="0" rIns="0" bIns="0" rtlCol="0" anchor="ctr"/>
          <a:lstStyle/>
          <a:p>
            <a:pPr algn="ctr" indent="0" marL="0">
              <a:buNone/>
            </a:pPr>
            <a:r>
              <a:rPr lang="en-US" sz="1800" b="1" dirty="0">
                <a:solidFill>
                  <a:schemeClr val="tx2"/>
                </a:solidFill>
              </a:rPr>
              <a:t>things I learnt</a:t>
            </a:r>
            <a:endParaRPr lang="en-US" sz="1800" dirty="0"/>
          </a:p>
        </p:txBody>
      </p:sp>
      <p:sp>
        <p:nvSpPr>
          <p:cNvPr id="6" name="Text 4"/>
          <p:cNvSpPr txBox="1"/>
          <p:nvPr/>
        </p:nvSpPr>
        <p:spPr>
          <a:xfrm>
            <a:off x="868680" y="3063240"/>
            <a:ext cx="1828800" cy="1097280"/>
          </a:xfrm>
          <a:prstGeom prst="rect">
            <a:avLst/>
          </a:prstGeom>
          <a:noFill/>
          <a:ln/>
        </p:spPr>
        <p:txBody>
          <a:bodyPr wrap="square" lIns="0" tIns="0" rIns="0" bIns="0" rtlCol="0" anchor="t"/>
          <a:lstStyle/>
          <a:p>
            <a:pPr algn="ctr" indent="0" marL="0">
              <a:buNone/>
            </a:pPr>
            <a:r>
              <a:rPr lang="en-US" sz="1500" dirty="0">
                <a:solidFill>
                  <a:schemeClr val="tx1"/>
                </a:solidFill>
              </a:rPr>
              <a:t>Three key ideas from this chapter</a:t>
            </a:r>
            <a:endParaRPr lang="en-US" sz="1500" dirty="0"/>
          </a:p>
        </p:txBody>
      </p:sp>
      <p:sp>
        <p:nvSpPr>
          <p:cNvPr id="7" name="exit 2"/>
          <p:cNvSpPr/>
          <p:nvPr/>
        </p:nvSpPr>
        <p:spPr>
          <a:xfrm>
            <a:off x="3063240" y="1508760"/>
            <a:ext cx="2103120" cy="2743200"/>
          </a:xfrm>
          <a:prstGeom prst="roundRect">
            <a:avLst>
              <a:gd name="adj" fmla="val 5217"/>
            </a:avLst>
          </a:prstGeom>
          <a:solidFill>
            <a:schemeClr val="bg1"/>
          </a:solidFill>
          <a:ln w="12700">
            <a:solidFill>
              <a:schemeClr val="bg1"/>
            </a:solidFill>
            <a:prstDash val="solid"/>
          </a:ln>
        </p:spPr>
      </p:sp>
      <p:sp>
        <p:nvSpPr>
          <p:cNvPr id="8" name="Text 6"/>
          <p:cNvSpPr txBox="1"/>
          <p:nvPr/>
        </p:nvSpPr>
        <p:spPr>
          <a:xfrm>
            <a:off x="3063240" y="1645920"/>
            <a:ext cx="2103120" cy="914400"/>
          </a:xfrm>
          <a:prstGeom prst="rect">
            <a:avLst/>
          </a:prstGeom>
          <a:noFill/>
          <a:ln/>
        </p:spPr>
        <p:txBody>
          <a:bodyPr wrap="square" lIns="0" tIns="0" rIns="0" bIns="0" rtlCol="0" anchor="ctr"/>
          <a:lstStyle/>
          <a:p>
            <a:pPr algn="ctr" indent="0" marL="0">
              <a:buNone/>
            </a:pPr>
            <a:r>
              <a:rPr lang="en-US" sz="5400" b="1" dirty="0">
                <a:solidFill>
                  <a:schemeClr val="accent1"/>
                </a:solidFill>
                <a:latin typeface="Cambria" pitchFamily="34" charset="0"/>
                <a:ea typeface="Cambria" pitchFamily="34" charset="-122"/>
                <a:cs typeface="Cambria" pitchFamily="34" charset="-120"/>
              </a:rPr>
              <a:t>2</a:t>
            </a:r>
            <a:endParaRPr lang="en-US" sz="5400" dirty="0"/>
          </a:p>
        </p:txBody>
      </p:sp>
      <p:sp>
        <p:nvSpPr>
          <p:cNvPr id="9" name="Text 7"/>
          <p:cNvSpPr txBox="1"/>
          <p:nvPr/>
        </p:nvSpPr>
        <p:spPr>
          <a:xfrm>
            <a:off x="3200400" y="2606040"/>
            <a:ext cx="1828800" cy="411480"/>
          </a:xfrm>
          <a:prstGeom prst="rect">
            <a:avLst/>
          </a:prstGeom>
          <a:noFill/>
          <a:ln/>
        </p:spPr>
        <p:txBody>
          <a:bodyPr wrap="square" lIns="0" tIns="0" rIns="0" bIns="0" rtlCol="0" anchor="ctr"/>
          <a:lstStyle/>
          <a:p>
            <a:pPr algn="ctr" indent="0" marL="0">
              <a:buNone/>
            </a:pPr>
            <a:r>
              <a:rPr lang="en-US" sz="1800" b="1" dirty="0">
                <a:solidFill>
                  <a:schemeClr val="tx2"/>
                </a:solidFill>
              </a:rPr>
              <a:t>connections</a:t>
            </a:r>
            <a:endParaRPr lang="en-US" sz="1800" dirty="0"/>
          </a:p>
        </p:txBody>
      </p:sp>
      <p:sp>
        <p:nvSpPr>
          <p:cNvPr id="10" name="Text 8"/>
          <p:cNvSpPr txBox="1"/>
          <p:nvPr/>
        </p:nvSpPr>
        <p:spPr>
          <a:xfrm>
            <a:off x="3200400" y="3063240"/>
            <a:ext cx="1828800" cy="1097280"/>
          </a:xfrm>
          <a:prstGeom prst="rect">
            <a:avLst/>
          </a:prstGeom>
          <a:noFill/>
          <a:ln/>
        </p:spPr>
        <p:txBody>
          <a:bodyPr wrap="square" lIns="0" tIns="0" rIns="0" bIns="0" rtlCol="0" anchor="t"/>
          <a:lstStyle/>
          <a:p>
            <a:pPr algn="ctr" indent="0" marL="0">
              <a:buNone/>
            </a:pPr>
            <a:r>
              <a:rPr lang="en-US" sz="1500" dirty="0">
                <a:solidFill>
                  <a:schemeClr val="tx1"/>
                </a:solidFill>
              </a:rPr>
              <a:t>Two ways this topic connects to my life or my state</a:t>
            </a:r>
            <a:endParaRPr lang="en-US" sz="1500" dirty="0"/>
          </a:p>
        </p:txBody>
      </p:sp>
      <p:sp>
        <p:nvSpPr>
          <p:cNvPr id="11" name="exit 1"/>
          <p:cNvSpPr/>
          <p:nvPr/>
        </p:nvSpPr>
        <p:spPr>
          <a:xfrm>
            <a:off x="5394960" y="1508760"/>
            <a:ext cx="2103120" cy="2743200"/>
          </a:xfrm>
          <a:prstGeom prst="roundRect">
            <a:avLst>
              <a:gd name="adj" fmla="val 5217"/>
            </a:avLst>
          </a:prstGeom>
          <a:solidFill>
            <a:schemeClr val="bg1"/>
          </a:solidFill>
          <a:ln w="12700">
            <a:solidFill>
              <a:schemeClr val="bg1"/>
            </a:solidFill>
            <a:prstDash val="solid"/>
          </a:ln>
        </p:spPr>
      </p:sp>
      <p:sp>
        <p:nvSpPr>
          <p:cNvPr id="12" name="Text 10"/>
          <p:cNvSpPr txBox="1"/>
          <p:nvPr/>
        </p:nvSpPr>
        <p:spPr>
          <a:xfrm>
            <a:off x="5394960" y="1645920"/>
            <a:ext cx="2103120" cy="914400"/>
          </a:xfrm>
          <a:prstGeom prst="rect">
            <a:avLst/>
          </a:prstGeom>
          <a:noFill/>
          <a:ln/>
        </p:spPr>
        <p:txBody>
          <a:bodyPr wrap="square" lIns="0" tIns="0" rIns="0" bIns="0" rtlCol="0" anchor="ctr"/>
          <a:lstStyle/>
          <a:p>
            <a:pPr algn="ctr" indent="0" marL="0">
              <a:buNone/>
            </a:pPr>
            <a:r>
              <a:rPr lang="en-US" sz="5400" b="1" dirty="0">
                <a:solidFill>
                  <a:schemeClr val="accent1"/>
                </a:solidFill>
                <a:latin typeface="Cambria" pitchFamily="34" charset="0"/>
                <a:ea typeface="Cambria" pitchFamily="34" charset="-122"/>
                <a:cs typeface="Cambria" pitchFamily="34" charset="-120"/>
              </a:rPr>
              <a:t>1</a:t>
            </a:r>
            <a:endParaRPr lang="en-US" sz="5400" dirty="0"/>
          </a:p>
        </p:txBody>
      </p:sp>
      <p:sp>
        <p:nvSpPr>
          <p:cNvPr id="13" name="Text 11"/>
          <p:cNvSpPr txBox="1"/>
          <p:nvPr/>
        </p:nvSpPr>
        <p:spPr>
          <a:xfrm>
            <a:off x="5532120" y="2606040"/>
            <a:ext cx="1828800" cy="411480"/>
          </a:xfrm>
          <a:prstGeom prst="rect">
            <a:avLst/>
          </a:prstGeom>
          <a:noFill/>
          <a:ln/>
        </p:spPr>
        <p:txBody>
          <a:bodyPr wrap="square" lIns="0" tIns="0" rIns="0" bIns="0" rtlCol="0" anchor="ctr"/>
          <a:lstStyle/>
          <a:p>
            <a:pPr algn="ctr" indent="0" marL="0">
              <a:buNone/>
            </a:pPr>
            <a:r>
              <a:rPr lang="en-US" sz="1800" b="1" dirty="0">
                <a:solidFill>
                  <a:schemeClr val="tx2"/>
                </a:solidFill>
              </a:rPr>
              <a:t>question</a:t>
            </a:r>
            <a:endParaRPr lang="en-US" sz="1800" dirty="0"/>
          </a:p>
        </p:txBody>
      </p:sp>
      <p:sp>
        <p:nvSpPr>
          <p:cNvPr id="14" name="Text 12"/>
          <p:cNvSpPr txBox="1"/>
          <p:nvPr/>
        </p:nvSpPr>
        <p:spPr>
          <a:xfrm>
            <a:off x="5532120" y="3063240"/>
            <a:ext cx="1828800" cy="1097280"/>
          </a:xfrm>
          <a:prstGeom prst="rect">
            <a:avLst/>
          </a:prstGeom>
          <a:noFill/>
          <a:ln/>
        </p:spPr>
        <p:txBody>
          <a:bodyPr wrap="square" lIns="0" tIns="0" rIns="0" bIns="0" rtlCol="0" anchor="t"/>
          <a:lstStyle/>
          <a:p>
            <a:pPr algn="ctr" indent="0" marL="0">
              <a:buNone/>
            </a:pPr>
            <a:r>
              <a:rPr lang="en-US" sz="1500" dirty="0">
                <a:solidFill>
                  <a:schemeClr val="tx1"/>
                </a:solidFill>
              </a:rPr>
              <a:t>One question I still have</a:t>
            </a:r>
            <a:endParaRPr lang="en-US" sz="1500" dirty="0"/>
          </a:p>
        </p:txBody>
      </p:sp>
      <p:sp>
        <p:nvSpPr>
          <p:cNvPr id="15" name="homework card"/>
          <p:cNvSpPr/>
          <p:nvPr/>
        </p:nvSpPr>
        <p:spPr>
          <a:xfrm>
            <a:off x="7863840" y="1508760"/>
            <a:ext cx="3749040" cy="4709160"/>
          </a:xfrm>
          <a:prstGeom prst="roundRect">
            <a:avLst>
              <a:gd name="adj" fmla="val 2927"/>
            </a:avLst>
          </a:prstGeom>
          <a:solidFill>
            <a:schemeClr val="accent1"/>
          </a:solidFill>
          <a:ln w="12700">
            <a:solidFill>
              <a:schemeClr val="accent1"/>
            </a:solidFill>
            <a:prstDash val="solid"/>
          </a:ln>
        </p:spPr>
      </p:sp>
      <p:pic>
        <p:nvPicPr>
          <p:cNvPr id="16" name="homework icon" descr="preencoded.png">    </p:cNvPr>
          <p:cNvPicPr>
            <a:picLocks noChangeAspect="1"/>
          </p:cNvPicPr>
          <p:nvPr/>
        </p:nvPicPr>
        <p:blipFill>
          <a:blip r:embed="rId1"/>
          <a:stretch>
            <a:fillRect/>
          </a:stretch>
        </p:blipFill>
        <p:spPr>
          <a:xfrm>
            <a:off x="8138160" y="1737360"/>
            <a:ext cx="502920" cy="502920"/>
          </a:xfrm>
          <a:prstGeom prst="rect">
            <a:avLst/>
          </a:prstGeom>
        </p:spPr>
      </p:pic>
      <p:sp>
        <p:nvSpPr>
          <p:cNvPr id="17" name="Text 14"/>
          <p:cNvSpPr txBox="1"/>
          <p:nvPr/>
        </p:nvSpPr>
        <p:spPr>
          <a:xfrm>
            <a:off x="8778240" y="1737360"/>
            <a:ext cx="2651760" cy="502920"/>
          </a:xfrm>
          <a:prstGeom prst="rect">
            <a:avLst/>
          </a:prstGeom>
          <a:noFill/>
          <a:ln/>
        </p:spPr>
        <p:txBody>
          <a:bodyPr wrap="square" lIns="0" tIns="0" rIns="0" bIns="0" rtlCol="0" anchor="ctr"/>
          <a:lstStyle/>
          <a:p>
            <a:pPr indent="0" marL="0">
              <a:buNone/>
            </a:pPr>
            <a:r>
              <a:rPr lang="en-US" sz="2000" b="1" dirty="0">
                <a:solidFill>
                  <a:schemeClr val="bg1"/>
                </a:solidFill>
              </a:rPr>
              <a:t>Homework / Project</a:t>
            </a:r>
            <a:endParaRPr lang="en-US" sz="2000" dirty="0"/>
          </a:p>
        </p:txBody>
      </p:sp>
      <p:sp>
        <p:nvSpPr>
          <p:cNvPr id="18" name="Text 15"/>
          <p:cNvSpPr txBox="1"/>
          <p:nvPr/>
        </p:nvSpPr>
        <p:spPr>
          <a:xfrm>
            <a:off x="8138160" y="2423160"/>
            <a:ext cx="3291840" cy="36576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chemeClr val="bg1"/>
                </a:solidFill>
              </a:rPr>
              <a:t>Make a map of our state showing </a:t>
            </a:r>
            <a:r>
              <a:rPr lang="en-US" sz="1500" b="1" dirty="0">
                <a:solidFill>
                  <a:schemeClr val="bg1"/>
                </a:solidFill>
              </a:rPr>
              <a:t>national parks and sanctuaries</a:t>
            </a:r>
            <a:r>
              <a:rPr lang="en-US" sz="1500" dirty="0">
                <a:solidFill>
                  <a:schemeClr val="bg1"/>
                </a:solidFill>
              </a:rPr>
              <a:t>.</a:t>
            </a:r>
            <a:endParaRPr lang="en-US" sz="1600" dirty="0"/>
          </a:p>
          <a:p>
            <a:pPr marL="228600" indent="-228600">
              <a:spcAft>
                <a:spcPts val="1000"/>
              </a:spcAft>
              <a:buSzPct val="100000"/>
              <a:buChar char="•"/>
            </a:pPr>
            <a:r>
              <a:rPr lang="en-US" sz="1500" dirty="0">
                <a:solidFill>
                  <a:schemeClr val="bg1"/>
                </a:solidFill>
              </a:rPr>
              <a:t>List </a:t>
            </a:r>
            <a:r>
              <a:rPr lang="en-US" sz="1500" b="1" dirty="0">
                <a:solidFill>
                  <a:schemeClr val="bg1"/>
                </a:solidFill>
              </a:rPr>
              <a:t>economically valuable native plants</a:t>
            </a:r>
            <a:r>
              <a:rPr lang="en-US" sz="1500" dirty="0">
                <a:solidFill>
                  <a:schemeClr val="bg1"/>
                </a:solidFill>
              </a:rPr>
              <a:t> in your region and note how common they are.</a:t>
            </a:r>
            <a:endParaRPr lang="en-US" sz="1600" dirty="0"/>
          </a:p>
          <a:p>
            <a:pPr marL="228600" indent="-228600">
              <a:spcAft>
                <a:spcPts val="1000"/>
              </a:spcAft>
              <a:buSzPct val="100000"/>
              <a:buChar char="•"/>
            </a:pPr>
            <a:r>
              <a:rPr lang="en-US" sz="1500" dirty="0">
                <a:solidFill>
                  <a:schemeClr val="bg1"/>
                </a:solidFill>
              </a:rPr>
              <a:t>Ask grandparents about </a:t>
            </a:r>
            <a:r>
              <a:rPr lang="en-US" sz="1500" b="1" dirty="0">
                <a:solidFill>
                  <a:schemeClr val="bg1"/>
                </a:solidFill>
              </a:rPr>
              <a:t>traditional forest conservation</a:t>
            </a:r>
            <a:r>
              <a:rPr lang="en-US" sz="1500" dirty="0">
                <a:solidFill>
                  <a:schemeClr val="bg1"/>
                </a:solidFill>
              </a:rPr>
              <a:t> methods.</a:t>
            </a:r>
            <a:endParaRPr lang="en-US" sz="1600" dirty="0"/>
          </a:p>
          <a:p>
            <a:pPr marL="228600" indent="-228600">
              <a:spcAft>
                <a:spcPts val="1000"/>
              </a:spcAft>
              <a:buSzPct val="100000"/>
              <a:buChar char="•"/>
            </a:pPr>
            <a:r>
              <a:rPr lang="en-US" sz="1500" dirty="0">
                <a:solidFill>
                  <a:schemeClr val="bg1"/>
                </a:solidFill>
              </a:rPr>
              <a:t>Prepare a </a:t>
            </a:r>
            <a:r>
              <a:rPr lang="en-US" sz="1500" b="1" dirty="0">
                <a:solidFill>
                  <a:schemeClr val="bg1"/>
                </a:solidFill>
              </a:rPr>
              <a:t>forest fire prevention and mitigation plan</a:t>
            </a:r>
            <a:r>
              <a:rPr lang="en-US" sz="1500" dirty="0">
                <a:solidFill>
                  <a:schemeClr val="bg1"/>
                </a:solidFill>
              </a:rPr>
              <a:t>.</a:t>
            </a:r>
            <a:endParaRPr lang="en-US" sz="1600" dirty="0"/>
          </a:p>
        </p:txBody>
      </p:sp>
      <p:pic>
        <p:nvPicPr>
          <p:cNvPr id="19" name="quote mark" descr="preencoded.png">    </p:cNvPr>
          <p:cNvPicPr>
            <a:picLocks noChangeAspect="1"/>
          </p:cNvPicPr>
          <p:nvPr/>
        </p:nvPicPr>
        <p:blipFill>
          <a:blip r:embed="rId2"/>
          <a:stretch>
            <a:fillRect/>
          </a:stretch>
        </p:blipFill>
        <p:spPr>
          <a:xfrm>
            <a:off x="731520" y="4617720"/>
            <a:ext cx="502920" cy="502920"/>
          </a:xfrm>
          <a:prstGeom prst="rect">
            <a:avLst/>
          </a:prstGeom>
        </p:spPr>
      </p:pic>
      <p:sp>
        <p:nvSpPr>
          <p:cNvPr id="20" name="Text 16"/>
          <p:cNvSpPr txBox="1"/>
          <p:nvPr/>
        </p:nvSpPr>
        <p:spPr>
          <a:xfrm>
            <a:off x="1463040" y="4526280"/>
            <a:ext cx="6035040" cy="1691640"/>
          </a:xfrm>
          <a:prstGeom prst="rect">
            <a:avLst/>
          </a:prstGeom>
          <a:noFill/>
          <a:ln/>
        </p:spPr>
        <p:txBody>
          <a:bodyPr wrap="square" lIns="0" tIns="0" rIns="0" bIns="0" rtlCol="0" anchor="ctr"/>
          <a:lstStyle/>
          <a:p>
            <a:pPr indent="0" marL="0">
              <a:buNone/>
            </a:pPr>
            <a:r>
              <a:rPr lang="en-US" sz="2200" i="1" dirty="0">
                <a:solidFill>
                  <a:schemeClr val="bg1"/>
                </a:solidFill>
                <a:latin typeface="Cambria" pitchFamily="34" charset="0"/>
                <a:ea typeface="Cambria" pitchFamily="34" charset="-122"/>
                <a:cs typeface="Cambria" pitchFamily="34" charset="-120"/>
              </a:rPr>
              <a:t>Forests are the lungs of the Earth: protect them, and they protect us.</a:t>
            </a:r>
            <a:endParaRPr lang="en-US" sz="22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AF3E6"/>
                </a:solidFill>
              </a:defRPr>
            </a:lvl1pPr>
          </a:lstStyle>
          <a:p>
            <a:pPr algn="r"/>
            <a:fld id="{F7021451-1387-4CA6-816F-3879F97B5CBC}" type="slidenum">
              <a:rPr b="0" lang="en-US"/>
              <a:t>29</a:t>
            </a:fld>
            <a:endParaRPr lang="en-US"/>
          </a:p>
        </p:txBody>
      </p:sp>
    </p:spTree>
  </p:cSld>
  <p:clrMapOvr>
    <a:masterClrMapping/>
  </p:clrMapOvr>
</p:sld>
</file>

<file path=ppt/theme/theme1.xml><?xml version="1.0" encoding="utf-8"?>
<a:theme xmlns:a="http://schemas.openxmlformats.org/drawingml/2006/main" name="Life on Earth">
  <a:themeElements>
    <a:clrScheme name="Life on Earth">
      <a:dk1>
        <a:srgbClr val="1F2328"/>
      </a:dk1>
      <a:lt1>
        <a:srgbClr val="FFFFFF"/>
      </a:lt1>
      <a:dk2>
        <a:srgbClr val="1F3D2B"/>
      </a:dk2>
      <a:lt2>
        <a:srgbClr val="EAF3E6"/>
      </a:lt2>
      <a:accent1>
        <a:srgbClr val="2E7D4F"/>
      </a:accent1>
      <a:accent2>
        <a:srgbClr val="A0522D"/>
      </a:accent2>
      <a:accent3>
        <a:srgbClr val="F2C14E"/>
      </a:accent3>
      <a:accent4>
        <a:srgbClr val="3E7CB1"/>
      </a:accent4>
      <a:accent5>
        <a:srgbClr val="5E8C31"/>
      </a:accent5>
      <a:accent6>
        <a:srgbClr val="8E5572"/>
      </a:accent6>
      <a:hlink>
        <a:srgbClr val="0563C1"/>
      </a:hlink>
      <a:folHlink>
        <a:srgbClr val="954F72"/>
      </a:folHlink>
    </a:clrScheme>
    <a:fontScheme name="Life on Earth">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Life on Earth</dc:title>
  <dc:subject>Understanding Society: India and Beyond, Grade 9 Part 2</dc:subject>
  <dc:creator>Social Science Department</dc:creator>
  <cp:lastModifiedBy>Social Science Department</cp:lastModifiedBy>
  <cp:revision>1</cp:revision>
  <dcterms:created xsi:type="dcterms:W3CDTF">2026-10-09T15:51:46Z</dcterms:created>
  <dcterms:modified xsi:type="dcterms:W3CDTF">2026-10-09T15:51:46Z</dcterms:modified>
</cp:coreProperties>
</file>