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notesMasterIdLst>
    <p:notesMasterId r:id="rId3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bb0d327-2b77-47eb-536c-239199978484}">
          <p14:sldIdLst>
            <p14:sldId id="256"/>
            <p14:sldId id="257"/>
            <p14:sldId id="258"/>
            <p14:sldId id="259"/>
          </p14:sldIdLst>
        </p14:section>
        <p14:section name="Safeguarding Sovereignty" id="{e399e52b-2759-4055-e5e5-f0f5dc045cbc}">
          <p14:sldIdLst>
            <p14:sldId id="260"/>
            <p14:sldId id="261"/>
            <p14:sldId id="262"/>
            <p14:sldId id="263"/>
            <p14:sldId id="264"/>
            <p14:sldId id="265"/>
            <p14:sldId id="266"/>
            <p14:sldId id="267"/>
            <p14:sldId id="268"/>
            <p14:sldId id="269"/>
            <p14:sldId id="270"/>
            <p14:sldId id="271"/>
            <p14:sldId id="272"/>
            <p14:sldId id="273"/>
            <p14:sldId id="274"/>
          </p14:sldIdLst>
        </p14:section>
        <p14:section name="Bhakti Tradition" id="{2022161a-0645-2deb-3d0e-23612ff9198c}">
          <p14:sldIdLst>
            <p14:sldId id="275"/>
            <p14:sldId id="276"/>
            <p14:sldId id="277"/>
            <p14:sldId id="278"/>
            <p14:sldId id="279"/>
          </p14:sldIdLst>
        </p14:section>
        <p14:section name="Temples" id="{dd0f335c-7885-aef0-dce8-a71a9d454484}">
          <p14:sldIdLst>
            <p14:sldId id="280"/>
            <p14:sldId id="281"/>
          </p14:sldIdLst>
        </p14:section>
        <p14:section name="Economy" id="{47277e41-ed69-ef51-f3a1-d03d065f652a}">
          <p14:sldIdLst>
            <p14:sldId id="282"/>
            <p14:sldId id="283"/>
            <p14:sldId id="284"/>
          </p14:sldIdLst>
        </p14:section>
        <p14:section name="Review" id="{3e43e356-cd77-0f2b-916c-2b11ebc851ea}">
          <p14:sldIdLst>
            <p14:sldId id="285"/>
            <p14:sldId id="286"/>
            <p14:sldId id="287"/>
            <p14:sldId id="288"/>
            <p14:sldId id="28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notesMaster" Target="notesMasters/notes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covers seven centuries. Tell students: this is not just a story of invasions and battles, but of how people resisted threats, adapted, preserved their culture and built new forms of cooperation.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answer freely. Guide them to see two ideas: resistance (standing up to a threat) and resilience (enduring, adapting and recovering). Write both words on the board; they will be the 'lenses' for the whole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Is a kingdom that negotiates a treaty showing resistance? (Yes, diplomacy and negotiation are forms of resistance.) Is a community that keeps singing devotional songs after its temple is destroyed resilient?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Timeline game: read out an event; students hold up 'before 1200' or 'after 1200' cards. Highlight that peninsular India remained free from Turkic control in the 11th and 12th centuries.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link: use textbook Fig. 3.1 (kingdoms of the 11th and 12th centuries). Ask students to find Kasahrada (near Mount Abu) and Dhara.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events: 1298 Alauddin Khilji plunders Somnath; 1301 siege of Ranthambore; 1303 siege of Chittor; 1307 Malik Kafur attacks the Yadavas; c. 1325 Rana Hammir takes Mewar back from the Sultanate's tributaries.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note: 1525–1570 Rani Abbakka Chowta of Ullal defeats Portuguese naval forces; 1565 Battle of Talikota; 1600 English East India Company; 1659 Battle of Pratapgarh; 1658–1707 reign of Aurangzeb.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Q3: Why did some Rajput rulers negotiate? (To protect their kingdoms, gain rank and power within the empire, and avoid destructive wars.) Discuss: Is negotiation also a form of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Grade 8: Bhils knew the Aravalli terrain, were expert archers and guides, and skilled in guerrilla warfare. Why did the Mughals finally negotiate? Mewar sat on trade routes to the port of Surat.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He never attended the Nauroz festival; he never stood guard during the emperor's Jharokha Darshan; his horses were not branded with the imperial mark; his head was never bowed. (2) Not accepting Mughal ownership or authority. (3) To honour him, preserve his memory and inspire others: literature itself is a form of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List four reasons for Ahom success (alliances, guerrilla tactics, geography, Paik system, river navy). Lachit Divas is celebrated in Assam on 24 November.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Battle of Talikota (1565), the city was sacked and the empire broke into Nayaka kingdoms, which continued the tradition of defiance. Act out the slipper story: it shows resistance through bold symbolic acts, not only war.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Marathas also built a vast network of alliances and tributary relationships. Ask: Why were hill forts so useful in the Deccan's landscape of hills and deep valleys?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Harmandir Sahib represented spiritual authority (piri); the Akal Takht represented temporal power (miri). Persecution made the Sikhs organise collectively, and many peasants became soldiers.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How did economic hardship and religious discrimination together lead to resistance?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Gender lens: ask students to pick one woman and write a 5-line diary entry in her voice for the activity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Q10. Refer to Maratha forts and Gingee Fort. Bonus: link to the 'Tales of Forts' videos on indianculture.gov.in (textbook Q5).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Q8: 'A tradition becomes more resilient when people can carry it with them.' Discuss using nam kirtan and songs passed on by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if they know any song, doha or abhang by these saints (Kabir's dohas, Mirabai's bhajans, Tukaram's abhangs). Earlier, from the 7th century, the Nayanars (Shiva devotees, e.g. Karaikal Ammaiyar) and Alvars (Vishnu devotees, e.g. Andal) spread Bhakti in the south.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Knowing that we should not waste water is easy; turning off the tap every time is harder. Connect to integrity and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coexistence across religious and cultural lines as part of India's resilience.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temple in our area runs a school, kitchen (annadanam) or hospital today? This shows that the social role of temples continues.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Q6: What architectural changes occurred, and how do they show resilience? (Less visible locations, narrow lanes, entrances not on main streets, plain exteriors, no tall shikharas: adapting to avoid destruction.)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Gujarati merchants gained in particular; merchants in Malabar, Coromandel and Bengal adapted to European competition (Portuguese, Dutch, English, Danes, French). Economic strength gave people the resources to resist.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horses, elephants, gems, pearls, sandal-paste. Fair treatment builds trust and attracts more trade and revenue. Wealth funds armies, forts and welfare, and keeps people loyal.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Textbook Think About It: What made the hundi safer than transporting money? (No cash to steal; trust-based network; faster large transactions.) Compare with cheques and UPI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Q1: B, Q2: B, Q3: C, Q4: B. Let students vote with fingers (1-4) or A/B/C/D cards before revealing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why each wrong option is wrong. Ask: Which question was the trickiest,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clue aloud. Teams buzz in with the name. 2 points for a correct answer with one extra fact.
Answers:
1. Naiki Devi: Chaulukya queen.
2. Atukuri Molla: She recited it at Krishnadevaraya's court.
3. Muthu Virappa Nayak III: Nayaka ruler of Madurai.
4. Guru Hargobind: The sixth Sikh Guru; miri–piri.
5. Akbar: In the later part of his reign.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ask a different student to explain each branch in one sentence,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Hand out sticky notes or half-sheets for the 3-2-1 exit ticket. Collect them at the door and use the questions to plan the next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H_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rtlCol="0"/>
          <a:lstStyle>
            <a:lvl1pPr indent="0" marL="0">
              <a:buNone/>
              <a:defRPr lang="en-US" sz="1800" b="1" spc="300" kern="0" dirty="0">
                <a:solidFill>
                  <a:schemeClr val="accent3"/>
                </a:solidFill>
              </a:defRPr>
            </a:lvl1pPr>
          </a:lstStyle>
          <a:p>
            <a:pPr indent="0" marL="0">
              <a:buNone/>
            </a:pP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rtlCol="0"/>
          <a:lstStyle>
            <a:lvl1pPr indent="0" marL="0">
              <a:buNone/>
              <a:defRPr lang="en-US" sz="1800" b="1" spc="300" kern="0" dirty="0">
                <a:solidFill>
                  <a:schemeClr val="bg2"/>
                </a:solidFill>
              </a:defRPr>
            </a:lvl1pPr>
          </a:lstStyle>
          <a:p>
            <a:pPr indent="0" marL="0">
              <a:buNone/>
            </a:pP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rtlCol="0"/>
          <a:lstStyle>
            <a:lvl1pPr indent="0" marL="0">
              <a:buNone/>
              <a:defRPr lang="en-US" sz="1800" dirty="0">
                <a:solidFill>
                  <a:schemeClr val="bg1"/>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3: Resistance and Resilience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ACTIVITY">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2"/>
                </a:solidFill>
              </a:defRPr>
            </a:lvl1pPr>
          </a:lstStyle>
          <a:p>
            <a:pPr algn="l" indent="0" marL="0">
              <a:buNone/>
            </a:pPr>
            <a:endParaRPr lang="en-US" sz="3600" dirty="0"/>
          </a:p>
        </p:txBody>
      </p:sp>
      <p:sp>
        <p:nvSpPr>
          <p:cNvPr id="3" name="Text 0"/>
          <p:cNvSpPr/>
          <p:nvPr/>
        </p:nvSpPr>
        <p:spPr>
          <a:xfrm>
            <a:off x="548640" y="6419088"/>
            <a:ext cx="8229600" cy="274320"/>
          </a:xfrm>
          <a:prstGeom prst="rect">
            <a:avLst/>
          </a:prstGeom>
          <a:noFill/>
          <a:ln/>
        </p:spPr>
        <p:txBody>
          <a:bodyPr wrap="square" lIns="0" tIns="0" rIns="0" bIns="0" rtlCol="0" anchor="ctr"/>
          <a:lstStyle/>
          <a:p>
            <a:pPr indent="0" marL="0">
              <a:buNone/>
            </a:pPr>
            <a:r>
              <a:rPr lang="en-US" sz="1000" dirty="0">
                <a:solidFill>
                  <a:schemeClr val="tx2"/>
                </a:solidFill>
              </a:rPr>
              <a:t>Grade 9 Social Science  ·  Chapter 3: Resistance and Resilience</a:t>
            </a:r>
            <a:endParaRPr lang="en-US" sz="10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LOSING">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CE8"/>
                </a:solidFill>
              </a:defRPr>
            </a:lvl1pPr>
          </a:lstStyle>
          <a:p>
            <a:pPr algn="r"/>
            <a:fld id="{F7021451-1387-4CA6-816F-3879F97B5CBC}" type="slidenum">
              <a:rPr b="0" lang="en-US"/>
              <a:t>1006</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4.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slideLayout" Target="../slideLayouts/slideLayout4.xml"/><Relationship Id="rId8"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4.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4.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4.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4.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4.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4.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slideLayout" Target="../slideLayouts/slideLayout4.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4.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4.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5.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6.xml"/><Relationship Id="rId4" Type="http://schemas.openxmlformats.org/officeDocument/2006/relationships/notesSlide" Target="../notesSlides/notesSlide3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143000"/>
            <a:ext cx="6949440" cy="457200"/>
          </a:xfrm>
          <a:prstGeom prst="rect">
            <a:avLst/>
          </a:prstGeom>
          <a:noFill/>
          <a:ln/>
        </p:spPr>
        <p:txBody>
          <a:bodyPr wrap="square" lIns="0" tIns="0" rIns="0" bIns="0" rtlCol="0"/>
          <a:lstStyle/>
          <a:p>
            <a:pPr indent="0" marL="0">
              <a:buNone/>
            </a:pPr>
            <a:r>
              <a:rPr lang="en-US" sz="1800" b="1" spc="300" kern="0" dirty="0">
                <a:solidFill>
                  <a:schemeClr val="accent3"/>
                </a:solidFill>
              </a:rPr>
              <a:t>CHAPTER 3  ·  HISTORY</a:t>
            </a:r>
            <a:endParaRPr lang="en-US" sz="1800" dirty="0"/>
          </a:p>
        </p:txBody>
      </p:sp>
      <p:sp>
        <p:nvSpPr>
          <p:cNvPr id="3" name="Text 0"/>
          <p:cNvSpPr/>
          <p:nvPr>
            <p:ph idx="101" type="title" hasCustomPrompt="1"/>
          </p:nvPr>
        </p:nvSpPr>
        <p:spPr>
          <a:xfrm>
            <a:off x="731520" y="1691640"/>
            <a:ext cx="6949440" cy="2194560"/>
          </a:xfrm>
          <a:prstGeom prst="rect">
            <a:avLst/>
          </a:prstGeom>
          <a:noFill/>
          <a:ln/>
        </p:spPr>
        <p:txBody>
          <a:bodyPr wrap="square" lIns="0" tIns="0" rIns="0" bIns="0" rtlCol="0" anchor="t"/>
          <a:lstStyle/>
          <a:p>
            <a:pPr algn="l" indent="0" marL="0">
              <a:buNone/>
            </a:pPr>
            <a:r>
              <a:rPr lang="en-US" sz="5400" b="1" dirty="0">
                <a:solidFill>
                  <a:schemeClr val="bg1"/>
                </a:solidFill>
              </a:rPr>
              <a:t>Resistance and Resilience</a:t>
            </a:r>
            <a:endParaRPr lang="en-US" sz="5400" dirty="0"/>
          </a:p>
        </p:txBody>
      </p:sp>
      <p:sp>
        <p:nvSpPr>
          <p:cNvPr id="4" name="Text 0"/>
          <p:cNvSpPr/>
          <p:nvPr>
            <p:ph idx="102" type="body" hasCustomPrompt="1"/>
          </p:nvPr>
        </p:nvSpPr>
        <p:spPr>
          <a:xfrm>
            <a:off x="731520" y="4069080"/>
            <a:ext cx="6949440" cy="1097280"/>
          </a:xfrm>
          <a:prstGeom prst="rect">
            <a:avLst/>
          </a:prstGeom>
          <a:noFill/>
          <a:ln/>
        </p:spPr>
        <p:txBody>
          <a:bodyPr wrap="square" lIns="0" tIns="0" rIns="0" bIns="0" rtlCol="0" anchor="t"/>
          <a:lstStyle/>
          <a:p>
            <a:pPr indent="0" marL="0">
              <a:buNone/>
            </a:pPr>
            <a:r>
              <a:rPr lang="en-US" sz="1800" dirty="0">
                <a:solidFill>
                  <a:schemeClr val="bg2"/>
                </a:solidFill>
              </a:rPr>
              <a:t>1000–1700 CE</a:t>
            </a:r>
            <a:endParaRPr lang="en-US" sz="1800" dirty="0"/>
          </a:p>
          <a:p>
            <a:pPr indent="0" marL="0">
              <a:buNone/>
            </a:pPr>
            <a:r>
              <a:rPr lang="en-US" sz="1800" dirty="0">
                <a:solidFill>
                  <a:schemeClr val="bg2"/>
                </a:solidFill>
              </a:rPr>
              <a:t>Understanding Society: India and Beyond, Grade 9 Part 2</a:t>
            </a:r>
            <a:endParaRPr lang="en-US" sz="1800" dirty="0"/>
          </a:p>
        </p:txBody>
      </p:sp>
      <p:sp>
        <p:nvSpPr>
          <p:cNvPr id="5" name="hero disc"/>
          <p:cNvSpPr/>
          <p:nvPr/>
        </p:nvSpPr>
        <p:spPr>
          <a:xfrm>
            <a:off x="8001000" y="1234440"/>
            <a:ext cx="3566160" cy="3566160"/>
          </a:xfrm>
          <a:prstGeom prst="ellipse">
            <a:avLst/>
          </a:prstGeom>
          <a:solidFill>
            <a:schemeClr val="accent1"/>
          </a:solidFill>
          <a:ln w="38100">
            <a:solidFill>
              <a:schemeClr val="accent3"/>
            </a:solidFill>
            <a:prstDash val="solid"/>
          </a:ln>
        </p:spPr>
      </p:sp>
      <p:pic>
        <p:nvPicPr>
          <p:cNvPr id="6" name="hero icon" descr="preencoded.png">    </p:cNvPr>
          <p:cNvPicPr>
            <a:picLocks noChangeAspect="1"/>
          </p:cNvPicPr>
          <p:nvPr/>
        </p:nvPicPr>
        <p:blipFill>
          <a:blip r:embed="rId1"/>
          <a:stretch>
            <a:fillRect/>
          </a:stretch>
        </p:blipFill>
        <p:spPr>
          <a:xfrm>
            <a:off x="8823960" y="2057400"/>
            <a:ext cx="1920240" cy="1920240"/>
          </a:xfrm>
          <a:prstGeom prst="rect">
            <a:avLst/>
          </a:prstGeom>
        </p:spPr>
      </p:pic>
      <p:sp>
        <p:nvSpPr>
          <p:cNvPr id="7" name="Text 4"/>
          <p:cNvSpPr txBox="1"/>
          <p:nvPr/>
        </p:nvSpPr>
        <p:spPr>
          <a:xfrm>
            <a:off x="7680960" y="5074920"/>
            <a:ext cx="4206240" cy="731520"/>
          </a:xfrm>
          <a:prstGeom prst="rect">
            <a:avLst/>
          </a:prstGeom>
          <a:noFill/>
          <a:ln/>
        </p:spPr>
        <p:txBody>
          <a:bodyPr wrap="square" lIns="0" tIns="0" rIns="0" bIns="0" rtlCol="0" anchor="t"/>
          <a:lstStyle/>
          <a:p>
            <a:pPr algn="ctr" indent="0" marL="0">
              <a:buNone/>
            </a:pPr>
            <a:r>
              <a:rPr lang="en-US" sz="1600" i="1" dirty="0">
                <a:solidFill>
                  <a:schemeClr val="bg2"/>
                </a:solidFill>
              </a:rPr>
              <a:t>Bend, but never break</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Let's Begin: The Tree and the Bamboo</a:t>
            </a:r>
            <a:endParaRPr lang="en-US" sz="3600" dirty="0"/>
          </a:p>
        </p:txBody>
      </p:sp>
      <p:sp>
        <p:nvSpPr>
          <p:cNvPr id="3" name="hook prompt card"/>
          <p:cNvSpPr/>
          <p:nvPr/>
        </p:nvSpPr>
        <p:spPr>
          <a:xfrm>
            <a:off x="548640" y="1371600"/>
            <a:ext cx="6766560" cy="4754880"/>
          </a:xfrm>
          <a:prstGeom prst="roundRect">
            <a:avLst>
              <a:gd name="adj" fmla="val 2308"/>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hook disc"/>
          <p:cNvSpPr/>
          <p:nvPr/>
        </p:nvSpPr>
        <p:spPr>
          <a:xfrm>
            <a:off x="868680" y="1691640"/>
            <a:ext cx="822960" cy="822960"/>
          </a:xfrm>
          <a:prstGeom prst="ellipse">
            <a:avLst/>
          </a:prstGeom>
          <a:solidFill>
            <a:schemeClr val="accent1"/>
          </a:solidFill>
          <a:ln w="12700">
            <a:solidFill>
              <a:schemeClr val="accent1"/>
            </a:solidFill>
            <a:prstDash val="solid"/>
          </a:ln>
        </p:spPr>
      </p:sp>
      <p:pic>
        <p:nvPicPr>
          <p:cNvPr id="5" name="hook glyph" descr="preencoded.png">    </p:cNvPr>
          <p:cNvPicPr>
            <a:picLocks noChangeAspect="1"/>
          </p:cNvPicPr>
          <p:nvPr/>
        </p:nvPicPr>
        <p:blipFill>
          <a:blip r:embed="rId1"/>
          <a:stretch>
            <a:fillRect/>
          </a:stretch>
        </p:blipFill>
        <p:spPr>
          <a:xfrm>
            <a:off x="1049731" y="1872691"/>
            <a:ext cx="460858" cy="460858"/>
          </a:xfrm>
          <a:prstGeom prst="rect">
            <a:avLst/>
          </a:prstGeom>
        </p:spPr>
      </p:pic>
      <p:sp>
        <p:nvSpPr>
          <p:cNvPr id="6" name="Text 3"/>
          <p:cNvSpPr txBox="1"/>
          <p:nvPr/>
        </p:nvSpPr>
        <p:spPr>
          <a:xfrm>
            <a:off x="1874520" y="1874520"/>
            <a:ext cx="5120640" cy="457200"/>
          </a:xfrm>
          <a:prstGeom prst="rect">
            <a:avLst/>
          </a:prstGeom>
          <a:noFill/>
          <a:ln/>
        </p:spPr>
        <p:txBody>
          <a:bodyPr wrap="square" lIns="0" tIns="0" rIns="0" bIns="0" rtlCol="0" anchor="ctr"/>
          <a:lstStyle/>
          <a:p>
            <a:pPr indent="0" marL="0">
              <a:buNone/>
            </a:pPr>
            <a:r>
              <a:rPr lang="en-US" sz="1400" b="1" spc="200" kern="0" dirty="0">
                <a:solidFill>
                  <a:schemeClr val="accent1"/>
                </a:solidFill>
              </a:rPr>
              <a:t>THINK · PAIR · SHARE</a:t>
            </a:r>
            <a:endParaRPr lang="en-US" sz="1400" dirty="0"/>
          </a:p>
        </p:txBody>
      </p:sp>
      <p:sp>
        <p:nvSpPr>
          <p:cNvPr id="7" name="Text 4"/>
          <p:cNvSpPr txBox="1"/>
          <p:nvPr/>
        </p:nvSpPr>
        <p:spPr>
          <a:xfrm>
            <a:off x="868680" y="2743200"/>
            <a:ext cx="6126480" cy="182880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In a storm, a mighty tree may snap, but the bamboo bends and rises again. Which one shows resilience?</a:t>
            </a:r>
            <a:endParaRPr lang="en-US" sz="2400" dirty="0"/>
          </a:p>
        </p:txBody>
      </p:sp>
      <p:sp>
        <p:nvSpPr>
          <p:cNvPr id="8" name="Text 5"/>
          <p:cNvSpPr txBox="1"/>
          <p:nvPr/>
        </p:nvSpPr>
        <p:spPr>
          <a:xfrm>
            <a:off x="868680" y="4617720"/>
            <a:ext cx="6126480" cy="1371600"/>
          </a:xfrm>
          <a:prstGeom prst="rect">
            <a:avLst/>
          </a:prstGeom>
          <a:noFill/>
          <a:ln/>
        </p:spPr>
        <p:txBody>
          <a:bodyPr wrap="square" lIns="0" tIns="0" rIns="0" bIns="0" rtlCol="0" anchor="t"/>
          <a:lstStyle/>
          <a:p>
            <a:pPr marL="228600" indent="-228600">
              <a:spcAft>
                <a:spcPts val="600"/>
              </a:spcAft>
              <a:buSzPct val="100000"/>
              <a:buChar char="•"/>
            </a:pPr>
            <a:r>
              <a:rPr lang="en-US" sz="1600" dirty="0">
                <a:solidFill>
                  <a:schemeClr val="tx1"/>
                </a:solidFill>
              </a:rPr>
              <a:t>Share a time you bounced back after a setback</a:t>
            </a:r>
            <a:endParaRPr lang="en-US" sz="1600" dirty="0"/>
          </a:p>
          <a:p>
            <a:pPr marL="228600" indent="-228600">
              <a:spcAft>
                <a:spcPts val="600"/>
              </a:spcAft>
              <a:buSzPct val="100000"/>
              <a:buChar char="•"/>
            </a:pPr>
            <a:r>
              <a:rPr lang="en-US" sz="1600" dirty="0">
                <a:solidFill>
                  <a:schemeClr val="tx1"/>
                </a:solidFill>
              </a:rPr>
              <a:t>Is fighting back the same as bouncing back?</a:t>
            </a:r>
            <a:endParaRPr lang="en-US" sz="1600" dirty="0"/>
          </a:p>
        </p:txBody>
      </p:sp>
      <p:sp>
        <p:nvSpPr>
          <p:cNvPr id="9" name="did you know card"/>
          <p:cNvSpPr/>
          <p:nvPr/>
        </p:nvSpPr>
        <p:spPr>
          <a:xfrm>
            <a:off x="7635240" y="1371600"/>
            <a:ext cx="3977640" cy="4754880"/>
          </a:xfrm>
          <a:prstGeom prst="roundRect">
            <a:avLst>
              <a:gd name="adj" fmla="val 2759"/>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10" name="bulb" descr="preencoded.png">    </p:cNvPr>
          <p:cNvPicPr>
            <a:picLocks noChangeAspect="1"/>
          </p:cNvPicPr>
          <p:nvPr/>
        </p:nvPicPr>
        <p:blipFill>
          <a:blip r:embed="rId2"/>
          <a:stretch>
            <a:fillRect/>
          </a:stretch>
        </p:blipFill>
        <p:spPr>
          <a:xfrm>
            <a:off x="7955280" y="1691640"/>
            <a:ext cx="548640" cy="548640"/>
          </a:xfrm>
          <a:prstGeom prst="rect">
            <a:avLst/>
          </a:prstGeom>
        </p:spPr>
      </p:pic>
      <p:sp>
        <p:nvSpPr>
          <p:cNvPr id="11" name="Text 7"/>
          <p:cNvSpPr txBox="1"/>
          <p:nvPr/>
        </p:nvSpPr>
        <p:spPr>
          <a:xfrm>
            <a:off x="8641080" y="1691640"/>
            <a:ext cx="2743200" cy="548640"/>
          </a:xfrm>
          <a:prstGeom prst="rect">
            <a:avLst/>
          </a:prstGeom>
          <a:noFill/>
          <a:ln/>
        </p:spPr>
        <p:txBody>
          <a:bodyPr wrap="square" lIns="0" tIns="0" rIns="0" bIns="0" rtlCol="0" anchor="ctr"/>
          <a:lstStyle/>
          <a:p>
            <a:pPr indent="0" marL="0">
              <a:buNone/>
            </a:pPr>
            <a:r>
              <a:rPr lang="en-US" sz="2000" b="1" dirty="0">
                <a:solidFill>
                  <a:schemeClr val="accent3"/>
                </a:solidFill>
              </a:rPr>
              <a:t>Did you know?</a:t>
            </a:r>
            <a:endParaRPr lang="en-US" sz="2000" dirty="0"/>
          </a:p>
        </p:txBody>
      </p:sp>
      <p:sp>
        <p:nvSpPr>
          <p:cNvPr id="12" name="Text 8"/>
          <p:cNvSpPr txBox="1"/>
          <p:nvPr/>
        </p:nvSpPr>
        <p:spPr>
          <a:xfrm>
            <a:off x="7955280" y="2468880"/>
            <a:ext cx="3383280" cy="3474720"/>
          </a:xfrm>
          <a:prstGeom prst="rect">
            <a:avLst/>
          </a:prstGeom>
          <a:noFill/>
          <a:ln/>
        </p:spPr>
        <p:txBody>
          <a:bodyPr wrap="square" lIns="0" tIns="0" rIns="0" bIns="0" rtlCol="0" anchor="t"/>
          <a:lstStyle/>
          <a:p>
            <a:pPr marL="228600" indent="-228600">
              <a:spcAft>
                <a:spcPts val="1000"/>
              </a:spcAft>
              <a:buSzPct val="100000"/>
              <a:buChar char="•"/>
            </a:pPr>
            <a:r>
              <a:rPr lang="en-US" sz="1600" dirty="0">
                <a:solidFill>
                  <a:schemeClr val="bg1"/>
                </a:solidFill>
              </a:rPr>
              <a:t>In 1178, Queen Naiki Devi defeated Muhammad Ghuri at Kasahrada, near Mount Abu.</a:t>
            </a:r>
            <a:endParaRPr lang="en-US" sz="1600" dirty="0"/>
          </a:p>
          <a:p>
            <a:pPr marL="228600" indent="-228600">
              <a:spcAft>
                <a:spcPts val="1000"/>
              </a:spcAft>
              <a:buSzPct val="100000"/>
              <a:buChar char="•"/>
            </a:pPr>
            <a:r>
              <a:rPr lang="en-US" sz="1600" dirty="0">
                <a:solidFill>
                  <a:schemeClr val="bg1"/>
                </a:solidFill>
              </a:rPr>
              <a:t>The Ahom kingdom of Assam stayed independent for almost six centuries (1228–1826).</a:t>
            </a:r>
            <a:endParaRPr lang="en-US" sz="1600" dirty="0"/>
          </a:p>
          <a:p>
            <a:pPr marL="228600" indent="-228600">
              <a:spcAft>
                <a:spcPts val="1000"/>
              </a:spcAft>
              <a:buSzPct val="100000"/>
              <a:buChar char="•"/>
            </a:pPr>
            <a:r>
              <a:rPr lang="en-US" sz="1600" dirty="0">
                <a:solidFill>
                  <a:schemeClr val="bg1"/>
                </a:solidFill>
              </a:rPr>
              <a:t>Gingee (Senji) Fort in Tamil Nadu became a UNESCO World Heritage Site in 2025.</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Big Questions</a:t>
            </a:r>
            <a:endParaRPr lang="en-US" sz="3600" dirty="0"/>
          </a:p>
        </p:txBody>
      </p:sp>
      <p:sp>
        <p:nvSpPr>
          <p:cNvPr id="3" name="question 1 card"/>
          <p:cNvSpPr/>
          <p:nvPr/>
        </p:nvSpPr>
        <p:spPr>
          <a:xfrm>
            <a:off x="548640" y="1371600"/>
            <a:ext cx="11064240" cy="749808"/>
          </a:xfrm>
          <a:prstGeom prst="roundRect">
            <a:avLst>
              <a:gd name="adj" fmla="val 14634"/>
            </a:avLst>
          </a:prstGeom>
          <a:solidFill>
            <a:schemeClr val="bg2"/>
          </a:solidFill>
          <a:ln w="12700">
            <a:solidFill>
              <a:schemeClr val="bg2"/>
            </a:solidFill>
            <a:prstDash val="solid"/>
          </a:ln>
        </p:spPr>
      </p:sp>
      <p:sp>
        <p:nvSpPr>
          <p:cNvPr id="4" name="q1 badge"/>
          <p:cNvSpPr/>
          <p:nvPr/>
        </p:nvSpPr>
        <p:spPr>
          <a:xfrm>
            <a:off x="731520" y="1495044"/>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14950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 4"/>
          <p:cNvSpPr txBox="1"/>
          <p:nvPr/>
        </p:nvSpPr>
        <p:spPr>
          <a:xfrm>
            <a:off x="1463040" y="13716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did Indian rulers use resistance and alliances to safeguard their lands?</a:t>
            </a:r>
            <a:endParaRPr lang="en-US" sz="1800" dirty="0"/>
          </a:p>
        </p:txBody>
      </p:sp>
      <p:sp>
        <p:nvSpPr>
          <p:cNvPr id="7" name="question 2 card"/>
          <p:cNvSpPr/>
          <p:nvPr/>
        </p:nvSpPr>
        <p:spPr>
          <a:xfrm>
            <a:off x="548640" y="2286000"/>
            <a:ext cx="11064240" cy="749808"/>
          </a:xfrm>
          <a:prstGeom prst="roundRect">
            <a:avLst>
              <a:gd name="adj" fmla="val 14634"/>
            </a:avLst>
          </a:prstGeom>
          <a:solidFill>
            <a:schemeClr val="bg2"/>
          </a:solidFill>
          <a:ln w="12700">
            <a:solidFill>
              <a:schemeClr val="bg2"/>
            </a:solidFill>
            <a:prstDash val="solid"/>
          </a:ln>
        </p:spPr>
      </p:sp>
      <p:sp>
        <p:nvSpPr>
          <p:cNvPr id="8" name="q2 badge"/>
          <p:cNvSpPr/>
          <p:nvPr/>
        </p:nvSpPr>
        <p:spPr>
          <a:xfrm>
            <a:off x="731520" y="2409444"/>
            <a:ext cx="502920" cy="502920"/>
          </a:xfrm>
          <a:prstGeom prst="ellipse">
            <a:avLst/>
          </a:prstGeom>
          <a:solidFill>
            <a:schemeClr val="accent1"/>
          </a:solidFill>
          <a:ln w="12700">
            <a:solidFill>
              <a:schemeClr val="accent1"/>
            </a:solidFill>
            <a:prstDash val="solid"/>
          </a:ln>
        </p:spPr>
      </p:sp>
      <p:sp>
        <p:nvSpPr>
          <p:cNvPr id="9" name="Text 7"/>
          <p:cNvSpPr txBox="1"/>
          <p:nvPr/>
        </p:nvSpPr>
        <p:spPr>
          <a:xfrm>
            <a:off x="731520" y="24094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 8"/>
          <p:cNvSpPr txBox="1"/>
          <p:nvPr/>
        </p:nvSpPr>
        <p:spPr>
          <a:xfrm>
            <a:off x="1463040" y="2286000"/>
            <a:ext cx="9966960" cy="749808"/>
          </a:xfrm>
          <a:prstGeom prst="rect">
            <a:avLst/>
          </a:prstGeom>
          <a:noFill/>
          <a:ln/>
        </p:spPr>
        <p:txBody>
          <a:bodyPr wrap="square" lIns="0" tIns="0" rIns="0" bIns="0" rtlCol="0" anchor="ctr"/>
          <a:lstStyle/>
          <a:p>
            <a:pPr indent="0" marL="0">
              <a:buNone/>
            </a:pPr>
            <a:r>
              <a:rPr lang="en-US" sz="1800" dirty="0">
                <a:solidFill>
                  <a:schemeClr val="tx1"/>
                </a:solidFill>
              </a:rPr>
              <a:t>What factors contributed to the resilience of different kingdoms and communities?</a:t>
            </a:r>
            <a:endParaRPr lang="en-US" sz="1800" dirty="0"/>
          </a:p>
        </p:txBody>
      </p:sp>
      <p:sp>
        <p:nvSpPr>
          <p:cNvPr id="11" name="question 3 card"/>
          <p:cNvSpPr/>
          <p:nvPr/>
        </p:nvSpPr>
        <p:spPr>
          <a:xfrm>
            <a:off x="548640" y="3200400"/>
            <a:ext cx="11064240" cy="749808"/>
          </a:xfrm>
          <a:prstGeom prst="roundRect">
            <a:avLst>
              <a:gd name="adj" fmla="val 14634"/>
            </a:avLst>
          </a:prstGeom>
          <a:solidFill>
            <a:schemeClr val="bg2"/>
          </a:solidFill>
          <a:ln w="12700">
            <a:solidFill>
              <a:schemeClr val="bg2"/>
            </a:solidFill>
            <a:prstDash val="solid"/>
          </a:ln>
        </p:spPr>
      </p:sp>
      <p:sp>
        <p:nvSpPr>
          <p:cNvPr id="12" name="q3 badge"/>
          <p:cNvSpPr/>
          <p:nvPr/>
        </p:nvSpPr>
        <p:spPr>
          <a:xfrm>
            <a:off x="731520" y="3323844"/>
            <a:ext cx="502920" cy="502920"/>
          </a:xfrm>
          <a:prstGeom prst="ellipse">
            <a:avLst/>
          </a:prstGeom>
          <a:solidFill>
            <a:schemeClr val="accent1"/>
          </a:solidFill>
          <a:ln w="12700">
            <a:solidFill>
              <a:schemeClr val="accent1"/>
            </a:solidFill>
            <a:prstDash val="solid"/>
          </a:ln>
        </p:spPr>
      </p:sp>
      <p:sp>
        <p:nvSpPr>
          <p:cNvPr id="13" name="Text 11"/>
          <p:cNvSpPr txBox="1"/>
          <p:nvPr/>
        </p:nvSpPr>
        <p:spPr>
          <a:xfrm>
            <a:off x="731520" y="33238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 12"/>
          <p:cNvSpPr txBox="1"/>
          <p:nvPr/>
        </p:nvSpPr>
        <p:spPr>
          <a:xfrm>
            <a:off x="1463040" y="32004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did the Bhakti tradition foster a sense of solidarity?</a:t>
            </a:r>
            <a:endParaRPr lang="en-US" sz="1800" dirty="0"/>
          </a:p>
        </p:txBody>
      </p:sp>
      <p:sp>
        <p:nvSpPr>
          <p:cNvPr id="15" name="question 4 card"/>
          <p:cNvSpPr/>
          <p:nvPr/>
        </p:nvSpPr>
        <p:spPr>
          <a:xfrm>
            <a:off x="548640" y="4114800"/>
            <a:ext cx="11064240" cy="749808"/>
          </a:xfrm>
          <a:prstGeom prst="roundRect">
            <a:avLst>
              <a:gd name="adj" fmla="val 14634"/>
            </a:avLst>
          </a:prstGeom>
          <a:solidFill>
            <a:schemeClr val="bg2"/>
          </a:solidFill>
          <a:ln w="12700">
            <a:solidFill>
              <a:schemeClr val="bg2"/>
            </a:solidFill>
            <a:prstDash val="solid"/>
          </a:ln>
        </p:spPr>
      </p:sp>
      <p:sp>
        <p:nvSpPr>
          <p:cNvPr id="16" name="q4 badge"/>
          <p:cNvSpPr/>
          <p:nvPr/>
        </p:nvSpPr>
        <p:spPr>
          <a:xfrm>
            <a:off x="731520" y="4238244"/>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731520" y="4238244"/>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 16"/>
          <p:cNvSpPr txBox="1"/>
          <p:nvPr/>
        </p:nvSpPr>
        <p:spPr>
          <a:xfrm>
            <a:off x="1463040" y="4114800"/>
            <a:ext cx="9966960" cy="749808"/>
          </a:xfrm>
          <a:prstGeom prst="rect">
            <a:avLst/>
          </a:prstGeom>
          <a:noFill/>
          <a:ln/>
        </p:spPr>
        <p:txBody>
          <a:bodyPr wrap="square" lIns="0" tIns="0" rIns="0" bIns="0" rtlCol="0" anchor="ctr"/>
          <a:lstStyle/>
          <a:p>
            <a:pPr indent="0" marL="0">
              <a:buNone/>
            </a:pPr>
            <a:r>
              <a:rPr lang="en-US" sz="1800" dirty="0">
                <a:solidFill>
                  <a:schemeClr val="tx1"/>
                </a:solidFill>
              </a:rPr>
              <a:t>How did the expansion of agriculture, trade and commerce keep the economy sound?</a:t>
            </a:r>
            <a:endParaRPr lang="en-US" sz="18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Two Key Ideas</a:t>
            </a:r>
            <a:endParaRPr lang="en-US" sz="3600" dirty="0"/>
          </a:p>
        </p:txBody>
      </p:sp>
      <p:sp>
        <p:nvSpPr>
          <p:cNvPr id="3" name="Resistance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Resistance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Resistance</a:t>
            </a:r>
            <a:endParaRPr lang="en-US" sz="2200" dirty="0"/>
          </a:p>
        </p:txBody>
      </p:sp>
      <p:sp>
        <p:nvSpPr>
          <p:cNvPr id="6" name="Resistance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b="1" dirty="0">
                <a:solidFill>
                  <a:schemeClr val="tx1"/>
                </a:solidFill>
              </a:rPr>
              <a:t>Actively opposing</a:t>
            </a:r>
            <a:r>
              <a:rPr lang="en-US" sz="2200" dirty="0">
                <a:solidFill>
                  <a:schemeClr val="tx1"/>
                </a:solidFill>
              </a:rPr>
              <a:t> a force, authority or threat</a:t>
            </a:r>
            <a:endParaRPr lang="en-US" sz="1600" dirty="0"/>
          </a:p>
          <a:p>
            <a:pPr marL="228600" indent="-228600">
              <a:spcAft>
                <a:spcPts val="800"/>
              </a:spcAft>
              <a:buSzPct val="100000"/>
              <a:buChar char="•"/>
            </a:pPr>
            <a:r>
              <a:rPr lang="en-US" sz="2200" dirty="0">
                <a:solidFill>
                  <a:schemeClr val="tx1"/>
                </a:solidFill>
              </a:rPr>
              <a:t>To protect power, territory, interests, or cultural and spiritual identity</a:t>
            </a:r>
            <a:endParaRPr lang="en-US" sz="1600" dirty="0"/>
          </a:p>
          <a:p>
            <a:pPr marL="228600" indent="-228600">
              <a:spcAft>
                <a:spcPts val="800"/>
              </a:spcAft>
              <a:buSzPct val="100000"/>
              <a:buChar char="•"/>
            </a:pPr>
            <a:r>
              <a:rPr lang="en-US" sz="2200" dirty="0">
                <a:solidFill>
                  <a:schemeClr val="tx1"/>
                </a:solidFill>
              </a:rPr>
              <a:t>Forms: </a:t>
            </a:r>
            <a:r>
              <a:rPr lang="en-US" sz="2200" b="1" dirty="0">
                <a:solidFill>
                  <a:schemeClr val="tx1"/>
                </a:solidFill>
              </a:rPr>
              <a:t>warfare, alliances, diplomacy, negotiation</a:t>
            </a:r>
            <a:endParaRPr lang="en-US" sz="1600" dirty="0"/>
          </a:p>
        </p:txBody>
      </p:sp>
      <p:sp>
        <p:nvSpPr>
          <p:cNvPr id="8" name="Resilience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Resilience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Resilience</a:t>
            </a:r>
            <a:endParaRPr lang="en-US" sz="2200" dirty="0"/>
          </a:p>
        </p:txBody>
      </p:sp>
      <p:sp>
        <p:nvSpPr>
          <p:cNvPr id="11" name="Resilience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200" dirty="0">
                <a:solidFill>
                  <a:schemeClr val="tx1"/>
                </a:solidFill>
              </a:rPr>
              <a:t>The capacity to </a:t>
            </a:r>
            <a:r>
              <a:rPr lang="en-US" sz="2200" b="1" dirty="0">
                <a:solidFill>
                  <a:schemeClr val="tx1"/>
                </a:solidFill>
              </a:rPr>
              <a:t>survive and adapt</a:t>
            </a:r>
            <a:r>
              <a:rPr lang="en-US" sz="2200" dirty="0">
                <a:solidFill>
                  <a:schemeClr val="tx1"/>
                </a:solidFill>
              </a:rPr>
              <a:t> in hard times</a:t>
            </a:r>
            <a:endParaRPr lang="en-US" sz="1600" dirty="0"/>
          </a:p>
          <a:p>
            <a:pPr marL="228600" indent="-228600">
              <a:spcAft>
                <a:spcPts val="800"/>
              </a:spcAft>
              <a:buSzPct val="100000"/>
              <a:buChar char="•"/>
            </a:pPr>
            <a:r>
              <a:rPr lang="en-US" sz="2200" dirty="0">
                <a:solidFill>
                  <a:schemeClr val="tx1"/>
                </a:solidFill>
              </a:rPr>
              <a:t>Preserving </a:t>
            </a:r>
            <a:r>
              <a:rPr lang="en-US" sz="2200" b="1" dirty="0">
                <a:solidFill>
                  <a:schemeClr val="tx1"/>
                </a:solidFill>
              </a:rPr>
              <a:t>socio-cultural and spiritual traditions</a:t>
            </a:r>
            <a:endParaRPr lang="en-US" sz="1600" dirty="0"/>
          </a:p>
          <a:p>
            <a:pPr marL="228600" indent="-228600">
              <a:spcAft>
                <a:spcPts val="800"/>
              </a:spcAft>
              <a:buSzPct val="100000"/>
              <a:buChar char="•"/>
            </a:pPr>
            <a:r>
              <a:rPr lang="en-US" sz="2200" dirty="0">
                <a:solidFill>
                  <a:schemeClr val="tx1"/>
                </a:solidFill>
              </a:rPr>
              <a:t>e.g. restoring places of worship, adapting customs, living together across faiths</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Resilience is the backbone of resistance:</a:t>
            </a:r>
            <a:r>
              <a:rPr lang="en-US" sz="1500" dirty="0">
                <a:solidFill>
                  <a:schemeClr val="bg1"/>
                </a:solidFill>
              </a:rPr>
              <a:t> leadership starts resistance; resilience helps it endure.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1</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Safeguarding Sovereignty</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Resistance, alliances and confederacies across the subcontinent.</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Timeline 1: 1000–1300 CE</a:t>
            </a:r>
            <a:endParaRPr lang="en-US" sz="3600" dirty="0"/>
          </a:p>
        </p:txBody>
      </p:sp>
      <p:sp>
        <p:nvSpPr>
          <p:cNvPr id="3" name="timeline axis"/>
          <p:cNvSpPr/>
          <p:nvPr/>
        </p:nvSpPr>
        <p:spPr>
          <a:xfrm>
            <a:off x="548640" y="3794760"/>
            <a:ext cx="11091672" cy="0"/>
          </a:xfrm>
          <a:prstGeom prst="line">
            <a:avLst/>
          </a:prstGeom>
          <a:noFill/>
          <a:ln w="38100">
            <a:solidFill>
              <a:schemeClr val="tx2"/>
            </a:solidFill>
            <a:prstDash val="solid"/>
            <a:tailEnd type="triangle"/>
          </a:ln>
        </p:spPr>
      </p:sp>
      <p:sp>
        <p:nvSpPr>
          <p:cNvPr id="4" name="tick 1"/>
          <p:cNvSpPr/>
          <p:nvPr/>
        </p:nvSpPr>
        <p:spPr>
          <a:xfrm>
            <a:off x="1691640" y="3291840"/>
            <a:ext cx="0" cy="502920"/>
          </a:xfrm>
          <a:prstGeom prst="line">
            <a:avLst/>
          </a:prstGeom>
          <a:noFill/>
          <a:ln w="25400">
            <a:solidFill>
              <a:schemeClr val="accent3"/>
            </a:solidFill>
            <a:prstDash val="solid"/>
          </a:ln>
        </p:spPr>
      </p:sp>
      <p:sp>
        <p:nvSpPr>
          <p:cNvPr id="5" name="dot 1"/>
          <p:cNvSpPr/>
          <p:nvPr/>
        </p:nvSpPr>
        <p:spPr>
          <a:xfrm>
            <a:off x="1572768" y="3675888"/>
            <a:ext cx="237744" cy="237744"/>
          </a:xfrm>
          <a:prstGeom prst="ellipse">
            <a:avLst/>
          </a:prstGeom>
          <a:solidFill>
            <a:schemeClr val="accent1"/>
          </a:solidFill>
          <a:ln w="19050">
            <a:solidFill>
              <a:schemeClr val="bg1"/>
            </a:solidFill>
            <a:prstDash val="solid"/>
          </a:ln>
        </p:spPr>
      </p:sp>
      <p:sp>
        <p:nvSpPr>
          <p:cNvPr id="6" name="event 1"/>
          <p:cNvSpPr/>
          <p:nvPr/>
        </p:nvSpPr>
        <p:spPr>
          <a:xfrm>
            <a:off x="548640" y="1371600"/>
            <a:ext cx="2286000" cy="1920240"/>
          </a:xfrm>
          <a:prstGeom prst="roundRect">
            <a:avLst>
              <a:gd name="adj" fmla="val 5714"/>
            </a:avLst>
          </a:prstGeom>
          <a:solidFill>
            <a:schemeClr val="bg2"/>
          </a:solidFill>
          <a:ln w="12700">
            <a:solidFill>
              <a:schemeClr val="bg2"/>
            </a:solidFill>
            <a:prstDash val="solid"/>
          </a:ln>
        </p:spPr>
      </p:sp>
      <p:sp>
        <p:nvSpPr>
          <p:cNvPr id="7" name="Text 5"/>
          <p:cNvSpPr txBox="1"/>
          <p:nvPr/>
        </p:nvSpPr>
        <p:spPr>
          <a:xfrm>
            <a:off x="685800"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985–1014</a:t>
            </a:r>
            <a:endParaRPr lang="en-US" sz="1600" dirty="0"/>
          </a:p>
          <a:p>
            <a:pPr indent="0" marL="0">
              <a:buNone/>
            </a:pPr>
            <a:r>
              <a:rPr lang="en-US" sz="1700" dirty="0">
                <a:solidFill>
                  <a:schemeClr val="tx1"/>
                </a:solidFill>
              </a:rPr>
              <a:t>Reign of Rajaraja Chola</a:t>
            </a:r>
            <a:endParaRPr lang="en-US" sz="1600" dirty="0"/>
          </a:p>
        </p:txBody>
      </p:sp>
      <p:sp>
        <p:nvSpPr>
          <p:cNvPr id="8" name="tick 2"/>
          <p:cNvSpPr/>
          <p:nvPr/>
        </p:nvSpPr>
        <p:spPr>
          <a:xfrm>
            <a:off x="2949593" y="3794760"/>
            <a:ext cx="0" cy="411480"/>
          </a:xfrm>
          <a:prstGeom prst="line">
            <a:avLst/>
          </a:prstGeom>
          <a:noFill/>
          <a:ln w="25400">
            <a:solidFill>
              <a:schemeClr val="accent3"/>
            </a:solidFill>
            <a:prstDash val="solid"/>
          </a:ln>
        </p:spPr>
      </p:sp>
      <p:sp>
        <p:nvSpPr>
          <p:cNvPr id="9" name="dot 2"/>
          <p:cNvSpPr/>
          <p:nvPr/>
        </p:nvSpPr>
        <p:spPr>
          <a:xfrm>
            <a:off x="2830721" y="3675888"/>
            <a:ext cx="237744" cy="237744"/>
          </a:xfrm>
          <a:prstGeom prst="ellipse">
            <a:avLst/>
          </a:prstGeom>
          <a:solidFill>
            <a:schemeClr val="accent1"/>
          </a:solidFill>
          <a:ln w="19050">
            <a:solidFill>
              <a:schemeClr val="bg1"/>
            </a:solidFill>
            <a:prstDash val="solid"/>
          </a:ln>
        </p:spPr>
      </p:sp>
      <p:sp>
        <p:nvSpPr>
          <p:cNvPr id="10" name="event 2"/>
          <p:cNvSpPr/>
          <p:nvPr/>
        </p:nvSpPr>
        <p:spPr>
          <a:xfrm>
            <a:off x="1806593" y="4206240"/>
            <a:ext cx="2286000" cy="1920240"/>
          </a:xfrm>
          <a:prstGeom prst="roundRect">
            <a:avLst>
              <a:gd name="adj" fmla="val 5714"/>
            </a:avLst>
          </a:prstGeom>
          <a:solidFill>
            <a:schemeClr val="bg2"/>
          </a:solidFill>
          <a:ln w="12700">
            <a:solidFill>
              <a:schemeClr val="bg2"/>
            </a:solidFill>
            <a:prstDash val="solid"/>
          </a:ln>
        </p:spPr>
      </p:sp>
      <p:sp>
        <p:nvSpPr>
          <p:cNvPr id="11" name="Text 9"/>
          <p:cNvSpPr txBox="1"/>
          <p:nvPr/>
        </p:nvSpPr>
        <p:spPr>
          <a:xfrm>
            <a:off x="1943753"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1000–1055</a:t>
            </a:r>
            <a:endParaRPr lang="en-US" sz="1600" dirty="0"/>
          </a:p>
          <a:p>
            <a:pPr indent="0" marL="0">
              <a:buNone/>
            </a:pPr>
            <a:r>
              <a:rPr lang="en-US" sz="1700" dirty="0">
                <a:solidFill>
                  <a:schemeClr val="tx1"/>
                </a:solidFill>
              </a:rPr>
              <a:t>Reign of Bhoja Paramara of Dhara</a:t>
            </a:r>
            <a:endParaRPr lang="en-US" sz="1600" dirty="0"/>
          </a:p>
        </p:txBody>
      </p:sp>
      <p:sp>
        <p:nvSpPr>
          <p:cNvPr id="12" name="tick 3"/>
          <p:cNvSpPr/>
          <p:nvPr/>
        </p:nvSpPr>
        <p:spPr>
          <a:xfrm>
            <a:off x="4207546" y="3291840"/>
            <a:ext cx="0" cy="502920"/>
          </a:xfrm>
          <a:prstGeom prst="line">
            <a:avLst/>
          </a:prstGeom>
          <a:noFill/>
          <a:ln w="25400">
            <a:solidFill>
              <a:schemeClr val="accent3"/>
            </a:solidFill>
            <a:prstDash val="solid"/>
          </a:ln>
        </p:spPr>
      </p:sp>
      <p:sp>
        <p:nvSpPr>
          <p:cNvPr id="13" name="dot 3"/>
          <p:cNvSpPr/>
          <p:nvPr/>
        </p:nvSpPr>
        <p:spPr>
          <a:xfrm>
            <a:off x="4088674" y="3675888"/>
            <a:ext cx="237744" cy="237744"/>
          </a:xfrm>
          <a:prstGeom prst="ellipse">
            <a:avLst/>
          </a:prstGeom>
          <a:solidFill>
            <a:schemeClr val="accent1"/>
          </a:solidFill>
          <a:ln w="19050">
            <a:solidFill>
              <a:schemeClr val="bg1"/>
            </a:solidFill>
            <a:prstDash val="solid"/>
          </a:ln>
        </p:spPr>
      </p:sp>
      <p:sp>
        <p:nvSpPr>
          <p:cNvPr id="14" name="event 3"/>
          <p:cNvSpPr/>
          <p:nvPr/>
        </p:nvSpPr>
        <p:spPr>
          <a:xfrm>
            <a:off x="3064546" y="1371600"/>
            <a:ext cx="2286000" cy="1920240"/>
          </a:xfrm>
          <a:prstGeom prst="roundRect">
            <a:avLst>
              <a:gd name="adj" fmla="val 5714"/>
            </a:avLst>
          </a:prstGeom>
          <a:solidFill>
            <a:schemeClr val="bg2"/>
          </a:solidFill>
          <a:ln w="12700">
            <a:solidFill>
              <a:schemeClr val="bg2"/>
            </a:solidFill>
            <a:prstDash val="solid"/>
          </a:ln>
        </p:spPr>
      </p:sp>
      <p:sp>
        <p:nvSpPr>
          <p:cNvPr id="15" name="Text 13"/>
          <p:cNvSpPr txBox="1"/>
          <p:nvPr/>
        </p:nvSpPr>
        <p:spPr>
          <a:xfrm>
            <a:off x="3201706"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1001</a:t>
            </a:r>
            <a:endParaRPr lang="en-US" sz="1600" dirty="0"/>
          </a:p>
          <a:p>
            <a:pPr indent="0" marL="0">
              <a:buNone/>
            </a:pPr>
            <a:r>
              <a:rPr lang="en-US" sz="1700" dirty="0">
                <a:solidFill>
                  <a:schemeClr val="tx1"/>
                </a:solidFill>
              </a:rPr>
              <a:t>Mahmud of Ghazni defeats Jayapala of the Hindu Shahis</a:t>
            </a:r>
            <a:endParaRPr lang="en-US" sz="1600" dirty="0"/>
          </a:p>
        </p:txBody>
      </p:sp>
      <p:sp>
        <p:nvSpPr>
          <p:cNvPr id="16" name="tick 4"/>
          <p:cNvSpPr/>
          <p:nvPr/>
        </p:nvSpPr>
        <p:spPr>
          <a:xfrm>
            <a:off x="5465499" y="3794760"/>
            <a:ext cx="0" cy="411480"/>
          </a:xfrm>
          <a:prstGeom prst="line">
            <a:avLst/>
          </a:prstGeom>
          <a:noFill/>
          <a:ln w="25400">
            <a:solidFill>
              <a:schemeClr val="accent3"/>
            </a:solidFill>
            <a:prstDash val="solid"/>
          </a:ln>
        </p:spPr>
      </p:sp>
      <p:sp>
        <p:nvSpPr>
          <p:cNvPr id="17" name="dot 4"/>
          <p:cNvSpPr/>
          <p:nvPr/>
        </p:nvSpPr>
        <p:spPr>
          <a:xfrm>
            <a:off x="5346627" y="3675888"/>
            <a:ext cx="237744" cy="237744"/>
          </a:xfrm>
          <a:prstGeom prst="ellipse">
            <a:avLst/>
          </a:prstGeom>
          <a:solidFill>
            <a:schemeClr val="accent2"/>
          </a:solidFill>
          <a:ln w="19050">
            <a:solidFill>
              <a:schemeClr val="bg1"/>
            </a:solidFill>
            <a:prstDash val="solid"/>
          </a:ln>
        </p:spPr>
      </p:sp>
      <p:sp>
        <p:nvSpPr>
          <p:cNvPr id="18" name="event 4"/>
          <p:cNvSpPr/>
          <p:nvPr/>
        </p:nvSpPr>
        <p:spPr>
          <a:xfrm>
            <a:off x="4322499" y="4206240"/>
            <a:ext cx="2286000" cy="1920240"/>
          </a:xfrm>
          <a:prstGeom prst="roundRect">
            <a:avLst>
              <a:gd name="adj" fmla="val 5714"/>
            </a:avLst>
          </a:prstGeom>
          <a:solidFill>
            <a:schemeClr val="tx2"/>
          </a:solidFill>
          <a:ln w="12700">
            <a:solidFill>
              <a:schemeClr val="tx2"/>
            </a:solidFill>
            <a:prstDash val="solid"/>
          </a:ln>
        </p:spPr>
      </p:sp>
      <p:sp>
        <p:nvSpPr>
          <p:cNvPr id="19" name="Text 17"/>
          <p:cNvSpPr txBox="1"/>
          <p:nvPr/>
        </p:nvSpPr>
        <p:spPr>
          <a:xfrm>
            <a:off x="4459659" y="431596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1178</a:t>
            </a:r>
            <a:endParaRPr lang="en-US" sz="1600" dirty="0"/>
          </a:p>
          <a:p>
            <a:pPr indent="0" marL="0">
              <a:buNone/>
            </a:pPr>
            <a:r>
              <a:rPr lang="en-US" sz="1700" dirty="0">
                <a:solidFill>
                  <a:schemeClr val="bg1"/>
                </a:solidFill>
              </a:rPr>
              <a:t>Battle of Kasahrada: Queen Naiki Devi defeats Muhammad Ghuri</a:t>
            </a:r>
            <a:endParaRPr lang="en-US" sz="1600" dirty="0"/>
          </a:p>
        </p:txBody>
      </p:sp>
      <p:sp>
        <p:nvSpPr>
          <p:cNvPr id="20" name="tick 5"/>
          <p:cNvSpPr/>
          <p:nvPr/>
        </p:nvSpPr>
        <p:spPr>
          <a:xfrm>
            <a:off x="6723453" y="3291840"/>
            <a:ext cx="0" cy="502920"/>
          </a:xfrm>
          <a:prstGeom prst="line">
            <a:avLst/>
          </a:prstGeom>
          <a:noFill/>
          <a:ln w="25400">
            <a:solidFill>
              <a:schemeClr val="accent3"/>
            </a:solidFill>
            <a:prstDash val="solid"/>
          </a:ln>
        </p:spPr>
      </p:sp>
      <p:sp>
        <p:nvSpPr>
          <p:cNvPr id="21" name="dot 5"/>
          <p:cNvSpPr/>
          <p:nvPr/>
        </p:nvSpPr>
        <p:spPr>
          <a:xfrm>
            <a:off x="6604581" y="3675888"/>
            <a:ext cx="237744" cy="237744"/>
          </a:xfrm>
          <a:prstGeom prst="ellipse">
            <a:avLst/>
          </a:prstGeom>
          <a:solidFill>
            <a:schemeClr val="accent1"/>
          </a:solidFill>
          <a:ln w="19050">
            <a:solidFill>
              <a:schemeClr val="bg1"/>
            </a:solidFill>
            <a:prstDash val="solid"/>
          </a:ln>
        </p:spPr>
      </p:sp>
      <p:sp>
        <p:nvSpPr>
          <p:cNvPr id="22" name="event 5"/>
          <p:cNvSpPr/>
          <p:nvPr/>
        </p:nvSpPr>
        <p:spPr>
          <a:xfrm>
            <a:off x="5580453" y="1371600"/>
            <a:ext cx="2286000" cy="1920240"/>
          </a:xfrm>
          <a:prstGeom prst="roundRect">
            <a:avLst>
              <a:gd name="adj" fmla="val 5714"/>
            </a:avLst>
          </a:prstGeom>
          <a:solidFill>
            <a:schemeClr val="bg2"/>
          </a:solidFill>
          <a:ln w="12700">
            <a:solidFill>
              <a:schemeClr val="bg2"/>
            </a:solidFill>
            <a:prstDash val="solid"/>
          </a:ln>
        </p:spPr>
      </p:sp>
      <p:sp>
        <p:nvSpPr>
          <p:cNvPr id="23" name="Text 21"/>
          <p:cNvSpPr txBox="1"/>
          <p:nvPr/>
        </p:nvSpPr>
        <p:spPr>
          <a:xfrm>
            <a:off x="5717613"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1192</a:t>
            </a:r>
            <a:endParaRPr lang="en-US" sz="1600" dirty="0"/>
          </a:p>
          <a:p>
            <a:pPr indent="0" marL="0">
              <a:buNone/>
            </a:pPr>
            <a:r>
              <a:rPr lang="en-US" sz="1700" dirty="0">
                <a:solidFill>
                  <a:schemeClr val="tx1"/>
                </a:solidFill>
              </a:rPr>
              <a:t>Second Battle of Tarain: Ghuri defeats Prithviraj Chauhan</a:t>
            </a:r>
            <a:endParaRPr lang="en-US" sz="1600" dirty="0"/>
          </a:p>
        </p:txBody>
      </p:sp>
      <p:sp>
        <p:nvSpPr>
          <p:cNvPr id="24" name="tick 6"/>
          <p:cNvSpPr/>
          <p:nvPr/>
        </p:nvSpPr>
        <p:spPr>
          <a:xfrm>
            <a:off x="7981406" y="3794760"/>
            <a:ext cx="0" cy="411480"/>
          </a:xfrm>
          <a:prstGeom prst="line">
            <a:avLst/>
          </a:prstGeom>
          <a:noFill/>
          <a:ln w="25400">
            <a:solidFill>
              <a:schemeClr val="accent3"/>
            </a:solidFill>
            <a:prstDash val="solid"/>
          </a:ln>
        </p:spPr>
      </p:sp>
      <p:sp>
        <p:nvSpPr>
          <p:cNvPr id="25" name="dot 6"/>
          <p:cNvSpPr/>
          <p:nvPr/>
        </p:nvSpPr>
        <p:spPr>
          <a:xfrm>
            <a:off x="7862534" y="3675888"/>
            <a:ext cx="237744" cy="237744"/>
          </a:xfrm>
          <a:prstGeom prst="ellipse">
            <a:avLst/>
          </a:prstGeom>
          <a:solidFill>
            <a:schemeClr val="accent1"/>
          </a:solidFill>
          <a:ln w="19050">
            <a:solidFill>
              <a:schemeClr val="bg1"/>
            </a:solidFill>
            <a:prstDash val="solid"/>
          </a:ln>
        </p:spPr>
      </p:sp>
      <p:sp>
        <p:nvSpPr>
          <p:cNvPr id="26" name="event 6"/>
          <p:cNvSpPr/>
          <p:nvPr/>
        </p:nvSpPr>
        <p:spPr>
          <a:xfrm>
            <a:off x="6838406" y="4206240"/>
            <a:ext cx="2286000" cy="1920240"/>
          </a:xfrm>
          <a:prstGeom prst="roundRect">
            <a:avLst>
              <a:gd name="adj" fmla="val 5714"/>
            </a:avLst>
          </a:prstGeom>
          <a:solidFill>
            <a:schemeClr val="bg2"/>
          </a:solidFill>
          <a:ln w="12700">
            <a:solidFill>
              <a:schemeClr val="bg2"/>
            </a:solidFill>
            <a:prstDash val="solid"/>
          </a:ln>
        </p:spPr>
      </p:sp>
      <p:sp>
        <p:nvSpPr>
          <p:cNvPr id="27" name="Text 25"/>
          <p:cNvSpPr txBox="1"/>
          <p:nvPr/>
        </p:nvSpPr>
        <p:spPr>
          <a:xfrm>
            <a:off x="6975566"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1206</a:t>
            </a:r>
            <a:endParaRPr lang="en-US" sz="1600" dirty="0"/>
          </a:p>
          <a:p>
            <a:pPr indent="0" marL="0">
              <a:buNone/>
            </a:pPr>
            <a:r>
              <a:rPr lang="en-US" sz="1700" dirty="0">
                <a:solidFill>
                  <a:schemeClr val="tx1"/>
                </a:solidFill>
              </a:rPr>
              <a:t>Delhi Sultanate established</a:t>
            </a:r>
            <a:endParaRPr lang="en-US" sz="1600" dirty="0"/>
          </a:p>
        </p:txBody>
      </p:sp>
      <p:sp>
        <p:nvSpPr>
          <p:cNvPr id="28" name="tick 7"/>
          <p:cNvSpPr/>
          <p:nvPr/>
        </p:nvSpPr>
        <p:spPr>
          <a:xfrm>
            <a:off x="9239359" y="3291840"/>
            <a:ext cx="0" cy="502920"/>
          </a:xfrm>
          <a:prstGeom prst="line">
            <a:avLst/>
          </a:prstGeom>
          <a:noFill/>
          <a:ln w="25400">
            <a:solidFill>
              <a:schemeClr val="accent3"/>
            </a:solidFill>
            <a:prstDash val="solid"/>
          </a:ln>
        </p:spPr>
      </p:sp>
      <p:sp>
        <p:nvSpPr>
          <p:cNvPr id="29" name="dot 7"/>
          <p:cNvSpPr/>
          <p:nvPr/>
        </p:nvSpPr>
        <p:spPr>
          <a:xfrm>
            <a:off x="9120487" y="3675888"/>
            <a:ext cx="237744" cy="237744"/>
          </a:xfrm>
          <a:prstGeom prst="ellipse">
            <a:avLst/>
          </a:prstGeom>
          <a:solidFill>
            <a:schemeClr val="accent2"/>
          </a:solidFill>
          <a:ln w="19050">
            <a:solidFill>
              <a:schemeClr val="bg1"/>
            </a:solidFill>
            <a:prstDash val="solid"/>
          </a:ln>
        </p:spPr>
      </p:sp>
      <p:sp>
        <p:nvSpPr>
          <p:cNvPr id="30" name="event 7"/>
          <p:cNvSpPr/>
          <p:nvPr/>
        </p:nvSpPr>
        <p:spPr>
          <a:xfrm>
            <a:off x="8096359" y="1371600"/>
            <a:ext cx="2286000" cy="1920240"/>
          </a:xfrm>
          <a:prstGeom prst="roundRect">
            <a:avLst>
              <a:gd name="adj" fmla="val 5714"/>
            </a:avLst>
          </a:prstGeom>
          <a:solidFill>
            <a:schemeClr val="tx2"/>
          </a:solidFill>
          <a:ln w="12700">
            <a:solidFill>
              <a:schemeClr val="tx2"/>
            </a:solidFill>
            <a:prstDash val="solid"/>
          </a:ln>
        </p:spPr>
      </p:sp>
      <p:sp>
        <p:nvSpPr>
          <p:cNvPr id="31" name="Text 29"/>
          <p:cNvSpPr txBox="1"/>
          <p:nvPr/>
        </p:nvSpPr>
        <p:spPr>
          <a:xfrm>
            <a:off x="8233519"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1228</a:t>
            </a:r>
            <a:endParaRPr lang="en-US" sz="1600" dirty="0"/>
          </a:p>
          <a:p>
            <a:pPr indent="0" marL="0">
              <a:buNone/>
            </a:pPr>
            <a:r>
              <a:rPr lang="en-US" sz="1700" dirty="0">
                <a:solidFill>
                  <a:schemeClr val="bg1"/>
                </a:solidFill>
              </a:rPr>
              <a:t>Rise of the Ahoms in Assam</a:t>
            </a:r>
            <a:endParaRPr lang="en-US" sz="1600" dirty="0"/>
          </a:p>
        </p:txBody>
      </p:sp>
      <p:sp>
        <p:nvSpPr>
          <p:cNvPr id="32" name="tick 8"/>
          <p:cNvSpPr/>
          <p:nvPr/>
        </p:nvSpPr>
        <p:spPr>
          <a:xfrm>
            <a:off x="10497312" y="3794760"/>
            <a:ext cx="0" cy="411480"/>
          </a:xfrm>
          <a:prstGeom prst="line">
            <a:avLst/>
          </a:prstGeom>
          <a:noFill/>
          <a:ln w="25400">
            <a:solidFill>
              <a:schemeClr val="accent3"/>
            </a:solidFill>
            <a:prstDash val="solid"/>
          </a:ln>
        </p:spPr>
      </p:sp>
      <p:sp>
        <p:nvSpPr>
          <p:cNvPr id="33" name="dot 8"/>
          <p:cNvSpPr/>
          <p:nvPr/>
        </p:nvSpPr>
        <p:spPr>
          <a:xfrm>
            <a:off x="10378440" y="3675888"/>
            <a:ext cx="237744" cy="237744"/>
          </a:xfrm>
          <a:prstGeom prst="ellipse">
            <a:avLst/>
          </a:prstGeom>
          <a:solidFill>
            <a:schemeClr val="accent1"/>
          </a:solidFill>
          <a:ln w="19050">
            <a:solidFill>
              <a:schemeClr val="bg1"/>
            </a:solidFill>
            <a:prstDash val="solid"/>
          </a:ln>
        </p:spPr>
      </p:sp>
      <p:sp>
        <p:nvSpPr>
          <p:cNvPr id="34" name="event 8"/>
          <p:cNvSpPr/>
          <p:nvPr/>
        </p:nvSpPr>
        <p:spPr>
          <a:xfrm>
            <a:off x="9354312" y="4206240"/>
            <a:ext cx="2286000" cy="1920240"/>
          </a:xfrm>
          <a:prstGeom prst="roundRect">
            <a:avLst>
              <a:gd name="adj" fmla="val 5714"/>
            </a:avLst>
          </a:prstGeom>
          <a:solidFill>
            <a:schemeClr val="bg2"/>
          </a:solidFill>
          <a:ln w="12700">
            <a:solidFill>
              <a:schemeClr val="bg2"/>
            </a:solidFill>
            <a:prstDash val="solid"/>
          </a:ln>
        </p:spPr>
      </p:sp>
      <p:sp>
        <p:nvSpPr>
          <p:cNvPr id="35" name="Text 33"/>
          <p:cNvSpPr txBox="1"/>
          <p:nvPr/>
        </p:nvSpPr>
        <p:spPr>
          <a:xfrm>
            <a:off x="9491472"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1262–1289</a:t>
            </a:r>
            <a:endParaRPr lang="en-US" sz="1600" dirty="0"/>
          </a:p>
          <a:p>
            <a:pPr indent="0" marL="0">
              <a:buNone/>
            </a:pPr>
            <a:r>
              <a:rPr lang="en-US" sz="1700" dirty="0">
                <a:solidFill>
                  <a:schemeClr val="tx1"/>
                </a:solidFill>
              </a:rPr>
              <a:t>Reign of Kakatiya Queen Rudrama Devi</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Early Resistance: 11th and 12th Centuries</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Why invasions?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Fertile river plains produced </a:t>
            </a:r>
            <a:r>
              <a:rPr lang="en-US" sz="1800" b="1" dirty="0">
                <a:solidFill>
                  <a:schemeClr val="tx1"/>
                </a:solidFill>
              </a:rPr>
              <a:t>surplus crops</a:t>
            </a:r>
            <a:r>
              <a:rPr lang="en-US" sz="1800" dirty="0">
                <a:solidFill>
                  <a:schemeClr val="tx1"/>
                </a:solidFill>
              </a:rPr>
              <a:t> and wealth, a major reason for invasions.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Early defenders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Arab forces (from the mid-7th century) were repulsed in the Deccan, Malwa, Kashmir and Rajasthan.</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Against the Turks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Hindu Shahis, Chandellas, Solankis and Chauhans fought the Turkish invaders.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Naiki Devi, 1178</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Chaulukya queen who defeated Muhammad Ghuri at </a:t>
            </a:r>
            <a:r>
              <a:rPr lang="en-US" sz="1800" b="1" dirty="0">
                <a:solidFill>
                  <a:schemeClr val="tx1"/>
                </a:solidFill>
              </a:rPr>
              <a:t>Kasahrada</a:t>
            </a:r>
            <a:r>
              <a:rPr lang="en-US" sz="1800" dirty="0">
                <a:solidFill>
                  <a:schemeClr val="tx1"/>
                </a:solidFill>
              </a:rPr>
              <a:t>, near Mount Abu.</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 hundred years more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Gujarat, Malwa and Bundelkhand (Chandellas) resisted for about 100 years after 1192.</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Never conquered</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The Turks failed to conquer </a:t>
            </a:r>
            <a:r>
              <a:rPr lang="en-US" sz="1800" b="1" dirty="0">
                <a:solidFill>
                  <a:schemeClr val="tx1"/>
                </a:solidFill>
              </a:rPr>
              <a:t>Odisha</a:t>
            </a:r>
            <a:r>
              <a:rPr lang="en-US" sz="1800" dirty="0">
                <a:solidFill>
                  <a:schemeClr val="tx1"/>
                </a:solidFill>
              </a:rPr>
              <a:t> and parts of </a:t>
            </a:r>
            <a:r>
              <a:rPr lang="en-US" sz="1800" b="1" dirty="0">
                <a:solidFill>
                  <a:schemeClr val="tx1"/>
                </a:solidFill>
              </a:rPr>
              <a:t>Assam</a:t>
            </a:r>
            <a:r>
              <a:rPr lang="en-US" sz="1800" dirty="0">
                <a:solidFill>
                  <a:schemeClr val="tx1"/>
                </a:solidFill>
              </a:rPr>
              <a:t>; peninsular India stayed free.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Resisting the Delhi Sultanate (1200–1500)</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 new state, 1206</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Greater </a:t>
            </a:r>
            <a:r>
              <a:rPr lang="en-US" sz="1800" b="1" dirty="0">
                <a:solidFill>
                  <a:schemeClr val="tx1"/>
                </a:solidFill>
              </a:rPr>
              <a:t>centralisation</a:t>
            </a:r>
            <a:r>
              <a:rPr lang="en-US" sz="1800" dirty="0">
                <a:solidFill>
                  <a:schemeClr val="tx1"/>
                </a:solidFill>
              </a:rPr>
              <a:t>; the </a:t>
            </a:r>
            <a:r>
              <a:rPr lang="en-US" sz="1800" b="1" dirty="0">
                <a:solidFill>
                  <a:schemeClr val="tx1"/>
                </a:solidFill>
              </a:rPr>
              <a:t>iqta system</a:t>
            </a:r>
            <a:r>
              <a:rPr lang="en-US" sz="1800" dirty="0">
                <a:solidFill>
                  <a:schemeClr val="tx1"/>
                </a:solidFill>
              </a:rPr>
              <a:t> gave land revenue to commanders and burdened peasants.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Sacred sites attacked</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Campaigns destroyed sites sacred to local people, fuelling stiff resistance.</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Kingdoms that resisted</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Yadavas</a:t>
            </a:r>
            <a:r>
              <a:rPr lang="en-US" sz="1800" dirty="0">
                <a:solidFill>
                  <a:schemeClr val="tx1"/>
                </a:solidFill>
              </a:rPr>
              <a:t> (Devagiri), </a:t>
            </a:r>
            <a:r>
              <a:rPr lang="en-US" sz="1800" b="1" dirty="0">
                <a:solidFill>
                  <a:schemeClr val="tx1"/>
                </a:solidFill>
              </a:rPr>
              <a:t>Kakatiyas</a:t>
            </a:r>
            <a:r>
              <a:rPr lang="en-US" sz="1800" dirty="0">
                <a:solidFill>
                  <a:schemeClr val="tx1"/>
                </a:solidFill>
              </a:rPr>
              <a:t> (Warangal), </a:t>
            </a:r>
            <a:r>
              <a:rPr lang="en-US" sz="1800" b="1" dirty="0">
                <a:solidFill>
                  <a:schemeClr val="tx1"/>
                </a:solidFill>
              </a:rPr>
              <a:t>Hoysalas</a:t>
            </a:r>
            <a:r>
              <a:rPr lang="en-US" sz="1800" dirty="0">
                <a:solidFill>
                  <a:schemeClr val="tx1"/>
                </a:solidFill>
              </a:rPr>
              <a:t> (Karnataka) and Rajput states.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Regions of defiance</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Mewar, Gwalior, Malwa, Awadh, Etawah, Ajmer, Jalore, Kalinjar, Kannauj.</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Rajput heroes</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Kanhada Deva (Jalore), Rana Hammira Deva (Ranthambore), Rana Kumbha (Mewar), Rao Surjan Hada (Bundi).</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Rana Kumbha</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(1433–1468) Built a </a:t>
            </a:r>
            <a:r>
              <a:rPr lang="en-US" sz="1800" b="1" dirty="0">
                <a:solidFill>
                  <a:schemeClr val="tx1"/>
                </a:solidFill>
              </a:rPr>
              <a:t>resistance framework</a:t>
            </a:r>
            <a:r>
              <a:rPr lang="en-US" sz="1800" dirty="0">
                <a:solidFill>
                  <a:schemeClr val="tx1"/>
                </a:solidFill>
              </a:rPr>
              <a:t> for Mewar, including the construction of forts.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Timeline 2: 1300–1700 CE</a:t>
            </a:r>
            <a:endParaRPr lang="en-US" sz="3600" dirty="0"/>
          </a:p>
        </p:txBody>
      </p:sp>
      <p:sp>
        <p:nvSpPr>
          <p:cNvPr id="3" name="timeline axis"/>
          <p:cNvSpPr/>
          <p:nvPr/>
        </p:nvSpPr>
        <p:spPr>
          <a:xfrm>
            <a:off x="548640" y="3794760"/>
            <a:ext cx="11091672" cy="0"/>
          </a:xfrm>
          <a:prstGeom prst="line">
            <a:avLst/>
          </a:prstGeom>
          <a:noFill/>
          <a:ln w="38100">
            <a:solidFill>
              <a:schemeClr val="tx2"/>
            </a:solidFill>
            <a:prstDash val="solid"/>
            <a:tailEnd type="triangle"/>
          </a:ln>
        </p:spPr>
      </p:sp>
      <p:sp>
        <p:nvSpPr>
          <p:cNvPr id="4" name="tick 1"/>
          <p:cNvSpPr/>
          <p:nvPr/>
        </p:nvSpPr>
        <p:spPr>
          <a:xfrm>
            <a:off x="1691640" y="3291840"/>
            <a:ext cx="0" cy="502920"/>
          </a:xfrm>
          <a:prstGeom prst="line">
            <a:avLst/>
          </a:prstGeom>
          <a:noFill/>
          <a:ln w="25400">
            <a:solidFill>
              <a:schemeClr val="accent3"/>
            </a:solidFill>
            <a:prstDash val="solid"/>
          </a:ln>
        </p:spPr>
      </p:sp>
      <p:sp>
        <p:nvSpPr>
          <p:cNvPr id="5" name="dot 1"/>
          <p:cNvSpPr/>
          <p:nvPr/>
        </p:nvSpPr>
        <p:spPr>
          <a:xfrm>
            <a:off x="1572768" y="3675888"/>
            <a:ext cx="237744" cy="237744"/>
          </a:xfrm>
          <a:prstGeom prst="ellipse">
            <a:avLst/>
          </a:prstGeom>
          <a:solidFill>
            <a:schemeClr val="accent2"/>
          </a:solidFill>
          <a:ln w="19050">
            <a:solidFill>
              <a:schemeClr val="bg1"/>
            </a:solidFill>
            <a:prstDash val="solid"/>
          </a:ln>
        </p:spPr>
      </p:sp>
      <p:sp>
        <p:nvSpPr>
          <p:cNvPr id="6" name="event 1"/>
          <p:cNvSpPr/>
          <p:nvPr/>
        </p:nvSpPr>
        <p:spPr>
          <a:xfrm>
            <a:off x="548640" y="1371600"/>
            <a:ext cx="2286000" cy="1920240"/>
          </a:xfrm>
          <a:prstGeom prst="roundRect">
            <a:avLst>
              <a:gd name="adj" fmla="val 5714"/>
            </a:avLst>
          </a:prstGeom>
          <a:solidFill>
            <a:schemeClr val="tx2"/>
          </a:solidFill>
          <a:ln w="12700">
            <a:solidFill>
              <a:schemeClr val="tx2"/>
            </a:solidFill>
            <a:prstDash val="solid"/>
          </a:ln>
        </p:spPr>
      </p:sp>
      <p:sp>
        <p:nvSpPr>
          <p:cNvPr id="7" name="Text 5"/>
          <p:cNvSpPr txBox="1"/>
          <p:nvPr/>
        </p:nvSpPr>
        <p:spPr>
          <a:xfrm>
            <a:off x="685800"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1336</a:t>
            </a:r>
            <a:endParaRPr lang="en-US" sz="1600" dirty="0"/>
          </a:p>
          <a:p>
            <a:pPr indent="0" marL="0">
              <a:buNone/>
            </a:pPr>
            <a:r>
              <a:rPr lang="en-US" sz="1700" dirty="0">
                <a:solidFill>
                  <a:schemeClr val="bg1"/>
                </a:solidFill>
              </a:rPr>
              <a:t>Vijayanagara Empire established</a:t>
            </a:r>
            <a:endParaRPr lang="en-US" sz="1600" dirty="0"/>
          </a:p>
        </p:txBody>
      </p:sp>
      <p:sp>
        <p:nvSpPr>
          <p:cNvPr id="8" name="tick 2"/>
          <p:cNvSpPr/>
          <p:nvPr/>
        </p:nvSpPr>
        <p:spPr>
          <a:xfrm>
            <a:off x="2949593" y="3794760"/>
            <a:ext cx="0" cy="411480"/>
          </a:xfrm>
          <a:prstGeom prst="line">
            <a:avLst/>
          </a:prstGeom>
          <a:noFill/>
          <a:ln w="25400">
            <a:solidFill>
              <a:schemeClr val="accent3"/>
            </a:solidFill>
            <a:prstDash val="solid"/>
          </a:ln>
        </p:spPr>
      </p:sp>
      <p:sp>
        <p:nvSpPr>
          <p:cNvPr id="9" name="dot 2"/>
          <p:cNvSpPr/>
          <p:nvPr/>
        </p:nvSpPr>
        <p:spPr>
          <a:xfrm>
            <a:off x="2830721" y="3675888"/>
            <a:ext cx="237744" cy="237744"/>
          </a:xfrm>
          <a:prstGeom prst="ellipse">
            <a:avLst/>
          </a:prstGeom>
          <a:solidFill>
            <a:schemeClr val="accent1"/>
          </a:solidFill>
          <a:ln w="19050">
            <a:solidFill>
              <a:schemeClr val="bg1"/>
            </a:solidFill>
            <a:prstDash val="solid"/>
          </a:ln>
        </p:spPr>
      </p:sp>
      <p:sp>
        <p:nvSpPr>
          <p:cNvPr id="10" name="event 2"/>
          <p:cNvSpPr/>
          <p:nvPr/>
        </p:nvSpPr>
        <p:spPr>
          <a:xfrm>
            <a:off x="1806593" y="4206240"/>
            <a:ext cx="2286000" cy="1920240"/>
          </a:xfrm>
          <a:prstGeom prst="roundRect">
            <a:avLst>
              <a:gd name="adj" fmla="val 5714"/>
            </a:avLst>
          </a:prstGeom>
          <a:solidFill>
            <a:schemeClr val="bg2"/>
          </a:solidFill>
          <a:ln w="12700">
            <a:solidFill>
              <a:schemeClr val="bg2"/>
            </a:solidFill>
            <a:prstDash val="solid"/>
          </a:ln>
        </p:spPr>
      </p:sp>
      <p:sp>
        <p:nvSpPr>
          <p:cNvPr id="11" name="Text 9"/>
          <p:cNvSpPr txBox="1"/>
          <p:nvPr/>
        </p:nvSpPr>
        <p:spPr>
          <a:xfrm>
            <a:off x="1943753"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1433–1468</a:t>
            </a:r>
            <a:endParaRPr lang="en-US" sz="1600" dirty="0"/>
          </a:p>
          <a:p>
            <a:pPr indent="0" marL="0">
              <a:buNone/>
            </a:pPr>
            <a:r>
              <a:rPr lang="en-US" sz="1700" dirty="0">
                <a:solidFill>
                  <a:schemeClr val="tx1"/>
                </a:solidFill>
              </a:rPr>
              <a:t>Maharana Kumbha strengthens Mewar with forts</a:t>
            </a:r>
            <a:endParaRPr lang="en-US" sz="1600" dirty="0"/>
          </a:p>
        </p:txBody>
      </p:sp>
      <p:sp>
        <p:nvSpPr>
          <p:cNvPr id="12" name="tick 3"/>
          <p:cNvSpPr/>
          <p:nvPr/>
        </p:nvSpPr>
        <p:spPr>
          <a:xfrm>
            <a:off x="4207546" y="3291840"/>
            <a:ext cx="0" cy="502920"/>
          </a:xfrm>
          <a:prstGeom prst="line">
            <a:avLst/>
          </a:prstGeom>
          <a:noFill/>
          <a:ln w="25400">
            <a:solidFill>
              <a:schemeClr val="accent3"/>
            </a:solidFill>
            <a:prstDash val="solid"/>
          </a:ln>
        </p:spPr>
      </p:sp>
      <p:sp>
        <p:nvSpPr>
          <p:cNvPr id="13" name="dot 3"/>
          <p:cNvSpPr/>
          <p:nvPr/>
        </p:nvSpPr>
        <p:spPr>
          <a:xfrm>
            <a:off x="4088674" y="3675888"/>
            <a:ext cx="237744" cy="237744"/>
          </a:xfrm>
          <a:prstGeom prst="ellipse">
            <a:avLst/>
          </a:prstGeom>
          <a:solidFill>
            <a:schemeClr val="accent1"/>
          </a:solidFill>
          <a:ln w="19050">
            <a:solidFill>
              <a:schemeClr val="bg1"/>
            </a:solidFill>
            <a:prstDash val="solid"/>
          </a:ln>
        </p:spPr>
      </p:sp>
      <p:sp>
        <p:nvSpPr>
          <p:cNvPr id="14" name="event 3"/>
          <p:cNvSpPr/>
          <p:nvPr/>
        </p:nvSpPr>
        <p:spPr>
          <a:xfrm>
            <a:off x="3064546" y="1371600"/>
            <a:ext cx="2286000" cy="1920240"/>
          </a:xfrm>
          <a:prstGeom prst="roundRect">
            <a:avLst>
              <a:gd name="adj" fmla="val 5714"/>
            </a:avLst>
          </a:prstGeom>
          <a:solidFill>
            <a:schemeClr val="bg2"/>
          </a:solidFill>
          <a:ln w="12700">
            <a:solidFill>
              <a:schemeClr val="bg2"/>
            </a:solidFill>
            <a:prstDash val="solid"/>
          </a:ln>
        </p:spPr>
      </p:sp>
      <p:sp>
        <p:nvSpPr>
          <p:cNvPr id="15" name="Text 13"/>
          <p:cNvSpPr txBox="1"/>
          <p:nvPr/>
        </p:nvSpPr>
        <p:spPr>
          <a:xfrm>
            <a:off x="3201706" y="148132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1526</a:t>
            </a:r>
            <a:endParaRPr lang="en-US" sz="1600" dirty="0"/>
          </a:p>
          <a:p>
            <a:pPr indent="0" marL="0">
              <a:buNone/>
            </a:pPr>
            <a:r>
              <a:rPr lang="en-US" sz="1700" dirty="0">
                <a:solidFill>
                  <a:schemeClr val="tx1"/>
                </a:solidFill>
              </a:rPr>
              <a:t>First Battle of Panipat: Babur defeats Ibrahim Lodi</a:t>
            </a:r>
            <a:endParaRPr lang="en-US" sz="1600" dirty="0"/>
          </a:p>
        </p:txBody>
      </p:sp>
      <p:sp>
        <p:nvSpPr>
          <p:cNvPr id="16" name="tick 4"/>
          <p:cNvSpPr/>
          <p:nvPr/>
        </p:nvSpPr>
        <p:spPr>
          <a:xfrm>
            <a:off x="5465499" y="3794760"/>
            <a:ext cx="0" cy="411480"/>
          </a:xfrm>
          <a:prstGeom prst="line">
            <a:avLst/>
          </a:prstGeom>
          <a:noFill/>
          <a:ln w="25400">
            <a:solidFill>
              <a:schemeClr val="accent3"/>
            </a:solidFill>
            <a:prstDash val="solid"/>
          </a:ln>
        </p:spPr>
      </p:sp>
      <p:sp>
        <p:nvSpPr>
          <p:cNvPr id="17" name="dot 4"/>
          <p:cNvSpPr/>
          <p:nvPr/>
        </p:nvSpPr>
        <p:spPr>
          <a:xfrm>
            <a:off x="5346627" y="3675888"/>
            <a:ext cx="237744" cy="237744"/>
          </a:xfrm>
          <a:prstGeom prst="ellipse">
            <a:avLst/>
          </a:prstGeom>
          <a:solidFill>
            <a:schemeClr val="accent1"/>
          </a:solidFill>
          <a:ln w="19050">
            <a:solidFill>
              <a:schemeClr val="bg1"/>
            </a:solidFill>
            <a:prstDash val="solid"/>
          </a:ln>
        </p:spPr>
      </p:sp>
      <p:sp>
        <p:nvSpPr>
          <p:cNvPr id="18" name="event 4"/>
          <p:cNvSpPr/>
          <p:nvPr/>
        </p:nvSpPr>
        <p:spPr>
          <a:xfrm>
            <a:off x="4322499" y="4206240"/>
            <a:ext cx="2286000" cy="1920240"/>
          </a:xfrm>
          <a:prstGeom prst="roundRect">
            <a:avLst>
              <a:gd name="adj" fmla="val 5714"/>
            </a:avLst>
          </a:prstGeom>
          <a:solidFill>
            <a:schemeClr val="bg2"/>
          </a:solidFill>
          <a:ln w="12700">
            <a:solidFill>
              <a:schemeClr val="bg2"/>
            </a:solidFill>
            <a:prstDash val="solid"/>
          </a:ln>
        </p:spPr>
      </p:sp>
      <p:sp>
        <p:nvSpPr>
          <p:cNvPr id="19" name="Text 17"/>
          <p:cNvSpPr txBox="1"/>
          <p:nvPr/>
        </p:nvSpPr>
        <p:spPr>
          <a:xfrm>
            <a:off x="4459659"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1527</a:t>
            </a:r>
            <a:endParaRPr lang="en-US" sz="1600" dirty="0"/>
          </a:p>
          <a:p>
            <a:pPr indent="0" marL="0">
              <a:buNone/>
            </a:pPr>
            <a:r>
              <a:rPr lang="en-US" sz="1700" dirty="0">
                <a:solidFill>
                  <a:schemeClr val="tx1"/>
                </a:solidFill>
              </a:rPr>
              <a:t>Battle of Khanua: Rana Sanga leads a Rajput confederacy</a:t>
            </a:r>
            <a:endParaRPr lang="en-US" sz="1600" dirty="0"/>
          </a:p>
        </p:txBody>
      </p:sp>
      <p:sp>
        <p:nvSpPr>
          <p:cNvPr id="20" name="tick 5"/>
          <p:cNvSpPr/>
          <p:nvPr/>
        </p:nvSpPr>
        <p:spPr>
          <a:xfrm>
            <a:off x="6723453" y="3291840"/>
            <a:ext cx="0" cy="502920"/>
          </a:xfrm>
          <a:prstGeom prst="line">
            <a:avLst/>
          </a:prstGeom>
          <a:noFill/>
          <a:ln w="25400">
            <a:solidFill>
              <a:schemeClr val="accent3"/>
            </a:solidFill>
            <a:prstDash val="solid"/>
          </a:ln>
        </p:spPr>
      </p:sp>
      <p:sp>
        <p:nvSpPr>
          <p:cNvPr id="21" name="dot 5"/>
          <p:cNvSpPr/>
          <p:nvPr/>
        </p:nvSpPr>
        <p:spPr>
          <a:xfrm>
            <a:off x="6604581" y="3675888"/>
            <a:ext cx="237744" cy="237744"/>
          </a:xfrm>
          <a:prstGeom prst="ellipse">
            <a:avLst/>
          </a:prstGeom>
          <a:solidFill>
            <a:schemeClr val="accent2"/>
          </a:solidFill>
          <a:ln w="19050">
            <a:solidFill>
              <a:schemeClr val="bg1"/>
            </a:solidFill>
            <a:prstDash val="solid"/>
          </a:ln>
        </p:spPr>
      </p:sp>
      <p:sp>
        <p:nvSpPr>
          <p:cNvPr id="22" name="event 5"/>
          <p:cNvSpPr/>
          <p:nvPr/>
        </p:nvSpPr>
        <p:spPr>
          <a:xfrm>
            <a:off x="5580453" y="1371600"/>
            <a:ext cx="2286000" cy="1920240"/>
          </a:xfrm>
          <a:prstGeom prst="roundRect">
            <a:avLst>
              <a:gd name="adj" fmla="val 5714"/>
            </a:avLst>
          </a:prstGeom>
          <a:solidFill>
            <a:schemeClr val="tx2"/>
          </a:solidFill>
          <a:ln w="12700">
            <a:solidFill>
              <a:schemeClr val="tx2"/>
            </a:solidFill>
            <a:prstDash val="solid"/>
          </a:ln>
        </p:spPr>
      </p:sp>
      <p:sp>
        <p:nvSpPr>
          <p:cNvPr id="23" name="Text 21"/>
          <p:cNvSpPr txBox="1"/>
          <p:nvPr/>
        </p:nvSpPr>
        <p:spPr>
          <a:xfrm>
            <a:off x="5717613"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1576</a:t>
            </a:r>
            <a:endParaRPr lang="en-US" sz="1600" dirty="0"/>
          </a:p>
          <a:p>
            <a:pPr indent="0" marL="0">
              <a:buNone/>
            </a:pPr>
            <a:r>
              <a:rPr lang="en-US" sz="1700" dirty="0">
                <a:solidFill>
                  <a:schemeClr val="bg1"/>
                </a:solidFill>
              </a:rPr>
              <a:t>Battle of Haldighati: Maharana Pratap</a:t>
            </a:r>
            <a:endParaRPr lang="en-US" sz="1600" dirty="0"/>
          </a:p>
        </p:txBody>
      </p:sp>
      <p:sp>
        <p:nvSpPr>
          <p:cNvPr id="24" name="tick 6"/>
          <p:cNvSpPr/>
          <p:nvPr/>
        </p:nvSpPr>
        <p:spPr>
          <a:xfrm>
            <a:off x="7981406" y="3794760"/>
            <a:ext cx="0" cy="411480"/>
          </a:xfrm>
          <a:prstGeom prst="line">
            <a:avLst/>
          </a:prstGeom>
          <a:noFill/>
          <a:ln w="25400">
            <a:solidFill>
              <a:schemeClr val="accent3"/>
            </a:solidFill>
            <a:prstDash val="solid"/>
          </a:ln>
        </p:spPr>
      </p:sp>
      <p:sp>
        <p:nvSpPr>
          <p:cNvPr id="25" name="dot 6"/>
          <p:cNvSpPr/>
          <p:nvPr/>
        </p:nvSpPr>
        <p:spPr>
          <a:xfrm>
            <a:off x="7862534" y="3675888"/>
            <a:ext cx="237744" cy="237744"/>
          </a:xfrm>
          <a:prstGeom prst="ellipse">
            <a:avLst/>
          </a:prstGeom>
          <a:solidFill>
            <a:schemeClr val="accent1"/>
          </a:solidFill>
          <a:ln w="19050">
            <a:solidFill>
              <a:schemeClr val="bg1"/>
            </a:solidFill>
            <a:prstDash val="solid"/>
          </a:ln>
        </p:spPr>
      </p:sp>
      <p:sp>
        <p:nvSpPr>
          <p:cNvPr id="26" name="event 6"/>
          <p:cNvSpPr/>
          <p:nvPr/>
        </p:nvSpPr>
        <p:spPr>
          <a:xfrm>
            <a:off x="6838406" y="4206240"/>
            <a:ext cx="2286000" cy="1920240"/>
          </a:xfrm>
          <a:prstGeom prst="roundRect">
            <a:avLst>
              <a:gd name="adj" fmla="val 5714"/>
            </a:avLst>
          </a:prstGeom>
          <a:solidFill>
            <a:schemeClr val="bg2"/>
          </a:solidFill>
          <a:ln w="12700">
            <a:solidFill>
              <a:schemeClr val="bg2"/>
            </a:solidFill>
            <a:prstDash val="solid"/>
          </a:ln>
        </p:spPr>
      </p:sp>
      <p:sp>
        <p:nvSpPr>
          <p:cNvPr id="27" name="Text 25"/>
          <p:cNvSpPr txBox="1"/>
          <p:nvPr/>
        </p:nvSpPr>
        <p:spPr>
          <a:xfrm>
            <a:off x="6975566"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1671</a:t>
            </a:r>
            <a:endParaRPr lang="en-US" sz="1600" dirty="0"/>
          </a:p>
          <a:p>
            <a:pPr indent="0" marL="0">
              <a:buNone/>
            </a:pPr>
            <a:r>
              <a:rPr lang="en-US" sz="1700" dirty="0">
                <a:solidFill>
                  <a:schemeClr val="tx1"/>
                </a:solidFill>
              </a:rPr>
              <a:t>Battle of Saraighat: Lachit Borphukan</a:t>
            </a:r>
            <a:endParaRPr lang="en-US" sz="1600" dirty="0"/>
          </a:p>
        </p:txBody>
      </p:sp>
      <p:sp>
        <p:nvSpPr>
          <p:cNvPr id="28" name="tick 7"/>
          <p:cNvSpPr/>
          <p:nvPr/>
        </p:nvSpPr>
        <p:spPr>
          <a:xfrm>
            <a:off x="9239359" y="3291840"/>
            <a:ext cx="0" cy="502920"/>
          </a:xfrm>
          <a:prstGeom prst="line">
            <a:avLst/>
          </a:prstGeom>
          <a:noFill/>
          <a:ln w="25400">
            <a:solidFill>
              <a:schemeClr val="accent3"/>
            </a:solidFill>
            <a:prstDash val="solid"/>
          </a:ln>
        </p:spPr>
      </p:sp>
      <p:sp>
        <p:nvSpPr>
          <p:cNvPr id="29" name="dot 7"/>
          <p:cNvSpPr/>
          <p:nvPr/>
        </p:nvSpPr>
        <p:spPr>
          <a:xfrm>
            <a:off x="9120487" y="3675888"/>
            <a:ext cx="237744" cy="237744"/>
          </a:xfrm>
          <a:prstGeom prst="ellipse">
            <a:avLst/>
          </a:prstGeom>
          <a:solidFill>
            <a:schemeClr val="accent2"/>
          </a:solidFill>
          <a:ln w="19050">
            <a:solidFill>
              <a:schemeClr val="bg1"/>
            </a:solidFill>
            <a:prstDash val="solid"/>
          </a:ln>
        </p:spPr>
      </p:sp>
      <p:sp>
        <p:nvSpPr>
          <p:cNvPr id="30" name="event 7"/>
          <p:cNvSpPr/>
          <p:nvPr/>
        </p:nvSpPr>
        <p:spPr>
          <a:xfrm>
            <a:off x="8096359" y="1371600"/>
            <a:ext cx="2286000" cy="1920240"/>
          </a:xfrm>
          <a:prstGeom prst="roundRect">
            <a:avLst>
              <a:gd name="adj" fmla="val 5714"/>
            </a:avLst>
          </a:prstGeom>
          <a:solidFill>
            <a:schemeClr val="tx2"/>
          </a:solidFill>
          <a:ln w="12700">
            <a:solidFill>
              <a:schemeClr val="tx2"/>
            </a:solidFill>
            <a:prstDash val="solid"/>
          </a:ln>
        </p:spPr>
      </p:sp>
      <p:sp>
        <p:nvSpPr>
          <p:cNvPr id="31" name="Text 29"/>
          <p:cNvSpPr txBox="1"/>
          <p:nvPr/>
        </p:nvSpPr>
        <p:spPr>
          <a:xfrm>
            <a:off x="8233519" y="1481328"/>
            <a:ext cx="2011680" cy="1700784"/>
          </a:xfrm>
          <a:prstGeom prst="rect">
            <a:avLst/>
          </a:prstGeom>
          <a:noFill/>
          <a:ln/>
        </p:spPr>
        <p:txBody>
          <a:bodyPr wrap="square" lIns="0" tIns="0" rIns="0" bIns="0" rtlCol="0" anchor="t"/>
          <a:lstStyle/>
          <a:p>
            <a:pPr indent="0" marL="0">
              <a:buNone/>
            </a:pPr>
            <a:r>
              <a:rPr lang="en-US" sz="2000" b="1" dirty="0">
                <a:solidFill>
                  <a:schemeClr val="accent3"/>
                </a:solidFill>
              </a:rPr>
              <a:t>1674</a:t>
            </a:r>
            <a:endParaRPr lang="en-US" sz="1600" dirty="0"/>
          </a:p>
          <a:p>
            <a:pPr indent="0" marL="0">
              <a:buNone/>
            </a:pPr>
            <a:r>
              <a:rPr lang="en-US" sz="1700" dirty="0">
                <a:solidFill>
                  <a:schemeClr val="bg1"/>
                </a:solidFill>
              </a:rPr>
              <a:t>Chhatrapati Shivaji crowned sovereign Maratha ruler</a:t>
            </a:r>
            <a:endParaRPr lang="en-US" sz="1600" dirty="0"/>
          </a:p>
        </p:txBody>
      </p:sp>
      <p:sp>
        <p:nvSpPr>
          <p:cNvPr id="32" name="tick 8"/>
          <p:cNvSpPr/>
          <p:nvPr/>
        </p:nvSpPr>
        <p:spPr>
          <a:xfrm>
            <a:off x="10497312" y="3794760"/>
            <a:ext cx="0" cy="411480"/>
          </a:xfrm>
          <a:prstGeom prst="line">
            <a:avLst/>
          </a:prstGeom>
          <a:noFill/>
          <a:ln w="25400">
            <a:solidFill>
              <a:schemeClr val="accent3"/>
            </a:solidFill>
            <a:prstDash val="solid"/>
          </a:ln>
        </p:spPr>
      </p:sp>
      <p:sp>
        <p:nvSpPr>
          <p:cNvPr id="33" name="dot 8"/>
          <p:cNvSpPr/>
          <p:nvPr/>
        </p:nvSpPr>
        <p:spPr>
          <a:xfrm>
            <a:off x="10378440" y="3675888"/>
            <a:ext cx="237744" cy="237744"/>
          </a:xfrm>
          <a:prstGeom prst="ellipse">
            <a:avLst/>
          </a:prstGeom>
          <a:solidFill>
            <a:schemeClr val="accent1"/>
          </a:solidFill>
          <a:ln w="19050">
            <a:solidFill>
              <a:schemeClr val="bg1"/>
            </a:solidFill>
            <a:prstDash val="solid"/>
          </a:ln>
        </p:spPr>
      </p:sp>
      <p:sp>
        <p:nvSpPr>
          <p:cNvPr id="34" name="event 8"/>
          <p:cNvSpPr/>
          <p:nvPr/>
        </p:nvSpPr>
        <p:spPr>
          <a:xfrm>
            <a:off x="9354312" y="4206240"/>
            <a:ext cx="2286000" cy="1920240"/>
          </a:xfrm>
          <a:prstGeom prst="roundRect">
            <a:avLst>
              <a:gd name="adj" fmla="val 5714"/>
            </a:avLst>
          </a:prstGeom>
          <a:solidFill>
            <a:schemeClr val="bg2"/>
          </a:solidFill>
          <a:ln w="12700">
            <a:solidFill>
              <a:schemeClr val="bg2"/>
            </a:solidFill>
            <a:prstDash val="solid"/>
          </a:ln>
        </p:spPr>
      </p:sp>
      <p:sp>
        <p:nvSpPr>
          <p:cNvPr id="35" name="Text 33"/>
          <p:cNvSpPr txBox="1"/>
          <p:nvPr/>
        </p:nvSpPr>
        <p:spPr>
          <a:xfrm>
            <a:off x="9491472" y="4315968"/>
            <a:ext cx="2011680" cy="1700784"/>
          </a:xfrm>
          <a:prstGeom prst="rect">
            <a:avLst/>
          </a:prstGeom>
          <a:noFill/>
          <a:ln/>
        </p:spPr>
        <p:txBody>
          <a:bodyPr wrap="square" lIns="0" tIns="0" rIns="0" bIns="0" rtlCol="0" anchor="t"/>
          <a:lstStyle/>
          <a:p>
            <a:pPr indent="0" marL="0">
              <a:buNone/>
            </a:pPr>
            <a:r>
              <a:rPr lang="en-US" sz="2000" b="1" dirty="0">
                <a:solidFill>
                  <a:schemeClr val="accent1"/>
                </a:solidFill>
              </a:rPr>
              <a:t>1699</a:t>
            </a:r>
            <a:endParaRPr lang="en-US" sz="1600" dirty="0"/>
          </a:p>
          <a:p>
            <a:pPr indent="0" marL="0">
              <a:buNone/>
            </a:pPr>
            <a:r>
              <a:rPr lang="en-US" sz="1700" dirty="0">
                <a:solidFill>
                  <a:schemeClr val="tx1"/>
                </a:solidFill>
              </a:rPr>
              <a:t>Guru Gobind Singh establishes the Khalsa</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Rajputs and Mughals: Resist or Negotiate?</a:t>
            </a:r>
            <a:endParaRPr lang="en-US" sz="3600" dirty="0"/>
          </a:p>
        </p:txBody>
      </p:sp>
      <p:sp>
        <p:nvSpPr>
          <p:cNvPr id="3" name="Text 1"/>
          <p:cNvSpPr txBox="1"/>
          <p:nvPr/>
        </p:nvSpPr>
        <p:spPr>
          <a:xfrm>
            <a:off x="548640" y="1280160"/>
            <a:ext cx="11064240" cy="594360"/>
          </a:xfrm>
          <a:prstGeom prst="rect">
            <a:avLst/>
          </a:prstGeom>
          <a:noFill/>
          <a:ln/>
        </p:spPr>
        <p:txBody>
          <a:bodyPr wrap="square" lIns="0" tIns="0" rIns="0" bIns="0" rtlCol="0" anchor="ctr"/>
          <a:lstStyle/>
          <a:p>
            <a:pPr indent="0" marL="0">
              <a:buNone/>
            </a:pPr>
            <a:r>
              <a:rPr lang="en-US" sz="1700" dirty="0">
                <a:solidFill>
                  <a:schemeClr val="tx1"/>
                </a:solidFill>
              </a:rPr>
              <a:t>After </a:t>
            </a:r>
            <a:r>
              <a:rPr lang="en-US" sz="1700" b="1" dirty="0">
                <a:solidFill>
                  <a:schemeClr val="tx1"/>
                </a:solidFill>
              </a:rPr>
              <a:t>Panipat (1526)</a:t>
            </a:r>
            <a:r>
              <a:rPr lang="en-US" sz="1700" dirty="0">
                <a:solidFill>
                  <a:schemeClr val="tx1"/>
                </a:solidFill>
              </a:rPr>
              <a:t>, Rana Sanga of Mewar led a Rajput confederacy against Babur at </a:t>
            </a:r>
            <a:r>
              <a:rPr lang="en-US" sz="1700" b="1" dirty="0">
                <a:solidFill>
                  <a:schemeClr val="tx1"/>
                </a:solidFill>
              </a:rPr>
              <a:t>Khanua (1527)</a:t>
            </a:r>
            <a:r>
              <a:rPr lang="en-US" sz="1700" dirty="0">
                <a:solidFill>
                  <a:schemeClr val="tx1"/>
                </a:solidFill>
              </a:rPr>
              <a:t>. Babur won.</a:t>
            </a:r>
            <a:endParaRPr lang="en-US" sz="1600" dirty="0"/>
          </a:p>
        </p:txBody>
      </p:sp>
      <p:sp>
        <p:nvSpPr>
          <p:cNvPr id="4" name="Resist: Mewar header"/>
          <p:cNvSpPr/>
          <p:nvPr/>
        </p:nvSpPr>
        <p:spPr>
          <a:xfrm>
            <a:off x="548640" y="2011680"/>
            <a:ext cx="5257800" cy="777240"/>
          </a:xfrm>
          <a:prstGeom prst="roundRect">
            <a:avLst>
              <a:gd name="adj" fmla="val 14118"/>
            </a:avLst>
          </a:prstGeom>
          <a:solidFill>
            <a:schemeClr val="accent1"/>
          </a:solidFill>
          <a:ln w="12700">
            <a:solidFill>
              <a:schemeClr val="accent1"/>
            </a:solidFill>
            <a:prstDash val="solid"/>
          </a:ln>
        </p:spPr>
      </p:sp>
      <p:pic>
        <p:nvPicPr>
          <p:cNvPr id="5" name="Resist: Mewar icon" descr="preencoded.png">    </p:cNvPr>
          <p:cNvPicPr>
            <a:picLocks noChangeAspect="1"/>
          </p:cNvPicPr>
          <p:nvPr/>
        </p:nvPicPr>
        <p:blipFill>
          <a:blip r:embed="rId1"/>
          <a:stretch>
            <a:fillRect/>
          </a:stretch>
        </p:blipFill>
        <p:spPr>
          <a:xfrm>
            <a:off x="777240" y="2148840"/>
            <a:ext cx="502920" cy="502920"/>
          </a:xfrm>
          <a:prstGeom prst="rect">
            <a:avLst/>
          </a:prstGeom>
        </p:spPr>
      </p:pic>
      <p:sp>
        <p:nvSpPr>
          <p:cNvPr id="6" name="Text 3"/>
          <p:cNvSpPr txBox="1"/>
          <p:nvPr/>
        </p:nvSpPr>
        <p:spPr>
          <a:xfrm>
            <a:off x="146304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Resist: Mewar</a:t>
            </a:r>
            <a:endParaRPr lang="en-US" sz="2200" dirty="0"/>
          </a:p>
        </p:txBody>
      </p:sp>
      <p:sp>
        <p:nvSpPr>
          <p:cNvPr id="7" name="Resist: Mewar body"/>
          <p:cNvSpPr/>
          <p:nvPr/>
        </p:nvSpPr>
        <p:spPr>
          <a:xfrm>
            <a:off x="548640" y="2880360"/>
            <a:ext cx="5257800" cy="2743200"/>
          </a:xfrm>
          <a:prstGeom prst="roundRect">
            <a:avLst>
              <a:gd name="adj" fmla="val 4000"/>
            </a:avLst>
          </a:prstGeom>
          <a:solidFill>
            <a:schemeClr val="bg2"/>
          </a:solidFill>
          <a:ln w="12700">
            <a:solidFill>
              <a:schemeClr val="bg2"/>
            </a:solidFill>
            <a:prstDash val="solid"/>
          </a:ln>
        </p:spPr>
      </p:sp>
      <p:sp>
        <p:nvSpPr>
          <p:cNvPr id="8" name="Text 5"/>
          <p:cNvSpPr txBox="1"/>
          <p:nvPr/>
        </p:nvSpPr>
        <p:spPr>
          <a:xfrm>
            <a:off x="82296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Kept up </a:t>
            </a:r>
            <a:r>
              <a:rPr lang="en-US" sz="2000" b="1" dirty="0">
                <a:solidFill>
                  <a:schemeClr val="tx1"/>
                </a:solidFill>
              </a:rPr>
              <a:t>stiff resistance</a:t>
            </a:r>
            <a:r>
              <a:rPr lang="en-US" sz="2000" dirty="0">
                <a:solidFill>
                  <a:schemeClr val="tx1"/>
                </a:solidFill>
              </a:rPr>
              <a:t> to Mughal authority</a:t>
            </a:r>
            <a:endParaRPr lang="en-US" sz="1600" dirty="0"/>
          </a:p>
          <a:p>
            <a:pPr marL="228600" indent="-228600">
              <a:spcAft>
                <a:spcPts val="800"/>
              </a:spcAft>
              <a:buSzPct val="100000"/>
              <a:buChar char="•"/>
            </a:pPr>
            <a:r>
              <a:rPr lang="en-US" sz="2000" dirty="0">
                <a:solidFill>
                  <a:schemeClr val="tx1"/>
                </a:solidFill>
              </a:rPr>
              <a:t>Rana Udai Singh, Maharana Pratap and Amar Singh</a:t>
            </a:r>
            <a:endParaRPr lang="en-US" sz="1600" dirty="0"/>
          </a:p>
          <a:p>
            <a:pPr marL="228600" indent="-228600">
              <a:spcAft>
                <a:spcPts val="800"/>
              </a:spcAft>
              <a:buSzPct val="100000"/>
              <a:buChar char="•"/>
            </a:pPr>
            <a:r>
              <a:rPr lang="en-US" sz="2000" dirty="0">
                <a:solidFill>
                  <a:schemeClr val="tx1"/>
                </a:solidFill>
              </a:rPr>
              <a:t>Used terrain, forts and guerrilla tactics</a:t>
            </a:r>
            <a:endParaRPr lang="en-US" sz="1600" dirty="0"/>
          </a:p>
        </p:txBody>
      </p:sp>
      <p:sp>
        <p:nvSpPr>
          <p:cNvPr id="9" name="Negotiate: Amber header"/>
          <p:cNvSpPr/>
          <p:nvPr/>
        </p:nvSpPr>
        <p:spPr>
          <a:xfrm>
            <a:off x="6355080" y="2011680"/>
            <a:ext cx="5257800" cy="777240"/>
          </a:xfrm>
          <a:prstGeom prst="roundRect">
            <a:avLst>
              <a:gd name="adj" fmla="val 14118"/>
            </a:avLst>
          </a:prstGeom>
          <a:solidFill>
            <a:schemeClr val="accent2"/>
          </a:solidFill>
          <a:ln w="12700">
            <a:solidFill>
              <a:schemeClr val="accent2"/>
            </a:solidFill>
            <a:prstDash val="solid"/>
          </a:ln>
        </p:spPr>
      </p:sp>
      <p:pic>
        <p:nvPicPr>
          <p:cNvPr id="10" name="Negotiate: Amber icon" descr="preencoded.png">    </p:cNvPr>
          <p:cNvPicPr>
            <a:picLocks noChangeAspect="1"/>
          </p:cNvPicPr>
          <p:nvPr/>
        </p:nvPicPr>
        <p:blipFill>
          <a:blip r:embed="rId2"/>
          <a:stretch>
            <a:fillRect/>
          </a:stretch>
        </p:blipFill>
        <p:spPr>
          <a:xfrm>
            <a:off x="6583680" y="2148840"/>
            <a:ext cx="502920" cy="502920"/>
          </a:xfrm>
          <a:prstGeom prst="rect">
            <a:avLst/>
          </a:prstGeom>
        </p:spPr>
      </p:pic>
      <p:sp>
        <p:nvSpPr>
          <p:cNvPr id="11" name="Text 7"/>
          <p:cNvSpPr txBox="1"/>
          <p:nvPr/>
        </p:nvSpPr>
        <p:spPr>
          <a:xfrm>
            <a:off x="7269480" y="201168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Negotiate: Amber</a:t>
            </a:r>
            <a:endParaRPr lang="en-US" sz="2200" dirty="0"/>
          </a:p>
        </p:txBody>
      </p:sp>
      <p:sp>
        <p:nvSpPr>
          <p:cNvPr id="12" name="Negotiate: Amber body"/>
          <p:cNvSpPr/>
          <p:nvPr/>
        </p:nvSpPr>
        <p:spPr>
          <a:xfrm>
            <a:off x="6355080" y="2880360"/>
            <a:ext cx="5257800" cy="2743200"/>
          </a:xfrm>
          <a:prstGeom prst="roundRect">
            <a:avLst>
              <a:gd name="adj" fmla="val 4000"/>
            </a:avLst>
          </a:prstGeom>
          <a:solidFill>
            <a:schemeClr val="bg2"/>
          </a:solidFill>
          <a:ln w="12700">
            <a:solidFill>
              <a:schemeClr val="bg2"/>
            </a:solidFill>
            <a:prstDash val="solid"/>
          </a:ln>
        </p:spPr>
      </p:sp>
      <p:sp>
        <p:nvSpPr>
          <p:cNvPr id="13" name="Text 9"/>
          <p:cNvSpPr txBox="1"/>
          <p:nvPr/>
        </p:nvSpPr>
        <p:spPr>
          <a:xfrm>
            <a:off x="6629400" y="3063240"/>
            <a:ext cx="4709160" cy="237744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The </a:t>
            </a:r>
            <a:r>
              <a:rPr lang="en-US" sz="2000" b="1" dirty="0">
                <a:solidFill>
                  <a:schemeClr val="tx1"/>
                </a:solidFill>
              </a:rPr>
              <a:t>Kachhwahas of Amber</a:t>
            </a:r>
            <a:r>
              <a:rPr lang="en-US" sz="2000" dirty="0">
                <a:solidFill>
                  <a:schemeClr val="tx1"/>
                </a:solidFill>
              </a:rPr>
              <a:t> chose cooperation</a:t>
            </a:r>
            <a:endParaRPr lang="en-US" sz="1600" dirty="0"/>
          </a:p>
          <a:p>
            <a:pPr marL="228600" indent="-228600">
              <a:spcAft>
                <a:spcPts val="800"/>
              </a:spcAft>
              <a:buSzPct val="100000"/>
              <a:buChar char="•"/>
            </a:pPr>
            <a:r>
              <a:rPr lang="en-US" sz="2000" dirty="0">
                <a:solidFill>
                  <a:schemeClr val="tx1"/>
                </a:solidFill>
              </a:rPr>
              <a:t>Mughals needed Rajput </a:t>
            </a:r>
            <a:r>
              <a:rPr lang="en-US" sz="2000" b="1" dirty="0">
                <a:solidFill>
                  <a:schemeClr val="tx1"/>
                </a:solidFill>
              </a:rPr>
              <a:t>military might, loyalty and administrative strength</a:t>
            </a:r>
            <a:endParaRPr lang="en-US" sz="1600" dirty="0"/>
          </a:p>
          <a:p>
            <a:pPr marL="228600" indent="-228600">
              <a:spcAft>
                <a:spcPts val="800"/>
              </a:spcAft>
              <a:buSzPct val="100000"/>
              <a:buChar char="•"/>
            </a:pPr>
            <a:r>
              <a:rPr lang="en-US" sz="2000" dirty="0">
                <a:solidFill>
                  <a:schemeClr val="tx1"/>
                </a:solidFill>
              </a:rPr>
              <a:t>Rajputs were given </a:t>
            </a:r>
            <a:r>
              <a:rPr lang="en-US" sz="2000" b="1" dirty="0">
                <a:solidFill>
                  <a:schemeClr val="tx1"/>
                </a:solidFill>
              </a:rPr>
              <a:t>mansabs</a:t>
            </a:r>
            <a:r>
              <a:rPr lang="en-US" sz="2000" dirty="0">
                <a:solidFill>
                  <a:schemeClr val="tx1"/>
                </a:solidFill>
              </a:rPr>
              <a:t> (ranks)</a:t>
            </a:r>
            <a:endParaRPr lang="en-US" sz="1600" dirty="0"/>
          </a:p>
        </p:txBody>
      </p:sp>
      <p:sp>
        <p:nvSpPr>
          <p:cNvPr id="14" name="vs badge"/>
          <p:cNvSpPr/>
          <p:nvPr/>
        </p:nvSpPr>
        <p:spPr>
          <a:xfrm>
            <a:off x="5733288" y="2057400"/>
            <a:ext cx="713232" cy="713232"/>
          </a:xfrm>
          <a:prstGeom prst="ellipse">
            <a:avLst/>
          </a:prstGeom>
          <a:solidFill>
            <a:schemeClr val="accent3"/>
          </a:solidFill>
          <a:ln w="25400">
            <a:solidFill>
              <a:schemeClr val="bg1"/>
            </a:solidFill>
            <a:prstDash val="solid"/>
          </a:ln>
        </p:spPr>
      </p:sp>
      <p:sp>
        <p:nvSpPr>
          <p:cNvPr id="15" name="Text 11"/>
          <p:cNvSpPr txBox="1"/>
          <p:nvPr/>
        </p:nvSpPr>
        <p:spPr>
          <a:xfrm>
            <a:off x="5733288" y="205740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VS</a:t>
            </a:r>
            <a:endParaRPr lang="en-US" sz="1600" dirty="0"/>
          </a:p>
        </p:txBody>
      </p:sp>
      <p:sp>
        <p:nvSpPr>
          <p:cNvPr id="16"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7" name="Text 13"/>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Mansabdari system (Akbar):</a:t>
            </a:r>
            <a:r>
              <a:rPr lang="en-US" sz="1500" dirty="0">
                <a:solidFill>
                  <a:schemeClr val="bg1"/>
                </a:solidFill>
              </a:rPr>
              <a:t> ranks combining military and civil duties; it strengthened imperial control.</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Mewar Never Bowed</a:t>
            </a:r>
            <a:endParaRPr lang="en-US" sz="3600" dirty="0"/>
          </a:p>
        </p:txBody>
      </p:sp>
      <p:sp>
        <p:nvSpPr>
          <p:cNvPr id="3" name="step 1 card"/>
          <p:cNvSpPr/>
          <p:nvPr/>
        </p:nvSpPr>
        <p:spPr>
          <a:xfrm>
            <a:off x="548640" y="1417320"/>
            <a:ext cx="1883664" cy="416052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Siege of Chittor</a:t>
            </a:r>
            <a:endParaRPr lang="en-US" sz="1700" dirty="0"/>
          </a:p>
        </p:txBody>
      </p:sp>
      <p:sp>
        <p:nvSpPr>
          <p:cNvPr id="7" name="Text 4"/>
          <p:cNvSpPr txBox="1"/>
          <p:nvPr/>
        </p:nvSpPr>
        <p:spPr>
          <a:xfrm>
            <a:off x="731520"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1567–68: Rana Udai Singh's forces resisted Akbar for over 5 months, then retreated to the Aravalli Hills.</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16052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Haldighati, 1576</a:t>
            </a:r>
            <a:endParaRPr lang="en-US" sz="1700" dirty="0"/>
          </a:p>
        </p:txBody>
      </p:sp>
      <p:sp>
        <p:nvSpPr>
          <p:cNvPr id="13" name="Text 9"/>
          <p:cNvSpPr txBox="1"/>
          <p:nvPr/>
        </p:nvSpPr>
        <p:spPr>
          <a:xfrm>
            <a:off x="3026664"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Maharana Pratap fought the Mughals, then switched to </a:t>
            </a:r>
            <a:r>
              <a:rPr lang="en-US" sz="1500" b="1" dirty="0">
                <a:solidFill>
                  <a:schemeClr val="tx1"/>
                </a:solidFill>
              </a:rPr>
              <a:t>guerrilla warfare</a:t>
            </a:r>
            <a:r>
              <a:rPr lang="en-US" sz="1500" dirty="0">
                <a:solidFill>
                  <a:schemeClr val="tx1"/>
                </a:solidFill>
              </a:rPr>
              <a:t>.</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16052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Dewair, 1582</a:t>
            </a:r>
            <a:endParaRPr lang="en-US" sz="1700" dirty="0"/>
          </a:p>
        </p:txBody>
      </p:sp>
      <p:sp>
        <p:nvSpPr>
          <p:cNvPr id="19" name="Text 14"/>
          <p:cNvSpPr txBox="1"/>
          <p:nvPr/>
        </p:nvSpPr>
        <p:spPr>
          <a:xfrm>
            <a:off x="5321808"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Key Mughal outposts collapsed; Pratap won back most of Mewar.</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16052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Amar Singh</a:t>
            </a:r>
            <a:endParaRPr lang="en-US" sz="1700" dirty="0"/>
          </a:p>
        </p:txBody>
      </p:sp>
      <p:sp>
        <p:nvSpPr>
          <p:cNvPr id="25" name="Text 19"/>
          <p:cNvSpPr txBox="1"/>
          <p:nvPr/>
        </p:nvSpPr>
        <p:spPr>
          <a:xfrm>
            <a:off x="7616952"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1605–09: repelled Jahangir's attacks in 1605, 1608 and 1609.</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16052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The treaty</a:t>
            </a:r>
            <a:endParaRPr lang="en-US" sz="1700" dirty="0"/>
          </a:p>
        </p:txBody>
      </p:sp>
      <p:sp>
        <p:nvSpPr>
          <p:cNvPr id="31" name="Text 24"/>
          <p:cNvSpPr txBox="1"/>
          <p:nvPr/>
        </p:nvSpPr>
        <p:spPr>
          <a:xfrm>
            <a:off x="9912096" y="3305739"/>
            <a:ext cx="1517904" cy="2134941"/>
          </a:xfrm>
          <a:prstGeom prst="rect">
            <a:avLst/>
          </a:prstGeom>
          <a:noFill/>
          <a:ln/>
        </p:spPr>
        <p:txBody>
          <a:bodyPr wrap="square" lIns="0" tIns="0" rIns="0" bIns="0" rtlCol="0" anchor="t"/>
          <a:lstStyle/>
          <a:p>
            <a:pPr algn="l" indent="0" marL="0">
              <a:buNone/>
            </a:pPr>
            <a:r>
              <a:rPr lang="en-US" sz="1500" dirty="0">
                <a:solidFill>
                  <a:schemeClr val="tx1"/>
                </a:solidFill>
              </a:rPr>
              <a:t>Mewar's rulers were </a:t>
            </a:r>
            <a:r>
              <a:rPr lang="en-US" sz="1500" b="1" dirty="0">
                <a:solidFill>
                  <a:schemeClr val="tx1"/>
                </a:solidFill>
              </a:rPr>
              <a:t>exempted from attending the Mughal court</a:t>
            </a:r>
            <a:r>
              <a:rPr lang="en-US" sz="1500" dirty="0">
                <a:solidFill>
                  <a:schemeClr val="tx1"/>
                </a:solidFill>
              </a:rPr>
              <a:t>: autonomy accepted.</a:t>
            </a:r>
            <a:endParaRPr lang="en-US" sz="1600" dirty="0"/>
          </a:p>
        </p:txBody>
      </p:sp>
      <p:sp>
        <p:nvSpPr>
          <p:cNvPr id="32" name="footnote band"/>
          <p:cNvSpPr/>
          <p:nvPr/>
        </p:nvSpPr>
        <p:spPr>
          <a:xfrm>
            <a:off x="548640" y="5715000"/>
            <a:ext cx="11064240" cy="548640"/>
          </a:xfrm>
          <a:prstGeom prst="roundRect">
            <a:avLst>
              <a:gd name="adj" fmla="val 13333"/>
            </a:avLst>
          </a:prstGeom>
          <a:solidFill>
            <a:schemeClr val="tx2"/>
          </a:solidFill>
          <a:ln w="12700">
            <a:solidFill>
              <a:schemeClr val="tx2"/>
            </a:solidFill>
            <a:prstDash val="solid"/>
          </a:ln>
        </p:spPr>
      </p:sp>
      <p:sp>
        <p:nvSpPr>
          <p:cNvPr id="33" name="Text 26"/>
          <p:cNvSpPr txBox="1"/>
          <p:nvPr/>
        </p:nvSpPr>
        <p:spPr>
          <a:xfrm>
            <a:off x="777240" y="5715000"/>
            <a:ext cx="10607040" cy="548640"/>
          </a:xfrm>
          <a:prstGeom prst="rect">
            <a:avLst/>
          </a:prstGeom>
          <a:noFill/>
          <a:ln/>
        </p:spPr>
        <p:txBody>
          <a:bodyPr wrap="square" lIns="0" tIns="0" rIns="0" bIns="0" rtlCol="0" anchor="ctr"/>
          <a:lstStyle/>
          <a:p>
            <a:pPr indent="0" marL="0">
              <a:buNone/>
            </a:pPr>
            <a:r>
              <a:rPr lang="en-US" sz="1500" dirty="0">
                <a:solidFill>
                  <a:schemeClr val="bg1"/>
                </a:solidFill>
              </a:rPr>
              <a:t>The </a:t>
            </a:r>
            <a:r>
              <a:rPr lang="en-US" sz="1500" b="1" dirty="0">
                <a:solidFill>
                  <a:schemeClr val="bg1"/>
                </a:solidFill>
              </a:rPr>
              <a:t>Bhils</a:t>
            </a:r>
            <a:r>
              <a:rPr lang="en-US" sz="1500" dirty="0">
                <a:solidFill>
                  <a:schemeClr val="bg1"/>
                </a:solidFill>
              </a:rPr>
              <a:t> gave crucial support: Mewar's coat of arms shows a Rajput and a Bhil warrior with Eklingji at the centre.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Source Detective: A Poet's Tribute</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SOURCE DETECTIVE</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"O Pratap, you kept your horses unbranded, your head unbowed, your fame untarnished. You were strong enough to carry on your work against heavy odds. You never participated in the Nauroz festival, nor did you mount guard for the imperial presence during Jharokha Darshan."</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Dursa Arha, poet (as given in the textbook, Fig. 3.6)</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Identify </a:t>
            </a:r>
            <a:r>
              <a:rPr lang="en-US" sz="1600" b="1" dirty="0">
                <a:solidFill>
                  <a:schemeClr val="tx1"/>
                </a:solidFill>
              </a:rPr>
              <a:t>two actions</a:t>
            </a:r>
            <a:r>
              <a:rPr lang="en-US" sz="1600" dirty="0">
                <a:solidFill>
                  <a:schemeClr val="tx1"/>
                </a:solidFill>
              </a:rPr>
              <a:t> that show Pratap kept his independence from the Mughal court.</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does an 'unbranded horse' symbolise?</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might a poet write such lines after the ruler's death?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Ahoms: Six Centuries of Freedom</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1228–1826</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The Ahom kingdom of Assam stayed independent for almost </a:t>
            </a:r>
            <a:r>
              <a:rPr lang="en-US" sz="1700" b="1" dirty="0">
                <a:solidFill>
                  <a:schemeClr val="tx1"/>
                </a:solidFill>
              </a:rPr>
              <a:t>six centuries</a:t>
            </a:r>
            <a:r>
              <a:rPr lang="en-US" sz="1700" dirty="0">
                <a:solidFill>
                  <a:schemeClr val="tx1"/>
                </a:solidFill>
              </a:rPr>
              <a:t>.</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Know your land</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Ahom commanders knew Assam's </a:t>
            </a:r>
            <a:r>
              <a:rPr lang="en-US" sz="1700" b="1" dirty="0">
                <a:solidFill>
                  <a:schemeClr val="tx1"/>
                </a:solidFill>
              </a:rPr>
              <a:t>forests, rivers and monsoons</a:t>
            </a:r>
            <a:r>
              <a:rPr lang="en-US" sz="1700" dirty="0">
                <a:solidFill>
                  <a:schemeClr val="tx1"/>
                </a:solidFill>
              </a:rPr>
              <a:t>; invaders did not.</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Bouncing back</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1615–16: lost land recovered. 1662: Mir Jumla took Garhgaon, but King Jayadhvaj Singha </a:t>
            </a:r>
            <a:r>
              <a:rPr lang="en-US" sz="1700" b="1" dirty="0">
                <a:solidFill>
                  <a:schemeClr val="tx1"/>
                </a:solidFill>
              </a:rPr>
              <a:t>renounced the treaty</a:t>
            </a:r>
            <a:r>
              <a:rPr lang="en-US" sz="1700" dirty="0">
                <a:solidFill>
                  <a:schemeClr val="tx1"/>
                </a:solidFill>
              </a:rPr>
              <a:t>.</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Saraighat, 1671</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b="1" dirty="0">
                <a:solidFill>
                  <a:schemeClr val="tx1"/>
                </a:solidFill>
              </a:rPr>
              <a:t>Lachit Borphukan</a:t>
            </a:r>
            <a:r>
              <a:rPr lang="en-US" sz="1700" dirty="0">
                <a:solidFill>
                  <a:schemeClr val="tx1"/>
                </a:solidFill>
              </a:rPr>
              <a:t> defeated a Mughal fleet; the Brahmaputra became a firm boundary.</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River navy</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Light, fast </a:t>
            </a:r>
            <a:r>
              <a:rPr lang="en-US" sz="1700" b="1" dirty="0">
                <a:solidFill>
                  <a:schemeClr val="tx1"/>
                </a:solidFill>
              </a:rPr>
              <a:t>bachari</a:t>
            </a:r>
            <a:r>
              <a:rPr lang="en-US" sz="1700" dirty="0">
                <a:solidFill>
                  <a:schemeClr val="tx1"/>
                </a:solidFill>
              </a:rPr>
              <a:t> boats built for river warfare beat the Mughal fleets.</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Paik system</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A military-administrative system, plus alliances and </a:t>
            </a:r>
            <a:r>
              <a:rPr lang="en-US" sz="1700" b="1" dirty="0">
                <a:solidFill>
                  <a:schemeClr val="tx1"/>
                </a:solidFill>
              </a:rPr>
              <a:t>guerrilla tactics</a:t>
            </a:r>
            <a:r>
              <a:rPr lang="en-US" sz="17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Vijayanagara: The City of Victory</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Founded 1336</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By </a:t>
            </a:r>
            <a:r>
              <a:rPr lang="en-US" sz="1800" b="1" dirty="0">
                <a:solidFill>
                  <a:schemeClr val="tx1"/>
                </a:solidFill>
              </a:rPr>
              <a:t>Harihara and Bukka</a:t>
            </a:r>
            <a:r>
              <a:rPr lang="en-US" sz="1800" dirty="0">
                <a:solidFill>
                  <a:schemeClr val="tx1"/>
                </a:solidFill>
              </a:rPr>
              <a:t> near present-day Hampi, to check the Sultanate in the south.</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Natural fortress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 formidable river and rugged, rocky land gave strong natural defence.</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Kumara Kampana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Ended the </a:t>
            </a:r>
            <a:r>
              <a:rPr lang="en-US" sz="1800" b="1" dirty="0">
                <a:solidFill>
                  <a:schemeClr val="tx1"/>
                </a:solidFill>
              </a:rPr>
              <a:t>Madurai Sultanate</a:t>
            </a:r>
            <a:r>
              <a:rPr lang="en-US" sz="1800" dirty="0">
                <a:solidFill>
                  <a:schemeClr val="tx1"/>
                </a:solidFill>
              </a:rPr>
              <a:t> and restored temples at Kanchipuram and Srirangam.</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Krishnadevaraya</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Empire at its peak in the 16th century; grants to Tirupati and the Vitthala temple.</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Culture flourished</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Literature in </a:t>
            </a:r>
            <a:r>
              <a:rPr lang="en-US" sz="1800" b="1" dirty="0">
                <a:solidFill>
                  <a:schemeClr val="tx1"/>
                </a:solidFill>
              </a:rPr>
              <a:t>Kannada, Telugu, Tamil and Sanskrit</a:t>
            </a:r>
            <a:r>
              <a:rPr lang="en-US" sz="1800" dirty="0">
                <a:solidFill>
                  <a:schemeClr val="tx1"/>
                </a:solidFill>
              </a:rPr>
              <a:t>; a hub of trade and power.</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The slipper story</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Muthu Virappa Nayak III put his foot in the Mughal slipper and asked: </a:t>
            </a:r>
            <a:r>
              <a:rPr lang="en-US" sz="1800" b="1" dirty="0">
                <a:solidFill>
                  <a:schemeClr val="tx1"/>
                </a:solidFill>
              </a:rPr>
              <a:t>where is the pair?</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Marathas: The Quest for Swarajya</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Swarajya</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Self-rule free from outside control. </a:t>
            </a:r>
            <a:r>
              <a:rPr lang="en-US" sz="1800" b="1" dirty="0">
                <a:solidFill>
                  <a:schemeClr val="tx1"/>
                </a:solidFill>
              </a:rPr>
              <a:t>Chhatrapati Shivaji</a:t>
            </a:r>
            <a:r>
              <a:rPr lang="en-US" sz="1800" dirty="0">
                <a:solidFill>
                  <a:schemeClr val="tx1"/>
                </a:solidFill>
              </a:rPr>
              <a:t>, crowned in 1674, was an early champion.</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Wearing down an empire</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Aurangzeb spent </a:t>
            </a:r>
            <a:r>
              <a:rPr lang="en-US" sz="1800" b="1" dirty="0">
                <a:solidFill>
                  <a:schemeClr val="tx1"/>
                </a:solidFill>
              </a:rPr>
              <a:t>over two decades</a:t>
            </a:r>
            <a:r>
              <a:rPr lang="en-US" sz="1800" dirty="0">
                <a:solidFill>
                  <a:schemeClr val="tx1"/>
                </a:solidFill>
              </a:rPr>
              <a:t> in the Deccan trying to defeat the Marathas.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Forts as power bases</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Raigad, Sinhagad and more: bases for </a:t>
            </a:r>
            <a:r>
              <a:rPr lang="en-US" sz="1800" b="1" dirty="0">
                <a:solidFill>
                  <a:schemeClr val="tx1"/>
                </a:solidFill>
              </a:rPr>
              <a:t>guerrilla raids</a:t>
            </a:r>
            <a:r>
              <a:rPr lang="en-US" sz="1800" dirty="0">
                <a:solidFill>
                  <a:schemeClr val="tx1"/>
                </a:solidFill>
              </a:rPr>
              <a:t> and safe retreats.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Built to last</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Water sources, armouries and strong walls helped forts survive long sieges.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More than defence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Forts were also centres of administration and justice; some were </a:t>
            </a:r>
            <a:r>
              <a:rPr lang="en-US" sz="1800" b="1" dirty="0">
                <a:solidFill>
                  <a:schemeClr val="tx1"/>
                </a:solidFill>
              </a:rPr>
              <a:t>fallback capitals</a:t>
            </a:r>
            <a:r>
              <a:rPr lang="en-US" sz="1800" dirty="0">
                <a:solidFill>
                  <a:schemeClr val="tx1"/>
                </a:solidFill>
              </a:rPr>
              <a:t>.</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Gingee (Senji) Fort</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A marvel of military engineering in Tamil Nadu; a </a:t>
            </a:r>
            <a:r>
              <a:rPr lang="en-US" sz="1800" b="1" dirty="0">
                <a:solidFill>
                  <a:schemeClr val="tx1"/>
                </a:solidFill>
              </a:rPr>
              <a:t>UNESCO World Heritage Site</a:t>
            </a:r>
            <a:r>
              <a:rPr lang="en-US" sz="1800" dirty="0">
                <a:solidFill>
                  <a:schemeClr val="tx1"/>
                </a:solidFill>
              </a:rPr>
              <a:t> (2025).</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The Sikhs: Spiritual and Political Resilience</a:t>
            </a:r>
            <a:endParaRPr lang="en-US" sz="3600" dirty="0"/>
          </a:p>
        </p:txBody>
      </p:sp>
      <p:sp>
        <p:nvSpPr>
          <p:cNvPr id="3" name="step 1 card"/>
          <p:cNvSpPr/>
          <p:nvPr/>
        </p:nvSpPr>
        <p:spPr>
          <a:xfrm>
            <a:off x="548640" y="1417320"/>
            <a:ext cx="1883664" cy="4800600"/>
          </a:xfrm>
          <a:prstGeom prst="roundRect">
            <a:avLst>
              <a:gd name="adj" fmla="val 5825"/>
            </a:avLst>
          </a:prstGeom>
          <a:solidFill>
            <a:schemeClr val="bg2"/>
          </a:solidFill>
          <a:ln w="12700">
            <a:solidFill>
              <a:schemeClr val="bg2"/>
            </a:solidFill>
            <a:prstDash val="solid"/>
          </a:ln>
        </p:spPr>
      </p:sp>
      <p:sp>
        <p:nvSpPr>
          <p:cNvPr id="4" name="step 1 disc"/>
          <p:cNvSpPr/>
          <p:nvPr/>
        </p:nvSpPr>
        <p:spPr>
          <a:xfrm>
            <a:off x="1094903" y="1691640"/>
            <a:ext cx="791139" cy="791139"/>
          </a:xfrm>
          <a:prstGeom prst="ellipse">
            <a:avLst/>
          </a:prstGeom>
          <a:solidFill>
            <a:schemeClr val="accent1"/>
          </a:solidFill>
          <a:ln w="12700">
            <a:solidFill>
              <a:schemeClr val="accent1"/>
            </a:solidFill>
            <a:prstDash val="solid"/>
          </a:ln>
        </p:spPr>
      </p:sp>
      <p:pic>
        <p:nvPicPr>
          <p:cNvPr id="5" name="step 1 glyph" descr="preencoded.png">    </p:cNvPr>
          <p:cNvPicPr>
            <a:picLocks noChangeAspect="1"/>
          </p:cNvPicPr>
          <p:nvPr/>
        </p:nvPicPr>
        <p:blipFill>
          <a:blip r:embed="rId1"/>
          <a:stretch>
            <a:fillRect/>
          </a:stretch>
        </p:blipFill>
        <p:spPr>
          <a:xfrm>
            <a:off x="1268953" y="1865691"/>
            <a:ext cx="443038" cy="443038"/>
          </a:xfrm>
          <a:prstGeom prst="rect">
            <a:avLst/>
          </a:prstGeom>
        </p:spPr>
      </p:pic>
      <p:sp>
        <p:nvSpPr>
          <p:cNvPr id="6" name="Text 3"/>
          <p:cNvSpPr txBox="1"/>
          <p:nvPr/>
        </p:nvSpPr>
        <p:spPr>
          <a:xfrm>
            <a:off x="685800"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1. Guru Nanak</a:t>
            </a:r>
            <a:endParaRPr lang="en-US" sz="1700" dirty="0"/>
          </a:p>
        </p:txBody>
      </p:sp>
      <p:sp>
        <p:nvSpPr>
          <p:cNvPr id="7" name="Text 4"/>
          <p:cNvSpPr txBox="1"/>
          <p:nvPr/>
        </p:nvSpPr>
        <p:spPr>
          <a:xfrm>
            <a:off x="731520"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Late 15th century: devotion to one God, </a:t>
            </a:r>
            <a:r>
              <a:rPr lang="en-US" sz="1700" b="1" dirty="0">
                <a:solidFill>
                  <a:schemeClr val="tx1"/>
                </a:solidFill>
              </a:rPr>
              <a:t>social equality</a:t>
            </a:r>
            <a:r>
              <a:rPr lang="en-US" sz="1700" dirty="0">
                <a:solidFill>
                  <a:schemeClr val="tx1"/>
                </a:solidFill>
              </a:rPr>
              <a:t>, rejection of rituals.</a:t>
            </a:r>
            <a:endParaRPr lang="en-US" sz="1600" dirty="0"/>
          </a:p>
        </p:txBody>
      </p:sp>
      <p:sp>
        <p:nvSpPr>
          <p:cNvPr id="8" name="arrow 1"/>
          <p:cNvSpPr/>
          <p:nvPr/>
        </p:nvSpPr>
        <p:spPr>
          <a:xfrm>
            <a:off x="2487168" y="1940905"/>
            <a:ext cx="301752" cy="292608"/>
          </a:xfrm>
          <a:prstGeom prst="rightArrow">
            <a:avLst/>
          </a:prstGeom>
          <a:solidFill>
            <a:schemeClr val="accent3"/>
          </a:solidFill>
          <a:ln w="12700">
            <a:solidFill>
              <a:schemeClr val="accent3"/>
            </a:solidFill>
            <a:prstDash val="solid"/>
          </a:ln>
        </p:spPr>
      </p:sp>
      <p:sp>
        <p:nvSpPr>
          <p:cNvPr id="9" name="step 2 card"/>
          <p:cNvSpPr/>
          <p:nvPr/>
        </p:nvSpPr>
        <p:spPr>
          <a:xfrm>
            <a:off x="2843784" y="1417320"/>
            <a:ext cx="1883664" cy="4800600"/>
          </a:xfrm>
          <a:prstGeom prst="roundRect">
            <a:avLst>
              <a:gd name="adj" fmla="val 5825"/>
            </a:avLst>
          </a:prstGeom>
          <a:solidFill>
            <a:schemeClr val="bg2"/>
          </a:solidFill>
          <a:ln w="12700">
            <a:solidFill>
              <a:schemeClr val="bg2"/>
            </a:solidFill>
            <a:prstDash val="solid"/>
          </a:ln>
        </p:spPr>
      </p:sp>
      <p:sp>
        <p:nvSpPr>
          <p:cNvPr id="10" name="step 2 disc"/>
          <p:cNvSpPr/>
          <p:nvPr/>
        </p:nvSpPr>
        <p:spPr>
          <a:xfrm>
            <a:off x="3390047" y="1691640"/>
            <a:ext cx="791139" cy="791139"/>
          </a:xfrm>
          <a:prstGeom prst="ellipse">
            <a:avLst/>
          </a:prstGeom>
          <a:solidFill>
            <a:schemeClr val="accent2"/>
          </a:solidFill>
          <a:ln w="12700">
            <a:solidFill>
              <a:schemeClr val="accent2"/>
            </a:solidFill>
            <a:prstDash val="solid"/>
          </a:ln>
        </p:spPr>
      </p:sp>
      <p:pic>
        <p:nvPicPr>
          <p:cNvPr id="11" name="step 2 glyph" descr="preencoded.png">    </p:cNvPr>
          <p:cNvPicPr>
            <a:picLocks noChangeAspect="1"/>
          </p:cNvPicPr>
          <p:nvPr/>
        </p:nvPicPr>
        <p:blipFill>
          <a:blip r:embed="rId2"/>
          <a:stretch>
            <a:fillRect/>
          </a:stretch>
        </p:blipFill>
        <p:spPr>
          <a:xfrm>
            <a:off x="3564097" y="1865691"/>
            <a:ext cx="443038" cy="443038"/>
          </a:xfrm>
          <a:prstGeom prst="rect">
            <a:avLst/>
          </a:prstGeom>
        </p:spPr>
      </p:pic>
      <p:sp>
        <p:nvSpPr>
          <p:cNvPr id="12" name="Text 8"/>
          <p:cNvSpPr txBox="1"/>
          <p:nvPr/>
        </p:nvSpPr>
        <p:spPr>
          <a:xfrm>
            <a:off x="2980944"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2. Guru Arjan Dev</a:t>
            </a:r>
            <a:endParaRPr lang="en-US" sz="1700" dirty="0"/>
          </a:p>
        </p:txBody>
      </p:sp>
      <p:sp>
        <p:nvSpPr>
          <p:cNvPr id="13" name="Text 9"/>
          <p:cNvSpPr txBox="1"/>
          <p:nvPr/>
        </p:nvSpPr>
        <p:spPr>
          <a:xfrm>
            <a:off x="3026664"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Executed on Jahangir's orders: a turning point for the Sikhs.</a:t>
            </a:r>
            <a:endParaRPr lang="en-US" sz="1600" dirty="0"/>
          </a:p>
        </p:txBody>
      </p:sp>
      <p:sp>
        <p:nvSpPr>
          <p:cNvPr id="14" name="arrow 2"/>
          <p:cNvSpPr/>
          <p:nvPr/>
        </p:nvSpPr>
        <p:spPr>
          <a:xfrm>
            <a:off x="4782312" y="1940905"/>
            <a:ext cx="301752" cy="292608"/>
          </a:xfrm>
          <a:prstGeom prst="rightArrow">
            <a:avLst/>
          </a:prstGeom>
          <a:solidFill>
            <a:schemeClr val="accent3"/>
          </a:solidFill>
          <a:ln w="12700">
            <a:solidFill>
              <a:schemeClr val="accent3"/>
            </a:solidFill>
            <a:prstDash val="solid"/>
          </a:ln>
        </p:spPr>
      </p:sp>
      <p:sp>
        <p:nvSpPr>
          <p:cNvPr id="15" name="step 3 card"/>
          <p:cNvSpPr/>
          <p:nvPr/>
        </p:nvSpPr>
        <p:spPr>
          <a:xfrm>
            <a:off x="5138928" y="1417320"/>
            <a:ext cx="1883664" cy="4800600"/>
          </a:xfrm>
          <a:prstGeom prst="roundRect">
            <a:avLst>
              <a:gd name="adj" fmla="val 5825"/>
            </a:avLst>
          </a:prstGeom>
          <a:solidFill>
            <a:schemeClr val="bg2"/>
          </a:solidFill>
          <a:ln w="12700">
            <a:solidFill>
              <a:schemeClr val="bg2"/>
            </a:solidFill>
            <a:prstDash val="solid"/>
          </a:ln>
        </p:spPr>
      </p:sp>
      <p:sp>
        <p:nvSpPr>
          <p:cNvPr id="16" name="step 3 disc"/>
          <p:cNvSpPr/>
          <p:nvPr/>
        </p:nvSpPr>
        <p:spPr>
          <a:xfrm>
            <a:off x="5685191" y="1691640"/>
            <a:ext cx="791139" cy="791139"/>
          </a:xfrm>
          <a:prstGeom prst="ellipse">
            <a:avLst/>
          </a:prstGeom>
          <a:solidFill>
            <a:schemeClr val="accent1"/>
          </a:solidFill>
          <a:ln w="12700">
            <a:solidFill>
              <a:schemeClr val="accent1"/>
            </a:solidFill>
            <a:prstDash val="solid"/>
          </a:ln>
        </p:spPr>
      </p:sp>
      <p:pic>
        <p:nvPicPr>
          <p:cNvPr id="17" name="step 3 glyph" descr="preencoded.png">    </p:cNvPr>
          <p:cNvPicPr>
            <a:picLocks noChangeAspect="1"/>
          </p:cNvPicPr>
          <p:nvPr/>
        </p:nvPicPr>
        <p:blipFill>
          <a:blip r:embed="rId3"/>
          <a:stretch>
            <a:fillRect/>
          </a:stretch>
        </p:blipFill>
        <p:spPr>
          <a:xfrm>
            <a:off x="5859241" y="1865691"/>
            <a:ext cx="443038" cy="443038"/>
          </a:xfrm>
          <a:prstGeom prst="rect">
            <a:avLst/>
          </a:prstGeom>
        </p:spPr>
      </p:pic>
      <p:sp>
        <p:nvSpPr>
          <p:cNvPr id="18" name="Text 13"/>
          <p:cNvSpPr txBox="1"/>
          <p:nvPr/>
        </p:nvSpPr>
        <p:spPr>
          <a:xfrm>
            <a:off x="5276088"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3. Guru Hargobind</a:t>
            </a:r>
            <a:endParaRPr lang="en-US" sz="1700" dirty="0"/>
          </a:p>
        </p:txBody>
      </p:sp>
      <p:sp>
        <p:nvSpPr>
          <p:cNvPr id="19" name="Text 14"/>
          <p:cNvSpPr txBox="1"/>
          <p:nvPr/>
        </p:nvSpPr>
        <p:spPr>
          <a:xfrm>
            <a:off x="5321808"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Set up the </a:t>
            </a:r>
            <a:r>
              <a:rPr lang="en-US" sz="1700" b="1" dirty="0">
                <a:solidFill>
                  <a:schemeClr val="tx1"/>
                </a:solidFill>
              </a:rPr>
              <a:t>Akal Takht</a:t>
            </a:r>
            <a:r>
              <a:rPr lang="en-US" sz="1700" dirty="0">
                <a:solidFill>
                  <a:schemeClr val="tx1"/>
                </a:solidFill>
              </a:rPr>
              <a:t>; idea of </a:t>
            </a:r>
            <a:r>
              <a:rPr lang="en-US" sz="1700" b="1" dirty="0">
                <a:solidFill>
                  <a:schemeClr val="tx1"/>
                </a:solidFill>
              </a:rPr>
              <a:t>miri–piri</a:t>
            </a:r>
            <a:r>
              <a:rPr lang="en-US" sz="1700" dirty="0">
                <a:solidFill>
                  <a:schemeClr val="tx1"/>
                </a:solidFill>
              </a:rPr>
              <a:t> (worldly and spiritual authority).</a:t>
            </a:r>
            <a:endParaRPr lang="en-US" sz="1600" dirty="0"/>
          </a:p>
        </p:txBody>
      </p:sp>
      <p:sp>
        <p:nvSpPr>
          <p:cNvPr id="20" name="arrow 3"/>
          <p:cNvSpPr/>
          <p:nvPr/>
        </p:nvSpPr>
        <p:spPr>
          <a:xfrm>
            <a:off x="7077456" y="1940905"/>
            <a:ext cx="301752" cy="292608"/>
          </a:xfrm>
          <a:prstGeom prst="rightArrow">
            <a:avLst/>
          </a:prstGeom>
          <a:solidFill>
            <a:schemeClr val="accent3"/>
          </a:solidFill>
          <a:ln w="12700">
            <a:solidFill>
              <a:schemeClr val="accent3"/>
            </a:solidFill>
            <a:prstDash val="solid"/>
          </a:ln>
        </p:spPr>
      </p:sp>
      <p:sp>
        <p:nvSpPr>
          <p:cNvPr id="21" name="step 4 card"/>
          <p:cNvSpPr/>
          <p:nvPr/>
        </p:nvSpPr>
        <p:spPr>
          <a:xfrm>
            <a:off x="7434072" y="1417320"/>
            <a:ext cx="1883664" cy="4800600"/>
          </a:xfrm>
          <a:prstGeom prst="roundRect">
            <a:avLst>
              <a:gd name="adj" fmla="val 5825"/>
            </a:avLst>
          </a:prstGeom>
          <a:solidFill>
            <a:schemeClr val="bg2"/>
          </a:solidFill>
          <a:ln w="12700">
            <a:solidFill>
              <a:schemeClr val="bg2"/>
            </a:solidFill>
            <a:prstDash val="solid"/>
          </a:ln>
        </p:spPr>
      </p:sp>
      <p:sp>
        <p:nvSpPr>
          <p:cNvPr id="22" name="step 4 disc"/>
          <p:cNvSpPr/>
          <p:nvPr/>
        </p:nvSpPr>
        <p:spPr>
          <a:xfrm>
            <a:off x="7980335" y="1691640"/>
            <a:ext cx="791139" cy="791139"/>
          </a:xfrm>
          <a:prstGeom prst="ellipse">
            <a:avLst/>
          </a:prstGeom>
          <a:solidFill>
            <a:schemeClr val="accent2"/>
          </a:solidFill>
          <a:ln w="12700">
            <a:solidFill>
              <a:schemeClr val="accent2"/>
            </a:solidFill>
            <a:prstDash val="solid"/>
          </a:ln>
        </p:spPr>
      </p:sp>
      <p:pic>
        <p:nvPicPr>
          <p:cNvPr id="23" name="step 4 glyph" descr="preencoded.png">    </p:cNvPr>
          <p:cNvPicPr>
            <a:picLocks noChangeAspect="1"/>
          </p:cNvPicPr>
          <p:nvPr/>
        </p:nvPicPr>
        <p:blipFill>
          <a:blip r:embed="rId4"/>
          <a:stretch>
            <a:fillRect/>
          </a:stretch>
        </p:blipFill>
        <p:spPr>
          <a:xfrm>
            <a:off x="8154385" y="1865691"/>
            <a:ext cx="443038" cy="443038"/>
          </a:xfrm>
          <a:prstGeom prst="rect">
            <a:avLst/>
          </a:prstGeom>
        </p:spPr>
      </p:pic>
      <p:sp>
        <p:nvSpPr>
          <p:cNvPr id="24" name="Text 18"/>
          <p:cNvSpPr txBox="1"/>
          <p:nvPr/>
        </p:nvSpPr>
        <p:spPr>
          <a:xfrm>
            <a:off x="7571232"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4. Guru Tegh Bahadur</a:t>
            </a:r>
            <a:endParaRPr lang="en-US" sz="1700" dirty="0"/>
          </a:p>
        </p:txBody>
      </p:sp>
      <p:sp>
        <p:nvSpPr>
          <p:cNvPr id="25" name="Text 19"/>
          <p:cNvSpPr txBox="1"/>
          <p:nvPr/>
        </p:nvSpPr>
        <p:spPr>
          <a:xfrm>
            <a:off x="7616952"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Martyred in </a:t>
            </a:r>
            <a:r>
              <a:rPr lang="en-US" sz="1700" b="1" dirty="0">
                <a:solidFill>
                  <a:schemeClr val="tx1"/>
                </a:solidFill>
              </a:rPr>
              <a:t>1675</a:t>
            </a:r>
            <a:r>
              <a:rPr lang="en-US" sz="1700" dirty="0">
                <a:solidFill>
                  <a:schemeClr val="tx1"/>
                </a:solidFill>
              </a:rPr>
              <a:t> on Aurangzeb's orders.</a:t>
            </a:r>
            <a:endParaRPr lang="en-US" sz="1600" dirty="0"/>
          </a:p>
        </p:txBody>
      </p:sp>
      <p:sp>
        <p:nvSpPr>
          <p:cNvPr id="26" name="arrow 4"/>
          <p:cNvSpPr/>
          <p:nvPr/>
        </p:nvSpPr>
        <p:spPr>
          <a:xfrm>
            <a:off x="9372600" y="1940905"/>
            <a:ext cx="301752" cy="292608"/>
          </a:xfrm>
          <a:prstGeom prst="rightArrow">
            <a:avLst/>
          </a:prstGeom>
          <a:solidFill>
            <a:schemeClr val="accent3"/>
          </a:solidFill>
          <a:ln w="12700">
            <a:solidFill>
              <a:schemeClr val="accent3"/>
            </a:solidFill>
            <a:prstDash val="solid"/>
          </a:ln>
        </p:spPr>
      </p:sp>
      <p:sp>
        <p:nvSpPr>
          <p:cNvPr id="27" name="step 5 card"/>
          <p:cNvSpPr/>
          <p:nvPr/>
        </p:nvSpPr>
        <p:spPr>
          <a:xfrm>
            <a:off x="9729216" y="1417320"/>
            <a:ext cx="1883664" cy="4800600"/>
          </a:xfrm>
          <a:prstGeom prst="roundRect">
            <a:avLst>
              <a:gd name="adj" fmla="val 5825"/>
            </a:avLst>
          </a:prstGeom>
          <a:solidFill>
            <a:schemeClr val="bg2"/>
          </a:solidFill>
          <a:ln w="12700">
            <a:solidFill>
              <a:schemeClr val="bg2"/>
            </a:solidFill>
            <a:prstDash val="solid"/>
          </a:ln>
        </p:spPr>
      </p:sp>
      <p:sp>
        <p:nvSpPr>
          <p:cNvPr id="28" name="step 5 disc"/>
          <p:cNvSpPr/>
          <p:nvPr/>
        </p:nvSpPr>
        <p:spPr>
          <a:xfrm>
            <a:off x="10275479" y="1691640"/>
            <a:ext cx="791139" cy="791139"/>
          </a:xfrm>
          <a:prstGeom prst="ellipse">
            <a:avLst/>
          </a:prstGeom>
          <a:solidFill>
            <a:schemeClr val="accent1"/>
          </a:solidFill>
          <a:ln w="12700">
            <a:solidFill>
              <a:schemeClr val="accent1"/>
            </a:solidFill>
            <a:prstDash val="solid"/>
          </a:ln>
        </p:spPr>
      </p:sp>
      <p:pic>
        <p:nvPicPr>
          <p:cNvPr id="29" name="step 5 glyph" descr="preencoded.png">    </p:cNvPr>
          <p:cNvPicPr>
            <a:picLocks noChangeAspect="1"/>
          </p:cNvPicPr>
          <p:nvPr/>
        </p:nvPicPr>
        <p:blipFill>
          <a:blip r:embed="rId5"/>
          <a:stretch>
            <a:fillRect/>
          </a:stretch>
        </p:blipFill>
        <p:spPr>
          <a:xfrm>
            <a:off x="10449529" y="1865691"/>
            <a:ext cx="443038" cy="443038"/>
          </a:xfrm>
          <a:prstGeom prst="rect">
            <a:avLst/>
          </a:prstGeom>
        </p:spPr>
      </p:pic>
      <p:sp>
        <p:nvSpPr>
          <p:cNvPr id="30" name="Text 23"/>
          <p:cNvSpPr txBox="1"/>
          <p:nvPr/>
        </p:nvSpPr>
        <p:spPr>
          <a:xfrm>
            <a:off x="9866376" y="2574219"/>
            <a:ext cx="1609344" cy="685800"/>
          </a:xfrm>
          <a:prstGeom prst="rect">
            <a:avLst/>
          </a:prstGeom>
          <a:noFill/>
          <a:ln/>
        </p:spPr>
        <p:txBody>
          <a:bodyPr wrap="square" lIns="0" tIns="0" rIns="0" bIns="0" rtlCol="0" anchor="ctr"/>
          <a:lstStyle/>
          <a:p>
            <a:pPr algn="ctr" indent="0" marL="0">
              <a:buNone/>
            </a:pPr>
            <a:r>
              <a:rPr lang="en-US" sz="1700" b="1" dirty="0">
                <a:solidFill>
                  <a:schemeClr val="tx2"/>
                </a:solidFill>
              </a:rPr>
              <a:t>5. Guru Gobind Singh</a:t>
            </a:r>
            <a:endParaRPr lang="en-US" sz="1700" dirty="0"/>
          </a:p>
        </p:txBody>
      </p:sp>
      <p:sp>
        <p:nvSpPr>
          <p:cNvPr id="31" name="Text 24"/>
          <p:cNvSpPr txBox="1"/>
          <p:nvPr/>
        </p:nvSpPr>
        <p:spPr>
          <a:xfrm>
            <a:off x="9912096" y="3305739"/>
            <a:ext cx="1517904" cy="2775021"/>
          </a:xfrm>
          <a:prstGeom prst="rect">
            <a:avLst/>
          </a:prstGeom>
          <a:noFill/>
          <a:ln/>
        </p:spPr>
        <p:txBody>
          <a:bodyPr wrap="square" lIns="0" tIns="0" rIns="0" bIns="0" rtlCol="0" anchor="t"/>
          <a:lstStyle/>
          <a:p>
            <a:pPr algn="l" indent="0" marL="0">
              <a:buNone/>
            </a:pPr>
            <a:r>
              <a:rPr lang="en-US" sz="1700" dirty="0">
                <a:solidFill>
                  <a:schemeClr val="tx1"/>
                </a:solidFill>
              </a:rPr>
              <a:t>Founded the </a:t>
            </a:r>
            <a:r>
              <a:rPr lang="en-US" sz="1700" b="1" dirty="0">
                <a:solidFill>
                  <a:schemeClr val="tx1"/>
                </a:solidFill>
              </a:rPr>
              <a:t>Khalsa</a:t>
            </a:r>
            <a:r>
              <a:rPr lang="en-US" sz="1700" dirty="0">
                <a:solidFill>
                  <a:schemeClr val="tx1"/>
                </a:solidFill>
              </a:rPr>
              <a:t> in 1699; later, armed </a:t>
            </a:r>
            <a:r>
              <a:rPr lang="en-US" sz="1700" b="1" dirty="0">
                <a:solidFill>
                  <a:schemeClr val="tx1"/>
                </a:solidFill>
              </a:rPr>
              <a:t>misals</a:t>
            </a:r>
            <a:r>
              <a:rPr lang="en-US" sz="1700" dirty="0">
                <a:solidFill>
                  <a:schemeClr val="tx1"/>
                </a:solidFill>
              </a:rPr>
              <a:t> defended the community.</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Jat Resistance</a:t>
            </a:r>
            <a:endParaRPr lang="en-US" sz="3600" dirty="0"/>
          </a:p>
        </p:txBody>
      </p:sp>
      <p:sp>
        <p:nvSpPr>
          <p:cNvPr id="3" name="card 1"/>
          <p:cNvSpPr/>
          <p:nvPr/>
        </p:nvSpPr>
        <p:spPr>
          <a:xfrm>
            <a:off x="548640" y="1371600"/>
            <a:ext cx="3505200" cy="4251960"/>
          </a:xfrm>
          <a:prstGeom prst="roundRect">
            <a:avLst>
              <a:gd name="adj" fmla="val 313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Who were they?</a:t>
            </a:r>
            <a:endParaRPr lang="en-US" sz="1800" dirty="0"/>
          </a:p>
        </p:txBody>
      </p:sp>
      <p:sp>
        <p:nvSpPr>
          <p:cNvPr id="7" name="Text 4"/>
          <p:cNvSpPr txBox="1"/>
          <p:nvPr/>
        </p:nvSpPr>
        <p:spPr>
          <a:xfrm>
            <a:off x="777240" y="2276856"/>
            <a:ext cx="3048000" cy="3209544"/>
          </a:xfrm>
          <a:prstGeom prst="rect">
            <a:avLst/>
          </a:prstGeom>
          <a:noFill/>
          <a:ln/>
        </p:spPr>
        <p:txBody>
          <a:bodyPr wrap="square" lIns="0" tIns="0" rIns="0" bIns="0" rtlCol="0" anchor="t"/>
          <a:lstStyle/>
          <a:p>
            <a:pPr indent="0" marL="0">
              <a:buNone/>
            </a:pPr>
            <a:r>
              <a:rPr lang="en-US" sz="1800" dirty="0">
                <a:solidFill>
                  <a:schemeClr val="tx1"/>
                </a:solidFill>
              </a:rPr>
              <a:t>A farming community of the </a:t>
            </a:r>
            <a:r>
              <a:rPr lang="en-US" sz="1800" b="1" dirty="0">
                <a:solidFill>
                  <a:schemeClr val="tx1"/>
                </a:solidFill>
              </a:rPr>
              <a:t>Ganga–Yamuna Doab</a:t>
            </a:r>
            <a:r>
              <a:rPr lang="en-US" sz="1800" dirty="0">
                <a:solidFill>
                  <a:schemeClr val="tx1"/>
                </a:solidFill>
              </a:rPr>
              <a:t>, burdened by heavy taxes and Aurangzeb's religious policies.</a:t>
            </a:r>
            <a:endParaRPr lang="en-US" sz="1600" dirty="0"/>
          </a:p>
        </p:txBody>
      </p:sp>
      <p:sp>
        <p:nvSpPr>
          <p:cNvPr id="8" name="card 2"/>
          <p:cNvSpPr/>
          <p:nvPr/>
        </p:nvSpPr>
        <p:spPr>
          <a:xfrm>
            <a:off x="4328160" y="1371600"/>
            <a:ext cx="3505200" cy="4251960"/>
          </a:xfrm>
          <a:prstGeom prst="roundRect">
            <a:avLst>
              <a:gd name="adj" fmla="val 313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1669: Gokul Jat</a:t>
            </a:r>
            <a:endParaRPr lang="en-US" sz="1800" dirty="0"/>
          </a:p>
        </p:txBody>
      </p:sp>
      <p:sp>
        <p:nvSpPr>
          <p:cNvPr id="12" name="Text 8"/>
          <p:cNvSpPr txBox="1"/>
          <p:nvPr/>
        </p:nvSpPr>
        <p:spPr>
          <a:xfrm>
            <a:off x="4556760" y="2276856"/>
            <a:ext cx="3048000" cy="3209544"/>
          </a:xfrm>
          <a:prstGeom prst="rect">
            <a:avLst/>
          </a:prstGeom>
          <a:noFill/>
          <a:ln/>
        </p:spPr>
        <p:txBody>
          <a:bodyPr wrap="square" lIns="0" tIns="0" rIns="0" bIns="0" rtlCol="0" anchor="t"/>
          <a:lstStyle/>
          <a:p>
            <a:pPr indent="0" marL="0">
              <a:buNone/>
            </a:pPr>
            <a:r>
              <a:rPr lang="en-US" sz="1800" dirty="0">
                <a:solidFill>
                  <a:schemeClr val="tx1"/>
                </a:solidFill>
              </a:rPr>
              <a:t>Led a rebellion; Mughal forces struggled for months to suppress it.</a:t>
            </a:r>
            <a:endParaRPr lang="en-US" sz="1600" dirty="0"/>
          </a:p>
        </p:txBody>
      </p:sp>
      <p:sp>
        <p:nvSpPr>
          <p:cNvPr id="13" name="card 3"/>
          <p:cNvSpPr/>
          <p:nvPr/>
        </p:nvSpPr>
        <p:spPr>
          <a:xfrm>
            <a:off x="8107680" y="1371600"/>
            <a:ext cx="3505200" cy="4251960"/>
          </a:xfrm>
          <a:prstGeom prst="roundRect">
            <a:avLst>
              <a:gd name="adj" fmla="val 313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1686 onwards</a:t>
            </a:r>
            <a:endParaRPr lang="en-US" sz="1800" dirty="0"/>
          </a:p>
        </p:txBody>
      </p:sp>
      <p:sp>
        <p:nvSpPr>
          <p:cNvPr id="17" name="Text 12"/>
          <p:cNvSpPr txBox="1"/>
          <p:nvPr/>
        </p:nvSpPr>
        <p:spPr>
          <a:xfrm>
            <a:off x="8336280" y="2276856"/>
            <a:ext cx="3048000" cy="3209544"/>
          </a:xfrm>
          <a:prstGeom prst="rect">
            <a:avLst/>
          </a:prstGeom>
          <a:noFill/>
          <a:ln/>
        </p:spPr>
        <p:txBody>
          <a:bodyPr wrap="square" lIns="0" tIns="0" rIns="0" bIns="0" rtlCol="0" anchor="t"/>
          <a:lstStyle/>
          <a:p>
            <a:pPr indent="0" marL="0">
              <a:buNone/>
            </a:pPr>
            <a:r>
              <a:rPr lang="en-US" sz="1800" dirty="0">
                <a:solidFill>
                  <a:schemeClr val="tx1"/>
                </a:solidFill>
              </a:rPr>
              <a:t>Zamindars of </a:t>
            </a:r>
            <a:r>
              <a:rPr lang="en-US" sz="1800" b="1" dirty="0">
                <a:solidFill>
                  <a:schemeClr val="tx1"/>
                </a:solidFill>
              </a:rPr>
              <a:t>Sinsani and Sogar</a:t>
            </a:r>
            <a:r>
              <a:rPr lang="en-US" sz="1800" dirty="0">
                <a:solidFill>
                  <a:schemeClr val="tx1"/>
                </a:solidFill>
              </a:rPr>
              <a:t> rose again; even after 1691 the resistance continued.</a:t>
            </a:r>
            <a:endParaRPr lang="en-US" sz="1600" dirty="0"/>
          </a:p>
        </p:txBody>
      </p:sp>
      <p:sp>
        <p:nvSpPr>
          <p:cNvPr id="18"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9" name="Text 14"/>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Source:</a:t>
            </a:r>
            <a:r>
              <a:rPr lang="en-US" sz="1500" dirty="0">
                <a:solidFill>
                  <a:schemeClr val="bg1"/>
                </a:solidFill>
              </a:rPr>
              <a:t> the Italian traveller </a:t>
            </a:r>
            <a:r>
              <a:rPr lang="en-US" sz="1500" b="1" dirty="0">
                <a:solidFill>
                  <a:schemeClr val="bg1"/>
                </a:solidFill>
              </a:rPr>
              <a:t>Niccolao Manucci</a:t>
            </a:r>
            <a:r>
              <a:rPr lang="en-US" sz="1500" dirty="0">
                <a:solidFill>
                  <a:schemeClr val="bg1"/>
                </a:solidFill>
              </a:rPr>
              <a:t> described Jat resistance in his 17th-century account.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Women of Courage and Devotion</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Naiki Devi</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Chaulukya queen who defeated Muhammad Ghuri (1178).</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Rudrama Devi</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Kakatiya queen of Warangal (1262–1289).</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Rani Abbakka Chowta</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Queen of Ullal (Karnataka) who defeated Portuguese naval forces.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Mirabai, Lal Ded, Akka Mahadevi</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Bhakti saints whose songs still inspire millions.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Atukuri Molla</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Potter's daughter who wrote the </a:t>
            </a:r>
            <a:r>
              <a:rPr lang="en-US" sz="1800" b="1" dirty="0">
                <a:solidFill>
                  <a:schemeClr val="tx1"/>
                </a:solidFill>
              </a:rPr>
              <a:t>Molla Ramayanam</a:t>
            </a:r>
            <a:r>
              <a:rPr lang="en-US" sz="1800" dirty="0">
                <a:solidFill>
                  <a:schemeClr val="tx1"/>
                </a:solidFill>
              </a:rPr>
              <a:t> in Telugu.</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Ahilyabai Holkar</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Built the present Kashi Vishwanath Temple (1780).</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Activity: Design a Fort</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DESIGN CHALLENGE</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Survive a long siege</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35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Groups of 4</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Chart paper, sketch pens, ruler</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You are a military architect advising a ruler.</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Draw a labelled plan with: </a:t>
            </a:r>
            <a:r>
              <a:rPr lang="en-US" sz="1400" b="1" dirty="0">
                <a:solidFill>
                  <a:schemeClr val="tx1"/>
                </a:solidFill>
              </a:rPr>
              <a:t>residential complex, defensive walls, water source, food storage</a:t>
            </a:r>
            <a:r>
              <a:rPr lang="en-US" sz="1400" dirty="0">
                <a:solidFill>
                  <a:schemeClr val="tx1"/>
                </a:solidFill>
              </a:rPr>
              <a:t>.</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Add: </a:t>
            </a:r>
            <a:r>
              <a:rPr lang="en-US" sz="1400" b="1" dirty="0">
                <a:solidFill>
                  <a:schemeClr val="tx1"/>
                </a:solidFill>
              </a:rPr>
              <a:t>escape route, watchtower, administrative area</a:t>
            </a:r>
            <a:r>
              <a:rPr lang="en-US" sz="1400" dirty="0">
                <a:solidFill>
                  <a:schemeClr val="tx1"/>
                </a:solidFill>
              </a:rPr>
              <a:t>.</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Write 4 lines on how your design helps survive a long siege.</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Gallery walk: groups vote for the 'strongest' fort and explain why.</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Forts were centres of defence, administration and self-sufficiency: keys to resilience.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731520" y="2011680"/>
            <a:ext cx="7772400" cy="457200"/>
          </a:xfrm>
          <a:prstGeom prst="rect">
            <a:avLst/>
          </a:prstGeom>
          <a:noFill/>
          <a:ln/>
        </p:spPr>
        <p:txBody>
          <a:bodyPr wrap="square" lIns="0" tIns="0" rIns="0" bIns="0" rtlCol="0"/>
          <a:lstStyle/>
          <a:p>
            <a:pPr indent="0" marL="0">
              <a:buNone/>
            </a:pPr>
            <a:r>
              <a:rPr lang="en-US" sz="1800" b="1" spc="300" kern="0" dirty="0">
                <a:solidFill>
                  <a:schemeClr val="bg2"/>
                </a:solidFill>
              </a:rPr>
              <a:t>PART 2</a:t>
            </a:r>
            <a:endParaRPr lang="en-US" sz="1800" dirty="0"/>
          </a:p>
        </p:txBody>
      </p:sp>
      <p:sp>
        <p:nvSpPr>
          <p:cNvPr id="3" name="Text 0"/>
          <p:cNvSpPr/>
          <p:nvPr>
            <p:ph idx="101" type="title" hasCustomPrompt="1"/>
          </p:nvPr>
        </p:nvSpPr>
        <p:spPr>
          <a:xfrm>
            <a:off x="731520" y="2514600"/>
            <a:ext cx="7772400" cy="1463040"/>
          </a:xfrm>
          <a:prstGeom prst="rect">
            <a:avLst/>
          </a:prstGeom>
          <a:noFill/>
          <a:ln/>
        </p:spPr>
        <p:txBody>
          <a:bodyPr wrap="square" lIns="0" tIns="0" rIns="0" bIns="0" rtlCol="0" anchor="t"/>
          <a:lstStyle/>
          <a:p>
            <a:pPr algn="l" indent="0" marL="0">
              <a:buNone/>
            </a:pPr>
            <a:r>
              <a:rPr lang="en-US" sz="4400" b="1" dirty="0">
                <a:solidFill>
                  <a:schemeClr val="bg1"/>
                </a:solidFill>
              </a:rPr>
              <a:t>Bhakti: Affirming the Spirit of Resilience</a:t>
            </a:r>
            <a:endParaRPr lang="en-US" sz="4400" dirty="0"/>
          </a:p>
        </p:txBody>
      </p:sp>
      <p:sp>
        <p:nvSpPr>
          <p:cNvPr id="4" name="Text 0"/>
          <p:cNvSpPr/>
          <p:nvPr>
            <p:ph idx="102" type="body" hasCustomPrompt="1"/>
          </p:nvPr>
        </p:nvSpPr>
        <p:spPr>
          <a:xfrm>
            <a:off x="731520" y="4069080"/>
            <a:ext cx="7772400" cy="1097280"/>
          </a:xfrm>
          <a:prstGeom prst="rect">
            <a:avLst/>
          </a:prstGeom>
          <a:noFill/>
          <a:ln/>
        </p:spPr>
        <p:txBody>
          <a:bodyPr wrap="square" lIns="0" tIns="0" rIns="0" bIns="0" rtlCol="0" anchor="t"/>
          <a:lstStyle/>
          <a:p>
            <a:pPr indent="0" marL="0">
              <a:buNone/>
            </a:pPr>
            <a:r>
              <a:rPr lang="en-US" sz="1800" dirty="0">
                <a:solidFill>
                  <a:schemeClr val="bg1"/>
                </a:solidFill>
              </a:rPr>
              <a:t>Personal devotion expressed through hymns in local languages.</a:t>
            </a:r>
            <a:endParaRPr lang="en-US" sz="1800" dirty="0"/>
          </a:p>
        </p:txBody>
      </p:sp>
      <p:sp>
        <p:nvSpPr>
          <p:cNvPr id="5" name="section disc"/>
          <p:cNvSpPr/>
          <p:nvPr/>
        </p:nvSpPr>
        <p:spPr>
          <a:xfrm>
            <a:off x="9006840" y="1828800"/>
            <a:ext cx="2560320" cy="2560320"/>
          </a:xfrm>
          <a:prstGeom prst="ellipse">
            <a:avLst/>
          </a:prstGeom>
          <a:solidFill>
            <a:schemeClr val="tx2"/>
          </a:solidFill>
          <a:ln w="25400">
            <a:solidFill>
              <a:schemeClr val="bg1"/>
            </a:solidFill>
            <a:prstDash val="solid"/>
          </a:ln>
        </p:spPr>
      </p:sp>
      <p:pic>
        <p:nvPicPr>
          <p:cNvPr id="6" name="section icon" descr="preencoded.png">    </p:cNvPr>
          <p:cNvPicPr>
            <a:picLocks noChangeAspect="1"/>
          </p:cNvPicPr>
          <p:nvPr/>
        </p:nvPicPr>
        <p:blipFill>
          <a:blip r:embed="rId1"/>
          <a:stretch>
            <a:fillRect/>
          </a:stretch>
        </p:blipFill>
        <p:spPr>
          <a:xfrm>
            <a:off x="9601200" y="2423160"/>
            <a:ext cx="1371600" cy="13716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How Bhakti Built Resilience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Local languages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Hymns in people's own languages built </a:t>
            </a:r>
            <a:r>
              <a:rPr lang="en-US" sz="1800" b="1" dirty="0">
                <a:solidFill>
                  <a:schemeClr val="tx1"/>
                </a:solidFill>
              </a:rPr>
              <a:t>shared identities</a:t>
            </a:r>
            <a:r>
              <a:rPr lang="en-US" sz="1800" dirty="0">
                <a:solidFill>
                  <a:schemeClr val="tx1"/>
                </a:solidFill>
              </a:rPr>
              <a:t>, e.g. Eknath in Marathi.</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Open to all</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Saints came from </a:t>
            </a:r>
            <a:r>
              <a:rPr lang="en-US" sz="1800" b="1" dirty="0">
                <a:solidFill>
                  <a:schemeClr val="tx1"/>
                </a:solidFill>
              </a:rPr>
              <a:t>diverse backgrounds</a:t>
            </a:r>
            <a:r>
              <a:rPr lang="en-US" sz="1800" dirty="0">
                <a:solidFill>
                  <a:schemeClr val="tx1"/>
                </a:solidFill>
              </a:rPr>
              <a:t>; many women became saints.</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A faith you can carry</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Nam kirtan</a:t>
            </a:r>
            <a:r>
              <a:rPr lang="en-US" sz="1800" dirty="0">
                <a:solidFill>
                  <a:schemeClr val="tx1"/>
                </a:solidFill>
              </a:rPr>
              <a:t> (reciting the divine Name) did not depend on buildings, so it was hard to suppress.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Singing together</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Sankirtan</a:t>
            </a:r>
            <a:r>
              <a:rPr lang="en-US" sz="1800" dirty="0">
                <a:solidFill>
                  <a:schemeClr val="tx1"/>
                </a:solidFill>
              </a:rPr>
              <a:t> bridged divides. Chaitanya led public sankirtan in Bengal to protest a Qazi's restrictions.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Stories for every home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Tulsidas's </a:t>
            </a:r>
            <a:r>
              <a:rPr lang="en-US" sz="1800" b="1" dirty="0">
                <a:solidFill>
                  <a:schemeClr val="tx1"/>
                </a:solidFill>
              </a:rPr>
              <a:t>Ramcharitmanas</a:t>
            </a:r>
            <a:r>
              <a:rPr lang="en-US" sz="1800" dirty="0">
                <a:solidFill>
                  <a:schemeClr val="tx1"/>
                </a:solidFill>
              </a:rPr>
              <a:t> (Awadhi), Sankardev's </a:t>
            </a:r>
            <a:r>
              <a:rPr lang="en-US" sz="1800" b="1" dirty="0">
                <a:solidFill>
                  <a:schemeClr val="tx1"/>
                </a:solidFill>
              </a:rPr>
              <a:t>Kirtana Ghosha</a:t>
            </a:r>
            <a:r>
              <a:rPr lang="en-US" sz="1800" dirty="0">
                <a:solidFill>
                  <a:schemeClr val="tx1"/>
                </a:solidFill>
              </a:rPr>
              <a:t>, the Molla Ramayanam.</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Protectors too</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Dadu Panth and Niranjani orders kept warrior ascetics to guard trade routes and serve people.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Bhakti Saints Across India (12th–17th Centuries)</a:t>
            </a:r>
            <a:endParaRPr lang="en-US" sz="3600" dirty="0"/>
          </a:p>
        </p:txBody>
      </p:sp>
      <p:sp>
        <p:nvSpPr>
          <p:cNvPr id="3" name="card 1"/>
          <p:cNvSpPr/>
          <p:nvPr/>
        </p:nvSpPr>
        <p:spPr>
          <a:xfrm>
            <a:off x="548640" y="1371600"/>
            <a:ext cx="2560320" cy="4251960"/>
          </a:xfrm>
          <a:prstGeom prst="roundRect">
            <a:avLst>
              <a:gd name="adj" fmla="val 4286"/>
            </a:avLst>
          </a:prstGeom>
          <a:solidFill>
            <a:schemeClr val="bg2"/>
          </a:solidFill>
          <a:ln w="12700">
            <a:solidFill>
              <a:schemeClr val="bg2"/>
            </a:solidFill>
            <a:prstDash val="solid"/>
          </a:ln>
        </p:spPr>
      </p:sp>
      <p:sp>
        <p:nvSpPr>
          <p:cNvPr id="4" name="card 1 disc"/>
          <p:cNvSpPr/>
          <p:nvPr/>
        </p:nvSpPr>
        <p:spPr>
          <a:xfrm>
            <a:off x="731520" y="1554480"/>
            <a:ext cx="457200" cy="457200"/>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832104" y="1655064"/>
            <a:ext cx="256032" cy="256032"/>
          </a:xfrm>
          <a:prstGeom prst="rect">
            <a:avLst/>
          </a:prstGeom>
        </p:spPr>
      </p:pic>
      <p:sp>
        <p:nvSpPr>
          <p:cNvPr id="6" name="Text 3"/>
          <p:cNvSpPr txBox="1"/>
          <p:nvPr/>
        </p:nvSpPr>
        <p:spPr>
          <a:xfrm>
            <a:off x="132588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North and Central</a:t>
            </a:r>
            <a:endParaRPr lang="en-US" sz="1800" dirty="0"/>
          </a:p>
        </p:txBody>
      </p:sp>
      <p:sp>
        <p:nvSpPr>
          <p:cNvPr id="7" name="Text 4"/>
          <p:cNvSpPr txBox="1"/>
          <p:nvPr/>
        </p:nvSpPr>
        <p:spPr>
          <a:xfrm>
            <a:off x="73152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Lal Ded</a:t>
            </a:r>
            <a:endParaRPr lang="en-US" sz="1600" dirty="0"/>
          </a:p>
          <a:p>
            <a:pPr marL="228600" indent="-228600">
              <a:spcAft>
                <a:spcPts val="300"/>
              </a:spcAft>
              <a:buSzPct val="100000"/>
              <a:buChar char="•"/>
            </a:pPr>
            <a:r>
              <a:rPr lang="en-US" sz="1700" dirty="0">
                <a:solidFill>
                  <a:schemeClr val="tx1"/>
                </a:solidFill>
              </a:rPr>
              <a:t>Guru Nanak</a:t>
            </a:r>
            <a:endParaRPr lang="en-US" sz="1600" dirty="0"/>
          </a:p>
          <a:p>
            <a:pPr marL="228600" indent="-228600">
              <a:spcAft>
                <a:spcPts val="300"/>
              </a:spcAft>
              <a:buSzPct val="100000"/>
              <a:buChar char="•"/>
            </a:pPr>
            <a:r>
              <a:rPr lang="en-US" sz="1700" dirty="0">
                <a:solidFill>
                  <a:schemeClr val="tx1"/>
                </a:solidFill>
              </a:rPr>
              <a:t>Ramananda</a:t>
            </a:r>
            <a:endParaRPr lang="en-US" sz="1600" dirty="0"/>
          </a:p>
          <a:p>
            <a:pPr marL="228600" indent="-228600">
              <a:spcAft>
                <a:spcPts val="300"/>
              </a:spcAft>
              <a:buSzPct val="100000"/>
              <a:buChar char="•"/>
            </a:pPr>
            <a:r>
              <a:rPr lang="en-US" sz="1700" dirty="0">
                <a:solidFill>
                  <a:schemeClr val="tx1"/>
                </a:solidFill>
              </a:rPr>
              <a:t>Kabir</a:t>
            </a:r>
            <a:endParaRPr lang="en-US" sz="1600" dirty="0"/>
          </a:p>
          <a:p>
            <a:pPr marL="228600" indent="-228600">
              <a:spcAft>
                <a:spcPts val="300"/>
              </a:spcAft>
              <a:buSzPct val="100000"/>
              <a:buChar char="•"/>
            </a:pPr>
            <a:r>
              <a:rPr lang="en-US" sz="1700" dirty="0">
                <a:solidFill>
                  <a:schemeClr val="tx1"/>
                </a:solidFill>
              </a:rPr>
              <a:t>Mirabai</a:t>
            </a:r>
            <a:endParaRPr lang="en-US" sz="1600" dirty="0"/>
          </a:p>
          <a:p>
            <a:pPr marL="228600" indent="-228600">
              <a:spcAft>
                <a:spcPts val="300"/>
              </a:spcAft>
              <a:buSzPct val="100000"/>
              <a:buChar char="•"/>
            </a:pPr>
            <a:r>
              <a:rPr lang="en-US" sz="1700" dirty="0">
                <a:solidFill>
                  <a:schemeClr val="tx1"/>
                </a:solidFill>
              </a:rPr>
              <a:t>Raidas</a:t>
            </a:r>
            <a:endParaRPr lang="en-US" sz="1600" dirty="0"/>
          </a:p>
          <a:p>
            <a:pPr marL="228600" indent="-228600">
              <a:spcAft>
                <a:spcPts val="300"/>
              </a:spcAft>
              <a:buSzPct val="100000"/>
              <a:buChar char="•"/>
            </a:pPr>
            <a:r>
              <a:rPr lang="en-US" sz="1700" dirty="0">
                <a:solidFill>
                  <a:schemeClr val="tx1"/>
                </a:solidFill>
              </a:rPr>
              <a:t>Vallabhacharya</a:t>
            </a:r>
            <a:endParaRPr lang="en-US" sz="1600" dirty="0"/>
          </a:p>
          <a:p>
            <a:pPr marL="228600" indent="-228600">
              <a:spcAft>
                <a:spcPts val="300"/>
              </a:spcAft>
              <a:buSzPct val="100000"/>
              <a:buChar char="•"/>
            </a:pPr>
            <a:r>
              <a:rPr lang="en-US" sz="1700" dirty="0">
                <a:solidFill>
                  <a:schemeClr val="tx1"/>
                </a:solidFill>
              </a:rPr>
              <a:t>Surdas</a:t>
            </a:r>
            <a:endParaRPr lang="en-US" sz="1600" dirty="0"/>
          </a:p>
          <a:p>
            <a:pPr marL="228600" indent="-228600">
              <a:spcAft>
                <a:spcPts val="300"/>
              </a:spcAft>
              <a:buSzPct val="100000"/>
              <a:buChar char="•"/>
            </a:pPr>
            <a:r>
              <a:rPr lang="en-US" sz="1700" dirty="0">
                <a:solidFill>
                  <a:schemeClr val="tx1"/>
                </a:solidFill>
              </a:rPr>
              <a:t>Tulsidas</a:t>
            </a:r>
            <a:endParaRPr lang="en-US" sz="1600" dirty="0"/>
          </a:p>
        </p:txBody>
      </p:sp>
      <p:sp>
        <p:nvSpPr>
          <p:cNvPr id="8" name="card 2"/>
          <p:cNvSpPr/>
          <p:nvPr/>
        </p:nvSpPr>
        <p:spPr>
          <a:xfrm>
            <a:off x="3383280" y="1371600"/>
            <a:ext cx="2560320" cy="4251960"/>
          </a:xfrm>
          <a:prstGeom prst="roundRect">
            <a:avLst>
              <a:gd name="adj" fmla="val 4286"/>
            </a:avLst>
          </a:prstGeom>
          <a:solidFill>
            <a:schemeClr val="bg2"/>
          </a:solidFill>
          <a:ln w="12700">
            <a:solidFill>
              <a:schemeClr val="bg2"/>
            </a:solidFill>
            <a:prstDash val="solid"/>
          </a:ln>
        </p:spPr>
      </p:sp>
      <p:sp>
        <p:nvSpPr>
          <p:cNvPr id="9" name="card 2 disc"/>
          <p:cNvSpPr/>
          <p:nvPr/>
        </p:nvSpPr>
        <p:spPr>
          <a:xfrm>
            <a:off x="3566160" y="1554480"/>
            <a:ext cx="457200" cy="457200"/>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3666744" y="1655064"/>
            <a:ext cx="256032" cy="256032"/>
          </a:xfrm>
          <a:prstGeom prst="rect">
            <a:avLst/>
          </a:prstGeom>
        </p:spPr>
      </p:pic>
      <p:sp>
        <p:nvSpPr>
          <p:cNvPr id="11" name="Text 7"/>
          <p:cNvSpPr txBox="1"/>
          <p:nvPr/>
        </p:nvSpPr>
        <p:spPr>
          <a:xfrm>
            <a:off x="416052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East</a:t>
            </a:r>
            <a:endParaRPr lang="en-US" sz="1800" dirty="0"/>
          </a:p>
        </p:txBody>
      </p:sp>
      <p:sp>
        <p:nvSpPr>
          <p:cNvPr id="12" name="Text 8"/>
          <p:cNvSpPr txBox="1"/>
          <p:nvPr/>
        </p:nvSpPr>
        <p:spPr>
          <a:xfrm>
            <a:off x="356616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Jayadeva</a:t>
            </a:r>
            <a:endParaRPr lang="en-US" sz="1600" dirty="0"/>
          </a:p>
          <a:p>
            <a:pPr marL="228600" indent="-228600">
              <a:spcAft>
                <a:spcPts val="300"/>
              </a:spcAft>
              <a:buSzPct val="100000"/>
              <a:buChar char="•"/>
            </a:pPr>
            <a:r>
              <a:rPr lang="en-US" sz="1700" dirty="0">
                <a:solidFill>
                  <a:schemeClr val="tx1"/>
                </a:solidFill>
              </a:rPr>
              <a:t>Chaitanya Mahaprabhu</a:t>
            </a:r>
            <a:endParaRPr lang="en-US" sz="1600" dirty="0"/>
          </a:p>
          <a:p>
            <a:pPr marL="228600" indent="-228600">
              <a:spcAft>
                <a:spcPts val="300"/>
              </a:spcAft>
              <a:buSzPct val="100000"/>
              <a:buChar char="•"/>
            </a:pPr>
            <a:r>
              <a:rPr lang="en-US" sz="1700" dirty="0">
                <a:solidFill>
                  <a:schemeClr val="tx1"/>
                </a:solidFill>
              </a:rPr>
              <a:t>Krittibasa</a:t>
            </a:r>
            <a:endParaRPr lang="en-US" sz="1600" dirty="0"/>
          </a:p>
          <a:p>
            <a:pPr marL="228600" indent="-228600">
              <a:spcAft>
                <a:spcPts val="300"/>
              </a:spcAft>
              <a:buSzPct val="100000"/>
              <a:buChar char="•"/>
            </a:pPr>
            <a:r>
              <a:rPr lang="en-US" sz="1700" dirty="0">
                <a:solidFill>
                  <a:schemeClr val="tx1"/>
                </a:solidFill>
              </a:rPr>
              <a:t>Madhava Kandali</a:t>
            </a:r>
            <a:endParaRPr lang="en-US" sz="1600" dirty="0"/>
          </a:p>
          <a:p>
            <a:pPr marL="228600" indent="-228600">
              <a:spcAft>
                <a:spcPts val="300"/>
              </a:spcAft>
              <a:buSzPct val="100000"/>
              <a:buChar char="•"/>
            </a:pPr>
            <a:r>
              <a:rPr lang="en-US" sz="1700" dirty="0">
                <a:solidFill>
                  <a:schemeClr val="tx1"/>
                </a:solidFill>
              </a:rPr>
              <a:t>Sankardev</a:t>
            </a:r>
            <a:endParaRPr lang="en-US" sz="1600" dirty="0"/>
          </a:p>
        </p:txBody>
      </p:sp>
      <p:sp>
        <p:nvSpPr>
          <p:cNvPr id="13" name="card 3"/>
          <p:cNvSpPr/>
          <p:nvPr/>
        </p:nvSpPr>
        <p:spPr>
          <a:xfrm>
            <a:off x="6217920" y="1371600"/>
            <a:ext cx="2560320" cy="4251960"/>
          </a:xfrm>
          <a:prstGeom prst="roundRect">
            <a:avLst>
              <a:gd name="adj" fmla="val 4286"/>
            </a:avLst>
          </a:prstGeom>
          <a:solidFill>
            <a:schemeClr val="bg2"/>
          </a:solidFill>
          <a:ln w="12700">
            <a:solidFill>
              <a:schemeClr val="bg2"/>
            </a:solidFill>
            <a:prstDash val="solid"/>
          </a:ln>
        </p:spPr>
      </p:sp>
      <p:sp>
        <p:nvSpPr>
          <p:cNvPr id="14" name="card 3 disc"/>
          <p:cNvSpPr/>
          <p:nvPr/>
        </p:nvSpPr>
        <p:spPr>
          <a:xfrm>
            <a:off x="6400800" y="1554480"/>
            <a:ext cx="457200" cy="457200"/>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6501384" y="1655064"/>
            <a:ext cx="256032" cy="256032"/>
          </a:xfrm>
          <a:prstGeom prst="rect">
            <a:avLst/>
          </a:prstGeom>
        </p:spPr>
      </p:pic>
      <p:sp>
        <p:nvSpPr>
          <p:cNvPr id="16" name="Text 11"/>
          <p:cNvSpPr txBox="1"/>
          <p:nvPr/>
        </p:nvSpPr>
        <p:spPr>
          <a:xfrm>
            <a:off x="699516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West</a:t>
            </a:r>
            <a:endParaRPr lang="en-US" sz="1800" dirty="0"/>
          </a:p>
        </p:txBody>
      </p:sp>
      <p:sp>
        <p:nvSpPr>
          <p:cNvPr id="17" name="Text 12"/>
          <p:cNvSpPr txBox="1"/>
          <p:nvPr/>
        </p:nvSpPr>
        <p:spPr>
          <a:xfrm>
            <a:off x="640080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Eknath</a:t>
            </a:r>
            <a:endParaRPr lang="en-US" sz="1600" dirty="0"/>
          </a:p>
          <a:p>
            <a:pPr marL="228600" indent="-228600">
              <a:spcAft>
                <a:spcPts val="300"/>
              </a:spcAft>
              <a:buSzPct val="100000"/>
              <a:buChar char="•"/>
            </a:pPr>
            <a:r>
              <a:rPr lang="en-US" sz="1700" dirty="0">
                <a:solidFill>
                  <a:schemeClr val="tx1"/>
                </a:solidFill>
              </a:rPr>
              <a:t>Jnanadeva</a:t>
            </a:r>
            <a:endParaRPr lang="en-US" sz="1600" dirty="0"/>
          </a:p>
          <a:p>
            <a:pPr marL="228600" indent="-228600">
              <a:spcAft>
                <a:spcPts val="300"/>
              </a:spcAft>
              <a:buSzPct val="100000"/>
              <a:buChar char="•"/>
            </a:pPr>
            <a:r>
              <a:rPr lang="en-US" sz="1700" dirty="0">
                <a:solidFill>
                  <a:schemeClr val="tx1"/>
                </a:solidFill>
              </a:rPr>
              <a:t>Muktabai</a:t>
            </a:r>
            <a:endParaRPr lang="en-US" sz="1600" dirty="0"/>
          </a:p>
          <a:p>
            <a:pPr marL="228600" indent="-228600">
              <a:spcAft>
                <a:spcPts val="300"/>
              </a:spcAft>
              <a:buSzPct val="100000"/>
              <a:buChar char="•"/>
            </a:pPr>
            <a:r>
              <a:rPr lang="en-US" sz="1700" dirty="0">
                <a:solidFill>
                  <a:schemeClr val="tx1"/>
                </a:solidFill>
              </a:rPr>
              <a:t>Namadeva</a:t>
            </a:r>
            <a:endParaRPr lang="en-US" sz="1600" dirty="0"/>
          </a:p>
          <a:p>
            <a:pPr marL="228600" indent="-228600">
              <a:spcAft>
                <a:spcPts val="300"/>
              </a:spcAft>
              <a:buSzPct val="100000"/>
              <a:buChar char="•"/>
            </a:pPr>
            <a:r>
              <a:rPr lang="en-US" sz="1700" dirty="0">
                <a:solidFill>
                  <a:schemeClr val="tx1"/>
                </a:solidFill>
              </a:rPr>
              <a:t>Janabai</a:t>
            </a:r>
            <a:endParaRPr lang="en-US" sz="1600" dirty="0"/>
          </a:p>
          <a:p>
            <a:pPr marL="228600" indent="-228600">
              <a:spcAft>
                <a:spcPts val="300"/>
              </a:spcAft>
              <a:buSzPct val="100000"/>
              <a:buChar char="•"/>
            </a:pPr>
            <a:r>
              <a:rPr lang="en-US" sz="1700" dirty="0">
                <a:solidFill>
                  <a:schemeClr val="tx1"/>
                </a:solidFill>
              </a:rPr>
              <a:t>Chokhamela</a:t>
            </a:r>
            <a:endParaRPr lang="en-US" sz="1600" dirty="0"/>
          </a:p>
          <a:p>
            <a:pPr marL="228600" indent="-228600">
              <a:spcAft>
                <a:spcPts val="300"/>
              </a:spcAft>
              <a:buSzPct val="100000"/>
              <a:buChar char="•"/>
            </a:pPr>
            <a:r>
              <a:rPr lang="en-US" sz="1700" dirty="0">
                <a:solidFill>
                  <a:schemeClr val="tx1"/>
                </a:solidFill>
              </a:rPr>
              <a:t>Narasimha Mehta</a:t>
            </a:r>
            <a:endParaRPr lang="en-US" sz="1600" dirty="0"/>
          </a:p>
          <a:p>
            <a:pPr marL="228600" indent="-228600">
              <a:spcAft>
                <a:spcPts val="300"/>
              </a:spcAft>
              <a:buSzPct val="100000"/>
              <a:buChar char="•"/>
            </a:pPr>
            <a:r>
              <a:rPr lang="en-US" sz="1700" dirty="0">
                <a:solidFill>
                  <a:schemeClr val="tx1"/>
                </a:solidFill>
              </a:rPr>
              <a:t>Bhalana</a:t>
            </a:r>
            <a:endParaRPr lang="en-US" sz="1600" dirty="0"/>
          </a:p>
          <a:p>
            <a:pPr marL="228600" indent="-228600">
              <a:spcAft>
                <a:spcPts val="300"/>
              </a:spcAft>
              <a:buSzPct val="100000"/>
              <a:buChar char="•"/>
            </a:pPr>
            <a:r>
              <a:rPr lang="en-US" sz="1700" dirty="0">
                <a:solidFill>
                  <a:schemeClr val="tx1"/>
                </a:solidFill>
              </a:rPr>
              <a:t>Pipaji</a:t>
            </a:r>
            <a:endParaRPr lang="en-US" sz="1600" dirty="0"/>
          </a:p>
          <a:p>
            <a:pPr marL="228600" indent="-228600">
              <a:spcAft>
                <a:spcPts val="300"/>
              </a:spcAft>
              <a:buSzPct val="100000"/>
              <a:buChar char="•"/>
            </a:pPr>
            <a:r>
              <a:rPr lang="en-US" sz="1700" dirty="0">
                <a:solidFill>
                  <a:schemeClr val="tx1"/>
                </a:solidFill>
              </a:rPr>
              <a:t>Tukaram</a:t>
            </a:r>
            <a:endParaRPr lang="en-US" sz="1600" dirty="0"/>
          </a:p>
        </p:txBody>
      </p:sp>
      <p:sp>
        <p:nvSpPr>
          <p:cNvPr id="18" name="card 4"/>
          <p:cNvSpPr/>
          <p:nvPr/>
        </p:nvSpPr>
        <p:spPr>
          <a:xfrm>
            <a:off x="9052560" y="1371600"/>
            <a:ext cx="2560320" cy="4251960"/>
          </a:xfrm>
          <a:prstGeom prst="roundRect">
            <a:avLst>
              <a:gd name="adj" fmla="val 4286"/>
            </a:avLst>
          </a:prstGeom>
          <a:solidFill>
            <a:schemeClr val="bg2"/>
          </a:solidFill>
          <a:ln w="12700">
            <a:solidFill>
              <a:schemeClr val="bg2"/>
            </a:solidFill>
            <a:prstDash val="solid"/>
          </a:ln>
        </p:spPr>
      </p:sp>
      <p:sp>
        <p:nvSpPr>
          <p:cNvPr id="19" name="card 4 disc"/>
          <p:cNvSpPr/>
          <p:nvPr/>
        </p:nvSpPr>
        <p:spPr>
          <a:xfrm>
            <a:off x="9235440" y="1554480"/>
            <a:ext cx="457200" cy="457200"/>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336024" y="1655064"/>
            <a:ext cx="256032" cy="256032"/>
          </a:xfrm>
          <a:prstGeom prst="rect">
            <a:avLst/>
          </a:prstGeom>
        </p:spPr>
      </p:pic>
      <p:sp>
        <p:nvSpPr>
          <p:cNvPr id="21" name="Text 15"/>
          <p:cNvSpPr txBox="1"/>
          <p:nvPr/>
        </p:nvSpPr>
        <p:spPr>
          <a:xfrm>
            <a:off x="9829800" y="1554480"/>
            <a:ext cx="1600200" cy="457200"/>
          </a:xfrm>
          <a:prstGeom prst="rect">
            <a:avLst/>
          </a:prstGeom>
          <a:noFill/>
          <a:ln/>
        </p:spPr>
        <p:txBody>
          <a:bodyPr wrap="square" lIns="0" tIns="0" rIns="0" bIns="0" rtlCol="0" anchor="ctr"/>
          <a:lstStyle/>
          <a:p>
            <a:pPr indent="0" marL="0">
              <a:buNone/>
            </a:pPr>
            <a:r>
              <a:rPr lang="en-US" sz="1800" b="1" dirty="0">
                <a:solidFill>
                  <a:schemeClr val="tx2"/>
                </a:solidFill>
              </a:rPr>
              <a:t>South</a:t>
            </a:r>
            <a:endParaRPr lang="en-US" sz="1800" dirty="0"/>
          </a:p>
        </p:txBody>
      </p:sp>
      <p:sp>
        <p:nvSpPr>
          <p:cNvPr id="22" name="Text 16"/>
          <p:cNvSpPr txBox="1"/>
          <p:nvPr/>
        </p:nvSpPr>
        <p:spPr>
          <a:xfrm>
            <a:off x="9235440" y="2121408"/>
            <a:ext cx="2194560" cy="3364992"/>
          </a:xfrm>
          <a:prstGeom prst="rect">
            <a:avLst/>
          </a:prstGeom>
          <a:noFill/>
          <a:ln/>
        </p:spPr>
        <p:txBody>
          <a:bodyPr wrap="square" lIns="0" tIns="0" rIns="0" bIns="0" rtlCol="0" anchor="t"/>
          <a:lstStyle/>
          <a:p>
            <a:pPr marL="228600" indent="-228600">
              <a:spcAft>
                <a:spcPts val="300"/>
              </a:spcAft>
              <a:buSzPct val="100000"/>
              <a:buChar char="•"/>
            </a:pPr>
            <a:r>
              <a:rPr lang="en-US" sz="1700" dirty="0">
                <a:solidFill>
                  <a:schemeClr val="tx1"/>
                </a:solidFill>
              </a:rPr>
              <a:t>Basavanna</a:t>
            </a:r>
            <a:endParaRPr lang="en-US" sz="1600" dirty="0"/>
          </a:p>
          <a:p>
            <a:pPr marL="228600" indent="-228600">
              <a:spcAft>
                <a:spcPts val="300"/>
              </a:spcAft>
              <a:buSzPct val="100000"/>
              <a:buChar char="•"/>
            </a:pPr>
            <a:r>
              <a:rPr lang="en-US" sz="1700" dirty="0">
                <a:solidFill>
                  <a:schemeClr val="tx1"/>
                </a:solidFill>
              </a:rPr>
              <a:t>Madhvacharya</a:t>
            </a:r>
            <a:endParaRPr lang="en-US" sz="1600" dirty="0"/>
          </a:p>
          <a:p>
            <a:pPr marL="228600" indent="-228600">
              <a:spcAft>
                <a:spcPts val="300"/>
              </a:spcAft>
              <a:buSzPct val="100000"/>
              <a:buChar char="•"/>
            </a:pPr>
            <a:r>
              <a:rPr lang="en-US" sz="1700" dirty="0">
                <a:solidFill>
                  <a:schemeClr val="tx1"/>
                </a:solidFill>
              </a:rPr>
              <a:t>Annamacharya</a:t>
            </a:r>
            <a:endParaRPr lang="en-US" sz="1600" dirty="0"/>
          </a:p>
          <a:p>
            <a:pPr marL="228600" indent="-228600">
              <a:spcAft>
                <a:spcPts val="300"/>
              </a:spcAft>
              <a:buSzPct val="100000"/>
              <a:buChar char="•"/>
            </a:pPr>
            <a:r>
              <a:rPr lang="en-US" sz="1700" dirty="0">
                <a:solidFill>
                  <a:schemeClr val="tx1"/>
                </a:solidFill>
              </a:rPr>
              <a:t>Pothana</a:t>
            </a:r>
            <a:endParaRPr lang="en-US" sz="1600" dirty="0"/>
          </a:p>
          <a:p>
            <a:pPr marL="228600" indent="-228600">
              <a:spcAft>
                <a:spcPts val="300"/>
              </a:spcAft>
              <a:buSzPct val="100000"/>
              <a:buChar char="•"/>
            </a:pPr>
            <a:r>
              <a:rPr lang="en-US" sz="1700" dirty="0">
                <a:solidFill>
                  <a:schemeClr val="tx1"/>
                </a:solidFill>
              </a:rPr>
              <a:t>Poonthanam Namboothiri</a:t>
            </a:r>
            <a:endParaRPr lang="en-US" sz="1600" dirty="0"/>
          </a:p>
        </p:txBody>
      </p:sp>
      <p:sp>
        <p:nvSpPr>
          <p:cNvPr id="23"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24" name="Text 18"/>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b="1" dirty="0">
                <a:solidFill>
                  <a:schemeClr val="bg1"/>
                </a:solidFill>
              </a:rPr>
              <a:t>Let's Map:</a:t>
            </a:r>
            <a:r>
              <a:rPr lang="en-US" sz="1500" dirty="0">
                <a:solidFill>
                  <a:schemeClr val="bg1"/>
                </a:solidFill>
              </a:rPr>
              <a:t> Mark the states of these saints on an India map. Add one saint from our own state.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Think About It: A Vakh of Lal Ded</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VOICES FROM THE PAST</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To learn the scriptures is easy, to live them, hard.</a:t>
            </a: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The search for the Real is no simple matter.</a:t>
            </a: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Deep in my looking, the last words vanished.</a:t>
            </a:r>
            <a:endParaRPr lang="en-US" sz="2200" dirty="0"/>
          </a:p>
          <a:p>
            <a:pPr indent="0" marL="0">
              <a:buNone/>
            </a:pPr>
            <a:r>
              <a:rPr lang="en-US" sz="2200" i="1" dirty="0">
                <a:solidFill>
                  <a:schemeClr val="bg1"/>
                </a:solidFill>
                <a:latin typeface="Cambria" pitchFamily="34" charset="0"/>
                <a:ea typeface="Cambria" pitchFamily="34" charset="-122"/>
                <a:cs typeface="Cambria" pitchFamily="34" charset="-120"/>
              </a:rPr>
              <a:t>Joyous and silent, the waking that met me there.</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Translation of a vakh (saying) by Lal Ded, Kashmir (textbook Fig. 3.20)</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does Lal Ded say learning is </a:t>
            </a:r>
            <a:r>
              <a:rPr lang="en-US" sz="1600" b="1" dirty="0">
                <a:solidFill>
                  <a:schemeClr val="tx1"/>
                </a:solidFill>
              </a:rPr>
              <a:t>easy</a:t>
            </a:r>
            <a:r>
              <a:rPr lang="en-US" sz="1600" dirty="0">
                <a:solidFill>
                  <a:schemeClr val="tx1"/>
                </a:solidFill>
              </a:rPr>
              <a:t> but living it is </a:t>
            </a:r>
            <a:r>
              <a:rPr lang="en-US" sz="1600" b="1" dirty="0">
                <a:solidFill>
                  <a:schemeClr val="tx1"/>
                </a:solidFill>
              </a:rPr>
              <a:t>hard</a:t>
            </a:r>
            <a:r>
              <a:rPr lang="en-US" sz="1600" dirty="0">
                <a:solidFill>
                  <a:schemeClr val="tx1"/>
                </a:solidFill>
              </a:rPr>
              <a:t>?</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What is the difference between </a:t>
            </a:r>
            <a:r>
              <a:rPr lang="en-US" sz="1600" b="1" dirty="0">
                <a:solidFill>
                  <a:schemeClr val="tx1"/>
                </a:solidFill>
              </a:rPr>
              <a:t>knowing a rule</a:t>
            </a:r>
            <a:r>
              <a:rPr lang="en-US" sz="1600" dirty="0">
                <a:solidFill>
                  <a:schemeClr val="tx1"/>
                </a:solidFill>
              </a:rPr>
              <a:t> and </a:t>
            </a:r>
            <a:r>
              <a:rPr lang="en-US" sz="1600" b="1" dirty="0">
                <a:solidFill>
                  <a:schemeClr val="tx1"/>
                </a:solidFill>
              </a:rPr>
              <a:t>following it</a:t>
            </a:r>
            <a:r>
              <a:rPr lang="en-US" sz="1600" dirty="0">
                <a:solidFill>
                  <a:schemeClr val="tx1"/>
                </a:solidFill>
              </a:rPr>
              <a:t>?</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Give one example from your own daily life.</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Many Voices, Shared Devotion</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Raskhan</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Syed Ibrahim Khan wrote in Braj: </a:t>
            </a:r>
            <a:r>
              <a:rPr lang="en-US" sz="1800" b="1" dirty="0">
                <a:solidFill>
                  <a:schemeClr val="tx1"/>
                </a:solidFill>
              </a:rPr>
              <a:t>Prem Vatika</a:t>
            </a:r>
            <a:r>
              <a:rPr lang="en-US" sz="1800" dirty="0">
                <a:solidFill>
                  <a:schemeClr val="tx1"/>
                </a:solidFill>
              </a:rPr>
              <a:t>, </a:t>
            </a:r>
            <a:r>
              <a:rPr lang="en-US" sz="1800" b="1" dirty="0">
                <a:solidFill>
                  <a:schemeClr val="tx1"/>
                </a:solidFill>
              </a:rPr>
              <a:t>Sujan Raskhan</a:t>
            </a:r>
            <a:r>
              <a:rPr lang="en-US" sz="1800" dirty="0">
                <a:solidFill>
                  <a:schemeClr val="tx1"/>
                </a:solidFill>
              </a:rPr>
              <a:t>.</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Rahim</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Abdul Rahim Khan-i-Khana, a Mughal commander, wrote Braj poetry in devotion to Krishna.</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Bibi Lachimar</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Of Turkish origin, she devoted herself to the Bhakti of Vishnu.</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Sulh-i-kul</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Akbar's later policy of </a:t>
            </a:r>
            <a:r>
              <a:rPr lang="en-US" sz="1800" b="1" dirty="0">
                <a:solidFill>
                  <a:schemeClr val="tx1"/>
                </a:solidFill>
              </a:rPr>
              <a:t>'peace with all'</a:t>
            </a:r>
            <a:r>
              <a:rPr lang="en-US" sz="1800" dirty="0">
                <a:solidFill>
                  <a:schemeClr val="tx1"/>
                </a:solidFill>
              </a:rPr>
              <a:t>; it also sought wider political support.</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Sufism</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Chishti, Suhrawardi and other orders; khanqahs; used Hindavi and Bengali; some adopted pranayama.</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Goddess traditions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Kings invoked Shakti as protector, e.g. Shivaji's sword from </a:t>
            </a:r>
            <a:r>
              <a:rPr lang="en-US" sz="1800" b="1" dirty="0">
                <a:solidFill>
                  <a:schemeClr val="tx1"/>
                </a:solidFill>
              </a:rPr>
              <a:t>Tulja Bhavani</a:t>
            </a:r>
            <a:r>
              <a:rPr lang="en-US" sz="1800" dirty="0">
                <a:solidFill>
                  <a:schemeClr val="tx1"/>
                </a:solidFill>
              </a:rPr>
              <a:t>.</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Temples: Pillars of Society</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Economic hubs</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Managed land grants, employed hundreds of artisans and gave </a:t>
            </a:r>
            <a:r>
              <a:rPr lang="en-US" sz="1800" b="1" dirty="0">
                <a:solidFill>
                  <a:schemeClr val="tx1"/>
                </a:solidFill>
              </a:rPr>
              <a:t>credit</a:t>
            </a:r>
            <a:r>
              <a:rPr lang="en-US" sz="1800" dirty="0">
                <a:solidFill>
                  <a:schemeClr val="tx1"/>
                </a:solidFill>
              </a:rPr>
              <a:t> to farmers and traders.</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Learning and arts</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Centres of education and culture where arts like </a:t>
            </a:r>
            <a:r>
              <a:rPr lang="en-US" sz="1800" b="1" dirty="0">
                <a:solidFill>
                  <a:schemeClr val="tx1"/>
                </a:solidFill>
              </a:rPr>
              <a:t>Bharatanatyam</a:t>
            </a:r>
            <a:r>
              <a:rPr lang="en-US" sz="1800" dirty="0">
                <a:solidFill>
                  <a:schemeClr val="tx1"/>
                </a:solidFill>
              </a:rPr>
              <a:t> were preserved.</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Local authority</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800" dirty="0">
                <a:solidFill>
                  <a:schemeClr val="tx1"/>
                </a:solidFill>
              </a:rPr>
              <a:t>Collected local taxes and administered penalties (quasi-judicial roles).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Royal legitimacy</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Gajapati rulers called themselves the </a:t>
            </a:r>
            <a:r>
              <a:rPr lang="en-US" sz="1800" b="1" dirty="0">
                <a:solidFill>
                  <a:schemeClr val="tx1"/>
                </a:solidFill>
              </a:rPr>
              <a:t>Rauta (deputy) of Jagannath</a:t>
            </a:r>
            <a:r>
              <a:rPr lang="en-US" sz="1800" dirty="0">
                <a:solidFill>
                  <a:schemeClr val="tx1"/>
                </a:solidFill>
              </a:rPr>
              <a:t>.</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Funding farming</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800" dirty="0">
                <a:solidFill>
                  <a:schemeClr val="tx1"/>
                </a:solidFill>
              </a:rPr>
              <a:t>Brihadeeswara, Thanjavur: rich donations supported irrigation and farming.</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Temple towns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800" b="1" dirty="0">
                <a:solidFill>
                  <a:schemeClr val="tx1"/>
                </a:solidFill>
              </a:rPr>
              <a:t>Thanjavur, Kanchipuram and Puri</a:t>
            </a:r>
            <a:r>
              <a:rPr lang="en-US" sz="1800" dirty="0">
                <a:solidFill>
                  <a:schemeClr val="tx1"/>
                </a:solidFill>
              </a:rPr>
              <a:t> grew into major urban centres.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Destruction and Restoration</a:t>
            </a:r>
            <a:endParaRPr lang="en-US" sz="3600" dirty="0"/>
          </a:p>
        </p:txBody>
      </p:sp>
      <p:sp>
        <p:nvSpPr>
          <p:cNvPr id="3" name="Destruction header"/>
          <p:cNvSpPr/>
          <p:nvPr/>
        </p:nvSpPr>
        <p:spPr>
          <a:xfrm>
            <a:off x="548640" y="1371600"/>
            <a:ext cx="5257800" cy="777240"/>
          </a:xfrm>
          <a:prstGeom prst="roundRect">
            <a:avLst>
              <a:gd name="adj" fmla="val 14118"/>
            </a:avLst>
          </a:prstGeom>
          <a:solidFill>
            <a:schemeClr val="accent1"/>
          </a:solidFill>
          <a:ln w="12700">
            <a:solidFill>
              <a:schemeClr val="accent1"/>
            </a:solidFill>
            <a:prstDash val="solid"/>
          </a:ln>
        </p:spPr>
      </p:sp>
      <p:pic>
        <p:nvPicPr>
          <p:cNvPr id="4" name="Destruction icon" descr="preencoded.png">    </p:cNvPr>
          <p:cNvPicPr>
            <a:picLocks noChangeAspect="1"/>
          </p:cNvPicPr>
          <p:nvPr/>
        </p:nvPicPr>
        <p:blipFill>
          <a:blip r:embed="rId1"/>
          <a:stretch>
            <a:fillRect/>
          </a:stretch>
        </p:blipFill>
        <p:spPr>
          <a:xfrm>
            <a:off x="777240" y="1508760"/>
            <a:ext cx="502920" cy="502920"/>
          </a:xfrm>
          <a:prstGeom prst="rect">
            <a:avLst/>
          </a:prstGeom>
        </p:spPr>
      </p:pic>
      <p:sp>
        <p:nvSpPr>
          <p:cNvPr id="5" name="Text 2"/>
          <p:cNvSpPr txBox="1"/>
          <p:nvPr/>
        </p:nvSpPr>
        <p:spPr>
          <a:xfrm>
            <a:off x="146304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Destruction</a:t>
            </a:r>
            <a:endParaRPr lang="en-US" sz="2200" dirty="0"/>
          </a:p>
        </p:txBody>
      </p:sp>
      <p:sp>
        <p:nvSpPr>
          <p:cNvPr id="6" name="Destruction body"/>
          <p:cNvSpPr/>
          <p:nvPr/>
        </p:nvSpPr>
        <p:spPr>
          <a:xfrm>
            <a:off x="548640" y="2240280"/>
            <a:ext cx="5257800" cy="3383280"/>
          </a:xfrm>
          <a:prstGeom prst="roundRect">
            <a:avLst>
              <a:gd name="adj" fmla="val 3243"/>
            </a:avLst>
          </a:prstGeom>
          <a:solidFill>
            <a:schemeClr val="bg2"/>
          </a:solidFill>
          <a:ln w="12700">
            <a:solidFill>
              <a:schemeClr val="bg2"/>
            </a:solidFill>
            <a:prstDash val="solid"/>
          </a:ln>
        </p:spPr>
      </p:sp>
      <p:sp>
        <p:nvSpPr>
          <p:cNvPr id="7" name="Text 4"/>
          <p:cNvSpPr txBox="1"/>
          <p:nvPr/>
        </p:nvSpPr>
        <p:spPr>
          <a:xfrm>
            <a:off x="82296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From the 11th century: temples plundered in </a:t>
            </a:r>
            <a:r>
              <a:rPr lang="en-US" sz="2000" b="1" dirty="0">
                <a:solidFill>
                  <a:schemeClr val="tx1"/>
                </a:solidFill>
              </a:rPr>
              <a:t>Ghaznavid and Ghurid</a:t>
            </a:r>
            <a:r>
              <a:rPr lang="en-US" sz="2000" dirty="0">
                <a:solidFill>
                  <a:schemeClr val="tx1"/>
                </a:solidFill>
              </a:rPr>
              <a:t> invasions</a:t>
            </a:r>
            <a:endParaRPr lang="en-US" sz="1600" dirty="0"/>
          </a:p>
          <a:p>
            <a:pPr marL="228600" indent="-228600">
              <a:spcAft>
                <a:spcPts val="800"/>
              </a:spcAft>
              <a:buSzPct val="100000"/>
              <a:buChar char="•"/>
            </a:pPr>
            <a:r>
              <a:rPr lang="en-US" sz="2000" dirty="0">
                <a:solidFill>
                  <a:schemeClr val="tx1"/>
                </a:solidFill>
              </a:rPr>
              <a:t>Some sites turned into mosques</a:t>
            </a:r>
            <a:endParaRPr lang="en-US" sz="1600" dirty="0"/>
          </a:p>
          <a:p>
            <a:pPr marL="228600" indent="-228600">
              <a:spcAft>
                <a:spcPts val="800"/>
              </a:spcAft>
              <a:buSzPct val="100000"/>
              <a:buChar char="•"/>
            </a:pPr>
            <a:r>
              <a:rPr lang="en-US" sz="2000" dirty="0">
                <a:solidFill>
                  <a:schemeClr val="tx1"/>
                </a:solidFill>
              </a:rPr>
              <a:t>Kashi Vishwanath demolished under Aurangzeb</a:t>
            </a:r>
            <a:endParaRPr lang="en-US" sz="1600" dirty="0"/>
          </a:p>
        </p:txBody>
      </p:sp>
      <p:sp>
        <p:nvSpPr>
          <p:cNvPr id="8" name="Restoration and adaptation header"/>
          <p:cNvSpPr/>
          <p:nvPr/>
        </p:nvSpPr>
        <p:spPr>
          <a:xfrm>
            <a:off x="6355080" y="1371600"/>
            <a:ext cx="5257800" cy="777240"/>
          </a:xfrm>
          <a:prstGeom prst="roundRect">
            <a:avLst>
              <a:gd name="adj" fmla="val 14118"/>
            </a:avLst>
          </a:prstGeom>
          <a:solidFill>
            <a:schemeClr val="accent2"/>
          </a:solidFill>
          <a:ln w="12700">
            <a:solidFill>
              <a:schemeClr val="accent2"/>
            </a:solidFill>
            <a:prstDash val="solid"/>
          </a:ln>
        </p:spPr>
      </p:sp>
      <p:pic>
        <p:nvPicPr>
          <p:cNvPr id="9" name="Restoration and adaptation icon" descr="preencoded.png">    </p:cNvPr>
          <p:cNvPicPr>
            <a:picLocks noChangeAspect="1"/>
          </p:cNvPicPr>
          <p:nvPr/>
        </p:nvPicPr>
        <p:blipFill>
          <a:blip r:embed="rId2"/>
          <a:stretch>
            <a:fillRect/>
          </a:stretch>
        </p:blipFill>
        <p:spPr>
          <a:xfrm>
            <a:off x="6583680" y="1508760"/>
            <a:ext cx="502920" cy="502920"/>
          </a:xfrm>
          <a:prstGeom prst="rect">
            <a:avLst/>
          </a:prstGeom>
        </p:spPr>
      </p:pic>
      <p:sp>
        <p:nvSpPr>
          <p:cNvPr id="10" name="Text 6"/>
          <p:cNvSpPr txBox="1"/>
          <p:nvPr/>
        </p:nvSpPr>
        <p:spPr>
          <a:xfrm>
            <a:off x="7269480" y="1371600"/>
            <a:ext cx="4160520" cy="777240"/>
          </a:xfrm>
          <a:prstGeom prst="rect">
            <a:avLst/>
          </a:prstGeom>
          <a:noFill/>
          <a:ln/>
        </p:spPr>
        <p:txBody>
          <a:bodyPr wrap="square" lIns="0" tIns="0" rIns="0" bIns="0" rtlCol="0" anchor="ctr"/>
          <a:lstStyle/>
          <a:p>
            <a:pPr indent="0" marL="0">
              <a:buNone/>
            </a:pPr>
            <a:r>
              <a:rPr lang="en-US" sz="2200" b="1" dirty="0">
                <a:solidFill>
                  <a:schemeClr val="bg1"/>
                </a:solidFill>
              </a:rPr>
              <a:t>Restoration and adaptation</a:t>
            </a:r>
            <a:endParaRPr lang="en-US" sz="2200" dirty="0"/>
          </a:p>
        </p:txBody>
      </p:sp>
      <p:sp>
        <p:nvSpPr>
          <p:cNvPr id="11" name="Restoration and adaptation body"/>
          <p:cNvSpPr/>
          <p:nvPr/>
        </p:nvSpPr>
        <p:spPr>
          <a:xfrm>
            <a:off x="6355080" y="2240280"/>
            <a:ext cx="5257800" cy="3383280"/>
          </a:xfrm>
          <a:prstGeom prst="roundRect">
            <a:avLst>
              <a:gd name="adj" fmla="val 3243"/>
            </a:avLst>
          </a:prstGeom>
          <a:solidFill>
            <a:schemeClr val="bg2"/>
          </a:solidFill>
          <a:ln w="12700">
            <a:solidFill>
              <a:schemeClr val="bg2"/>
            </a:solidFill>
            <a:prstDash val="solid"/>
          </a:ln>
        </p:spPr>
      </p:sp>
      <p:sp>
        <p:nvSpPr>
          <p:cNvPr id="12" name="Text 8"/>
          <p:cNvSpPr txBox="1"/>
          <p:nvPr/>
        </p:nvSpPr>
        <p:spPr>
          <a:xfrm>
            <a:off x="6629400" y="2423160"/>
            <a:ext cx="4709160" cy="3017520"/>
          </a:xfrm>
          <a:prstGeom prst="rect">
            <a:avLst/>
          </a:prstGeom>
          <a:noFill/>
          <a:ln/>
        </p:spPr>
        <p:txBody>
          <a:bodyPr wrap="square" lIns="0" tIns="0" rIns="0" bIns="0" rtlCol="0" anchor="t"/>
          <a:lstStyle/>
          <a:p>
            <a:pPr marL="228600" indent="-228600">
              <a:spcAft>
                <a:spcPts val="800"/>
              </a:spcAft>
              <a:buSzPct val="100000"/>
              <a:buChar char="•"/>
            </a:pPr>
            <a:r>
              <a:rPr lang="en-US" sz="2000" dirty="0">
                <a:solidFill>
                  <a:schemeClr val="tx1"/>
                </a:solidFill>
              </a:rPr>
              <a:t>Kumara Kampana restored the temple at </a:t>
            </a:r>
            <a:r>
              <a:rPr lang="en-US" sz="2000" b="1" dirty="0">
                <a:solidFill>
                  <a:schemeClr val="tx1"/>
                </a:solidFill>
              </a:rPr>
              <a:t>Kannanur</a:t>
            </a:r>
            <a:endParaRPr lang="en-US" sz="1600" dirty="0"/>
          </a:p>
          <a:p>
            <a:pPr marL="228600" indent="-228600">
              <a:spcAft>
                <a:spcPts val="800"/>
              </a:spcAft>
              <a:buSzPct val="100000"/>
              <a:buChar char="•"/>
            </a:pPr>
            <a:r>
              <a:rPr lang="en-US" sz="2000" dirty="0">
                <a:solidFill>
                  <a:schemeClr val="tx1"/>
                </a:solidFill>
              </a:rPr>
              <a:t>Todar Mal and Raja Man Singh rebuilt </a:t>
            </a:r>
            <a:r>
              <a:rPr lang="en-US" sz="2000" b="1" dirty="0">
                <a:solidFill>
                  <a:schemeClr val="tx1"/>
                </a:solidFill>
              </a:rPr>
              <a:t>Kashi Vishwanath</a:t>
            </a:r>
            <a:r>
              <a:rPr lang="en-US" sz="2000" dirty="0">
                <a:solidFill>
                  <a:schemeClr val="tx1"/>
                </a:solidFill>
              </a:rPr>
              <a:t>; </a:t>
            </a:r>
            <a:r>
              <a:rPr lang="en-US" sz="2000" b="1" dirty="0">
                <a:solidFill>
                  <a:schemeClr val="tx1"/>
                </a:solidFill>
              </a:rPr>
              <a:t>Ahilyabai Holkar</a:t>
            </a:r>
            <a:r>
              <a:rPr lang="en-US" sz="2000" dirty="0">
                <a:solidFill>
                  <a:schemeClr val="tx1"/>
                </a:solidFill>
              </a:rPr>
              <a:t> built today's temple (1780)</a:t>
            </a:r>
            <a:endParaRPr lang="en-US" sz="1600" dirty="0"/>
          </a:p>
          <a:p>
            <a:pPr marL="228600" indent="-228600">
              <a:spcAft>
                <a:spcPts val="800"/>
              </a:spcAft>
              <a:buSzPct val="100000"/>
              <a:buChar char="•"/>
            </a:pPr>
            <a:r>
              <a:rPr lang="en-US" sz="2000" b="1" dirty="0">
                <a:solidFill>
                  <a:schemeClr val="tx1"/>
                </a:solidFill>
              </a:rPr>
              <a:t>Haveli temples:</a:t>
            </a:r>
            <a:r>
              <a:rPr lang="en-US" sz="2000" dirty="0">
                <a:solidFill>
                  <a:schemeClr val="tx1"/>
                </a:solidFill>
              </a:rPr>
              <a:t> plain, house-like, no tall shikharas, e.g. Jagat Shiromani, Amer</a:t>
            </a:r>
            <a:endParaRPr lang="en-US" sz="1600" dirty="0"/>
          </a:p>
        </p:txBody>
      </p:sp>
      <p:sp>
        <p:nvSpPr>
          <p:cNvPr id="13" name="vs badge"/>
          <p:cNvSpPr/>
          <p:nvPr/>
        </p:nvSpPr>
        <p:spPr>
          <a:xfrm>
            <a:off x="5733288" y="1417320"/>
            <a:ext cx="713232" cy="713232"/>
          </a:xfrm>
          <a:prstGeom prst="ellipse">
            <a:avLst/>
          </a:prstGeom>
          <a:solidFill>
            <a:schemeClr val="accent3"/>
          </a:solidFill>
          <a:ln w="25400">
            <a:solidFill>
              <a:schemeClr val="bg1"/>
            </a:solidFill>
            <a:prstDash val="solid"/>
          </a:ln>
        </p:spPr>
      </p:sp>
      <p:sp>
        <p:nvSpPr>
          <p:cNvPr id="14" name="Text 10"/>
          <p:cNvSpPr txBox="1"/>
          <p:nvPr/>
        </p:nvSpPr>
        <p:spPr>
          <a:xfrm>
            <a:off x="5733288" y="1417320"/>
            <a:ext cx="713232" cy="713232"/>
          </a:xfrm>
          <a:prstGeom prst="rect">
            <a:avLst/>
          </a:prstGeom>
          <a:noFill/>
          <a:ln/>
        </p:spPr>
        <p:txBody>
          <a:bodyPr wrap="square" lIns="0" tIns="0" rIns="0" bIns="0" rtlCol="0" anchor="ctr"/>
          <a:lstStyle/>
          <a:p>
            <a:pPr algn="ctr" indent="0" marL="0">
              <a:buNone/>
            </a:pPr>
            <a:r>
              <a:rPr lang="en-US" sz="1600" b="1" dirty="0">
                <a:solidFill>
                  <a:schemeClr val="tx2"/>
                </a:solidFill>
              </a:rPr>
              <a:t>→</a:t>
            </a:r>
            <a:endParaRPr lang="en-US" sz="1600" dirty="0"/>
          </a:p>
        </p:txBody>
      </p:sp>
      <p:sp>
        <p:nvSpPr>
          <p:cNvPr id="15" name="footnote band"/>
          <p:cNvSpPr/>
          <p:nvPr/>
        </p:nvSpPr>
        <p:spPr>
          <a:xfrm>
            <a:off x="548640" y="5760720"/>
            <a:ext cx="11064240" cy="502920"/>
          </a:xfrm>
          <a:prstGeom prst="roundRect">
            <a:avLst>
              <a:gd name="adj" fmla="val 14545"/>
            </a:avLst>
          </a:prstGeom>
          <a:solidFill>
            <a:schemeClr val="tx2"/>
          </a:solidFill>
          <a:ln w="12700">
            <a:solidFill>
              <a:schemeClr val="tx2"/>
            </a:solidFill>
            <a:prstDash val="solid"/>
          </a:ln>
        </p:spPr>
      </p:sp>
      <p:sp>
        <p:nvSpPr>
          <p:cNvPr id="16" name="Text 12"/>
          <p:cNvSpPr txBox="1"/>
          <p:nvPr/>
        </p:nvSpPr>
        <p:spPr>
          <a:xfrm>
            <a:off x="777240" y="5760720"/>
            <a:ext cx="10607040" cy="502920"/>
          </a:xfrm>
          <a:prstGeom prst="rect">
            <a:avLst/>
          </a:prstGeom>
          <a:noFill/>
          <a:ln/>
        </p:spPr>
        <p:txBody>
          <a:bodyPr wrap="square" lIns="0" tIns="0" rIns="0" bIns="0" rtlCol="0" anchor="ctr"/>
          <a:lstStyle/>
          <a:p>
            <a:pPr indent="0" marL="0">
              <a:buNone/>
            </a:pPr>
            <a:r>
              <a:rPr lang="en-US" sz="1500" dirty="0">
                <a:solidFill>
                  <a:schemeClr val="bg1"/>
                </a:solidFill>
              </a:rPr>
              <a:t>Jagat Singh's </a:t>
            </a:r>
            <a:r>
              <a:rPr lang="en-US" sz="1500" b="1" dirty="0">
                <a:solidFill>
                  <a:schemeClr val="bg1"/>
                </a:solidFill>
              </a:rPr>
              <a:t>Jagdish Temple</a:t>
            </a:r>
            <a:r>
              <a:rPr lang="en-US" sz="1500" dirty="0">
                <a:solidFill>
                  <a:schemeClr val="bg1"/>
                </a:solidFill>
              </a:rPr>
              <a:t>, Udaipur, was a religious and political response to Shah Jahan's Jama Masjid.</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A Strong Economy Fed Resilience</a:t>
            </a:r>
            <a:endParaRPr lang="en-US" sz="3600" dirty="0"/>
          </a:p>
        </p:txBody>
      </p:sp>
      <p:sp>
        <p:nvSpPr>
          <p:cNvPr id="3" name="card 1"/>
          <p:cNvSpPr/>
          <p:nvPr/>
        </p:nvSpPr>
        <p:spPr>
          <a:xfrm>
            <a:off x="548640" y="1371600"/>
            <a:ext cx="3505200" cy="2286000"/>
          </a:xfrm>
          <a:prstGeom prst="roundRect">
            <a:avLst>
              <a:gd name="adj" fmla="val 4800"/>
            </a:avLst>
          </a:prstGeom>
          <a:solidFill>
            <a:schemeClr val="bg2"/>
          </a:solidFill>
          <a:ln w="12700">
            <a:solidFill>
              <a:schemeClr val="bg2"/>
            </a:solidFill>
            <a:prstDash val="solid"/>
          </a:ln>
        </p:spPr>
      </p:sp>
      <p:sp>
        <p:nvSpPr>
          <p:cNvPr id="4" name="card 1 disc"/>
          <p:cNvSpPr/>
          <p:nvPr/>
        </p:nvSpPr>
        <p:spPr>
          <a:xfrm>
            <a:off x="777240" y="1600200"/>
            <a:ext cx="566928" cy="566928"/>
          </a:xfrm>
          <a:prstGeom prst="ellipse">
            <a:avLst/>
          </a:prstGeom>
          <a:solidFill>
            <a:schemeClr val="accent1"/>
          </a:solidFill>
          <a:ln w="12700">
            <a:solidFill>
              <a:schemeClr val="accent1"/>
            </a:solidFill>
            <a:prstDash val="solid"/>
          </a:ln>
        </p:spPr>
      </p:sp>
      <p:pic>
        <p:nvPicPr>
          <p:cNvPr id="5" name="card 1 glyph" descr="preencoded.png">    </p:cNvPr>
          <p:cNvPicPr>
            <a:picLocks noChangeAspect="1"/>
          </p:cNvPicPr>
          <p:nvPr/>
        </p:nvPicPr>
        <p:blipFill>
          <a:blip r:embed="rId1"/>
          <a:stretch>
            <a:fillRect/>
          </a:stretch>
        </p:blipFill>
        <p:spPr>
          <a:xfrm>
            <a:off x="901964" y="1724924"/>
            <a:ext cx="317480" cy="317480"/>
          </a:xfrm>
          <a:prstGeom prst="rect">
            <a:avLst/>
          </a:prstGeom>
        </p:spPr>
      </p:pic>
      <p:sp>
        <p:nvSpPr>
          <p:cNvPr id="6" name="Text 3"/>
          <p:cNvSpPr txBox="1"/>
          <p:nvPr/>
        </p:nvSpPr>
        <p:spPr>
          <a:xfrm>
            <a:off x="148132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Land revenue</a:t>
            </a:r>
            <a:endParaRPr lang="en-US" sz="1800" dirty="0"/>
          </a:p>
        </p:txBody>
      </p:sp>
      <p:sp>
        <p:nvSpPr>
          <p:cNvPr id="7" name="Text 4"/>
          <p:cNvSpPr txBox="1"/>
          <p:nvPr/>
        </p:nvSpPr>
        <p:spPr>
          <a:xfrm>
            <a:off x="77724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Main state income. Under Alauddin Khilji and Muhammad bin Tughlaq: up to </a:t>
            </a:r>
            <a:r>
              <a:rPr lang="en-US" sz="1700" b="1" dirty="0">
                <a:solidFill>
                  <a:schemeClr val="tx1"/>
                </a:solidFill>
              </a:rPr>
              <a:t>50%</a:t>
            </a:r>
            <a:r>
              <a:rPr lang="en-US" sz="1700" dirty="0">
                <a:solidFill>
                  <a:schemeClr val="tx1"/>
                </a:solidFill>
              </a:rPr>
              <a:t> of the crop.</a:t>
            </a:r>
            <a:endParaRPr lang="en-US" sz="1600" dirty="0"/>
          </a:p>
        </p:txBody>
      </p:sp>
      <p:sp>
        <p:nvSpPr>
          <p:cNvPr id="8" name="card 2"/>
          <p:cNvSpPr/>
          <p:nvPr/>
        </p:nvSpPr>
        <p:spPr>
          <a:xfrm>
            <a:off x="4328160" y="1371600"/>
            <a:ext cx="3505200" cy="2286000"/>
          </a:xfrm>
          <a:prstGeom prst="roundRect">
            <a:avLst>
              <a:gd name="adj" fmla="val 4800"/>
            </a:avLst>
          </a:prstGeom>
          <a:solidFill>
            <a:schemeClr val="bg2"/>
          </a:solidFill>
          <a:ln w="12700">
            <a:solidFill>
              <a:schemeClr val="bg2"/>
            </a:solidFill>
            <a:prstDash val="solid"/>
          </a:ln>
        </p:spPr>
      </p:sp>
      <p:sp>
        <p:nvSpPr>
          <p:cNvPr id="9" name="card 2 disc"/>
          <p:cNvSpPr/>
          <p:nvPr/>
        </p:nvSpPr>
        <p:spPr>
          <a:xfrm>
            <a:off x="4556760" y="1600200"/>
            <a:ext cx="566928" cy="566928"/>
          </a:xfrm>
          <a:prstGeom prst="ellipse">
            <a:avLst/>
          </a:prstGeom>
          <a:solidFill>
            <a:schemeClr val="accent2"/>
          </a:solidFill>
          <a:ln w="12700">
            <a:solidFill>
              <a:schemeClr val="accent2"/>
            </a:solidFill>
            <a:prstDash val="solid"/>
          </a:ln>
        </p:spPr>
      </p:sp>
      <p:pic>
        <p:nvPicPr>
          <p:cNvPr id="10" name="card 2 glyph" descr="preencoded.png">    </p:cNvPr>
          <p:cNvPicPr>
            <a:picLocks noChangeAspect="1"/>
          </p:cNvPicPr>
          <p:nvPr/>
        </p:nvPicPr>
        <p:blipFill>
          <a:blip r:embed="rId2"/>
          <a:stretch>
            <a:fillRect/>
          </a:stretch>
        </p:blipFill>
        <p:spPr>
          <a:xfrm>
            <a:off x="4681484" y="1724924"/>
            <a:ext cx="317480" cy="317480"/>
          </a:xfrm>
          <a:prstGeom prst="rect">
            <a:avLst/>
          </a:prstGeom>
        </p:spPr>
      </p:pic>
      <p:sp>
        <p:nvSpPr>
          <p:cNvPr id="11" name="Text 7"/>
          <p:cNvSpPr txBox="1"/>
          <p:nvPr/>
        </p:nvSpPr>
        <p:spPr>
          <a:xfrm>
            <a:off x="526084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Irrigation</a:t>
            </a:r>
            <a:endParaRPr lang="en-US" sz="1800" dirty="0"/>
          </a:p>
        </p:txBody>
      </p:sp>
      <p:sp>
        <p:nvSpPr>
          <p:cNvPr id="12" name="Text 8"/>
          <p:cNvSpPr txBox="1"/>
          <p:nvPr/>
        </p:nvSpPr>
        <p:spPr>
          <a:xfrm>
            <a:off x="455676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Rope pulleys and the </a:t>
            </a:r>
            <a:r>
              <a:rPr lang="en-US" sz="1700" b="1" dirty="0">
                <a:solidFill>
                  <a:schemeClr val="tx1"/>
                </a:solidFill>
              </a:rPr>
              <a:t>Persian wheel</a:t>
            </a:r>
            <a:r>
              <a:rPr lang="en-US" sz="1700" dirty="0">
                <a:solidFill>
                  <a:schemeClr val="tx1"/>
                </a:solidFill>
              </a:rPr>
              <a:t>; Vijayanagara invested in small-scale irrigation.</a:t>
            </a:r>
            <a:endParaRPr lang="en-US" sz="1600" dirty="0"/>
          </a:p>
        </p:txBody>
      </p:sp>
      <p:sp>
        <p:nvSpPr>
          <p:cNvPr id="13" name="card 3"/>
          <p:cNvSpPr/>
          <p:nvPr/>
        </p:nvSpPr>
        <p:spPr>
          <a:xfrm>
            <a:off x="8107680" y="1371600"/>
            <a:ext cx="3505200" cy="2286000"/>
          </a:xfrm>
          <a:prstGeom prst="roundRect">
            <a:avLst>
              <a:gd name="adj" fmla="val 4800"/>
            </a:avLst>
          </a:prstGeom>
          <a:solidFill>
            <a:schemeClr val="bg2"/>
          </a:solidFill>
          <a:ln w="12700">
            <a:solidFill>
              <a:schemeClr val="bg2"/>
            </a:solidFill>
            <a:prstDash val="solid"/>
          </a:ln>
        </p:spPr>
      </p:sp>
      <p:sp>
        <p:nvSpPr>
          <p:cNvPr id="14" name="card 3 disc"/>
          <p:cNvSpPr/>
          <p:nvPr/>
        </p:nvSpPr>
        <p:spPr>
          <a:xfrm>
            <a:off x="8336280" y="1600200"/>
            <a:ext cx="566928" cy="566928"/>
          </a:xfrm>
          <a:prstGeom prst="ellipse">
            <a:avLst/>
          </a:prstGeom>
          <a:solidFill>
            <a:schemeClr val="accent4"/>
          </a:solidFill>
          <a:ln w="12700">
            <a:solidFill>
              <a:schemeClr val="accent4"/>
            </a:solidFill>
            <a:prstDash val="solid"/>
          </a:ln>
        </p:spPr>
      </p:sp>
      <p:pic>
        <p:nvPicPr>
          <p:cNvPr id="15" name="card 3 glyph" descr="preencoded.png">    </p:cNvPr>
          <p:cNvPicPr>
            <a:picLocks noChangeAspect="1"/>
          </p:cNvPicPr>
          <p:nvPr/>
        </p:nvPicPr>
        <p:blipFill>
          <a:blip r:embed="rId3"/>
          <a:stretch>
            <a:fillRect/>
          </a:stretch>
        </p:blipFill>
        <p:spPr>
          <a:xfrm>
            <a:off x="8461004" y="1724924"/>
            <a:ext cx="317480" cy="317480"/>
          </a:xfrm>
          <a:prstGeom prst="rect">
            <a:avLst/>
          </a:prstGeom>
        </p:spPr>
      </p:pic>
      <p:sp>
        <p:nvSpPr>
          <p:cNvPr id="16" name="Text 11"/>
          <p:cNvSpPr txBox="1"/>
          <p:nvPr/>
        </p:nvSpPr>
        <p:spPr>
          <a:xfrm>
            <a:off x="9040368" y="160020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Hundi</a:t>
            </a:r>
            <a:endParaRPr lang="en-US" sz="1800" dirty="0"/>
          </a:p>
        </p:txBody>
      </p:sp>
      <p:sp>
        <p:nvSpPr>
          <p:cNvPr id="17" name="Text 12"/>
          <p:cNvSpPr txBox="1"/>
          <p:nvPr/>
        </p:nvSpPr>
        <p:spPr>
          <a:xfrm>
            <a:off x="8336280" y="2276856"/>
            <a:ext cx="3048000" cy="1243584"/>
          </a:xfrm>
          <a:prstGeom prst="rect">
            <a:avLst/>
          </a:prstGeom>
          <a:noFill/>
          <a:ln/>
        </p:spPr>
        <p:txBody>
          <a:bodyPr wrap="square" lIns="0" tIns="0" rIns="0" bIns="0" rtlCol="0" anchor="t"/>
          <a:lstStyle/>
          <a:p>
            <a:pPr indent="0" marL="0">
              <a:buNone/>
            </a:pPr>
            <a:r>
              <a:rPr lang="en-US" sz="1700" dirty="0">
                <a:solidFill>
                  <a:schemeClr val="tx1"/>
                </a:solidFill>
              </a:rPr>
              <a:t>A </a:t>
            </a:r>
            <a:r>
              <a:rPr lang="en-US" sz="1700" b="1" dirty="0">
                <a:solidFill>
                  <a:schemeClr val="tx1"/>
                </a:solidFill>
              </a:rPr>
              <a:t>bill of exchange</a:t>
            </a:r>
            <a:r>
              <a:rPr lang="en-US" sz="1700" dirty="0">
                <a:solidFill>
                  <a:schemeClr val="tx1"/>
                </a:solidFill>
              </a:rPr>
              <a:t>, like a cheque, run by sarrafs and their agents (gumasthas).</a:t>
            </a:r>
            <a:endParaRPr lang="en-US" sz="1600" dirty="0"/>
          </a:p>
        </p:txBody>
      </p:sp>
      <p:sp>
        <p:nvSpPr>
          <p:cNvPr id="18" name="card 4"/>
          <p:cNvSpPr/>
          <p:nvPr/>
        </p:nvSpPr>
        <p:spPr>
          <a:xfrm>
            <a:off x="548640" y="3931920"/>
            <a:ext cx="3505200" cy="2286000"/>
          </a:xfrm>
          <a:prstGeom prst="roundRect">
            <a:avLst>
              <a:gd name="adj" fmla="val 4800"/>
            </a:avLst>
          </a:prstGeom>
          <a:solidFill>
            <a:schemeClr val="bg2"/>
          </a:solidFill>
          <a:ln w="12700">
            <a:solidFill>
              <a:schemeClr val="bg2"/>
            </a:solidFill>
            <a:prstDash val="solid"/>
          </a:ln>
        </p:spPr>
      </p:sp>
      <p:sp>
        <p:nvSpPr>
          <p:cNvPr id="19" name="card 4 disc"/>
          <p:cNvSpPr/>
          <p:nvPr/>
        </p:nvSpPr>
        <p:spPr>
          <a:xfrm>
            <a:off x="777240" y="4160520"/>
            <a:ext cx="566928" cy="566928"/>
          </a:xfrm>
          <a:prstGeom prst="ellipse">
            <a:avLst/>
          </a:prstGeom>
          <a:solidFill>
            <a:schemeClr val="accent5"/>
          </a:solidFill>
          <a:ln w="12700">
            <a:solidFill>
              <a:schemeClr val="accent5"/>
            </a:solidFill>
            <a:prstDash val="solid"/>
          </a:ln>
        </p:spPr>
      </p:sp>
      <p:pic>
        <p:nvPicPr>
          <p:cNvPr id="20" name="card 4 glyph" descr="preencoded.png">    </p:cNvPr>
          <p:cNvPicPr>
            <a:picLocks noChangeAspect="1"/>
          </p:cNvPicPr>
          <p:nvPr/>
        </p:nvPicPr>
        <p:blipFill>
          <a:blip r:embed="rId4"/>
          <a:stretch>
            <a:fillRect/>
          </a:stretch>
        </p:blipFill>
        <p:spPr>
          <a:xfrm>
            <a:off x="901964" y="4285244"/>
            <a:ext cx="317480" cy="317480"/>
          </a:xfrm>
          <a:prstGeom prst="rect">
            <a:avLst/>
          </a:prstGeom>
        </p:spPr>
      </p:pic>
      <p:sp>
        <p:nvSpPr>
          <p:cNvPr id="21" name="Text 15"/>
          <p:cNvSpPr txBox="1"/>
          <p:nvPr/>
        </p:nvSpPr>
        <p:spPr>
          <a:xfrm>
            <a:off x="148132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Caravans and banjaras</a:t>
            </a:r>
            <a:endParaRPr lang="en-US" sz="1800" dirty="0"/>
          </a:p>
        </p:txBody>
      </p:sp>
      <p:sp>
        <p:nvSpPr>
          <p:cNvPr id="22" name="Text 16"/>
          <p:cNvSpPr txBox="1"/>
          <p:nvPr/>
        </p:nvSpPr>
        <p:spPr>
          <a:xfrm>
            <a:off x="77724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Linked villages, towns and Central Asian routes.</a:t>
            </a:r>
            <a:endParaRPr lang="en-US" sz="1600" dirty="0"/>
          </a:p>
        </p:txBody>
      </p:sp>
      <p:sp>
        <p:nvSpPr>
          <p:cNvPr id="23" name="card 5"/>
          <p:cNvSpPr/>
          <p:nvPr/>
        </p:nvSpPr>
        <p:spPr>
          <a:xfrm>
            <a:off x="4328160" y="3931920"/>
            <a:ext cx="3505200" cy="2286000"/>
          </a:xfrm>
          <a:prstGeom prst="roundRect">
            <a:avLst>
              <a:gd name="adj" fmla="val 4800"/>
            </a:avLst>
          </a:prstGeom>
          <a:solidFill>
            <a:schemeClr val="bg2"/>
          </a:solidFill>
          <a:ln w="12700">
            <a:solidFill>
              <a:schemeClr val="bg2"/>
            </a:solidFill>
            <a:prstDash val="solid"/>
          </a:ln>
        </p:spPr>
      </p:sp>
      <p:sp>
        <p:nvSpPr>
          <p:cNvPr id="24" name="card 5 disc"/>
          <p:cNvSpPr/>
          <p:nvPr/>
        </p:nvSpPr>
        <p:spPr>
          <a:xfrm>
            <a:off x="4556760" y="4160520"/>
            <a:ext cx="566928" cy="566928"/>
          </a:xfrm>
          <a:prstGeom prst="ellipse">
            <a:avLst/>
          </a:prstGeom>
          <a:solidFill>
            <a:schemeClr val="accent6"/>
          </a:solidFill>
          <a:ln w="12700">
            <a:solidFill>
              <a:schemeClr val="accent6"/>
            </a:solidFill>
            <a:prstDash val="solid"/>
          </a:ln>
        </p:spPr>
      </p:sp>
      <p:pic>
        <p:nvPicPr>
          <p:cNvPr id="25" name="card 5 glyph" descr="preencoded.png">    </p:cNvPr>
          <p:cNvPicPr>
            <a:picLocks noChangeAspect="1"/>
          </p:cNvPicPr>
          <p:nvPr/>
        </p:nvPicPr>
        <p:blipFill>
          <a:blip r:embed="rId5"/>
          <a:stretch>
            <a:fillRect/>
          </a:stretch>
        </p:blipFill>
        <p:spPr>
          <a:xfrm>
            <a:off x="4681484" y="4285244"/>
            <a:ext cx="317480" cy="317480"/>
          </a:xfrm>
          <a:prstGeom prst="rect">
            <a:avLst/>
          </a:prstGeom>
        </p:spPr>
      </p:pic>
      <p:sp>
        <p:nvSpPr>
          <p:cNvPr id="26" name="Text 19"/>
          <p:cNvSpPr txBox="1"/>
          <p:nvPr/>
        </p:nvSpPr>
        <p:spPr>
          <a:xfrm>
            <a:off x="526084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Indian Ocean trade</a:t>
            </a:r>
            <a:endParaRPr lang="en-US" sz="1800" dirty="0"/>
          </a:p>
        </p:txBody>
      </p:sp>
      <p:sp>
        <p:nvSpPr>
          <p:cNvPr id="27" name="Text 20"/>
          <p:cNvSpPr txBox="1"/>
          <p:nvPr/>
        </p:nvSpPr>
        <p:spPr>
          <a:xfrm>
            <a:off x="455676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From the 13th century India became a hub linking the Persian Gulf, Mediterranean and China.</a:t>
            </a:r>
            <a:endParaRPr lang="en-US" sz="1600" dirty="0"/>
          </a:p>
        </p:txBody>
      </p:sp>
      <p:sp>
        <p:nvSpPr>
          <p:cNvPr id="28" name="card 6"/>
          <p:cNvSpPr/>
          <p:nvPr/>
        </p:nvSpPr>
        <p:spPr>
          <a:xfrm>
            <a:off x="8107680" y="3931920"/>
            <a:ext cx="3505200" cy="2286000"/>
          </a:xfrm>
          <a:prstGeom prst="roundRect">
            <a:avLst>
              <a:gd name="adj" fmla="val 4800"/>
            </a:avLst>
          </a:prstGeom>
          <a:solidFill>
            <a:schemeClr val="bg2"/>
          </a:solidFill>
          <a:ln w="12700">
            <a:solidFill>
              <a:schemeClr val="bg2"/>
            </a:solidFill>
            <a:prstDash val="solid"/>
          </a:ln>
        </p:spPr>
      </p:sp>
      <p:sp>
        <p:nvSpPr>
          <p:cNvPr id="29" name="card 6 disc"/>
          <p:cNvSpPr/>
          <p:nvPr/>
        </p:nvSpPr>
        <p:spPr>
          <a:xfrm>
            <a:off x="8336280" y="4160520"/>
            <a:ext cx="566928" cy="566928"/>
          </a:xfrm>
          <a:prstGeom prst="ellipse">
            <a:avLst/>
          </a:prstGeom>
          <a:solidFill>
            <a:schemeClr val="accent1"/>
          </a:solidFill>
          <a:ln w="12700">
            <a:solidFill>
              <a:schemeClr val="accent1"/>
            </a:solidFill>
            <a:prstDash val="solid"/>
          </a:ln>
        </p:spPr>
      </p:sp>
      <p:pic>
        <p:nvPicPr>
          <p:cNvPr id="30" name="card 6 glyph" descr="preencoded.png">    </p:cNvPr>
          <p:cNvPicPr>
            <a:picLocks noChangeAspect="1"/>
          </p:cNvPicPr>
          <p:nvPr/>
        </p:nvPicPr>
        <p:blipFill>
          <a:blip r:embed="rId6"/>
          <a:stretch>
            <a:fillRect/>
          </a:stretch>
        </p:blipFill>
        <p:spPr>
          <a:xfrm>
            <a:off x="8461004" y="4285244"/>
            <a:ext cx="317480" cy="317480"/>
          </a:xfrm>
          <a:prstGeom prst="rect">
            <a:avLst/>
          </a:prstGeom>
        </p:spPr>
      </p:pic>
      <p:sp>
        <p:nvSpPr>
          <p:cNvPr id="31" name="Text 23"/>
          <p:cNvSpPr txBox="1"/>
          <p:nvPr/>
        </p:nvSpPr>
        <p:spPr>
          <a:xfrm>
            <a:off x="9040368" y="4160520"/>
            <a:ext cx="2343912" cy="566928"/>
          </a:xfrm>
          <a:prstGeom prst="rect">
            <a:avLst/>
          </a:prstGeom>
          <a:noFill/>
          <a:ln/>
        </p:spPr>
        <p:txBody>
          <a:bodyPr wrap="square" lIns="0" tIns="0" rIns="0" bIns="0" rtlCol="0" anchor="ctr"/>
          <a:lstStyle/>
          <a:p>
            <a:pPr indent="0" marL="0">
              <a:buNone/>
            </a:pPr>
            <a:r>
              <a:rPr lang="en-US" sz="1800" b="1" dirty="0">
                <a:solidFill>
                  <a:schemeClr val="tx2"/>
                </a:solidFill>
              </a:rPr>
              <a:t>Versatile merchants</a:t>
            </a:r>
            <a:endParaRPr lang="en-US" sz="1800" dirty="0"/>
          </a:p>
        </p:txBody>
      </p:sp>
      <p:sp>
        <p:nvSpPr>
          <p:cNvPr id="32" name="Text 24"/>
          <p:cNvSpPr txBox="1"/>
          <p:nvPr/>
        </p:nvSpPr>
        <p:spPr>
          <a:xfrm>
            <a:off x="8336280" y="4837176"/>
            <a:ext cx="3048000" cy="1243584"/>
          </a:xfrm>
          <a:prstGeom prst="rect">
            <a:avLst/>
          </a:prstGeom>
          <a:noFill/>
          <a:ln/>
        </p:spPr>
        <p:txBody>
          <a:bodyPr wrap="square" lIns="0" tIns="0" rIns="0" bIns="0" rtlCol="0" anchor="t"/>
          <a:lstStyle/>
          <a:p>
            <a:pPr indent="0" marL="0">
              <a:buNone/>
            </a:pPr>
            <a:r>
              <a:rPr lang="en-US" sz="1700" dirty="0">
                <a:solidFill>
                  <a:schemeClr val="tx1"/>
                </a:solidFill>
              </a:rPr>
              <a:t>Traders, bankers, brokers, </a:t>
            </a:r>
            <a:r>
              <a:rPr lang="en-US" sz="1700" b="1" dirty="0">
                <a:solidFill>
                  <a:schemeClr val="tx1"/>
                </a:solidFill>
              </a:rPr>
              <a:t>dubhashis</a:t>
            </a:r>
            <a:r>
              <a:rPr lang="en-US" sz="1700" dirty="0">
                <a:solidFill>
                  <a:schemeClr val="tx1"/>
                </a:solidFill>
              </a:rPr>
              <a:t> (interpreters); some peasants learnt Portuguese, French and Persian.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Source Detective: A King's Advice on Trade</a:t>
            </a:r>
            <a:endParaRPr lang="en-US" sz="3600" dirty="0"/>
          </a:p>
        </p:txBody>
      </p:sp>
      <p:sp>
        <p:nvSpPr>
          <p:cNvPr id="3" name="source card"/>
          <p:cNvSpPr/>
          <p:nvPr/>
        </p:nvSpPr>
        <p:spPr>
          <a:xfrm>
            <a:off x="548640" y="1371600"/>
            <a:ext cx="6309360" cy="4846320"/>
          </a:xfrm>
          <a:prstGeom prst="roundRect">
            <a:avLst>
              <a:gd name="adj" fmla="val 2264"/>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pic>
        <p:nvPicPr>
          <p:cNvPr id="4" name="source icon" descr="preencoded.png">    </p:cNvPr>
          <p:cNvPicPr>
            <a:picLocks noChangeAspect="1"/>
          </p:cNvPicPr>
          <p:nvPr/>
        </p:nvPicPr>
        <p:blipFill>
          <a:blip r:embed="rId1"/>
          <a:stretch>
            <a:fillRect/>
          </a:stretch>
        </p:blipFill>
        <p:spPr>
          <a:xfrm>
            <a:off x="868680" y="1645920"/>
            <a:ext cx="502920" cy="502920"/>
          </a:xfrm>
          <a:prstGeom prst="rect">
            <a:avLst/>
          </a:prstGeom>
        </p:spPr>
      </p:pic>
      <p:sp>
        <p:nvSpPr>
          <p:cNvPr id="5" name="Text 2"/>
          <p:cNvSpPr txBox="1"/>
          <p:nvPr/>
        </p:nvSpPr>
        <p:spPr>
          <a:xfrm>
            <a:off x="1508760" y="1645920"/>
            <a:ext cx="5029200" cy="502920"/>
          </a:xfrm>
          <a:prstGeom prst="rect">
            <a:avLst/>
          </a:prstGeom>
          <a:noFill/>
          <a:ln/>
        </p:spPr>
        <p:txBody>
          <a:bodyPr wrap="square" lIns="0" tIns="0" rIns="0" bIns="0" rtlCol="0" anchor="ctr"/>
          <a:lstStyle/>
          <a:p>
            <a:pPr indent="0" marL="0">
              <a:buNone/>
            </a:pPr>
            <a:r>
              <a:rPr lang="en-US" sz="1400" b="1" spc="200" kern="0" dirty="0">
                <a:solidFill>
                  <a:schemeClr val="accent3"/>
                </a:solidFill>
              </a:rPr>
              <a:t>SOURCE DETECTIVE</a:t>
            </a:r>
            <a:endParaRPr lang="en-US" sz="1400" dirty="0"/>
          </a:p>
        </p:txBody>
      </p:sp>
      <p:sp>
        <p:nvSpPr>
          <p:cNvPr id="6" name="Text 3"/>
          <p:cNvSpPr txBox="1"/>
          <p:nvPr/>
        </p:nvSpPr>
        <p:spPr>
          <a:xfrm>
            <a:off x="868680" y="2331720"/>
            <a:ext cx="5669280" cy="3246120"/>
          </a:xfrm>
          <a:prstGeom prst="rect">
            <a:avLst/>
          </a:prstGeom>
          <a:noFill/>
          <a:ln/>
        </p:spPr>
        <p:txBody>
          <a:bodyPr wrap="square" lIns="0" tIns="0" rIns="0" bIns="0" rtlCol="0" anchor="t"/>
          <a:lstStyle/>
          <a:p>
            <a:pPr indent="0" marL="0">
              <a:buNone/>
            </a:pPr>
            <a:r>
              <a:rPr lang="en-US" sz="2200" i="1" dirty="0">
                <a:solidFill>
                  <a:schemeClr val="bg1"/>
                </a:solidFill>
                <a:latin typeface="Cambria" pitchFamily="34" charset="0"/>
                <a:ea typeface="Cambria" pitchFamily="34" charset="-122"/>
                <a:cs typeface="Cambria" pitchFamily="34" charset="-120"/>
              </a:rPr>
              <a:t>"Manage your ports well, and let commerce increase in horses, elephants, and gems, pearls, and sandal-paste. When drought, sickness, and calamity make foreigners seek refuge in your lands, shelter them in keeping with their station."</a:t>
            </a:r>
            <a:endParaRPr lang="en-US" sz="2200" dirty="0"/>
          </a:p>
        </p:txBody>
      </p:sp>
      <p:sp>
        <p:nvSpPr>
          <p:cNvPr id="7" name="Text 4"/>
          <p:cNvSpPr txBox="1"/>
          <p:nvPr/>
        </p:nvSpPr>
        <p:spPr>
          <a:xfrm>
            <a:off x="868680" y="5623560"/>
            <a:ext cx="5669280" cy="457200"/>
          </a:xfrm>
          <a:prstGeom prst="rect">
            <a:avLst/>
          </a:prstGeom>
          <a:noFill/>
          <a:ln/>
        </p:spPr>
        <p:txBody>
          <a:bodyPr wrap="square" lIns="0" tIns="0" rIns="0" bIns="0" rtlCol="0" anchor="b"/>
          <a:lstStyle/>
          <a:p>
            <a:pPr indent="0" marL="0">
              <a:buNone/>
            </a:pPr>
            <a:r>
              <a:rPr lang="en-US" sz="1200" dirty="0">
                <a:solidFill>
                  <a:schemeClr val="bg2"/>
                </a:solidFill>
              </a:rPr>
              <a:t>Krishnadevaraya, Amukthamalyada (translated excerpt, textbook Fig. 3.30)</a:t>
            </a:r>
            <a:endParaRPr lang="en-US" sz="1200" dirty="0"/>
          </a:p>
        </p:txBody>
      </p:sp>
      <p:sp>
        <p:nvSpPr>
          <p:cNvPr id="8" name="tasks card"/>
          <p:cNvSpPr/>
          <p:nvPr/>
        </p:nvSpPr>
        <p:spPr>
          <a:xfrm>
            <a:off x="7132320" y="1371600"/>
            <a:ext cx="4480560" cy="4846320"/>
          </a:xfrm>
          <a:prstGeom prst="roundRect">
            <a:avLst>
              <a:gd name="adj" fmla="val 2449"/>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Text 6"/>
          <p:cNvSpPr txBox="1"/>
          <p:nvPr/>
        </p:nvSpPr>
        <p:spPr>
          <a:xfrm>
            <a:off x="7406640" y="1600200"/>
            <a:ext cx="3931920" cy="457200"/>
          </a:xfrm>
          <a:prstGeom prst="rect">
            <a:avLst/>
          </a:prstGeom>
          <a:noFill/>
          <a:ln/>
        </p:spPr>
        <p:txBody>
          <a:bodyPr wrap="square" lIns="0" tIns="0" rIns="0" bIns="0" rtlCol="0" anchor="ctr"/>
          <a:lstStyle/>
          <a:p>
            <a:pPr indent="0" marL="0">
              <a:buNone/>
            </a:pPr>
            <a:r>
              <a:rPr lang="en-US" sz="2000" b="1" dirty="0">
                <a:solidFill>
                  <a:schemeClr val="accent1"/>
                </a:solidFill>
              </a:rPr>
              <a:t>Your task</a:t>
            </a:r>
            <a:endParaRPr lang="en-US" sz="2000" dirty="0"/>
          </a:p>
        </p:txBody>
      </p:sp>
      <p:sp>
        <p:nvSpPr>
          <p:cNvPr id="10" name="task 1 badge"/>
          <p:cNvSpPr/>
          <p:nvPr/>
        </p:nvSpPr>
        <p:spPr>
          <a:xfrm>
            <a:off x="7406640" y="2212848"/>
            <a:ext cx="384048" cy="384048"/>
          </a:xfrm>
          <a:prstGeom prst="ellipse">
            <a:avLst/>
          </a:prstGeom>
          <a:solidFill>
            <a:schemeClr val="accent1"/>
          </a:solidFill>
          <a:ln w="12700">
            <a:solidFill>
              <a:schemeClr val="accent1"/>
            </a:solidFill>
            <a:prstDash val="solid"/>
          </a:ln>
        </p:spPr>
      </p:sp>
      <p:sp>
        <p:nvSpPr>
          <p:cNvPr id="11" name="Text 8"/>
          <p:cNvSpPr txBox="1"/>
          <p:nvPr/>
        </p:nvSpPr>
        <p:spPr>
          <a:xfrm>
            <a:off x="740664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2" name="Text 9"/>
          <p:cNvSpPr txBox="1"/>
          <p:nvPr/>
        </p:nvSpPr>
        <p:spPr>
          <a:xfrm>
            <a:off x="7955280" y="2194560"/>
            <a:ext cx="3474720" cy="1115568"/>
          </a:xfrm>
          <a:prstGeom prst="rect">
            <a:avLst/>
          </a:prstGeom>
          <a:noFill/>
          <a:ln/>
        </p:spPr>
        <p:txBody>
          <a:bodyPr wrap="square" lIns="0" tIns="0" rIns="0" bIns="0" rtlCol="0" anchor="t"/>
          <a:lstStyle/>
          <a:p>
            <a:pPr indent="0" marL="0">
              <a:buNone/>
            </a:pPr>
            <a:r>
              <a:rPr lang="en-US" sz="1600" dirty="0">
                <a:solidFill>
                  <a:schemeClr val="tx1"/>
                </a:solidFill>
              </a:rPr>
              <a:t>List </a:t>
            </a:r>
            <a:r>
              <a:rPr lang="en-US" sz="1600" b="1" dirty="0">
                <a:solidFill>
                  <a:schemeClr val="tx1"/>
                </a:solidFill>
              </a:rPr>
              <a:t>three goods</a:t>
            </a:r>
            <a:r>
              <a:rPr lang="en-US" sz="1600" dirty="0">
                <a:solidFill>
                  <a:schemeClr val="tx1"/>
                </a:solidFill>
              </a:rPr>
              <a:t> the king wanted trade to grow in.</a:t>
            </a:r>
            <a:endParaRPr lang="en-US" sz="1600" dirty="0"/>
          </a:p>
        </p:txBody>
      </p:sp>
      <p:sp>
        <p:nvSpPr>
          <p:cNvPr id="13" name="task 2 badge"/>
          <p:cNvSpPr/>
          <p:nvPr/>
        </p:nvSpPr>
        <p:spPr>
          <a:xfrm>
            <a:off x="7406640" y="3401568"/>
            <a:ext cx="384048" cy="384048"/>
          </a:xfrm>
          <a:prstGeom prst="ellipse">
            <a:avLst/>
          </a:prstGeom>
          <a:solidFill>
            <a:schemeClr val="accent1"/>
          </a:solidFill>
          <a:ln w="12700">
            <a:solidFill>
              <a:schemeClr val="accent1"/>
            </a:solidFill>
            <a:prstDash val="solid"/>
          </a:ln>
        </p:spPr>
      </p:sp>
      <p:sp>
        <p:nvSpPr>
          <p:cNvPr id="14" name="Text 11"/>
          <p:cNvSpPr txBox="1"/>
          <p:nvPr/>
        </p:nvSpPr>
        <p:spPr>
          <a:xfrm>
            <a:off x="7406640" y="34015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5" name="Text 12"/>
          <p:cNvSpPr txBox="1"/>
          <p:nvPr/>
        </p:nvSpPr>
        <p:spPr>
          <a:xfrm>
            <a:off x="7955280" y="3383280"/>
            <a:ext cx="3474720" cy="1115568"/>
          </a:xfrm>
          <a:prstGeom prst="rect">
            <a:avLst/>
          </a:prstGeom>
          <a:noFill/>
          <a:ln/>
        </p:spPr>
        <p:txBody>
          <a:bodyPr wrap="square" lIns="0" tIns="0" rIns="0" bIns="0" rtlCol="0" anchor="t"/>
          <a:lstStyle/>
          <a:p>
            <a:pPr indent="0" marL="0">
              <a:buNone/>
            </a:pPr>
            <a:r>
              <a:rPr lang="en-US" sz="1600" dirty="0">
                <a:solidFill>
                  <a:schemeClr val="tx1"/>
                </a:solidFill>
              </a:rPr>
              <a:t>Why would he want foreign traders treated fairly?</a:t>
            </a:r>
            <a:endParaRPr lang="en-US" sz="1600" dirty="0"/>
          </a:p>
        </p:txBody>
      </p:sp>
      <p:sp>
        <p:nvSpPr>
          <p:cNvPr id="16" name="task 3 badge"/>
          <p:cNvSpPr/>
          <p:nvPr/>
        </p:nvSpPr>
        <p:spPr>
          <a:xfrm>
            <a:off x="7406640" y="4590288"/>
            <a:ext cx="384048" cy="384048"/>
          </a:xfrm>
          <a:prstGeom prst="ellipse">
            <a:avLst/>
          </a:prstGeom>
          <a:solidFill>
            <a:schemeClr val="accent1"/>
          </a:solidFill>
          <a:ln w="12700">
            <a:solidFill>
              <a:schemeClr val="accent1"/>
            </a:solidFill>
            <a:prstDash val="solid"/>
          </a:ln>
        </p:spPr>
      </p:sp>
      <p:sp>
        <p:nvSpPr>
          <p:cNvPr id="17" name="Text 14"/>
          <p:cNvSpPr txBox="1"/>
          <p:nvPr/>
        </p:nvSpPr>
        <p:spPr>
          <a:xfrm>
            <a:off x="7406640" y="459028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8" name="Text 15"/>
          <p:cNvSpPr txBox="1"/>
          <p:nvPr/>
        </p:nvSpPr>
        <p:spPr>
          <a:xfrm>
            <a:off x="7955280" y="4572000"/>
            <a:ext cx="3474720" cy="1115568"/>
          </a:xfrm>
          <a:prstGeom prst="rect">
            <a:avLst/>
          </a:prstGeom>
          <a:noFill/>
          <a:ln/>
        </p:spPr>
        <p:txBody>
          <a:bodyPr wrap="square" lIns="0" tIns="0" rIns="0" bIns="0" rtlCol="0" anchor="t"/>
          <a:lstStyle/>
          <a:p>
            <a:pPr indent="0" marL="0">
              <a:buNone/>
            </a:pPr>
            <a:r>
              <a:rPr lang="en-US" sz="1600" dirty="0">
                <a:solidFill>
                  <a:schemeClr val="tx1"/>
                </a:solidFill>
              </a:rPr>
              <a:t>How could strong trade help a kingdom resist enemies?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Game: The Hundi Relay</a:t>
            </a:r>
            <a:endParaRPr lang="en-US" sz="3600" dirty="0"/>
          </a:p>
        </p:txBody>
      </p:sp>
      <p:sp>
        <p:nvSpPr>
          <p:cNvPr id="3" name="activity info card"/>
          <p:cNvSpPr/>
          <p:nvPr/>
        </p:nvSpPr>
        <p:spPr>
          <a:xfrm>
            <a:off x="548640" y="1371600"/>
            <a:ext cx="3657600" cy="4846320"/>
          </a:xfrm>
          <a:prstGeom prst="roundRect">
            <a:avLst>
              <a:gd name="adj" fmla="val 3000"/>
            </a:avLst>
          </a:prstGeom>
          <a:solidFill>
            <a:schemeClr val="tx2"/>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4" name="activity disc"/>
          <p:cNvSpPr/>
          <p:nvPr/>
        </p:nvSpPr>
        <p:spPr>
          <a:xfrm>
            <a:off x="868680" y="1691640"/>
            <a:ext cx="914400" cy="914400"/>
          </a:xfrm>
          <a:prstGeom prst="ellipse">
            <a:avLst/>
          </a:prstGeom>
          <a:solidFill>
            <a:schemeClr val="accent3"/>
          </a:solidFill>
          <a:ln w="12700">
            <a:solidFill>
              <a:schemeClr val="accent3"/>
            </a:solidFill>
            <a:prstDash val="solid"/>
          </a:ln>
        </p:spPr>
      </p:sp>
      <p:pic>
        <p:nvPicPr>
          <p:cNvPr id="5" name="activity glyph" descr="preencoded.png">    </p:cNvPr>
          <p:cNvPicPr>
            <a:picLocks noChangeAspect="1"/>
          </p:cNvPicPr>
          <p:nvPr/>
        </p:nvPicPr>
        <p:blipFill>
          <a:blip r:embed="rId1"/>
          <a:stretch>
            <a:fillRect/>
          </a:stretch>
        </p:blipFill>
        <p:spPr>
          <a:xfrm>
            <a:off x="1069848" y="1892808"/>
            <a:ext cx="512064" cy="512064"/>
          </a:xfrm>
          <a:prstGeom prst="rect">
            <a:avLst/>
          </a:prstGeom>
        </p:spPr>
      </p:pic>
      <p:sp>
        <p:nvSpPr>
          <p:cNvPr id="6" name="Text 3"/>
          <p:cNvSpPr txBox="1"/>
          <p:nvPr/>
        </p:nvSpPr>
        <p:spPr>
          <a:xfrm>
            <a:off x="1965960" y="1737360"/>
            <a:ext cx="2103120" cy="365760"/>
          </a:xfrm>
          <a:prstGeom prst="rect">
            <a:avLst/>
          </a:prstGeom>
          <a:noFill/>
          <a:ln/>
        </p:spPr>
        <p:txBody>
          <a:bodyPr wrap="square" lIns="0" tIns="0" rIns="0" bIns="0" rtlCol="0" anchor="ctr"/>
          <a:lstStyle/>
          <a:p>
            <a:pPr indent="0" marL="0">
              <a:buNone/>
            </a:pPr>
            <a:r>
              <a:rPr lang="en-US" sz="1300" b="1" spc="200" kern="0" dirty="0">
                <a:solidFill>
                  <a:schemeClr val="accent3"/>
                </a:solidFill>
              </a:rPr>
              <a:t>SIMULATION</a:t>
            </a:r>
            <a:endParaRPr lang="en-US" sz="1300" dirty="0"/>
          </a:p>
        </p:txBody>
      </p:sp>
      <p:sp>
        <p:nvSpPr>
          <p:cNvPr id="7" name="Text 4"/>
          <p:cNvSpPr txBox="1"/>
          <p:nvPr/>
        </p:nvSpPr>
        <p:spPr>
          <a:xfrm>
            <a:off x="1965960" y="2103120"/>
            <a:ext cx="2103120" cy="640080"/>
          </a:xfrm>
          <a:prstGeom prst="rect">
            <a:avLst/>
          </a:prstGeom>
          <a:noFill/>
          <a:ln/>
        </p:spPr>
        <p:txBody>
          <a:bodyPr wrap="square" lIns="0" tIns="0" rIns="0" bIns="0" rtlCol="0" anchor="t"/>
          <a:lstStyle/>
          <a:p>
            <a:pPr indent="0" marL="0">
              <a:buNone/>
            </a:pPr>
            <a:r>
              <a:rPr lang="en-US" sz="1800" b="1" dirty="0">
                <a:solidFill>
                  <a:schemeClr val="bg1"/>
                </a:solidFill>
              </a:rPr>
              <a:t>Send money safely</a:t>
            </a:r>
            <a:endParaRPr lang="en-US" sz="1800" dirty="0"/>
          </a:p>
        </p:txBody>
      </p:sp>
      <p:pic>
        <p:nvPicPr>
          <p:cNvPr id="8" name="Time icon" descr="preencoded.png">    </p:cNvPr>
          <p:cNvPicPr>
            <a:picLocks noChangeAspect="1"/>
          </p:cNvPicPr>
          <p:nvPr/>
        </p:nvPicPr>
        <p:blipFill>
          <a:blip r:embed="rId2"/>
          <a:stretch>
            <a:fillRect/>
          </a:stretch>
        </p:blipFill>
        <p:spPr>
          <a:xfrm>
            <a:off x="868680" y="3063240"/>
            <a:ext cx="347472" cy="347472"/>
          </a:xfrm>
          <a:prstGeom prst="rect">
            <a:avLst/>
          </a:prstGeom>
        </p:spPr>
      </p:pic>
      <p:sp>
        <p:nvSpPr>
          <p:cNvPr id="9" name="Text 5"/>
          <p:cNvSpPr txBox="1"/>
          <p:nvPr/>
        </p:nvSpPr>
        <p:spPr>
          <a:xfrm>
            <a:off x="1371600" y="301752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Time: </a:t>
            </a:r>
            <a:r>
              <a:rPr lang="en-US" sz="1400" dirty="0">
                <a:solidFill>
                  <a:schemeClr val="bg1"/>
                </a:solidFill>
              </a:rPr>
              <a:t>20 minutes</a:t>
            </a:r>
            <a:endParaRPr lang="en-US" sz="1400" dirty="0"/>
          </a:p>
        </p:txBody>
      </p:sp>
      <p:pic>
        <p:nvPicPr>
          <p:cNvPr id="10" name="Group icon" descr="preencoded.png">    </p:cNvPr>
          <p:cNvPicPr>
            <a:picLocks noChangeAspect="1"/>
          </p:cNvPicPr>
          <p:nvPr/>
        </p:nvPicPr>
        <p:blipFill>
          <a:blip r:embed="rId3"/>
          <a:stretch>
            <a:fillRect/>
          </a:stretch>
        </p:blipFill>
        <p:spPr>
          <a:xfrm>
            <a:off x="868680" y="3703320"/>
            <a:ext cx="347472" cy="347472"/>
          </a:xfrm>
          <a:prstGeom prst="rect">
            <a:avLst/>
          </a:prstGeom>
        </p:spPr>
      </p:pic>
      <p:sp>
        <p:nvSpPr>
          <p:cNvPr id="11" name="Text 6"/>
          <p:cNvSpPr txBox="1"/>
          <p:nvPr/>
        </p:nvSpPr>
        <p:spPr>
          <a:xfrm>
            <a:off x="1371600" y="365760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Group: </a:t>
            </a:r>
            <a:r>
              <a:rPr lang="en-US" sz="1400" dirty="0">
                <a:solidFill>
                  <a:schemeClr val="bg1"/>
                </a:solidFill>
              </a:rPr>
              <a:t>Teams of 5</a:t>
            </a:r>
            <a:endParaRPr lang="en-US" sz="1400" dirty="0"/>
          </a:p>
        </p:txBody>
      </p:sp>
      <p:pic>
        <p:nvPicPr>
          <p:cNvPr id="12" name="You need icon" descr="preencoded.png">    </p:cNvPr>
          <p:cNvPicPr>
            <a:picLocks noChangeAspect="1"/>
          </p:cNvPicPr>
          <p:nvPr/>
        </p:nvPicPr>
        <p:blipFill>
          <a:blip r:embed="rId4"/>
          <a:stretch>
            <a:fillRect/>
          </a:stretch>
        </p:blipFill>
        <p:spPr>
          <a:xfrm>
            <a:off x="868680" y="4343400"/>
            <a:ext cx="347472" cy="347472"/>
          </a:xfrm>
          <a:prstGeom prst="rect">
            <a:avLst/>
          </a:prstGeom>
        </p:spPr>
      </p:pic>
      <p:sp>
        <p:nvSpPr>
          <p:cNvPr id="13" name="Text 7"/>
          <p:cNvSpPr txBox="1"/>
          <p:nvPr/>
        </p:nvSpPr>
        <p:spPr>
          <a:xfrm>
            <a:off x="1371600" y="4297680"/>
            <a:ext cx="2651760" cy="914400"/>
          </a:xfrm>
          <a:prstGeom prst="rect">
            <a:avLst/>
          </a:prstGeom>
          <a:noFill/>
          <a:ln/>
        </p:spPr>
        <p:txBody>
          <a:bodyPr wrap="square" lIns="0" tIns="0" rIns="0" bIns="0" rtlCol="0" anchor="t"/>
          <a:lstStyle/>
          <a:p>
            <a:pPr indent="0" marL="0">
              <a:buNone/>
            </a:pPr>
            <a:r>
              <a:rPr lang="en-US" sz="1400" b="1" dirty="0">
                <a:solidFill>
                  <a:schemeClr val="accent3"/>
                </a:solidFill>
              </a:rPr>
              <a:t>You need: </a:t>
            </a:r>
            <a:r>
              <a:rPr lang="en-US" sz="1400" dirty="0">
                <a:solidFill>
                  <a:schemeClr val="bg1"/>
                </a:solidFill>
              </a:rPr>
              <a:t>Paper 'coins', hundi slips, a stamp or signature, 2 'bandits'</a:t>
            </a:r>
            <a:endParaRPr lang="en-US" sz="1400" dirty="0"/>
          </a:p>
        </p:txBody>
      </p:sp>
      <p:sp>
        <p:nvSpPr>
          <p:cNvPr id="14" name="activity steps card"/>
          <p:cNvSpPr/>
          <p:nvPr/>
        </p:nvSpPr>
        <p:spPr>
          <a:xfrm>
            <a:off x="4526280" y="1371600"/>
            <a:ext cx="7086600" cy="4846320"/>
          </a:xfrm>
          <a:prstGeom prst="roundRect">
            <a:avLst>
              <a:gd name="adj" fmla="val 2264"/>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5" name="Text 9"/>
          <p:cNvSpPr txBox="1"/>
          <p:nvPr/>
        </p:nvSpPr>
        <p:spPr>
          <a:xfrm>
            <a:off x="4846320" y="1600200"/>
            <a:ext cx="6400800" cy="457200"/>
          </a:xfrm>
          <a:prstGeom prst="rect">
            <a:avLst/>
          </a:prstGeom>
          <a:noFill/>
          <a:ln/>
        </p:spPr>
        <p:txBody>
          <a:bodyPr wrap="square" lIns="0" tIns="0" rIns="0" bIns="0" rtlCol="0" anchor="ctr"/>
          <a:lstStyle/>
          <a:p>
            <a:pPr indent="0" marL="0">
              <a:buNone/>
            </a:pPr>
            <a:r>
              <a:rPr lang="en-US" sz="2000" b="1" dirty="0">
                <a:solidFill>
                  <a:schemeClr val="accent1"/>
                </a:solidFill>
              </a:rPr>
              <a:t>How to play</a:t>
            </a:r>
            <a:endParaRPr lang="en-US" sz="2000" dirty="0"/>
          </a:p>
        </p:txBody>
      </p:sp>
      <p:sp>
        <p:nvSpPr>
          <p:cNvPr id="16" name="step 1 badge"/>
          <p:cNvSpPr/>
          <p:nvPr/>
        </p:nvSpPr>
        <p:spPr>
          <a:xfrm>
            <a:off x="4846320" y="2212848"/>
            <a:ext cx="384048" cy="384048"/>
          </a:xfrm>
          <a:prstGeom prst="ellipse">
            <a:avLst/>
          </a:prstGeom>
          <a:solidFill>
            <a:schemeClr val="accent1"/>
          </a:solidFill>
          <a:ln w="12700">
            <a:solidFill>
              <a:schemeClr val="accent1"/>
            </a:solidFill>
            <a:prstDash val="solid"/>
          </a:ln>
        </p:spPr>
      </p:sp>
      <p:sp>
        <p:nvSpPr>
          <p:cNvPr id="17" name="Text 11"/>
          <p:cNvSpPr txBox="1"/>
          <p:nvPr/>
        </p:nvSpPr>
        <p:spPr>
          <a:xfrm>
            <a:off x="4846320" y="221284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8" name="Text 12"/>
          <p:cNvSpPr txBox="1"/>
          <p:nvPr/>
        </p:nvSpPr>
        <p:spPr>
          <a:xfrm>
            <a:off x="5394960" y="2194560"/>
            <a:ext cx="5943600" cy="493776"/>
          </a:xfrm>
          <a:prstGeom prst="rect">
            <a:avLst/>
          </a:prstGeom>
          <a:noFill/>
          <a:ln/>
        </p:spPr>
        <p:txBody>
          <a:bodyPr wrap="square" lIns="0" tIns="0" rIns="0" bIns="0" rtlCol="0" anchor="t"/>
          <a:lstStyle/>
          <a:p>
            <a:pPr indent="0" marL="0">
              <a:buNone/>
            </a:pPr>
            <a:r>
              <a:rPr lang="en-US" sz="1400" dirty="0">
                <a:solidFill>
                  <a:schemeClr val="tx1"/>
                </a:solidFill>
              </a:rPr>
              <a:t>Team A must send 100 coins from </a:t>
            </a:r>
            <a:r>
              <a:rPr lang="en-US" sz="1400" b="1" dirty="0">
                <a:solidFill>
                  <a:schemeClr val="tx1"/>
                </a:solidFill>
              </a:rPr>
              <a:t>Surat</a:t>
            </a:r>
            <a:r>
              <a:rPr lang="en-US" sz="1400" dirty="0">
                <a:solidFill>
                  <a:schemeClr val="tx1"/>
                </a:solidFill>
              </a:rPr>
              <a:t> to </a:t>
            </a:r>
            <a:r>
              <a:rPr lang="en-US" sz="1400" b="1" dirty="0">
                <a:solidFill>
                  <a:schemeClr val="tx1"/>
                </a:solidFill>
              </a:rPr>
              <a:t>Agra</a:t>
            </a:r>
            <a:r>
              <a:rPr lang="en-US" sz="1400" dirty="0">
                <a:solidFill>
                  <a:schemeClr val="tx1"/>
                </a:solidFill>
              </a:rPr>
              <a:t> (across the room).</a:t>
            </a:r>
            <a:endParaRPr lang="en-US" sz="1600" dirty="0"/>
          </a:p>
        </p:txBody>
      </p:sp>
      <p:sp>
        <p:nvSpPr>
          <p:cNvPr id="19" name="step 2 badge"/>
          <p:cNvSpPr/>
          <p:nvPr/>
        </p:nvSpPr>
        <p:spPr>
          <a:xfrm>
            <a:off x="4846320" y="2752344"/>
            <a:ext cx="384048" cy="384048"/>
          </a:xfrm>
          <a:prstGeom prst="ellipse">
            <a:avLst/>
          </a:prstGeom>
          <a:solidFill>
            <a:schemeClr val="accent1"/>
          </a:solidFill>
          <a:ln w="12700">
            <a:solidFill>
              <a:schemeClr val="accent1"/>
            </a:solidFill>
            <a:prstDash val="solid"/>
          </a:ln>
        </p:spPr>
      </p:sp>
      <p:sp>
        <p:nvSpPr>
          <p:cNvPr id="20" name="Text 14"/>
          <p:cNvSpPr txBox="1"/>
          <p:nvPr/>
        </p:nvSpPr>
        <p:spPr>
          <a:xfrm>
            <a:off x="4846320" y="2752344"/>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1" name="Text 15"/>
          <p:cNvSpPr txBox="1"/>
          <p:nvPr/>
        </p:nvSpPr>
        <p:spPr>
          <a:xfrm>
            <a:off x="5394960" y="2734056"/>
            <a:ext cx="5943600" cy="493776"/>
          </a:xfrm>
          <a:prstGeom prst="rect">
            <a:avLst/>
          </a:prstGeom>
          <a:noFill/>
          <a:ln/>
        </p:spPr>
        <p:txBody>
          <a:bodyPr wrap="square" lIns="0" tIns="0" rIns="0" bIns="0" rtlCol="0" anchor="t"/>
          <a:lstStyle/>
          <a:p>
            <a:pPr indent="0" marL="0">
              <a:buNone/>
            </a:pPr>
            <a:r>
              <a:rPr lang="en-US" sz="1400" dirty="0">
                <a:solidFill>
                  <a:schemeClr val="tx1"/>
                </a:solidFill>
              </a:rPr>
              <a:t>Round 1: carry the coins; the </a:t>
            </a:r>
            <a:r>
              <a:rPr lang="en-US" sz="1400" b="1" dirty="0">
                <a:solidFill>
                  <a:schemeClr val="tx1"/>
                </a:solidFill>
              </a:rPr>
              <a:t>bandits</a:t>
            </a:r>
            <a:r>
              <a:rPr lang="en-US" sz="1400" dirty="0">
                <a:solidFill>
                  <a:schemeClr val="tx1"/>
                </a:solidFill>
              </a:rPr>
              <a:t> may 'rob' you.</a:t>
            </a:r>
            <a:endParaRPr lang="en-US" sz="1600" dirty="0"/>
          </a:p>
        </p:txBody>
      </p:sp>
      <p:sp>
        <p:nvSpPr>
          <p:cNvPr id="22" name="step 3 badge"/>
          <p:cNvSpPr/>
          <p:nvPr/>
        </p:nvSpPr>
        <p:spPr>
          <a:xfrm>
            <a:off x="4846320" y="3291840"/>
            <a:ext cx="384048" cy="384048"/>
          </a:xfrm>
          <a:prstGeom prst="ellipse">
            <a:avLst/>
          </a:prstGeom>
          <a:solidFill>
            <a:schemeClr val="accent1"/>
          </a:solidFill>
          <a:ln w="12700">
            <a:solidFill>
              <a:schemeClr val="accent1"/>
            </a:solidFill>
            <a:prstDash val="solid"/>
          </a:ln>
        </p:spPr>
      </p:sp>
      <p:sp>
        <p:nvSpPr>
          <p:cNvPr id="23" name="Text 17"/>
          <p:cNvSpPr txBox="1"/>
          <p:nvPr/>
        </p:nvSpPr>
        <p:spPr>
          <a:xfrm>
            <a:off x="4846320" y="32918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4" name="Text 18"/>
          <p:cNvSpPr txBox="1"/>
          <p:nvPr/>
        </p:nvSpPr>
        <p:spPr>
          <a:xfrm>
            <a:off x="5394960" y="3273552"/>
            <a:ext cx="5943600" cy="493776"/>
          </a:xfrm>
          <a:prstGeom prst="rect">
            <a:avLst/>
          </a:prstGeom>
          <a:noFill/>
          <a:ln/>
        </p:spPr>
        <p:txBody>
          <a:bodyPr wrap="square" lIns="0" tIns="0" rIns="0" bIns="0" rtlCol="0" anchor="t"/>
          <a:lstStyle/>
          <a:p>
            <a:pPr indent="0" marL="0">
              <a:buNone/>
            </a:pPr>
            <a:r>
              <a:rPr lang="en-US" sz="1400" dirty="0">
                <a:solidFill>
                  <a:schemeClr val="tx1"/>
                </a:solidFill>
              </a:rPr>
              <a:t>Round 2: give coins to the Surat </a:t>
            </a:r>
            <a:r>
              <a:rPr lang="en-US" sz="1400" b="1" dirty="0">
                <a:solidFill>
                  <a:schemeClr val="tx1"/>
                </a:solidFill>
              </a:rPr>
              <a:t>sarraf</a:t>
            </a:r>
            <a:r>
              <a:rPr lang="en-US" sz="1400" dirty="0">
                <a:solidFill>
                  <a:schemeClr val="tx1"/>
                </a:solidFill>
              </a:rPr>
              <a:t>, get a signed </a:t>
            </a:r>
            <a:r>
              <a:rPr lang="en-US" sz="1400" b="1" dirty="0">
                <a:solidFill>
                  <a:schemeClr val="tx1"/>
                </a:solidFill>
              </a:rPr>
              <a:t>hundi</a:t>
            </a:r>
            <a:r>
              <a:rPr lang="en-US" sz="1400" dirty="0">
                <a:solidFill>
                  <a:schemeClr val="tx1"/>
                </a:solidFill>
              </a:rPr>
              <a:t> slip.</a:t>
            </a:r>
            <a:endParaRPr lang="en-US" sz="1600" dirty="0"/>
          </a:p>
        </p:txBody>
      </p:sp>
      <p:sp>
        <p:nvSpPr>
          <p:cNvPr id="25" name="step 4 badge"/>
          <p:cNvSpPr/>
          <p:nvPr/>
        </p:nvSpPr>
        <p:spPr>
          <a:xfrm>
            <a:off x="4846320" y="3831336"/>
            <a:ext cx="384048" cy="384048"/>
          </a:xfrm>
          <a:prstGeom prst="ellipse">
            <a:avLst/>
          </a:prstGeom>
          <a:solidFill>
            <a:schemeClr val="accent1"/>
          </a:solidFill>
          <a:ln w="12700">
            <a:solidFill>
              <a:schemeClr val="accent1"/>
            </a:solidFill>
            <a:prstDash val="solid"/>
          </a:ln>
        </p:spPr>
      </p:sp>
      <p:sp>
        <p:nvSpPr>
          <p:cNvPr id="26" name="Text 20"/>
          <p:cNvSpPr txBox="1"/>
          <p:nvPr/>
        </p:nvSpPr>
        <p:spPr>
          <a:xfrm>
            <a:off x="4846320" y="38313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27" name="Text 21"/>
          <p:cNvSpPr txBox="1"/>
          <p:nvPr/>
        </p:nvSpPr>
        <p:spPr>
          <a:xfrm>
            <a:off x="5394960" y="3813048"/>
            <a:ext cx="5943600" cy="493776"/>
          </a:xfrm>
          <a:prstGeom prst="rect">
            <a:avLst/>
          </a:prstGeom>
          <a:noFill/>
          <a:ln/>
        </p:spPr>
        <p:txBody>
          <a:bodyPr wrap="square" lIns="0" tIns="0" rIns="0" bIns="0" rtlCol="0" anchor="t"/>
          <a:lstStyle/>
          <a:p>
            <a:pPr indent="0" marL="0">
              <a:buNone/>
            </a:pPr>
            <a:r>
              <a:rPr lang="en-US" sz="1400" dirty="0">
                <a:solidFill>
                  <a:schemeClr val="tx1"/>
                </a:solidFill>
              </a:rPr>
              <a:t>The </a:t>
            </a:r>
            <a:r>
              <a:rPr lang="en-US" sz="1400" b="1" dirty="0">
                <a:solidFill>
                  <a:schemeClr val="tx1"/>
                </a:solidFill>
              </a:rPr>
              <a:t>gumastha</a:t>
            </a:r>
            <a:r>
              <a:rPr lang="en-US" sz="1400" dirty="0">
                <a:solidFill>
                  <a:schemeClr val="tx1"/>
                </a:solidFill>
              </a:rPr>
              <a:t> in Agra checks the signature and pays out the coins.</a:t>
            </a:r>
            <a:endParaRPr lang="en-US" sz="1600" dirty="0"/>
          </a:p>
        </p:txBody>
      </p:sp>
      <p:sp>
        <p:nvSpPr>
          <p:cNvPr id="28" name="step 5 badge"/>
          <p:cNvSpPr/>
          <p:nvPr/>
        </p:nvSpPr>
        <p:spPr>
          <a:xfrm>
            <a:off x="4846320" y="4370832"/>
            <a:ext cx="384048" cy="384048"/>
          </a:xfrm>
          <a:prstGeom prst="ellipse">
            <a:avLst/>
          </a:prstGeom>
          <a:solidFill>
            <a:schemeClr val="accent1"/>
          </a:solidFill>
          <a:ln w="12700">
            <a:solidFill>
              <a:schemeClr val="accent1"/>
            </a:solidFill>
            <a:prstDash val="solid"/>
          </a:ln>
        </p:spPr>
      </p:sp>
      <p:sp>
        <p:nvSpPr>
          <p:cNvPr id="29" name="Text 23"/>
          <p:cNvSpPr txBox="1"/>
          <p:nvPr/>
        </p:nvSpPr>
        <p:spPr>
          <a:xfrm>
            <a:off x="4846320" y="437083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0" name="Text 24"/>
          <p:cNvSpPr txBox="1"/>
          <p:nvPr/>
        </p:nvSpPr>
        <p:spPr>
          <a:xfrm>
            <a:off x="5394960" y="4352544"/>
            <a:ext cx="5943600" cy="493776"/>
          </a:xfrm>
          <a:prstGeom prst="rect">
            <a:avLst/>
          </a:prstGeom>
          <a:noFill/>
          <a:ln/>
        </p:spPr>
        <p:txBody>
          <a:bodyPr wrap="square" lIns="0" tIns="0" rIns="0" bIns="0" rtlCol="0" anchor="t"/>
          <a:lstStyle/>
          <a:p>
            <a:pPr indent="0" marL="0">
              <a:buNone/>
            </a:pPr>
            <a:r>
              <a:rPr lang="en-US" sz="1400" dirty="0">
                <a:solidFill>
                  <a:schemeClr val="tx1"/>
                </a:solidFill>
              </a:rPr>
              <a:t>Discuss: Why was the hundi safer and more convenient?</a:t>
            </a:r>
            <a:endParaRPr lang="en-US" sz="1600" dirty="0"/>
          </a:p>
        </p:txBody>
      </p:sp>
      <p:sp>
        <p:nvSpPr>
          <p:cNvPr id="31" name="outcome band"/>
          <p:cNvSpPr/>
          <p:nvPr/>
        </p:nvSpPr>
        <p:spPr>
          <a:xfrm>
            <a:off x="4846320" y="5074920"/>
            <a:ext cx="6446520" cy="914400"/>
          </a:xfrm>
          <a:prstGeom prst="roundRect">
            <a:avLst>
              <a:gd name="adj" fmla="val 8000"/>
            </a:avLst>
          </a:prstGeom>
          <a:solidFill>
            <a:schemeClr val="bg2"/>
          </a:solidFill>
          <a:ln w="12700">
            <a:solidFill>
              <a:schemeClr val="bg2"/>
            </a:solidFill>
            <a:prstDash val="solid"/>
          </a:ln>
        </p:spPr>
      </p:sp>
      <p:sp>
        <p:nvSpPr>
          <p:cNvPr id="32" name="Text 26"/>
          <p:cNvSpPr txBox="1"/>
          <p:nvPr/>
        </p:nvSpPr>
        <p:spPr>
          <a:xfrm>
            <a:off x="5029200" y="5074920"/>
            <a:ext cx="6126480" cy="914400"/>
          </a:xfrm>
          <a:prstGeom prst="rect">
            <a:avLst/>
          </a:prstGeom>
          <a:noFill/>
          <a:ln/>
        </p:spPr>
        <p:txBody>
          <a:bodyPr wrap="square" lIns="0" tIns="0" rIns="0" bIns="0" rtlCol="0" anchor="ctr"/>
          <a:lstStyle/>
          <a:p>
            <a:pPr indent="0" marL="0">
              <a:buNone/>
            </a:pPr>
            <a:r>
              <a:rPr lang="en-US" sz="1400" b="1" dirty="0">
                <a:solidFill>
                  <a:schemeClr val="tx2"/>
                </a:solidFill>
              </a:rPr>
              <a:t>Learning link:</a:t>
            </a:r>
            <a:r>
              <a:rPr lang="en-US" sz="1400" dirty="0">
                <a:solidFill>
                  <a:schemeClr val="tx2"/>
                </a:solidFill>
              </a:rPr>
              <a:t> Hundis enabled safe long-distance trade without carrying cash, built on trust networks.</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a:t>
            </a:r>
            <a:endParaRPr lang="en-US" sz="3600" dirty="0"/>
          </a:p>
        </p:txBody>
      </p:sp>
      <p:sp>
        <p:nvSpPr>
          <p:cNvPr id="3" name="quiz q1"/>
          <p:cNvSpPr/>
          <p:nvPr/>
        </p:nvSpPr>
        <p:spPr>
          <a:xfrm>
            <a:off x="54864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quiz q1 badge"/>
          <p:cNvSpPr/>
          <p:nvPr/>
        </p:nvSpPr>
        <p:spPr>
          <a:xfrm>
            <a:off x="731520" y="1554480"/>
            <a:ext cx="457200" cy="457200"/>
          </a:xfrm>
          <a:prstGeom prst="ellipse">
            <a:avLst/>
          </a:prstGeom>
          <a:solidFill>
            <a:schemeClr val="accent1"/>
          </a:solidFill>
          <a:ln w="12700">
            <a:solidFill>
              <a:schemeClr val="accent1"/>
            </a:solidFill>
            <a:prstDash val="solid"/>
          </a:ln>
        </p:spPr>
      </p:sp>
      <p:sp>
        <p:nvSpPr>
          <p:cNvPr id="5" name="Text 3"/>
          <p:cNvSpPr txBox="1"/>
          <p:nvPr/>
        </p:nvSpPr>
        <p:spPr>
          <a:xfrm>
            <a:off x="73152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Q1</a:t>
            </a:r>
            <a:endParaRPr lang="en-US" sz="1300" dirty="0"/>
          </a:p>
        </p:txBody>
      </p:sp>
      <p:sp>
        <p:nvSpPr>
          <p:cNvPr id="6" name="Text 4"/>
          <p:cNvSpPr txBox="1"/>
          <p:nvPr/>
        </p:nvSpPr>
        <p:spPr>
          <a:xfrm>
            <a:off x="132588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Resistance and resilience are closely connected because…</a:t>
            </a:r>
            <a:endParaRPr lang="en-US" sz="1600" dirty="0"/>
          </a:p>
        </p:txBody>
      </p:sp>
      <p:sp>
        <p:nvSpPr>
          <p:cNvPr id="7" name="Text 5"/>
          <p:cNvSpPr txBox="1"/>
          <p:nvPr/>
        </p:nvSpPr>
        <p:spPr>
          <a:xfrm>
            <a:off x="1325880" y="2240280"/>
            <a:ext cx="4434840" cy="1325880"/>
          </a:xfrm>
          <a:prstGeom prst="rect">
            <a:avLst/>
          </a:prstGeom>
          <a:noFill/>
          <a:ln/>
        </p:spPr>
        <p:txBody>
          <a:bodyPr wrap="square" lIns="0" tIns="0" rIns="0" bIns="0" rtlCol="0" anchor="t"/>
          <a:lstStyle/>
          <a:p>
            <a:pPr indent="0" marL="0">
              <a:spcAft>
                <a:spcPts val="300"/>
              </a:spcAft>
              <a:buNone/>
            </a:pPr>
            <a:r>
              <a:rPr lang="en-US" sz="1400" b="1" dirty="0">
                <a:solidFill>
                  <a:schemeClr val="accent1"/>
                </a:solidFill>
              </a:rPr>
              <a:t>A)  </a:t>
            </a:r>
            <a:r>
              <a:rPr lang="en-US" sz="1400" dirty="0">
                <a:solidFill>
                  <a:schemeClr val="tx1"/>
                </a:solidFill>
              </a:rPr>
              <a:t>resistance always involves warfare</a:t>
            </a:r>
            <a:endParaRPr lang="en-US" sz="1400" dirty="0"/>
          </a:p>
          <a:p>
            <a:pPr indent="0" marL="0">
              <a:spcAft>
                <a:spcPts val="300"/>
              </a:spcAft>
              <a:buNone/>
            </a:pPr>
            <a:r>
              <a:rPr lang="en-US" sz="1400" b="1" dirty="0">
                <a:solidFill>
                  <a:schemeClr val="accent1"/>
                </a:solidFill>
              </a:rPr>
              <a:t>B)  </a:t>
            </a:r>
            <a:r>
              <a:rPr lang="en-US" sz="1400" dirty="0">
                <a:solidFill>
                  <a:schemeClr val="tx1"/>
                </a:solidFill>
              </a:rPr>
              <a:t>resilience helps communities endure and sustain resistance</a:t>
            </a:r>
            <a:endParaRPr lang="en-US" sz="1400" dirty="0"/>
          </a:p>
          <a:p>
            <a:pPr indent="0" marL="0">
              <a:spcAft>
                <a:spcPts val="300"/>
              </a:spcAft>
              <a:buNone/>
            </a:pPr>
            <a:r>
              <a:rPr lang="en-US" sz="1400" b="1" dirty="0">
                <a:solidFill>
                  <a:schemeClr val="accent1"/>
                </a:solidFill>
              </a:rPr>
              <a:t>C)  </a:t>
            </a:r>
            <a:r>
              <a:rPr lang="en-US" sz="1400" dirty="0">
                <a:solidFill>
                  <a:schemeClr val="tx1"/>
                </a:solidFill>
              </a:rPr>
              <a:t>resistance needs a large army</a:t>
            </a:r>
            <a:endParaRPr lang="en-US" sz="1400" dirty="0"/>
          </a:p>
          <a:p>
            <a:pPr indent="0" marL="0">
              <a:spcAft>
                <a:spcPts val="300"/>
              </a:spcAft>
              <a:buNone/>
            </a:pPr>
            <a:r>
              <a:rPr lang="en-US" sz="1400" b="1" dirty="0">
                <a:solidFill>
                  <a:schemeClr val="accent1"/>
                </a:solidFill>
              </a:rPr>
              <a:t>D)  </a:t>
            </a:r>
            <a:r>
              <a:rPr lang="en-US" sz="1400" dirty="0">
                <a:solidFill>
                  <a:schemeClr val="tx1"/>
                </a:solidFill>
              </a:rPr>
              <a:t>resilient societies avoid all conflict</a:t>
            </a:r>
            <a:endParaRPr lang="en-US" sz="1400" dirty="0"/>
          </a:p>
        </p:txBody>
      </p:sp>
      <p:sp>
        <p:nvSpPr>
          <p:cNvPr id="8" name="quiz q2"/>
          <p:cNvSpPr/>
          <p:nvPr/>
        </p:nvSpPr>
        <p:spPr>
          <a:xfrm>
            <a:off x="6217920" y="137160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9" name="quiz q2 badge"/>
          <p:cNvSpPr/>
          <p:nvPr/>
        </p:nvSpPr>
        <p:spPr>
          <a:xfrm>
            <a:off x="6400800" y="1554480"/>
            <a:ext cx="457200" cy="457200"/>
          </a:xfrm>
          <a:prstGeom prst="ellipse">
            <a:avLst/>
          </a:prstGeom>
          <a:solidFill>
            <a:schemeClr val="accent1"/>
          </a:solidFill>
          <a:ln w="12700">
            <a:solidFill>
              <a:schemeClr val="accent1"/>
            </a:solidFill>
            <a:prstDash val="solid"/>
          </a:ln>
        </p:spPr>
      </p:sp>
      <p:sp>
        <p:nvSpPr>
          <p:cNvPr id="10" name="Text 8"/>
          <p:cNvSpPr txBox="1"/>
          <p:nvPr/>
        </p:nvSpPr>
        <p:spPr>
          <a:xfrm>
            <a:off x="6400800" y="155448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Q2</a:t>
            </a:r>
            <a:endParaRPr lang="en-US" sz="1300" dirty="0"/>
          </a:p>
        </p:txBody>
      </p:sp>
      <p:sp>
        <p:nvSpPr>
          <p:cNvPr id="11" name="Text 9"/>
          <p:cNvSpPr txBox="1"/>
          <p:nvPr/>
        </p:nvSpPr>
        <p:spPr>
          <a:xfrm>
            <a:off x="6995160" y="150876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The Battle of Saraighat (1671) was won by…</a:t>
            </a:r>
            <a:endParaRPr lang="en-US" sz="1600" dirty="0"/>
          </a:p>
        </p:txBody>
      </p:sp>
      <p:sp>
        <p:nvSpPr>
          <p:cNvPr id="12" name="Text 10"/>
          <p:cNvSpPr txBox="1"/>
          <p:nvPr/>
        </p:nvSpPr>
        <p:spPr>
          <a:xfrm>
            <a:off x="6995160" y="224028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Rana Sanga</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Lachit Borphukan</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Kumara Kampana</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Gokul Jat</a:t>
            </a:r>
            <a:endParaRPr lang="en-US" sz="1700" dirty="0"/>
          </a:p>
        </p:txBody>
      </p:sp>
      <p:sp>
        <p:nvSpPr>
          <p:cNvPr id="13" name="quiz q3"/>
          <p:cNvSpPr/>
          <p:nvPr/>
        </p:nvSpPr>
        <p:spPr>
          <a:xfrm>
            <a:off x="54864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4" name="quiz q3 badge"/>
          <p:cNvSpPr/>
          <p:nvPr/>
        </p:nvSpPr>
        <p:spPr>
          <a:xfrm>
            <a:off x="731520" y="4114800"/>
            <a:ext cx="457200" cy="457200"/>
          </a:xfrm>
          <a:prstGeom prst="ellipse">
            <a:avLst/>
          </a:prstGeom>
          <a:solidFill>
            <a:schemeClr val="accent1"/>
          </a:solidFill>
          <a:ln w="12700">
            <a:solidFill>
              <a:schemeClr val="accent1"/>
            </a:solidFill>
            <a:prstDash val="solid"/>
          </a:ln>
        </p:spPr>
      </p:sp>
      <p:sp>
        <p:nvSpPr>
          <p:cNvPr id="15" name="Text 13"/>
          <p:cNvSpPr txBox="1"/>
          <p:nvPr/>
        </p:nvSpPr>
        <p:spPr>
          <a:xfrm>
            <a:off x="73152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Q3</a:t>
            </a:r>
            <a:endParaRPr lang="en-US" sz="1300" dirty="0"/>
          </a:p>
        </p:txBody>
      </p:sp>
      <p:sp>
        <p:nvSpPr>
          <p:cNvPr id="16" name="Text 14"/>
          <p:cNvSpPr txBox="1"/>
          <p:nvPr/>
        </p:nvSpPr>
        <p:spPr>
          <a:xfrm>
            <a:off x="132588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Who established the Khalsa in 1699?</a:t>
            </a:r>
            <a:endParaRPr lang="en-US" sz="1600" dirty="0"/>
          </a:p>
        </p:txBody>
      </p:sp>
      <p:sp>
        <p:nvSpPr>
          <p:cNvPr id="17" name="Text 15"/>
          <p:cNvSpPr txBox="1"/>
          <p:nvPr/>
        </p:nvSpPr>
        <p:spPr>
          <a:xfrm>
            <a:off x="132588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Guru Nanak</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Guru Hargobind</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Guru Gobind Singh</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Guru Arjan Dev</a:t>
            </a:r>
            <a:endParaRPr lang="en-US" sz="1700" dirty="0"/>
          </a:p>
        </p:txBody>
      </p:sp>
      <p:sp>
        <p:nvSpPr>
          <p:cNvPr id="18" name="quiz q4"/>
          <p:cNvSpPr/>
          <p:nvPr/>
        </p:nvSpPr>
        <p:spPr>
          <a:xfrm>
            <a:off x="6217920" y="3931920"/>
            <a:ext cx="5394960" cy="2286000"/>
          </a:xfrm>
          <a:prstGeom prst="roundRect">
            <a:avLst>
              <a:gd name="adj" fmla="val 4800"/>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9" name="quiz q4 badge"/>
          <p:cNvSpPr/>
          <p:nvPr/>
        </p:nvSpPr>
        <p:spPr>
          <a:xfrm>
            <a:off x="6400800" y="4114800"/>
            <a:ext cx="457200" cy="457200"/>
          </a:xfrm>
          <a:prstGeom prst="ellipse">
            <a:avLst/>
          </a:prstGeom>
          <a:solidFill>
            <a:schemeClr val="accent1"/>
          </a:solidFill>
          <a:ln w="12700">
            <a:solidFill>
              <a:schemeClr val="accent1"/>
            </a:solidFill>
            <a:prstDash val="solid"/>
          </a:ln>
        </p:spPr>
      </p:sp>
      <p:sp>
        <p:nvSpPr>
          <p:cNvPr id="20" name="Text 18"/>
          <p:cNvSpPr txBox="1"/>
          <p:nvPr/>
        </p:nvSpPr>
        <p:spPr>
          <a:xfrm>
            <a:off x="6400800" y="4114800"/>
            <a:ext cx="457200" cy="457200"/>
          </a:xfrm>
          <a:prstGeom prst="rect">
            <a:avLst/>
          </a:prstGeom>
          <a:noFill/>
          <a:ln/>
        </p:spPr>
        <p:txBody>
          <a:bodyPr wrap="square" lIns="0" tIns="0" rIns="0" bIns="0" rtlCol="0" anchor="ctr"/>
          <a:lstStyle/>
          <a:p>
            <a:pPr algn="ctr" indent="0" marL="0">
              <a:buNone/>
            </a:pPr>
            <a:r>
              <a:rPr lang="en-US" sz="1300" b="1" dirty="0">
                <a:solidFill>
                  <a:schemeClr val="bg1"/>
                </a:solidFill>
              </a:rPr>
              <a:t>Q4</a:t>
            </a:r>
            <a:endParaRPr lang="en-US" sz="1300" dirty="0"/>
          </a:p>
        </p:txBody>
      </p:sp>
      <p:sp>
        <p:nvSpPr>
          <p:cNvPr id="21" name="Text 19"/>
          <p:cNvSpPr txBox="1"/>
          <p:nvPr/>
        </p:nvSpPr>
        <p:spPr>
          <a:xfrm>
            <a:off x="6995160" y="4069080"/>
            <a:ext cx="4434840" cy="685800"/>
          </a:xfrm>
          <a:prstGeom prst="rect">
            <a:avLst/>
          </a:prstGeom>
          <a:noFill/>
          <a:ln/>
        </p:spPr>
        <p:txBody>
          <a:bodyPr wrap="square" lIns="0" tIns="0" rIns="0" bIns="0" rtlCol="0" anchor="ctr"/>
          <a:lstStyle/>
          <a:p>
            <a:pPr indent="0" marL="0">
              <a:buNone/>
            </a:pPr>
            <a:r>
              <a:rPr lang="en-US" sz="1600" b="1" dirty="0">
                <a:solidFill>
                  <a:schemeClr val="tx2"/>
                </a:solidFill>
              </a:rPr>
              <a:t>A hundi was similar to a modern…</a:t>
            </a:r>
            <a:endParaRPr lang="en-US" sz="1600" dirty="0"/>
          </a:p>
        </p:txBody>
      </p:sp>
      <p:sp>
        <p:nvSpPr>
          <p:cNvPr id="22" name="Text 20"/>
          <p:cNvSpPr txBox="1"/>
          <p:nvPr/>
        </p:nvSpPr>
        <p:spPr>
          <a:xfrm>
            <a:off x="6995160" y="4800600"/>
            <a:ext cx="4434840" cy="1325880"/>
          </a:xfrm>
          <a:prstGeom prst="rect">
            <a:avLst/>
          </a:prstGeom>
          <a:noFill/>
          <a:ln/>
        </p:spPr>
        <p:txBody>
          <a:bodyPr wrap="square" lIns="0" tIns="0" rIns="0" bIns="0" rtlCol="0" anchor="t"/>
          <a:lstStyle/>
          <a:p>
            <a:pPr indent="0" marL="0">
              <a:spcAft>
                <a:spcPts val="300"/>
              </a:spcAft>
              <a:buNone/>
            </a:pPr>
            <a:r>
              <a:rPr lang="en-US" sz="1700" b="1" dirty="0">
                <a:solidFill>
                  <a:schemeClr val="accent1"/>
                </a:solidFill>
              </a:rPr>
              <a:t>A)  </a:t>
            </a:r>
            <a:r>
              <a:rPr lang="en-US" sz="1700" dirty="0">
                <a:solidFill>
                  <a:schemeClr val="tx1"/>
                </a:solidFill>
              </a:rPr>
              <a:t>coin</a:t>
            </a:r>
            <a:endParaRPr lang="en-US" sz="1700" dirty="0"/>
          </a:p>
          <a:p>
            <a:pPr indent="0" marL="0">
              <a:spcAft>
                <a:spcPts val="300"/>
              </a:spcAft>
              <a:buNone/>
            </a:pPr>
            <a:r>
              <a:rPr lang="en-US" sz="1700" b="1" dirty="0">
                <a:solidFill>
                  <a:schemeClr val="accent1"/>
                </a:solidFill>
              </a:rPr>
              <a:t>B)  </a:t>
            </a:r>
            <a:r>
              <a:rPr lang="en-US" sz="1700" dirty="0">
                <a:solidFill>
                  <a:schemeClr val="tx1"/>
                </a:solidFill>
              </a:rPr>
              <a:t>cheque</a:t>
            </a:r>
            <a:endParaRPr lang="en-US" sz="1700" dirty="0"/>
          </a:p>
          <a:p>
            <a:pPr indent="0" marL="0">
              <a:spcAft>
                <a:spcPts val="300"/>
              </a:spcAft>
              <a:buNone/>
            </a:pPr>
            <a:r>
              <a:rPr lang="en-US" sz="1700" b="1" dirty="0">
                <a:solidFill>
                  <a:schemeClr val="accent1"/>
                </a:solidFill>
              </a:rPr>
              <a:t>C)  </a:t>
            </a:r>
            <a:r>
              <a:rPr lang="en-US" sz="1700" dirty="0">
                <a:solidFill>
                  <a:schemeClr val="tx1"/>
                </a:solidFill>
              </a:rPr>
              <a:t>tax receipt</a:t>
            </a:r>
            <a:endParaRPr lang="en-US" sz="1700" dirty="0"/>
          </a:p>
          <a:p>
            <a:pPr indent="0" marL="0">
              <a:spcAft>
                <a:spcPts val="300"/>
              </a:spcAft>
              <a:buNone/>
            </a:pPr>
            <a:r>
              <a:rPr lang="en-US" sz="1700" b="1" dirty="0">
                <a:solidFill>
                  <a:schemeClr val="accent1"/>
                </a:solidFill>
              </a:rPr>
              <a:t>D)  </a:t>
            </a:r>
            <a:r>
              <a:rPr lang="en-US" sz="1700" dirty="0">
                <a:solidFill>
                  <a:schemeClr val="tx1"/>
                </a:solidFill>
              </a:rPr>
              <a:t>passport</a:t>
            </a:r>
            <a:endParaRPr lang="en-US" sz="17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Quick Quiz: Answers</a:t>
            </a:r>
            <a:endParaRPr lang="en-US" sz="3600" dirty="0"/>
          </a:p>
        </p:txBody>
      </p:sp>
      <p:sp>
        <p:nvSpPr>
          <p:cNvPr id="3" name="answer 1"/>
          <p:cNvSpPr/>
          <p:nvPr/>
        </p:nvSpPr>
        <p:spPr>
          <a:xfrm>
            <a:off x="548640" y="1371600"/>
            <a:ext cx="11064240" cy="1074420"/>
          </a:xfrm>
          <a:prstGeom prst="roundRect">
            <a:avLst>
              <a:gd name="adj" fmla="val 10213"/>
            </a:avLst>
          </a:prstGeom>
          <a:solidFill>
            <a:schemeClr val="bg2"/>
          </a:solidFill>
          <a:ln w="12700">
            <a:solidFill>
              <a:schemeClr val="bg2"/>
            </a:solidFill>
            <a:prstDash val="solid"/>
          </a:ln>
        </p:spPr>
      </p:sp>
      <p:sp>
        <p:nvSpPr>
          <p:cNvPr id="4" name="answer 1 badge"/>
          <p:cNvSpPr/>
          <p:nvPr/>
        </p:nvSpPr>
        <p:spPr>
          <a:xfrm>
            <a:off x="731520" y="1680210"/>
            <a:ext cx="457200" cy="457200"/>
          </a:xfrm>
          <a:prstGeom prst="ellipse">
            <a:avLst/>
          </a:prstGeom>
          <a:solidFill>
            <a:schemeClr val="accent2"/>
          </a:solidFill>
          <a:ln w="12700">
            <a:solidFill>
              <a:schemeClr val="accent2"/>
            </a:solidFill>
            <a:prstDash val="solid"/>
          </a:ln>
        </p:spPr>
      </p:sp>
      <p:sp>
        <p:nvSpPr>
          <p:cNvPr id="5" name="Text 3"/>
          <p:cNvSpPr txBox="1"/>
          <p:nvPr/>
        </p:nvSpPr>
        <p:spPr>
          <a:xfrm>
            <a:off x="731520" y="168021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6" name="Text 4"/>
          <p:cNvSpPr txBox="1"/>
          <p:nvPr/>
        </p:nvSpPr>
        <p:spPr>
          <a:xfrm>
            <a:off x="1371600" y="137160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Q1. Resilience helps communities endure and sustain resistance</a:t>
            </a:r>
            <a:endParaRPr lang="en-US" sz="1600" dirty="0"/>
          </a:p>
          <a:p>
            <a:pPr indent="0" marL="0">
              <a:buNone/>
            </a:pPr>
            <a:r>
              <a:rPr lang="en-US" sz="1400" dirty="0">
                <a:solidFill>
                  <a:schemeClr val="tx1"/>
                </a:solidFill>
              </a:rPr>
              <a:t>Resilience is the backbone of resistance (textbook Q1).</a:t>
            </a:r>
            <a:endParaRPr lang="en-US" sz="1600" dirty="0"/>
          </a:p>
        </p:txBody>
      </p:sp>
      <p:sp>
        <p:nvSpPr>
          <p:cNvPr id="7" name="answer 2"/>
          <p:cNvSpPr/>
          <p:nvPr/>
        </p:nvSpPr>
        <p:spPr>
          <a:xfrm>
            <a:off x="548640" y="2583180"/>
            <a:ext cx="11064240" cy="1074420"/>
          </a:xfrm>
          <a:prstGeom prst="roundRect">
            <a:avLst>
              <a:gd name="adj" fmla="val 10213"/>
            </a:avLst>
          </a:prstGeom>
          <a:solidFill>
            <a:schemeClr val="bg2"/>
          </a:solidFill>
          <a:ln w="12700">
            <a:solidFill>
              <a:schemeClr val="bg2"/>
            </a:solidFill>
            <a:prstDash val="solid"/>
          </a:ln>
        </p:spPr>
      </p:sp>
      <p:sp>
        <p:nvSpPr>
          <p:cNvPr id="8" name="answer 2 badge"/>
          <p:cNvSpPr/>
          <p:nvPr/>
        </p:nvSpPr>
        <p:spPr>
          <a:xfrm>
            <a:off x="731520" y="2891790"/>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731520" y="289179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0" name="Text 8"/>
          <p:cNvSpPr txBox="1"/>
          <p:nvPr/>
        </p:nvSpPr>
        <p:spPr>
          <a:xfrm>
            <a:off x="1371600" y="258318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Q2. Lachit Borphukan</a:t>
            </a:r>
            <a:endParaRPr lang="en-US" sz="1600" dirty="0"/>
          </a:p>
          <a:p>
            <a:pPr indent="0" marL="0">
              <a:buNone/>
            </a:pPr>
            <a:r>
              <a:rPr lang="en-US" sz="1400" dirty="0">
                <a:solidFill>
                  <a:schemeClr val="tx1"/>
                </a:solidFill>
              </a:rPr>
              <a:t>The Ahom commander defeated a Mughal fleet on the Brahmaputra.</a:t>
            </a:r>
            <a:endParaRPr lang="en-US" sz="1600" dirty="0"/>
          </a:p>
        </p:txBody>
      </p:sp>
      <p:sp>
        <p:nvSpPr>
          <p:cNvPr id="11" name="answer 3"/>
          <p:cNvSpPr/>
          <p:nvPr/>
        </p:nvSpPr>
        <p:spPr>
          <a:xfrm>
            <a:off x="548640" y="3794760"/>
            <a:ext cx="11064240" cy="1074420"/>
          </a:xfrm>
          <a:prstGeom prst="roundRect">
            <a:avLst>
              <a:gd name="adj" fmla="val 10213"/>
            </a:avLst>
          </a:prstGeom>
          <a:solidFill>
            <a:schemeClr val="bg2"/>
          </a:solidFill>
          <a:ln w="12700">
            <a:solidFill>
              <a:schemeClr val="bg2"/>
            </a:solidFill>
            <a:prstDash val="solid"/>
          </a:ln>
        </p:spPr>
      </p:sp>
      <p:sp>
        <p:nvSpPr>
          <p:cNvPr id="12" name="answer 3 badge"/>
          <p:cNvSpPr/>
          <p:nvPr/>
        </p:nvSpPr>
        <p:spPr>
          <a:xfrm>
            <a:off x="731520" y="4103370"/>
            <a:ext cx="457200" cy="457200"/>
          </a:xfrm>
          <a:prstGeom prst="ellipse">
            <a:avLst/>
          </a:prstGeom>
          <a:solidFill>
            <a:schemeClr val="accent2"/>
          </a:solidFill>
          <a:ln w="12700">
            <a:solidFill>
              <a:schemeClr val="accent2"/>
            </a:solidFill>
            <a:prstDash val="solid"/>
          </a:ln>
        </p:spPr>
      </p:sp>
      <p:sp>
        <p:nvSpPr>
          <p:cNvPr id="13" name="Text 11"/>
          <p:cNvSpPr txBox="1"/>
          <p:nvPr/>
        </p:nvSpPr>
        <p:spPr>
          <a:xfrm>
            <a:off x="731520" y="410337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C</a:t>
            </a:r>
            <a:endParaRPr lang="en-US" sz="1600" dirty="0"/>
          </a:p>
        </p:txBody>
      </p:sp>
      <p:sp>
        <p:nvSpPr>
          <p:cNvPr id="14" name="Text 12"/>
          <p:cNvSpPr txBox="1"/>
          <p:nvPr/>
        </p:nvSpPr>
        <p:spPr>
          <a:xfrm>
            <a:off x="1371600" y="379476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Q3. Guru Gobind Singh</a:t>
            </a:r>
            <a:endParaRPr lang="en-US" sz="1600" dirty="0"/>
          </a:p>
          <a:p>
            <a:pPr indent="0" marL="0">
              <a:buNone/>
            </a:pPr>
            <a:r>
              <a:rPr lang="en-US" sz="1400" dirty="0">
                <a:solidFill>
                  <a:schemeClr val="tx1"/>
                </a:solidFill>
              </a:rPr>
              <a:t>Guru Gobind Singh established the Khalsa with a distinct martial code.</a:t>
            </a:r>
            <a:endParaRPr lang="en-US" sz="1600" dirty="0"/>
          </a:p>
        </p:txBody>
      </p:sp>
      <p:sp>
        <p:nvSpPr>
          <p:cNvPr id="15" name="answer 4"/>
          <p:cNvSpPr/>
          <p:nvPr/>
        </p:nvSpPr>
        <p:spPr>
          <a:xfrm>
            <a:off x="548640" y="5006340"/>
            <a:ext cx="11064240" cy="1074420"/>
          </a:xfrm>
          <a:prstGeom prst="roundRect">
            <a:avLst>
              <a:gd name="adj" fmla="val 10213"/>
            </a:avLst>
          </a:prstGeom>
          <a:solidFill>
            <a:schemeClr val="bg2"/>
          </a:solidFill>
          <a:ln w="12700">
            <a:solidFill>
              <a:schemeClr val="bg2"/>
            </a:solidFill>
            <a:prstDash val="solid"/>
          </a:ln>
        </p:spPr>
      </p:sp>
      <p:sp>
        <p:nvSpPr>
          <p:cNvPr id="16" name="answer 4 badge"/>
          <p:cNvSpPr/>
          <p:nvPr/>
        </p:nvSpPr>
        <p:spPr>
          <a:xfrm>
            <a:off x="731520" y="531495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731520" y="531495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B</a:t>
            </a:r>
            <a:endParaRPr lang="en-US" sz="1600" dirty="0"/>
          </a:p>
        </p:txBody>
      </p:sp>
      <p:sp>
        <p:nvSpPr>
          <p:cNvPr id="18" name="Text 16"/>
          <p:cNvSpPr txBox="1"/>
          <p:nvPr/>
        </p:nvSpPr>
        <p:spPr>
          <a:xfrm>
            <a:off x="1371600" y="5006340"/>
            <a:ext cx="10058400" cy="1074420"/>
          </a:xfrm>
          <a:prstGeom prst="rect">
            <a:avLst/>
          </a:prstGeom>
          <a:noFill/>
          <a:ln/>
        </p:spPr>
        <p:txBody>
          <a:bodyPr wrap="square" lIns="0" tIns="0" rIns="0" bIns="0" rtlCol="0" anchor="ctr"/>
          <a:lstStyle/>
          <a:p>
            <a:pPr indent="0" marL="0">
              <a:buNone/>
            </a:pPr>
            <a:r>
              <a:rPr lang="en-US" sz="1600" b="1" dirty="0">
                <a:solidFill>
                  <a:schemeClr val="tx2"/>
                </a:solidFill>
              </a:rPr>
              <a:t>Q4. Cheque</a:t>
            </a:r>
            <a:endParaRPr lang="en-US" sz="1600" dirty="0"/>
          </a:p>
          <a:p>
            <a:pPr indent="0" marL="0">
              <a:buNone/>
            </a:pPr>
            <a:r>
              <a:rPr lang="en-US" sz="1400" dirty="0">
                <a:solidFill>
                  <a:schemeClr val="tx1"/>
                </a:solidFill>
              </a:rPr>
              <a:t>It was a bill of exchange that moved money without carrying cash.</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Game: Who Am I?</a:t>
            </a:r>
            <a:endParaRPr lang="en-US" sz="3600" dirty="0"/>
          </a:p>
        </p:txBody>
      </p:sp>
      <p:sp>
        <p:nvSpPr>
          <p:cNvPr id="3" name="statement 1"/>
          <p:cNvSpPr/>
          <p:nvPr/>
        </p:nvSpPr>
        <p:spPr>
          <a:xfrm>
            <a:off x="548640" y="1371600"/>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4" name="Text 2"/>
          <p:cNvSpPr txBox="1"/>
          <p:nvPr/>
        </p:nvSpPr>
        <p:spPr>
          <a:xfrm>
            <a:off x="822960" y="1371600"/>
            <a:ext cx="8595360" cy="832104"/>
          </a:xfrm>
          <a:prstGeom prst="rect">
            <a:avLst/>
          </a:prstGeom>
          <a:noFill/>
          <a:ln/>
        </p:spPr>
        <p:txBody>
          <a:bodyPr wrap="square" lIns="0" tIns="0" rIns="0" bIns="0" rtlCol="0" anchor="ctr"/>
          <a:lstStyle/>
          <a:p>
            <a:pPr indent="0" marL="0">
              <a:buNone/>
            </a:pPr>
            <a:r>
              <a:rPr lang="en-US" sz="1700" dirty="0">
                <a:solidFill>
                  <a:schemeClr val="tx1"/>
                </a:solidFill>
              </a:rPr>
              <a:t>1.  I defeated Muhammad Ghuri at Kasahrada near Mount Abu in 1178.</a:t>
            </a:r>
            <a:endParaRPr lang="en-US" sz="1700" dirty="0"/>
          </a:p>
        </p:txBody>
      </p:sp>
      <p:sp>
        <p:nvSpPr>
          <p:cNvPr id="5" name="vote 1"/>
          <p:cNvSpPr/>
          <p:nvPr/>
        </p:nvSpPr>
        <p:spPr>
          <a:xfrm>
            <a:off x="9646920" y="1559052"/>
            <a:ext cx="1737360" cy="457200"/>
          </a:xfrm>
          <a:prstGeom prst="roundRect">
            <a:avLst>
              <a:gd name="adj" fmla="val 50000"/>
            </a:avLst>
          </a:prstGeom>
          <a:solidFill>
            <a:schemeClr val="bg2"/>
          </a:solidFill>
          <a:ln w="12700">
            <a:solidFill>
              <a:schemeClr val="bg2"/>
            </a:solidFill>
            <a:prstDash val="solid"/>
          </a:ln>
        </p:spPr>
      </p:sp>
      <p:sp>
        <p:nvSpPr>
          <p:cNvPr id="6" name="Text 4"/>
          <p:cNvSpPr txBox="1"/>
          <p:nvPr/>
        </p:nvSpPr>
        <p:spPr>
          <a:xfrm>
            <a:off x="9646920" y="1559052"/>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7" name="statement 2"/>
          <p:cNvSpPr/>
          <p:nvPr/>
        </p:nvSpPr>
        <p:spPr>
          <a:xfrm>
            <a:off x="548640" y="2340864"/>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8" name="Text 6"/>
          <p:cNvSpPr txBox="1"/>
          <p:nvPr/>
        </p:nvSpPr>
        <p:spPr>
          <a:xfrm>
            <a:off x="822960" y="2340864"/>
            <a:ext cx="8595360" cy="832104"/>
          </a:xfrm>
          <a:prstGeom prst="rect">
            <a:avLst/>
          </a:prstGeom>
          <a:noFill/>
          <a:ln/>
        </p:spPr>
        <p:txBody>
          <a:bodyPr wrap="square" lIns="0" tIns="0" rIns="0" bIns="0" rtlCol="0" anchor="ctr"/>
          <a:lstStyle/>
          <a:p>
            <a:pPr indent="0" marL="0">
              <a:buNone/>
            </a:pPr>
            <a:r>
              <a:rPr lang="en-US" sz="1700" dirty="0">
                <a:solidFill>
                  <a:schemeClr val="tx1"/>
                </a:solidFill>
              </a:rPr>
              <a:t>2.  I was a Telugu poet, a potter's daughter, and I wrote the Ramayana in Telugu.</a:t>
            </a:r>
            <a:endParaRPr lang="en-US" sz="1700" dirty="0"/>
          </a:p>
        </p:txBody>
      </p:sp>
      <p:sp>
        <p:nvSpPr>
          <p:cNvPr id="9" name="vote 2"/>
          <p:cNvSpPr/>
          <p:nvPr/>
        </p:nvSpPr>
        <p:spPr>
          <a:xfrm>
            <a:off x="9646920" y="2528316"/>
            <a:ext cx="1737360"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9646920" y="2528316"/>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11" name="statement 3"/>
          <p:cNvSpPr/>
          <p:nvPr/>
        </p:nvSpPr>
        <p:spPr>
          <a:xfrm>
            <a:off x="548640" y="3310128"/>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2" name="Text 10"/>
          <p:cNvSpPr txBox="1"/>
          <p:nvPr/>
        </p:nvSpPr>
        <p:spPr>
          <a:xfrm>
            <a:off x="822960" y="3310128"/>
            <a:ext cx="8595360" cy="832104"/>
          </a:xfrm>
          <a:prstGeom prst="rect">
            <a:avLst/>
          </a:prstGeom>
          <a:noFill/>
          <a:ln/>
        </p:spPr>
        <p:txBody>
          <a:bodyPr wrap="square" lIns="0" tIns="0" rIns="0" bIns="0" rtlCol="0" anchor="ctr"/>
          <a:lstStyle/>
          <a:p>
            <a:pPr indent="0" marL="0">
              <a:buNone/>
            </a:pPr>
            <a:r>
              <a:rPr lang="en-US" sz="1700" dirty="0">
                <a:solidFill>
                  <a:schemeClr val="tx1"/>
                </a:solidFill>
              </a:rPr>
              <a:t>3.  I put my foot in the Mughal emperor's slipper and asked for the pair.</a:t>
            </a:r>
            <a:endParaRPr lang="en-US" sz="1700" dirty="0"/>
          </a:p>
        </p:txBody>
      </p:sp>
      <p:sp>
        <p:nvSpPr>
          <p:cNvPr id="13" name="vote 3"/>
          <p:cNvSpPr/>
          <p:nvPr/>
        </p:nvSpPr>
        <p:spPr>
          <a:xfrm>
            <a:off x="9646920" y="3497580"/>
            <a:ext cx="1737360" cy="457200"/>
          </a:xfrm>
          <a:prstGeom prst="roundRect">
            <a:avLst>
              <a:gd name="adj" fmla="val 50000"/>
            </a:avLst>
          </a:prstGeom>
          <a:solidFill>
            <a:schemeClr val="bg2"/>
          </a:solidFill>
          <a:ln w="12700">
            <a:solidFill>
              <a:schemeClr val="bg2"/>
            </a:solidFill>
            <a:prstDash val="solid"/>
          </a:ln>
        </p:spPr>
      </p:sp>
      <p:sp>
        <p:nvSpPr>
          <p:cNvPr id="14" name="Text 12"/>
          <p:cNvSpPr txBox="1"/>
          <p:nvPr/>
        </p:nvSpPr>
        <p:spPr>
          <a:xfrm>
            <a:off x="9646920" y="3497580"/>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15" name="statement 4"/>
          <p:cNvSpPr/>
          <p:nvPr/>
        </p:nvSpPr>
        <p:spPr>
          <a:xfrm>
            <a:off x="548640" y="4279392"/>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16" name="Text 14"/>
          <p:cNvSpPr txBox="1"/>
          <p:nvPr/>
        </p:nvSpPr>
        <p:spPr>
          <a:xfrm>
            <a:off x="822960" y="4279392"/>
            <a:ext cx="8595360" cy="832104"/>
          </a:xfrm>
          <a:prstGeom prst="rect">
            <a:avLst/>
          </a:prstGeom>
          <a:noFill/>
          <a:ln/>
        </p:spPr>
        <p:txBody>
          <a:bodyPr wrap="square" lIns="0" tIns="0" rIns="0" bIns="0" rtlCol="0" anchor="ctr"/>
          <a:lstStyle/>
          <a:p>
            <a:pPr indent="0" marL="0">
              <a:buNone/>
            </a:pPr>
            <a:r>
              <a:rPr lang="en-US" sz="1700" dirty="0">
                <a:solidFill>
                  <a:schemeClr val="tx1"/>
                </a:solidFill>
              </a:rPr>
              <a:t>4.  I set up the Akal Takht to represent temporal authority.</a:t>
            </a:r>
            <a:endParaRPr lang="en-US" sz="1700" dirty="0"/>
          </a:p>
        </p:txBody>
      </p:sp>
      <p:sp>
        <p:nvSpPr>
          <p:cNvPr id="17" name="vote 4"/>
          <p:cNvSpPr/>
          <p:nvPr/>
        </p:nvSpPr>
        <p:spPr>
          <a:xfrm>
            <a:off x="9646920" y="4466844"/>
            <a:ext cx="1737360" cy="457200"/>
          </a:xfrm>
          <a:prstGeom prst="roundRect">
            <a:avLst>
              <a:gd name="adj" fmla="val 50000"/>
            </a:avLst>
          </a:prstGeom>
          <a:solidFill>
            <a:schemeClr val="bg2"/>
          </a:solidFill>
          <a:ln w="12700">
            <a:solidFill>
              <a:schemeClr val="bg2"/>
            </a:solidFill>
            <a:prstDash val="solid"/>
          </a:ln>
        </p:spPr>
      </p:sp>
      <p:sp>
        <p:nvSpPr>
          <p:cNvPr id="18" name="Text 16"/>
          <p:cNvSpPr txBox="1"/>
          <p:nvPr/>
        </p:nvSpPr>
        <p:spPr>
          <a:xfrm>
            <a:off x="9646920" y="4466844"/>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19" name="statement 5"/>
          <p:cNvSpPr/>
          <p:nvPr/>
        </p:nvSpPr>
        <p:spPr>
          <a:xfrm>
            <a:off x="548640" y="5248656"/>
            <a:ext cx="11064240" cy="832104"/>
          </a:xfrm>
          <a:prstGeom prst="roundRect">
            <a:avLst>
              <a:gd name="adj" fmla="val 13187"/>
            </a:avLst>
          </a:prstGeom>
          <a:solidFill>
            <a:schemeClr val="bg1"/>
          </a:solidFill>
          <a:ln w="12700">
            <a:solidFill>
              <a:schemeClr val="bg1"/>
            </a:solidFill>
            <a:prstDash val="solid"/>
          </a:ln>
          <a:effectLst>
            <a:outerShdw sx="100000" sy="100000" kx="0" ky="0" algn="bl" rotWithShape="0" blurRad="101600" dist="25400" dir="5400000">
              <a:srgbClr val="000000">
                <a:alpha val="14000"/>
              </a:srgbClr>
            </a:outerShdw>
          </a:effectLst>
        </p:spPr>
      </p:sp>
      <p:sp>
        <p:nvSpPr>
          <p:cNvPr id="20" name="Text 18"/>
          <p:cNvSpPr txBox="1"/>
          <p:nvPr/>
        </p:nvSpPr>
        <p:spPr>
          <a:xfrm>
            <a:off x="822960" y="5248656"/>
            <a:ext cx="8595360" cy="832104"/>
          </a:xfrm>
          <a:prstGeom prst="rect">
            <a:avLst/>
          </a:prstGeom>
          <a:noFill/>
          <a:ln/>
        </p:spPr>
        <p:txBody>
          <a:bodyPr wrap="square" lIns="0" tIns="0" rIns="0" bIns="0" rtlCol="0" anchor="ctr"/>
          <a:lstStyle/>
          <a:p>
            <a:pPr indent="0" marL="0">
              <a:buNone/>
            </a:pPr>
            <a:r>
              <a:rPr lang="en-US" sz="1700" dirty="0">
                <a:solidFill>
                  <a:schemeClr val="tx1"/>
                </a:solidFill>
              </a:rPr>
              <a:t>5.  I adopted the policy of Sulh-i-kul, 'peace with all'.</a:t>
            </a:r>
            <a:endParaRPr lang="en-US" sz="1700" dirty="0"/>
          </a:p>
        </p:txBody>
      </p:sp>
      <p:sp>
        <p:nvSpPr>
          <p:cNvPr id="21" name="vote 5"/>
          <p:cNvSpPr/>
          <p:nvPr/>
        </p:nvSpPr>
        <p:spPr>
          <a:xfrm>
            <a:off x="9646920" y="5436108"/>
            <a:ext cx="1737360" cy="457200"/>
          </a:xfrm>
          <a:prstGeom prst="roundRect">
            <a:avLst>
              <a:gd name="adj" fmla="val 50000"/>
            </a:avLst>
          </a:prstGeom>
          <a:solidFill>
            <a:schemeClr val="bg2"/>
          </a:solidFill>
          <a:ln w="12700">
            <a:solidFill>
              <a:schemeClr val="bg2"/>
            </a:solidFill>
            <a:prstDash val="solid"/>
          </a:ln>
        </p:spPr>
      </p:sp>
      <p:sp>
        <p:nvSpPr>
          <p:cNvPr id="22" name="Text 20"/>
          <p:cNvSpPr txBox="1"/>
          <p:nvPr/>
        </p:nvSpPr>
        <p:spPr>
          <a:xfrm>
            <a:off x="9646920" y="5436108"/>
            <a:ext cx="1737360" cy="457200"/>
          </a:xfrm>
          <a:prstGeom prst="rect">
            <a:avLst/>
          </a:prstGeom>
          <a:noFill/>
          <a:ln/>
        </p:spPr>
        <p:txBody>
          <a:bodyPr wrap="square" lIns="0" tIns="0" rIns="0" bIns="0" rtlCol="0" anchor="ctr"/>
          <a:lstStyle/>
          <a:p>
            <a:pPr algn="ctr" indent="0" marL="0">
              <a:buNone/>
            </a:pPr>
            <a:r>
              <a:rPr lang="en-US" sz="1300" b="1" dirty="0">
                <a:solidFill>
                  <a:schemeClr val="tx2"/>
                </a:solidFill>
              </a:rPr>
              <a:t>Who am I?</a:t>
            </a:r>
            <a:endParaRPr lang="en-US" sz="13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2"/>
                </a:solidFill>
              </a:rPr>
              <a:t>Before We Move On</a:t>
            </a:r>
            <a:endParaRPr lang="en-US" sz="3600" dirty="0"/>
          </a:p>
        </p:txBody>
      </p:sp>
      <p:sp>
        <p:nvSpPr>
          <p:cNvPr id="3" name="mind map centre"/>
          <p:cNvSpPr/>
          <p:nvPr/>
        </p:nvSpPr>
        <p:spPr>
          <a:xfrm>
            <a:off x="4861408" y="3063240"/>
            <a:ext cx="2468880" cy="1463040"/>
          </a:xfrm>
          <a:prstGeom prst="ellipse">
            <a:avLst/>
          </a:prstGeom>
          <a:solidFill>
            <a:schemeClr val="tx2"/>
          </a:solidFill>
          <a:ln w="12700">
            <a:solidFill>
              <a:schemeClr val="tx2"/>
            </a:solidFill>
            <a:prstDash val="solid"/>
          </a:ln>
        </p:spPr>
      </p:sp>
      <p:sp>
        <p:nvSpPr>
          <p:cNvPr id="4" name="Text 2"/>
          <p:cNvSpPr txBox="1"/>
          <p:nvPr/>
        </p:nvSpPr>
        <p:spPr>
          <a:xfrm>
            <a:off x="4952848" y="3063240"/>
            <a:ext cx="2286000" cy="146304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Resistance and Resilience</a:t>
            </a:r>
            <a:endParaRPr lang="en-US" sz="1800" dirty="0"/>
          </a:p>
        </p:txBody>
      </p:sp>
      <p:sp>
        <p:nvSpPr>
          <p:cNvPr id="5" name="branch 1 line"/>
          <p:cNvSpPr/>
          <p:nvPr/>
        </p:nvSpPr>
        <p:spPr>
          <a:xfrm>
            <a:off x="4114800" y="2103120"/>
            <a:ext cx="792328" cy="1691640"/>
          </a:xfrm>
          <a:prstGeom prst="line">
            <a:avLst/>
          </a:prstGeom>
          <a:noFill/>
          <a:ln w="25400">
            <a:solidFill>
              <a:srgbClr val="EBA937"/>
            </a:solidFill>
            <a:prstDash val="solid"/>
          </a:ln>
        </p:spPr>
      </p:sp>
      <p:sp>
        <p:nvSpPr>
          <p:cNvPr id="6" name="branch 1"/>
          <p:cNvSpPr/>
          <p:nvPr/>
        </p:nvSpPr>
        <p:spPr>
          <a:xfrm>
            <a:off x="548640" y="1371600"/>
            <a:ext cx="3566160" cy="1463040"/>
          </a:xfrm>
          <a:prstGeom prst="roundRect">
            <a:avLst>
              <a:gd name="adj" fmla="val 7500"/>
            </a:avLst>
          </a:prstGeom>
          <a:solidFill>
            <a:schemeClr val="bg2"/>
          </a:solidFill>
          <a:ln w="12700">
            <a:solidFill>
              <a:schemeClr val="bg2"/>
            </a:solidFill>
            <a:prstDash val="solid"/>
          </a:ln>
        </p:spPr>
      </p:sp>
      <p:sp>
        <p:nvSpPr>
          <p:cNvPr id="7" name="Text 5"/>
          <p:cNvSpPr txBox="1"/>
          <p:nvPr/>
        </p:nvSpPr>
        <p:spPr>
          <a:xfrm>
            <a:off x="731520"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Resistance</a:t>
            </a:r>
            <a:endParaRPr lang="en-US" sz="1600" dirty="0"/>
          </a:p>
          <a:p>
            <a:pPr indent="0" marL="0">
              <a:buNone/>
            </a:pPr>
            <a:r>
              <a:rPr lang="en-US" sz="1600" dirty="0">
                <a:solidFill>
                  <a:schemeClr val="tx1"/>
                </a:solidFill>
              </a:rPr>
              <a:t>Rajputs, Ahoms, Vijayanagara, Marathas, Sikhs, Jats</a:t>
            </a:r>
            <a:endParaRPr lang="en-US" sz="1600" dirty="0"/>
          </a:p>
        </p:txBody>
      </p:sp>
      <p:sp>
        <p:nvSpPr>
          <p:cNvPr id="8" name="branch 2 line"/>
          <p:cNvSpPr/>
          <p:nvPr/>
        </p:nvSpPr>
        <p:spPr>
          <a:xfrm>
            <a:off x="4114800" y="3794760"/>
            <a:ext cx="792328" cy="914"/>
          </a:xfrm>
          <a:prstGeom prst="line">
            <a:avLst/>
          </a:prstGeom>
          <a:noFill/>
          <a:ln w="25400">
            <a:solidFill>
              <a:srgbClr val="EBA937"/>
            </a:solidFill>
            <a:prstDash val="solid"/>
          </a:ln>
        </p:spPr>
      </p:sp>
      <p:sp>
        <p:nvSpPr>
          <p:cNvPr id="9" name="branch 2"/>
          <p:cNvSpPr/>
          <p:nvPr/>
        </p:nvSpPr>
        <p:spPr>
          <a:xfrm>
            <a:off x="548640" y="3063240"/>
            <a:ext cx="3566160" cy="1463040"/>
          </a:xfrm>
          <a:prstGeom prst="roundRect">
            <a:avLst>
              <a:gd name="adj" fmla="val 7500"/>
            </a:avLst>
          </a:prstGeom>
          <a:solidFill>
            <a:schemeClr val="bg2"/>
          </a:solidFill>
          <a:ln w="12700">
            <a:solidFill>
              <a:schemeClr val="bg2"/>
            </a:solidFill>
            <a:prstDash val="solid"/>
          </a:ln>
        </p:spPr>
      </p:sp>
      <p:sp>
        <p:nvSpPr>
          <p:cNvPr id="10" name="Text 8"/>
          <p:cNvSpPr txBox="1"/>
          <p:nvPr/>
        </p:nvSpPr>
        <p:spPr>
          <a:xfrm>
            <a:off x="731520"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Strategies</a:t>
            </a:r>
            <a:endParaRPr lang="en-US" sz="1600" dirty="0"/>
          </a:p>
          <a:p>
            <a:pPr indent="0" marL="0">
              <a:buNone/>
            </a:pPr>
            <a:r>
              <a:rPr lang="en-US" sz="1600" dirty="0">
                <a:solidFill>
                  <a:schemeClr val="tx1"/>
                </a:solidFill>
              </a:rPr>
              <a:t>Battles, guerrilla war, terrain, forts, alliances, diplomacy</a:t>
            </a:r>
            <a:endParaRPr lang="en-US" sz="1600" dirty="0"/>
          </a:p>
        </p:txBody>
      </p:sp>
      <p:sp>
        <p:nvSpPr>
          <p:cNvPr id="11" name="branch 3 line"/>
          <p:cNvSpPr/>
          <p:nvPr/>
        </p:nvSpPr>
        <p:spPr>
          <a:xfrm flipV="1">
            <a:off x="4114800" y="3794760"/>
            <a:ext cx="792328" cy="1691640"/>
          </a:xfrm>
          <a:prstGeom prst="line">
            <a:avLst/>
          </a:prstGeom>
          <a:noFill/>
          <a:ln w="25400">
            <a:solidFill>
              <a:srgbClr val="EBA937"/>
            </a:solidFill>
            <a:prstDash val="solid"/>
          </a:ln>
        </p:spPr>
      </p:sp>
      <p:sp>
        <p:nvSpPr>
          <p:cNvPr id="12" name="branch 3"/>
          <p:cNvSpPr/>
          <p:nvPr/>
        </p:nvSpPr>
        <p:spPr>
          <a:xfrm>
            <a:off x="548640" y="4754880"/>
            <a:ext cx="3566160" cy="1463040"/>
          </a:xfrm>
          <a:prstGeom prst="roundRect">
            <a:avLst>
              <a:gd name="adj" fmla="val 7500"/>
            </a:avLst>
          </a:prstGeom>
          <a:solidFill>
            <a:schemeClr val="bg2"/>
          </a:solidFill>
          <a:ln w="12700">
            <a:solidFill>
              <a:schemeClr val="bg2"/>
            </a:solidFill>
            <a:prstDash val="solid"/>
          </a:ln>
        </p:spPr>
      </p:sp>
      <p:sp>
        <p:nvSpPr>
          <p:cNvPr id="13" name="Text 11"/>
          <p:cNvSpPr txBox="1"/>
          <p:nvPr/>
        </p:nvSpPr>
        <p:spPr>
          <a:xfrm>
            <a:off x="731520"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Bhakti</a:t>
            </a:r>
            <a:endParaRPr lang="en-US" sz="1600" dirty="0"/>
          </a:p>
          <a:p>
            <a:pPr indent="0" marL="0">
              <a:buNone/>
            </a:pPr>
            <a:r>
              <a:rPr lang="en-US" sz="1600" dirty="0">
                <a:solidFill>
                  <a:schemeClr val="tx1"/>
                </a:solidFill>
              </a:rPr>
              <a:t>Local languages, nam kirtan, sankirtan, women saints</a:t>
            </a:r>
            <a:endParaRPr lang="en-US" sz="1600" dirty="0"/>
          </a:p>
        </p:txBody>
      </p:sp>
      <p:sp>
        <p:nvSpPr>
          <p:cNvPr id="14" name="branch 4 line"/>
          <p:cNvSpPr/>
          <p:nvPr/>
        </p:nvSpPr>
        <p:spPr>
          <a:xfrm flipV="1">
            <a:off x="7284568" y="2103120"/>
            <a:ext cx="789584" cy="1691640"/>
          </a:xfrm>
          <a:prstGeom prst="line">
            <a:avLst/>
          </a:prstGeom>
          <a:noFill/>
          <a:ln w="25400">
            <a:solidFill>
              <a:srgbClr val="EBA937"/>
            </a:solidFill>
            <a:prstDash val="solid"/>
          </a:ln>
        </p:spPr>
      </p:sp>
      <p:sp>
        <p:nvSpPr>
          <p:cNvPr id="15" name="branch 4"/>
          <p:cNvSpPr/>
          <p:nvPr/>
        </p:nvSpPr>
        <p:spPr>
          <a:xfrm>
            <a:off x="8074152" y="1371600"/>
            <a:ext cx="3566160" cy="1463040"/>
          </a:xfrm>
          <a:prstGeom prst="roundRect">
            <a:avLst>
              <a:gd name="adj" fmla="val 7500"/>
            </a:avLst>
          </a:prstGeom>
          <a:solidFill>
            <a:schemeClr val="bg2"/>
          </a:solidFill>
          <a:ln w="12700">
            <a:solidFill>
              <a:schemeClr val="bg2"/>
            </a:solidFill>
            <a:prstDash val="solid"/>
          </a:ln>
        </p:spPr>
      </p:sp>
      <p:sp>
        <p:nvSpPr>
          <p:cNvPr id="16" name="Text 14"/>
          <p:cNvSpPr txBox="1"/>
          <p:nvPr/>
        </p:nvSpPr>
        <p:spPr>
          <a:xfrm>
            <a:off x="8257032" y="148132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Temples</a:t>
            </a:r>
            <a:endParaRPr lang="en-US" sz="1600" dirty="0"/>
          </a:p>
          <a:p>
            <a:pPr indent="0" marL="0">
              <a:buNone/>
            </a:pPr>
            <a:r>
              <a:rPr lang="en-US" sz="1600" dirty="0">
                <a:solidFill>
                  <a:schemeClr val="tx1"/>
                </a:solidFill>
              </a:rPr>
              <a:t>Economic, cultural and political centres; restored and adapted</a:t>
            </a:r>
            <a:endParaRPr lang="en-US" sz="1600" dirty="0"/>
          </a:p>
        </p:txBody>
      </p:sp>
      <p:sp>
        <p:nvSpPr>
          <p:cNvPr id="17" name="branch 5 line"/>
          <p:cNvSpPr/>
          <p:nvPr/>
        </p:nvSpPr>
        <p:spPr>
          <a:xfrm>
            <a:off x="7284568" y="3794760"/>
            <a:ext cx="789584" cy="914"/>
          </a:xfrm>
          <a:prstGeom prst="line">
            <a:avLst/>
          </a:prstGeom>
          <a:noFill/>
          <a:ln w="25400">
            <a:solidFill>
              <a:srgbClr val="EBA937"/>
            </a:solidFill>
            <a:prstDash val="solid"/>
          </a:ln>
        </p:spPr>
      </p:sp>
      <p:sp>
        <p:nvSpPr>
          <p:cNvPr id="18" name="branch 5"/>
          <p:cNvSpPr/>
          <p:nvPr/>
        </p:nvSpPr>
        <p:spPr>
          <a:xfrm>
            <a:off x="8074152" y="3063240"/>
            <a:ext cx="3566160" cy="1463040"/>
          </a:xfrm>
          <a:prstGeom prst="roundRect">
            <a:avLst>
              <a:gd name="adj" fmla="val 7500"/>
            </a:avLst>
          </a:prstGeom>
          <a:solidFill>
            <a:schemeClr val="bg2"/>
          </a:solidFill>
          <a:ln w="12700">
            <a:solidFill>
              <a:schemeClr val="bg2"/>
            </a:solidFill>
            <a:prstDash val="solid"/>
          </a:ln>
        </p:spPr>
      </p:sp>
      <p:sp>
        <p:nvSpPr>
          <p:cNvPr id="19" name="Text 17"/>
          <p:cNvSpPr txBox="1"/>
          <p:nvPr/>
        </p:nvSpPr>
        <p:spPr>
          <a:xfrm>
            <a:off x="8257032" y="317296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Economy</a:t>
            </a:r>
            <a:endParaRPr lang="en-US" sz="1600" dirty="0"/>
          </a:p>
          <a:p>
            <a:pPr indent="0" marL="0">
              <a:buNone/>
            </a:pPr>
            <a:r>
              <a:rPr lang="en-US" sz="1600" dirty="0">
                <a:solidFill>
                  <a:schemeClr val="tx1"/>
                </a:solidFill>
              </a:rPr>
              <a:t>Irrigation, hundi, caravans, Indian Ocean trade, merchants</a:t>
            </a:r>
            <a:endParaRPr lang="en-US" sz="1600" dirty="0"/>
          </a:p>
        </p:txBody>
      </p:sp>
      <p:sp>
        <p:nvSpPr>
          <p:cNvPr id="20" name="branch 6 line"/>
          <p:cNvSpPr/>
          <p:nvPr/>
        </p:nvSpPr>
        <p:spPr>
          <a:xfrm>
            <a:off x="7284568" y="3794760"/>
            <a:ext cx="789584" cy="1691640"/>
          </a:xfrm>
          <a:prstGeom prst="line">
            <a:avLst/>
          </a:prstGeom>
          <a:noFill/>
          <a:ln w="25400">
            <a:solidFill>
              <a:srgbClr val="EBA937"/>
            </a:solidFill>
            <a:prstDash val="solid"/>
          </a:ln>
        </p:spPr>
      </p:sp>
      <p:sp>
        <p:nvSpPr>
          <p:cNvPr id="21" name="branch 6"/>
          <p:cNvSpPr/>
          <p:nvPr/>
        </p:nvSpPr>
        <p:spPr>
          <a:xfrm>
            <a:off x="8074152" y="4754880"/>
            <a:ext cx="3566160" cy="1463040"/>
          </a:xfrm>
          <a:prstGeom prst="roundRect">
            <a:avLst>
              <a:gd name="adj" fmla="val 7500"/>
            </a:avLst>
          </a:prstGeom>
          <a:solidFill>
            <a:schemeClr val="bg2"/>
          </a:solidFill>
          <a:ln w="12700">
            <a:solidFill>
              <a:schemeClr val="bg2"/>
            </a:solidFill>
            <a:prstDash val="solid"/>
          </a:ln>
        </p:spPr>
      </p:sp>
      <p:sp>
        <p:nvSpPr>
          <p:cNvPr id="22" name="Text 20"/>
          <p:cNvSpPr txBox="1"/>
          <p:nvPr/>
        </p:nvSpPr>
        <p:spPr>
          <a:xfrm>
            <a:off x="8257032" y="4864608"/>
            <a:ext cx="3200400" cy="1243584"/>
          </a:xfrm>
          <a:prstGeom prst="rect">
            <a:avLst/>
          </a:prstGeom>
          <a:noFill/>
          <a:ln/>
        </p:spPr>
        <p:txBody>
          <a:bodyPr wrap="square" lIns="0" tIns="0" rIns="0" bIns="0" rtlCol="0" anchor="t"/>
          <a:lstStyle/>
          <a:p>
            <a:pPr indent="0" marL="0">
              <a:buNone/>
            </a:pPr>
            <a:r>
              <a:rPr lang="en-US" sz="1600" b="1" dirty="0">
                <a:solidFill>
                  <a:schemeClr val="accent1"/>
                </a:solidFill>
              </a:rPr>
              <a:t>Big idea</a:t>
            </a:r>
            <a:endParaRPr lang="en-US" sz="1600" dirty="0"/>
          </a:p>
          <a:p>
            <a:pPr indent="0" marL="0">
              <a:buNone/>
            </a:pPr>
            <a:r>
              <a:rPr lang="en-US" sz="1600" dirty="0">
                <a:solidFill>
                  <a:schemeClr val="tx1"/>
                </a:solidFill>
              </a:rPr>
              <a:t>Not just invasions: conflict and cooperation, endurance and adaptation</a:t>
            </a:r>
            <a:endParaRPr lang="en-US" sz="16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3D1414"/>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ctr"/>
          <a:lstStyle/>
          <a:p>
            <a:pPr algn="l" indent="0" marL="0">
              <a:buNone/>
            </a:pPr>
            <a:r>
              <a:rPr lang="en-US" sz="3600" b="1" dirty="0">
                <a:solidFill>
                  <a:schemeClr val="bg1"/>
                </a:solidFill>
              </a:rPr>
              <a:t>Exit Ticket and Homework</a:t>
            </a:r>
            <a:endParaRPr lang="en-US" sz="3600" dirty="0"/>
          </a:p>
        </p:txBody>
      </p:sp>
      <p:sp>
        <p:nvSpPr>
          <p:cNvPr id="3" name="exit 3"/>
          <p:cNvSpPr/>
          <p:nvPr/>
        </p:nvSpPr>
        <p:spPr>
          <a:xfrm>
            <a:off x="731520" y="1508760"/>
            <a:ext cx="2103120" cy="2743200"/>
          </a:xfrm>
          <a:prstGeom prst="roundRect">
            <a:avLst>
              <a:gd name="adj" fmla="val 5217"/>
            </a:avLst>
          </a:prstGeom>
          <a:solidFill>
            <a:schemeClr val="bg1"/>
          </a:solidFill>
          <a:ln w="12700">
            <a:solidFill>
              <a:schemeClr val="bg1"/>
            </a:solidFill>
            <a:prstDash val="solid"/>
          </a:ln>
        </p:spPr>
      </p:sp>
      <p:sp>
        <p:nvSpPr>
          <p:cNvPr id="4" name="Text 2"/>
          <p:cNvSpPr txBox="1"/>
          <p:nvPr/>
        </p:nvSpPr>
        <p:spPr>
          <a:xfrm>
            <a:off x="73152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3</a:t>
            </a:r>
            <a:endParaRPr lang="en-US" sz="5400" dirty="0"/>
          </a:p>
        </p:txBody>
      </p:sp>
      <p:sp>
        <p:nvSpPr>
          <p:cNvPr id="5" name="Text 3"/>
          <p:cNvSpPr txBox="1"/>
          <p:nvPr/>
        </p:nvSpPr>
        <p:spPr>
          <a:xfrm>
            <a:off x="86868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things I learnt</a:t>
            </a:r>
            <a:endParaRPr lang="en-US" sz="1800" dirty="0"/>
          </a:p>
        </p:txBody>
      </p:sp>
      <p:sp>
        <p:nvSpPr>
          <p:cNvPr id="6" name="Text 4"/>
          <p:cNvSpPr txBox="1"/>
          <p:nvPr/>
        </p:nvSpPr>
        <p:spPr>
          <a:xfrm>
            <a:off x="86868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Three key ideas from this chapter</a:t>
            </a:r>
            <a:endParaRPr lang="en-US" sz="1500" dirty="0"/>
          </a:p>
        </p:txBody>
      </p:sp>
      <p:sp>
        <p:nvSpPr>
          <p:cNvPr id="7" name="exit 2"/>
          <p:cNvSpPr/>
          <p:nvPr/>
        </p:nvSpPr>
        <p:spPr>
          <a:xfrm>
            <a:off x="3063240" y="1508760"/>
            <a:ext cx="2103120" cy="2743200"/>
          </a:xfrm>
          <a:prstGeom prst="roundRect">
            <a:avLst>
              <a:gd name="adj" fmla="val 5217"/>
            </a:avLst>
          </a:prstGeom>
          <a:solidFill>
            <a:schemeClr val="bg1"/>
          </a:solidFill>
          <a:ln w="12700">
            <a:solidFill>
              <a:schemeClr val="bg1"/>
            </a:solidFill>
            <a:prstDash val="solid"/>
          </a:ln>
        </p:spPr>
      </p:sp>
      <p:sp>
        <p:nvSpPr>
          <p:cNvPr id="8" name="Text 6"/>
          <p:cNvSpPr txBox="1"/>
          <p:nvPr/>
        </p:nvSpPr>
        <p:spPr>
          <a:xfrm>
            <a:off x="306324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2</a:t>
            </a:r>
            <a:endParaRPr lang="en-US" sz="5400" dirty="0"/>
          </a:p>
        </p:txBody>
      </p:sp>
      <p:sp>
        <p:nvSpPr>
          <p:cNvPr id="9" name="Text 7"/>
          <p:cNvSpPr txBox="1"/>
          <p:nvPr/>
        </p:nvSpPr>
        <p:spPr>
          <a:xfrm>
            <a:off x="320040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connections</a:t>
            </a:r>
            <a:endParaRPr lang="en-US" sz="1800" dirty="0"/>
          </a:p>
        </p:txBody>
      </p:sp>
      <p:sp>
        <p:nvSpPr>
          <p:cNvPr id="10" name="Text 8"/>
          <p:cNvSpPr txBox="1"/>
          <p:nvPr/>
        </p:nvSpPr>
        <p:spPr>
          <a:xfrm>
            <a:off x="320040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Two ways this topic connects to my life or my state</a:t>
            </a:r>
            <a:endParaRPr lang="en-US" sz="1500" dirty="0"/>
          </a:p>
        </p:txBody>
      </p:sp>
      <p:sp>
        <p:nvSpPr>
          <p:cNvPr id="11" name="exit 1"/>
          <p:cNvSpPr/>
          <p:nvPr/>
        </p:nvSpPr>
        <p:spPr>
          <a:xfrm>
            <a:off x="5394960" y="1508760"/>
            <a:ext cx="2103120" cy="2743200"/>
          </a:xfrm>
          <a:prstGeom prst="roundRect">
            <a:avLst>
              <a:gd name="adj" fmla="val 5217"/>
            </a:avLst>
          </a:prstGeom>
          <a:solidFill>
            <a:schemeClr val="bg1"/>
          </a:solidFill>
          <a:ln w="12700">
            <a:solidFill>
              <a:schemeClr val="bg1"/>
            </a:solidFill>
            <a:prstDash val="solid"/>
          </a:ln>
        </p:spPr>
      </p:sp>
      <p:sp>
        <p:nvSpPr>
          <p:cNvPr id="12" name="Text 10"/>
          <p:cNvSpPr txBox="1"/>
          <p:nvPr/>
        </p:nvSpPr>
        <p:spPr>
          <a:xfrm>
            <a:off x="5394960" y="1645920"/>
            <a:ext cx="2103120" cy="914400"/>
          </a:xfrm>
          <a:prstGeom prst="rect">
            <a:avLst/>
          </a:prstGeom>
          <a:noFill/>
          <a:ln/>
        </p:spPr>
        <p:txBody>
          <a:bodyPr wrap="square" lIns="0" tIns="0" rIns="0" bIns="0" rtlCol="0" anchor="ctr"/>
          <a:lstStyle/>
          <a:p>
            <a:pPr algn="ctr" indent="0" marL="0">
              <a:buNone/>
            </a:pPr>
            <a:r>
              <a:rPr lang="en-US" sz="5400" b="1" dirty="0">
                <a:solidFill>
                  <a:schemeClr val="accent1"/>
                </a:solidFill>
                <a:latin typeface="Cambria" pitchFamily="34" charset="0"/>
                <a:ea typeface="Cambria" pitchFamily="34" charset="-122"/>
                <a:cs typeface="Cambria" pitchFamily="34" charset="-120"/>
              </a:rPr>
              <a:t>1</a:t>
            </a:r>
            <a:endParaRPr lang="en-US" sz="5400" dirty="0"/>
          </a:p>
        </p:txBody>
      </p:sp>
      <p:sp>
        <p:nvSpPr>
          <p:cNvPr id="13" name="Text 11"/>
          <p:cNvSpPr txBox="1"/>
          <p:nvPr/>
        </p:nvSpPr>
        <p:spPr>
          <a:xfrm>
            <a:off x="5532120" y="2606040"/>
            <a:ext cx="1828800" cy="411480"/>
          </a:xfrm>
          <a:prstGeom prst="rect">
            <a:avLst/>
          </a:prstGeom>
          <a:noFill/>
          <a:ln/>
        </p:spPr>
        <p:txBody>
          <a:bodyPr wrap="square" lIns="0" tIns="0" rIns="0" bIns="0" rtlCol="0" anchor="ctr"/>
          <a:lstStyle/>
          <a:p>
            <a:pPr algn="ctr" indent="0" marL="0">
              <a:buNone/>
            </a:pPr>
            <a:r>
              <a:rPr lang="en-US" sz="1800" b="1" dirty="0">
                <a:solidFill>
                  <a:schemeClr val="tx2"/>
                </a:solidFill>
              </a:rPr>
              <a:t>question</a:t>
            </a:r>
            <a:endParaRPr lang="en-US" sz="1800" dirty="0"/>
          </a:p>
        </p:txBody>
      </p:sp>
      <p:sp>
        <p:nvSpPr>
          <p:cNvPr id="14" name="Text 12"/>
          <p:cNvSpPr txBox="1"/>
          <p:nvPr/>
        </p:nvSpPr>
        <p:spPr>
          <a:xfrm>
            <a:off x="5532120" y="3063240"/>
            <a:ext cx="1828800" cy="1097280"/>
          </a:xfrm>
          <a:prstGeom prst="rect">
            <a:avLst/>
          </a:prstGeom>
          <a:noFill/>
          <a:ln/>
        </p:spPr>
        <p:txBody>
          <a:bodyPr wrap="square" lIns="0" tIns="0" rIns="0" bIns="0" rtlCol="0" anchor="t"/>
          <a:lstStyle/>
          <a:p>
            <a:pPr algn="ctr" indent="0" marL="0">
              <a:buNone/>
            </a:pPr>
            <a:r>
              <a:rPr lang="en-US" sz="1500" dirty="0">
                <a:solidFill>
                  <a:schemeClr val="tx1"/>
                </a:solidFill>
              </a:rPr>
              <a:t>One question I still have</a:t>
            </a:r>
            <a:endParaRPr lang="en-US" sz="1500" dirty="0"/>
          </a:p>
        </p:txBody>
      </p:sp>
      <p:sp>
        <p:nvSpPr>
          <p:cNvPr id="15" name="homework card"/>
          <p:cNvSpPr/>
          <p:nvPr/>
        </p:nvSpPr>
        <p:spPr>
          <a:xfrm>
            <a:off x="7863840" y="1508760"/>
            <a:ext cx="3749040" cy="4709160"/>
          </a:xfrm>
          <a:prstGeom prst="roundRect">
            <a:avLst>
              <a:gd name="adj" fmla="val 2927"/>
            </a:avLst>
          </a:prstGeom>
          <a:solidFill>
            <a:schemeClr val="accent1"/>
          </a:solidFill>
          <a:ln w="12700">
            <a:solidFill>
              <a:schemeClr val="accent1"/>
            </a:solidFill>
            <a:prstDash val="solid"/>
          </a:ln>
        </p:spPr>
      </p:sp>
      <p:pic>
        <p:nvPicPr>
          <p:cNvPr id="16" name="homework icon" descr="preencoded.png">    </p:cNvPr>
          <p:cNvPicPr>
            <a:picLocks noChangeAspect="1"/>
          </p:cNvPicPr>
          <p:nvPr/>
        </p:nvPicPr>
        <p:blipFill>
          <a:blip r:embed="rId1"/>
          <a:stretch>
            <a:fillRect/>
          </a:stretch>
        </p:blipFill>
        <p:spPr>
          <a:xfrm>
            <a:off x="8138160" y="1737360"/>
            <a:ext cx="502920" cy="502920"/>
          </a:xfrm>
          <a:prstGeom prst="rect">
            <a:avLst/>
          </a:prstGeom>
        </p:spPr>
      </p:pic>
      <p:sp>
        <p:nvSpPr>
          <p:cNvPr id="17" name="Text 14"/>
          <p:cNvSpPr txBox="1"/>
          <p:nvPr/>
        </p:nvSpPr>
        <p:spPr>
          <a:xfrm>
            <a:off x="8778240" y="1737360"/>
            <a:ext cx="2651760" cy="502920"/>
          </a:xfrm>
          <a:prstGeom prst="rect">
            <a:avLst/>
          </a:prstGeom>
          <a:noFill/>
          <a:ln/>
        </p:spPr>
        <p:txBody>
          <a:bodyPr wrap="square" lIns="0" tIns="0" rIns="0" bIns="0" rtlCol="0" anchor="ctr"/>
          <a:lstStyle/>
          <a:p>
            <a:pPr indent="0" marL="0">
              <a:buNone/>
            </a:pPr>
            <a:r>
              <a:rPr lang="en-US" sz="2000" b="1" dirty="0">
                <a:solidFill>
                  <a:schemeClr val="bg1"/>
                </a:solidFill>
              </a:rPr>
              <a:t>Homework / Project</a:t>
            </a:r>
            <a:endParaRPr lang="en-US" sz="2000" dirty="0"/>
          </a:p>
        </p:txBody>
      </p:sp>
      <p:sp>
        <p:nvSpPr>
          <p:cNvPr id="18" name="Text 15"/>
          <p:cNvSpPr txBox="1"/>
          <p:nvPr/>
        </p:nvSpPr>
        <p:spPr>
          <a:xfrm>
            <a:off x="8138160" y="2423160"/>
            <a:ext cx="3291840" cy="3657600"/>
          </a:xfrm>
          <a:prstGeom prst="rect">
            <a:avLst/>
          </a:prstGeom>
          <a:noFill/>
          <a:ln/>
        </p:spPr>
        <p:txBody>
          <a:bodyPr wrap="square" lIns="0" tIns="0" rIns="0" bIns="0" rtlCol="0" anchor="t"/>
          <a:lstStyle/>
          <a:p>
            <a:pPr marL="228600" indent="-228600">
              <a:spcAft>
                <a:spcPts val="1000"/>
              </a:spcAft>
              <a:buSzPct val="100000"/>
              <a:buChar char="•"/>
            </a:pPr>
            <a:r>
              <a:rPr lang="en-US" sz="1500" b="1" dirty="0">
                <a:solidFill>
                  <a:schemeClr val="bg1"/>
                </a:solidFill>
              </a:rPr>
              <a:t>Voices from the Past:</a:t>
            </a:r>
            <a:r>
              <a:rPr lang="en-US" sz="1500" dirty="0">
                <a:solidFill>
                  <a:schemeClr val="bg1"/>
                </a:solidFill>
              </a:rPr>
              <a:t> write a first-person account by any two of: a Bhakti saint, a Rajput soldier, an Ahom commander, a Maratha administrator, a merchant, a Jat leader.</a:t>
            </a:r>
            <a:endParaRPr lang="en-US" sz="1600" dirty="0"/>
          </a:p>
          <a:p>
            <a:pPr marL="228600" indent="-228600">
              <a:spcAft>
                <a:spcPts val="1000"/>
              </a:spcAft>
              <a:buSzPct val="100000"/>
              <a:buChar char="•"/>
            </a:pPr>
            <a:r>
              <a:rPr lang="en-US" sz="1500" b="1" dirty="0">
                <a:solidFill>
                  <a:schemeClr val="bg1"/>
                </a:solidFill>
              </a:rPr>
              <a:t>Port market role-play notes:</a:t>
            </a:r>
            <a:r>
              <a:rPr lang="en-US" sz="1500" dirty="0">
                <a:solidFill>
                  <a:schemeClr val="bg1"/>
                </a:solidFill>
              </a:rPr>
              <a:t> as a foreign trader in Surat, how would you buy cotton textiles?</a:t>
            </a:r>
            <a:endParaRPr lang="en-US" sz="1600" dirty="0"/>
          </a:p>
          <a:p>
            <a:pPr marL="228600" indent="-228600">
              <a:spcAft>
                <a:spcPts val="1000"/>
              </a:spcAft>
              <a:buSzPct val="100000"/>
              <a:buChar char="•"/>
            </a:pPr>
            <a:r>
              <a:rPr lang="en-US" sz="1500" dirty="0">
                <a:solidFill>
                  <a:schemeClr val="bg1"/>
                </a:solidFill>
              </a:rPr>
              <a:t>Find a </a:t>
            </a:r>
            <a:r>
              <a:rPr lang="en-US" sz="1500" b="1" dirty="0">
                <a:solidFill>
                  <a:schemeClr val="bg1"/>
                </a:solidFill>
              </a:rPr>
              <a:t>Bhakti saint from our state</a:t>
            </a:r>
            <a:r>
              <a:rPr lang="en-US" sz="1500" dirty="0">
                <a:solidFill>
                  <a:schemeClr val="bg1"/>
                </a:solidFill>
              </a:rPr>
              <a:t> and one of their songs.</a:t>
            </a:r>
            <a:endParaRPr lang="en-US" sz="1600" dirty="0"/>
          </a:p>
        </p:txBody>
      </p:sp>
      <p:pic>
        <p:nvPicPr>
          <p:cNvPr id="19" name="quote mark" descr="preencoded.png">    </p:cNvPr>
          <p:cNvPicPr>
            <a:picLocks noChangeAspect="1"/>
          </p:cNvPicPr>
          <p:nvPr/>
        </p:nvPicPr>
        <p:blipFill>
          <a:blip r:embed="rId2"/>
          <a:stretch>
            <a:fillRect/>
          </a:stretch>
        </p:blipFill>
        <p:spPr>
          <a:xfrm>
            <a:off x="731520" y="4617720"/>
            <a:ext cx="502920" cy="502920"/>
          </a:xfrm>
          <a:prstGeom prst="rect">
            <a:avLst/>
          </a:prstGeom>
        </p:spPr>
      </p:pic>
      <p:sp>
        <p:nvSpPr>
          <p:cNvPr id="20" name="Text 16"/>
          <p:cNvSpPr txBox="1"/>
          <p:nvPr/>
        </p:nvSpPr>
        <p:spPr>
          <a:xfrm>
            <a:off x="1463040" y="4526280"/>
            <a:ext cx="6035040" cy="1691640"/>
          </a:xfrm>
          <a:prstGeom prst="rect">
            <a:avLst/>
          </a:prstGeom>
          <a:noFill/>
          <a:ln/>
        </p:spPr>
        <p:txBody>
          <a:bodyPr wrap="square" lIns="0" tIns="0" rIns="0" bIns="0" rtlCol="0" anchor="ctr"/>
          <a:lstStyle/>
          <a:p>
            <a:pPr indent="0" marL="0">
              <a:buNone/>
            </a:pPr>
            <a:r>
              <a:rPr lang="en-US" sz="2200" i="1" dirty="0">
                <a:solidFill>
                  <a:schemeClr val="bg1"/>
                </a:solidFill>
                <a:latin typeface="Cambria" pitchFamily="34" charset="0"/>
                <a:ea typeface="Cambria" pitchFamily="34" charset="-122"/>
                <a:cs typeface="Cambria" pitchFamily="34" charset="-120"/>
              </a:rPr>
              <a:t>A tradition becomes more resilient when people can carry it with them.</a:t>
            </a:r>
            <a:endParaRPr lang="en-US" sz="2200" dirty="0"/>
          </a:p>
        </p:txBody>
      </p:sp>
      <p:sp>
        <p:nvSpPr>
          <p:cNvPr id="25" name="Slide Number Placeholder 0"/>
          <p:cNvSpPr>
            <a:spLocks noGrp="1"/>
          </p:cNvSpPr>
          <p:nvPr>
            <p:ph type="sldNum" sz="quarter" idx="4294967295"/>
          </p:nvPr>
        </p:nvSpPr>
        <p:spPr>
          <a:xfrm>
            <a:off x="11201400" y="6419088"/>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F7ECE8"/>
                </a:solidFill>
              </a:defRPr>
            </a:lvl1pPr>
          </a:lstStyle>
          <a:p>
            <a:pPr algn="r"/>
            <a:fld id="{F7021451-1387-4CA6-816F-3879F97B5CBC}" type="slidenum">
              <a:rPr b="0" lang="en-US"/>
              <a:t>34</a:t>
            </a:fld>
            <a:endParaRPr lang="en-US"/>
          </a:p>
        </p:txBody>
      </p:sp>
    </p:spTree>
  </p:cSld>
  <p:clrMapOvr>
    <a:masterClrMapping/>
  </p:clrMapOvr>
</p:sld>
</file>

<file path=ppt/theme/theme1.xml><?xml version="1.0" encoding="utf-8"?>
<a:theme xmlns:a="http://schemas.openxmlformats.org/drawingml/2006/main" name="Resistance and Resilience">
  <a:themeElements>
    <a:clrScheme name="Resistance and Resilience">
      <a:dk1>
        <a:srgbClr val="1F2328"/>
      </a:dk1>
      <a:lt1>
        <a:srgbClr val="FFFFFF"/>
      </a:lt1>
      <a:dk2>
        <a:srgbClr val="3D1414"/>
      </a:dk2>
      <a:lt2>
        <a:srgbClr val="F7ECE8"/>
      </a:lt2>
      <a:accent1>
        <a:srgbClr val="9C2C2C"/>
      </a:accent1>
      <a:accent2>
        <a:srgbClr val="A65A12"/>
      </a:accent2>
      <a:accent3>
        <a:srgbClr val="EBA937"/>
      </a:accent3>
      <a:accent4>
        <a:srgbClr val="2F5D62"/>
      </a:accent4>
      <a:accent5>
        <a:srgbClr val="5B6B2E"/>
      </a:accent5>
      <a:accent6>
        <a:srgbClr val="6B4E8C"/>
      </a:accent6>
      <a:hlink>
        <a:srgbClr val="0563C1"/>
      </a:hlink>
      <a:folHlink>
        <a:srgbClr val="954F72"/>
      </a:folHlink>
    </a:clrScheme>
    <a:fontScheme name="Resistance and Resil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34</Slides>
  <Notes>34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34</vt:i4>
      </vt:variant>
    </vt:vector>
  </HeadingPairs>
  <TitlesOfParts>
    <vt:vector size="3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 Resistance and Resilience</dc:title>
  <dc:subject>Understanding Society: India and Beyond, Grade 9 Part 2</dc:subject>
  <dc:creator>Social Science Department</dc:creator>
  <cp:lastModifiedBy>Social Science Department</cp:lastModifiedBy>
  <cp:revision>1</cp:revision>
  <dcterms:created xsi:type="dcterms:W3CDTF">2026-10-09T15:51:47Z</dcterms:created>
  <dcterms:modified xsi:type="dcterms:W3CDTF">2026-10-09T15:51:47Z</dcterms:modified>
</cp:coreProperties>
</file>