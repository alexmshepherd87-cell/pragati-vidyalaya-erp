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86054ab-c5a9-3608-f456-aedb24aa69df}">
          <p14:sldIdLst>
            <p14:sldId id="256"/>
            <p14:sldId id="257"/>
            <p14:sldId id="258"/>
          </p14:sldIdLst>
        </p14:section>
        <p14:section name="Governance" id="{b1bf95e9-38e4-a959-4a2e-af142ec5cc6b}">
          <p14:sldIdLst>
            <p14:sldId id="259"/>
            <p14:sldId id="260"/>
            <p14:sldId id="261"/>
            <p14:sldId id="262"/>
            <p14:sldId id="263"/>
            <p14:sldId id="264"/>
            <p14:sldId id="265"/>
            <p14:sldId id="266"/>
            <p14:sldId id="267"/>
            <p14:sldId id="268"/>
            <p14:sldId id="269"/>
          </p14:sldIdLst>
        </p14:section>
        <p14:section name="Public Policy" id="{3d040c9b-33bc-a2a1-aa9a-8d04c0564e81}">
          <p14:sldIdLst>
            <p14:sldId id="270"/>
            <p14:sldId id="271"/>
            <p14:sldId id="272"/>
            <p14:sldId id="273"/>
            <p14:sldId id="274"/>
            <p14:sldId id="275"/>
            <p14:sldId id="276"/>
            <p14:sldId id="277"/>
            <p14:sldId id="278"/>
            <p14:sldId id="279"/>
            <p14:sldId id="280"/>
            <p14:sldId id="281"/>
            <p14:sldId id="282"/>
          </p14:sldIdLst>
        </p14:section>
        <p14:section name="Review" id="{e3bbe5c3-e395-5d1c-5c2d-e790044a2a8f}">
          <p14:sldIdLst>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chapters 'Democracy' and 'Elections' from Part 1: voting forms a government, but a robust democracy also needs transparent institutions, responsible representatives and continuous participation by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textbook's opening Let's Explore. Groups list people and organisations, explain why coordination matters, and what citizens can do before, during and after heavy rain. Collect the qualities that made the response effective: coordination, communication, responsibility, participation.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Solving public problems needs much more than a government issuing orders. Different institutions and citizens must work together, decide, implement and stay accountable. This process is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ask students for more examples from daily life, e.g. the school timetable, water supply, garbage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Colonial powers imposed their models of governance on many societies. India stands out: it preserved knowledge of its pre-colonial institutions and framed its Constitution in the spirit of its own values. Example: 'Heaven's Light, Our Guide' (British order) vs 'Satyameva Jayate'.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Possible schemes: PM POSHAN (school meals), Ayushman Bharat, Jal Jeevan Mission. Good governance is measured not only by authority but by peace, prosperity, justice and well-being in society.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trick: 'Real People Always Trust Every Responsible Institution' (Rule of law, Participation, Accountability, Transparency, Effectiveness, Responsiveness, Inclusiveness).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Q1: 'Good governance is the responsibility of the government alone.' Do you agree? Use this slide to argue why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Have you seen fake news on a family WhatsApp group? How can we check facts before sharing? (Official websites, PIB Fact Check, reliable newspapers.)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Indore (Madhya Pradesh) has been ranked India's cleanest city many times in the Swachh Survekshan survey; Surat and Navi Mumbai are also top performers. Encourage students to look at door-to-door collection, waste segregation and citizen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leaves this chart for students to fill in: cover the right column first and let them guess. Add two initiatives by our state government. Remember: e-governance works only when people have devices, internet and digital skills, so it must stay inclusive.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students to record both benefits and barriers (digital divide, language, cyber fraud). This builds empathy and evidence-based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school policy is a policy, but not a public policy. Governments make public policies for society as a whole, e.g. roads, traffic signals, drinking water, electricity, parks, waste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policy is public: schools, companies, hospitals, clubs and even families have policies that apply only to a limited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hold up a P card (policy) or a PP card (public policy) and give a reason.
Answers:
1. PUBLIC POLICY: Made by government for the whole country.
2. PUBLIC POLICY: Public welfare, public money.
3. POLICY: Applies only to one organisation.
4. PUBLIC POLICY: A local government acting for all residents.
5. POLICY: Applies only to the society's members.
6. PUBLIC POLICY: Public health for all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stakeholders can a Grade 9 student be? (A citizen, and a member of civil society through school clubs.)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Stakeholders: students, principal, school management, parents, traffic police, municipal body, local representative, rickshaw and bus drivers, shopkeepers. Feedback loop example: weekly student observers report jams to a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arrange the stages in sequence; name three stakeholders; suggest how to make a public building in our locality more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policy is a continuous cycle. Think About It: What happens if a step is skipped? Example: a city plants one lakh trees but skips monitoring; saplings die because no one waters them (textbook Q8).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6,000 urban local bodies were also consulted. Point out that NEP 2020 is why students now have new textbooks like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document is available at https://static.pib.gov.in/WriteReadData/userfiles/NEP_Final_English_0.pdf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policy is the destination, the programme is the route map, and schemes are the vehicles that carry benefits to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As a student, what can you do for Khelo Bharat Niti? If our school were the state's sports ambassador, what would it do? Which ministries could help? (Youth Affairs and Sports, Education, Health, Women and Child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Q2: Can students contribute to good governance? Ask each student to write five ways (save water and electricity, keep surroundings clean, follow road rules, report problems, volunteer, check facts before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Q2: C, Q3: B, Q4: C. Let students vote with fingers (1-4) or A/B/C/D cards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each wrong option is wrong. Ask: Which question was the trickiest,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move to the 'Agree' or 'Disagree' side of the room and give one reason.
Answers:
1. DISAGREE: It is a partnership of government, citizens, media, civil society and the private sector.
2. AGREE: e.g. trees planted but not watered or protected.
3. AGREE: It brings ideas, ownership and accountability.
4. DISAGREE: People need access and skills, and institutions must be honest and responsive.
5. DISAGREE: School, company or society policies are not public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ask a different student to explain each branch in one sentence,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sticky notes or half-sheets for the 3-2-1 exit ticket. Collect them at the door and use the questions to plan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rtlCol="0"/>
          <a:lstStyle>
            <a:lvl1pPr indent="0" marL="0">
              <a:buNone/>
              <a:defRPr lang="en-US" sz="1800" b="1" spc="300" kern="0"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731520" y="457200"/>
            <a:ext cx="2743200" cy="365760"/>
          </a:xfrm>
          <a:prstGeom prst="rect">
            <a:avLst/>
          </a:prstGeom>
          <a:noFill/>
          <a:ln/>
        </p:spPr>
        <p:txBody>
          <a:bodyPr wrap="square" lIns="0" tIns="0" rIns="0" bIns="0" rtlCol="0" anchor="ctr"/>
          <a:lstStyle/>
          <a:p>
            <a:pPr indent="0" marL="0">
              <a:buNone/>
            </a:pPr>
            <a:r>
              <a:rPr lang="en-US" sz="1600" b="1" spc="400" kern="0" dirty="0">
                <a:solidFill>
                  <a:schemeClr val="bg1"/>
                </a:solidFill>
              </a:rPr>
              <a:t>EDUBYTEZ</a:t>
            </a:r>
            <a:endParaRPr lang="en-US" sz="1600" dirty="0"/>
          </a:p>
        </p:txBody>
      </p:sp>
      <p:sp>
        <p:nvSpPr>
          <p:cNvPr id="6" name="Text 1"/>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3"/>
                </a:solidFill>
              </a:rPr>
              <a:t>Edubytez</a:t>
            </a:r>
            <a:endParaRPr lang="en-US" sz="1000" dirty="0"/>
          </a:p>
        </p:txBody>
      </p:sp>
      <p:sp>
        <p:nvSpPr>
          <p:cNvPr id="7" name="Text 2"/>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4: Governance and Public Policy</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rtlCol="0"/>
          <a:lstStyle>
            <a:lvl1pPr indent="0" marL="0">
              <a:buNone/>
              <a:defRPr lang="en-US" sz="1800" b="1" spc="300" kern="0" dirty="0">
                <a:solidFill>
                  <a:schemeClr val="bg2"/>
                </a:solidFill>
              </a:defRPr>
            </a:lvl1pPr>
          </a:lstStyle>
          <a:p>
            <a:pPr indent="0" marL="0">
              <a:buNone/>
            </a:pP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bg1"/>
                </a:solidFill>
              </a:rPr>
              <a:t>Edubytez</a:t>
            </a:r>
            <a:endParaRPr lang="en-US" sz="1000" dirty="0"/>
          </a:p>
        </p:txBody>
      </p:sp>
      <p:sp>
        <p:nvSpPr>
          <p:cNvPr id="6"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4: Governance and Public Policy</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1"/>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   Grade 9 Social Science  ·  Chapter 4: Governance and Public Policy</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1"/>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   Grade 9 Social Science  ·  Chapter 4: Governance and Public Policy</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3"/>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4: Governance and Public Policy</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BEEF8"/>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5.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4.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6.xml"/><Relationship Id="rId4"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lIns="0" tIns="0" rIns="0" bIns="0" rtlCol="0"/>
          <a:lstStyle/>
          <a:p>
            <a:pPr indent="0" marL="0">
              <a:buNone/>
            </a:pPr>
            <a:r>
              <a:rPr lang="en-US" sz="1800" b="1" spc="300" kern="0" dirty="0">
                <a:solidFill>
                  <a:schemeClr val="accent3"/>
                </a:solidFill>
              </a:rPr>
              <a:t>CHAPTER 4  ·  POLITICAL SCIENCE</a:t>
            </a: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lIns="0" tIns="0" rIns="0" bIns="0" rtlCol="0" anchor="t"/>
          <a:lstStyle/>
          <a:p>
            <a:pPr algn="l" indent="0" marL="0">
              <a:buNone/>
            </a:pPr>
            <a:r>
              <a:rPr lang="en-US" sz="5400" b="1" dirty="0">
                <a:solidFill>
                  <a:schemeClr val="bg1"/>
                </a:solidFill>
              </a:rPr>
              <a:t>Governance and Public Policy</a:t>
            </a: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1800" dirty="0">
                <a:solidFill>
                  <a:schemeClr val="bg2"/>
                </a:solidFill>
              </a:rPr>
              <a:t>Understanding Society: India and Beyond</a:t>
            </a:r>
            <a:endParaRPr lang="en-US" sz="1800" dirty="0"/>
          </a:p>
          <a:p>
            <a:pPr indent="0" marL="0">
              <a:buNone/>
            </a:pPr>
            <a:r>
              <a:rPr lang="en-US" sz="1800" dirty="0">
                <a:solidFill>
                  <a:schemeClr val="bg2"/>
                </a:solidFill>
              </a:rPr>
              <a:t>Grade 9, Part 2</a:t>
            </a:r>
            <a:endParaRPr lang="en-US" sz="1800" dirty="0"/>
          </a:p>
        </p:txBody>
      </p:sp>
      <p:sp>
        <p:nvSpPr>
          <p:cNvPr id="5" name="hero disc"/>
          <p:cNvSpPr/>
          <p:nvPr/>
        </p:nvSpPr>
        <p:spPr>
          <a:xfrm>
            <a:off x="8001000" y="1234440"/>
            <a:ext cx="3566160" cy="3566160"/>
          </a:xfrm>
          <a:prstGeom prst="ellipse">
            <a:avLst/>
          </a:prstGeom>
          <a:solidFill>
            <a:schemeClr val="accent1"/>
          </a:solidFill>
          <a:ln w="38100">
            <a:solidFill>
              <a:schemeClr val="accent3"/>
            </a:solidFill>
            <a:prstDash val="solid"/>
          </a:ln>
        </p:spPr>
      </p:sp>
      <p:pic>
        <p:nvPicPr>
          <p:cNvPr id="6" name="hero icon" descr="preencoded.png">    </p:cNvPr>
          <p:cNvPicPr>
            <a:picLocks noChangeAspect="1"/>
          </p:cNvPicPr>
          <p:nvPr/>
        </p:nvPicPr>
        <p:blipFill>
          <a:blip r:embed="rId1"/>
          <a:stretch>
            <a:fillRect/>
          </a:stretch>
        </p:blipFill>
        <p:spPr>
          <a:xfrm>
            <a:off x="8823960" y="2057400"/>
            <a:ext cx="1920240" cy="1920240"/>
          </a:xfrm>
          <a:prstGeom prst="rect">
            <a:avLst/>
          </a:prstGeom>
        </p:spPr>
      </p:pic>
      <p:sp>
        <p:nvSpPr>
          <p:cNvPr id="7" name="Text 4"/>
          <p:cNvSpPr txBox="1"/>
          <p:nvPr/>
        </p:nvSpPr>
        <p:spPr>
          <a:xfrm>
            <a:off x="7680960" y="5074920"/>
            <a:ext cx="4206240" cy="731520"/>
          </a:xfrm>
          <a:prstGeom prst="rect">
            <a:avLst/>
          </a:prstGeom>
          <a:noFill/>
          <a:ln/>
        </p:spPr>
        <p:txBody>
          <a:bodyPr wrap="square" lIns="0" tIns="0" rIns="0" bIns="0" rtlCol="0" anchor="t"/>
          <a:lstStyle/>
          <a:p>
            <a:pPr algn="ctr" indent="0" marL="0">
              <a:buNone/>
            </a:pPr>
            <a:r>
              <a:rPr lang="en-US" sz="1600" i="1" dirty="0">
                <a:solidFill>
                  <a:schemeClr val="bg2"/>
                </a:solidFill>
              </a:rPr>
              <a:t>Good governance is a partnership</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Let's Begin: The Town Is Flooded!</a:t>
            </a:r>
            <a:endParaRPr lang="en-US" sz="3600" dirty="0"/>
          </a:p>
        </p:txBody>
      </p:sp>
      <p:sp>
        <p:nvSpPr>
          <p:cNvPr id="3" name="hook prompt card"/>
          <p:cNvSpPr/>
          <p:nvPr/>
        </p:nvSpPr>
        <p:spPr>
          <a:xfrm>
            <a:off x="548640" y="1371600"/>
            <a:ext cx="6766560" cy="4754880"/>
          </a:xfrm>
          <a:prstGeom prst="roundRect">
            <a:avLst>
              <a:gd name="adj" fmla="val 230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hook disc"/>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ook glyph" descr="preencoded.png">    </p:cNvPr>
          <p:cNvPicPr>
            <a:picLocks noChangeAspect="1"/>
          </p:cNvPicPr>
          <p:nvPr/>
        </p:nvPicPr>
        <p:blipFill>
          <a:blip r:embed="rId1"/>
          <a:stretch>
            <a:fillRect/>
          </a:stretch>
        </p:blipFill>
        <p:spPr>
          <a:xfrm>
            <a:off x="1049731" y="1872691"/>
            <a:ext cx="460858" cy="460858"/>
          </a:xfrm>
          <a:prstGeom prst="rect">
            <a:avLst/>
          </a:prstGeom>
        </p:spPr>
      </p:pic>
      <p:sp>
        <p:nvSpPr>
          <p:cNvPr id="6" name="Text 3"/>
          <p:cNvSpPr txBox="1"/>
          <p:nvPr/>
        </p:nvSpPr>
        <p:spPr>
          <a:xfrm>
            <a:off x="1874520" y="1874520"/>
            <a:ext cx="5120640" cy="457200"/>
          </a:xfrm>
          <a:prstGeom prst="rect">
            <a:avLst/>
          </a:prstGeom>
          <a:noFill/>
          <a:ln/>
        </p:spPr>
        <p:txBody>
          <a:bodyPr wrap="square" lIns="0" tIns="0" rIns="0" bIns="0" rtlCol="0" anchor="ctr"/>
          <a:lstStyle/>
          <a:p>
            <a:pPr indent="0" marL="0">
              <a:buNone/>
            </a:pPr>
            <a:r>
              <a:rPr lang="en-US" sz="1400" b="1" spc="200" kern="0" dirty="0">
                <a:solidFill>
                  <a:schemeClr val="accent1"/>
                </a:solidFill>
              </a:rPr>
              <a:t>GROUP TALK</a:t>
            </a:r>
            <a:endParaRPr lang="en-US" sz="1400" dirty="0"/>
          </a:p>
        </p:txBody>
      </p:sp>
      <p:sp>
        <p:nvSpPr>
          <p:cNvPr id="7" name="Text 4"/>
          <p:cNvSpPr txBox="1"/>
          <p:nvPr/>
        </p:nvSpPr>
        <p:spPr>
          <a:xfrm>
            <a:off x="868680" y="2743200"/>
            <a:ext cx="6126480" cy="18288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Roads are flooded, schools are shut and power is cut. Who will fix your town? Can one department do it alone?</a:t>
            </a:r>
            <a:endParaRPr lang="en-US" sz="2400" dirty="0"/>
          </a:p>
        </p:txBody>
      </p:sp>
      <p:sp>
        <p:nvSpPr>
          <p:cNvPr id="8" name="Text 5"/>
          <p:cNvSpPr txBox="1"/>
          <p:nvPr/>
        </p:nvSpPr>
        <p:spPr>
          <a:xfrm>
            <a:off x="868680" y="4617720"/>
            <a:ext cx="6126480" cy="13716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List everyone who must act</a:t>
            </a:r>
            <a:endParaRPr lang="en-US" sz="1600" dirty="0"/>
          </a:p>
          <a:p>
            <a:pPr marL="228600" indent="-228600">
              <a:spcAft>
                <a:spcPts val="600"/>
              </a:spcAft>
              <a:buSzPct val="100000"/>
              <a:buChar char="•"/>
            </a:pPr>
            <a:r>
              <a:rPr lang="en-US" sz="1600" dirty="0">
                <a:solidFill>
                  <a:schemeClr val="tx1"/>
                </a:solidFill>
              </a:rPr>
              <a:t>What happens if they don't talk to each other?</a:t>
            </a:r>
            <a:endParaRPr lang="en-US" sz="1600" dirty="0"/>
          </a:p>
        </p:txBody>
      </p:sp>
      <p:sp>
        <p:nvSpPr>
          <p:cNvPr id="9" name="did you know card"/>
          <p:cNvSpPr/>
          <p:nvPr/>
        </p:nvSpPr>
        <p:spPr>
          <a:xfrm>
            <a:off x="7635240" y="1371600"/>
            <a:ext cx="3977640" cy="4754880"/>
          </a:xfrm>
          <a:prstGeom prst="roundRect">
            <a:avLst>
              <a:gd name="adj" fmla="val 2759"/>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10" name="bulb" descr="preencoded.png">    </p:cNvPr>
          <p:cNvPicPr>
            <a:picLocks noChangeAspect="1"/>
          </p:cNvPicPr>
          <p:nvPr/>
        </p:nvPicPr>
        <p:blipFill>
          <a:blip r:embed="rId2"/>
          <a:stretch>
            <a:fillRect/>
          </a:stretch>
        </p:blipFill>
        <p:spPr>
          <a:xfrm>
            <a:off x="7955280" y="1691640"/>
            <a:ext cx="548640" cy="548640"/>
          </a:xfrm>
          <a:prstGeom prst="rect">
            <a:avLst/>
          </a:prstGeom>
        </p:spPr>
      </p:pic>
      <p:sp>
        <p:nvSpPr>
          <p:cNvPr id="11" name="Text 7"/>
          <p:cNvSpPr txBox="1"/>
          <p:nvPr/>
        </p:nvSpPr>
        <p:spPr>
          <a:xfrm>
            <a:off x="8641080" y="1691640"/>
            <a:ext cx="2743200" cy="548640"/>
          </a:xfrm>
          <a:prstGeom prst="rect">
            <a:avLst/>
          </a:prstGeom>
          <a:noFill/>
          <a:ln/>
        </p:spPr>
        <p:txBody>
          <a:bodyPr wrap="square" lIns="0" tIns="0" rIns="0" bIns="0" rtlCol="0" anchor="ctr"/>
          <a:lstStyle/>
          <a:p>
            <a:pPr indent="0" marL="0">
              <a:buNone/>
            </a:pPr>
            <a:r>
              <a:rPr lang="en-US" sz="2000" b="1" dirty="0">
                <a:solidFill>
                  <a:schemeClr val="accent3"/>
                </a:solidFill>
              </a:rPr>
              <a:t>Did you know?</a:t>
            </a:r>
            <a:endParaRPr lang="en-US" sz="2000" dirty="0"/>
          </a:p>
        </p:txBody>
      </p:sp>
      <p:sp>
        <p:nvSpPr>
          <p:cNvPr id="12" name="Text 8"/>
          <p:cNvSpPr txBox="1"/>
          <p:nvPr/>
        </p:nvSpPr>
        <p:spPr>
          <a:xfrm>
            <a:off x="7955280" y="2468880"/>
            <a:ext cx="33832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25 December is celebrated as National Good Governance Day.</a:t>
            </a:r>
            <a:endParaRPr lang="en-US" sz="1600" dirty="0"/>
          </a:p>
          <a:p>
            <a:pPr marL="228600" indent="-228600">
              <a:spcAft>
                <a:spcPts val="1000"/>
              </a:spcAft>
              <a:buSzPct val="100000"/>
              <a:buChar char="•"/>
            </a:pPr>
            <a:r>
              <a:rPr lang="en-US" sz="1600" dirty="0">
                <a:solidFill>
                  <a:schemeClr val="bg1"/>
                </a:solidFill>
              </a:rPr>
              <a:t>India's motto 'Satyameva Jayate' (Truth alone triumphs) comes from the Mundaka Upanishad.</a:t>
            </a:r>
            <a:endParaRPr lang="en-US" sz="1600" dirty="0"/>
          </a:p>
          <a:p>
            <a:pPr marL="228600" indent="-228600">
              <a:spcAft>
                <a:spcPts val="1000"/>
              </a:spcAft>
              <a:buSzPct val="100000"/>
              <a:buChar char="•"/>
            </a:pPr>
            <a:r>
              <a:rPr lang="en-US" sz="1600" dirty="0">
                <a:solidFill>
                  <a:schemeClr val="bg1"/>
                </a:solidFill>
              </a:rPr>
              <a:t>About 2 lakh suggestions from citizens shaped NEP 2020.</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Questions</a:t>
            </a:r>
            <a:endParaRPr lang="en-US" sz="3600" dirty="0"/>
          </a:p>
        </p:txBody>
      </p:sp>
      <p:sp>
        <p:nvSpPr>
          <p:cNvPr id="3" name="question 1 card"/>
          <p:cNvSpPr/>
          <p:nvPr/>
        </p:nvSpPr>
        <p:spPr>
          <a:xfrm>
            <a:off x="548640" y="1371600"/>
            <a:ext cx="11064240" cy="749808"/>
          </a:xfrm>
          <a:prstGeom prst="roundRect">
            <a:avLst>
              <a:gd name="adj" fmla="val 14634"/>
            </a:avLst>
          </a:prstGeom>
          <a:solidFill>
            <a:schemeClr val="bg2"/>
          </a:solidFill>
          <a:ln w="12700">
            <a:solidFill>
              <a:schemeClr val="bg2"/>
            </a:solidFill>
            <a:prstDash val="solid"/>
          </a:ln>
        </p:spPr>
      </p:sp>
      <p:sp>
        <p:nvSpPr>
          <p:cNvPr id="4" name="q1 badge"/>
          <p:cNvSpPr/>
          <p:nvPr/>
        </p:nvSpPr>
        <p:spPr>
          <a:xfrm>
            <a:off x="731520" y="1495044"/>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4950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3716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is governance, and how have its meaning and practice evolved over time?</a:t>
            </a:r>
            <a:endParaRPr lang="en-US" sz="1800" dirty="0"/>
          </a:p>
        </p:txBody>
      </p:sp>
      <p:sp>
        <p:nvSpPr>
          <p:cNvPr id="7" name="question 2 card"/>
          <p:cNvSpPr/>
          <p:nvPr/>
        </p:nvSpPr>
        <p:spPr>
          <a:xfrm>
            <a:off x="548640" y="2286000"/>
            <a:ext cx="11064240" cy="749808"/>
          </a:xfrm>
          <a:prstGeom prst="roundRect">
            <a:avLst>
              <a:gd name="adj" fmla="val 14634"/>
            </a:avLst>
          </a:prstGeom>
          <a:solidFill>
            <a:schemeClr val="bg2"/>
          </a:solidFill>
          <a:ln w="12700">
            <a:solidFill>
              <a:schemeClr val="bg2"/>
            </a:solidFill>
            <a:prstDash val="solid"/>
          </a:ln>
        </p:spPr>
      </p:sp>
      <p:sp>
        <p:nvSpPr>
          <p:cNvPr id="8" name="q2 badge"/>
          <p:cNvSpPr/>
          <p:nvPr/>
        </p:nvSpPr>
        <p:spPr>
          <a:xfrm>
            <a:off x="731520" y="2409444"/>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24094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2860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is public policy? How does it affect our daily lives, and what makes it 'public'?</a:t>
            </a:r>
            <a:endParaRPr lang="en-US" sz="1800" dirty="0"/>
          </a:p>
        </p:txBody>
      </p:sp>
      <p:sp>
        <p:nvSpPr>
          <p:cNvPr id="11" name="question 3 card"/>
          <p:cNvSpPr/>
          <p:nvPr/>
        </p:nvSpPr>
        <p:spPr>
          <a:xfrm>
            <a:off x="548640" y="3200400"/>
            <a:ext cx="11064240" cy="749808"/>
          </a:xfrm>
          <a:prstGeom prst="roundRect">
            <a:avLst>
              <a:gd name="adj" fmla="val 14634"/>
            </a:avLst>
          </a:prstGeom>
          <a:solidFill>
            <a:schemeClr val="bg2"/>
          </a:solidFill>
          <a:ln w="12700">
            <a:solidFill>
              <a:schemeClr val="bg2"/>
            </a:solidFill>
            <a:prstDash val="solid"/>
          </a:ln>
        </p:spPr>
      </p:sp>
      <p:sp>
        <p:nvSpPr>
          <p:cNvPr id="12" name="q3 badge"/>
          <p:cNvSpPr/>
          <p:nvPr/>
        </p:nvSpPr>
        <p:spPr>
          <a:xfrm>
            <a:off x="731520" y="33238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33238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2004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are the stages of policy-making and policy implementation?</a:t>
            </a:r>
            <a:endParaRPr lang="en-US" sz="1800" dirty="0"/>
          </a:p>
        </p:txBody>
      </p:sp>
      <p:sp>
        <p:nvSpPr>
          <p:cNvPr id="15" name="question 4 card"/>
          <p:cNvSpPr/>
          <p:nvPr/>
        </p:nvSpPr>
        <p:spPr>
          <a:xfrm>
            <a:off x="548640" y="4114800"/>
            <a:ext cx="11064240" cy="749808"/>
          </a:xfrm>
          <a:prstGeom prst="roundRect">
            <a:avLst>
              <a:gd name="adj" fmla="val 14634"/>
            </a:avLst>
          </a:prstGeom>
          <a:solidFill>
            <a:schemeClr val="bg2"/>
          </a:solidFill>
          <a:ln w="12700">
            <a:solidFill>
              <a:schemeClr val="bg2"/>
            </a:solidFill>
            <a:prstDash val="solid"/>
          </a:ln>
        </p:spPr>
      </p:sp>
      <p:sp>
        <p:nvSpPr>
          <p:cNvPr id="16" name="q4 badge"/>
          <p:cNvSpPr/>
          <p:nvPr/>
        </p:nvSpPr>
        <p:spPr>
          <a:xfrm>
            <a:off x="731520" y="4238244"/>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731520" y="42382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1463040" y="41148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Who are the major contributors to policy-making and implementation?</a:t>
            </a:r>
            <a:endParaRPr lang="en-US" sz="1800" dirty="0"/>
          </a:p>
        </p:txBody>
      </p:sp>
      <p:sp>
        <p:nvSpPr>
          <p:cNvPr id="19" name="question 5 card"/>
          <p:cNvSpPr/>
          <p:nvPr/>
        </p:nvSpPr>
        <p:spPr>
          <a:xfrm>
            <a:off x="548640" y="5029200"/>
            <a:ext cx="11064240" cy="749808"/>
          </a:xfrm>
          <a:prstGeom prst="roundRect">
            <a:avLst>
              <a:gd name="adj" fmla="val 14634"/>
            </a:avLst>
          </a:prstGeom>
          <a:solidFill>
            <a:schemeClr val="bg2"/>
          </a:solidFill>
          <a:ln w="12700">
            <a:solidFill>
              <a:schemeClr val="bg2"/>
            </a:solidFill>
            <a:prstDash val="solid"/>
          </a:ln>
        </p:spPr>
      </p:sp>
      <p:sp>
        <p:nvSpPr>
          <p:cNvPr id="20" name="q5 badge"/>
          <p:cNvSpPr/>
          <p:nvPr/>
        </p:nvSpPr>
        <p:spPr>
          <a:xfrm>
            <a:off x="731520" y="5152644"/>
            <a:ext cx="502920" cy="502920"/>
          </a:xfrm>
          <a:prstGeom prst="ellipse">
            <a:avLst/>
          </a:prstGeom>
          <a:solidFill>
            <a:schemeClr val="accent1"/>
          </a:solidFill>
          <a:ln w="12700">
            <a:solidFill>
              <a:schemeClr val="accent1"/>
            </a:solidFill>
            <a:prstDash val="solid"/>
          </a:ln>
        </p:spPr>
      </p:sp>
      <p:sp>
        <p:nvSpPr>
          <p:cNvPr id="21" name="Text 19"/>
          <p:cNvSpPr txBox="1"/>
          <p:nvPr/>
        </p:nvSpPr>
        <p:spPr>
          <a:xfrm>
            <a:off x="731520" y="51526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20"/>
          <p:cNvSpPr txBox="1"/>
          <p:nvPr/>
        </p:nvSpPr>
        <p:spPr>
          <a:xfrm>
            <a:off x="1463040" y="50292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role do citizens play in shaping public policy and good governance?</a:t>
            </a:r>
            <a:endParaRPr lang="en-US" sz="18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1</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Governance: How Decisions Get Done</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Transparency, accountability, participation and the rule of law.</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Who Helps When the Town Floods?</a:t>
            </a:r>
            <a:endParaRPr lang="en-US" sz="3600" dirty="0"/>
          </a:p>
        </p:txBody>
      </p:sp>
      <p:sp>
        <p:nvSpPr>
          <p:cNvPr id="3" name="spoke 1"/>
          <p:cNvSpPr/>
          <p:nvPr/>
        </p:nvSpPr>
        <p:spPr>
          <a:xfrm>
            <a:off x="6099048" y="1847088"/>
            <a:ext cx="914" cy="1965960"/>
          </a:xfrm>
          <a:prstGeom prst="line">
            <a:avLst/>
          </a:prstGeom>
          <a:noFill/>
          <a:ln w="25400">
            <a:solidFill>
              <a:schemeClr val="accent3"/>
            </a:solidFill>
            <a:prstDash val="solid"/>
          </a:ln>
        </p:spPr>
      </p:sp>
      <p:sp>
        <p:nvSpPr>
          <p:cNvPr id="4" name="spoke 2"/>
          <p:cNvSpPr/>
          <p:nvPr/>
        </p:nvSpPr>
        <p:spPr>
          <a:xfrm flipV="1">
            <a:off x="6099048" y="2587292"/>
            <a:ext cx="3217080" cy="1225756"/>
          </a:xfrm>
          <a:prstGeom prst="line">
            <a:avLst/>
          </a:prstGeom>
          <a:noFill/>
          <a:ln w="25400">
            <a:solidFill>
              <a:schemeClr val="accent3"/>
            </a:solidFill>
            <a:prstDash val="solid"/>
          </a:ln>
        </p:spPr>
      </p:sp>
      <p:sp>
        <p:nvSpPr>
          <p:cNvPr id="5" name="spoke 3"/>
          <p:cNvSpPr/>
          <p:nvPr/>
        </p:nvSpPr>
        <p:spPr>
          <a:xfrm>
            <a:off x="6099048" y="3813048"/>
            <a:ext cx="4011633" cy="437467"/>
          </a:xfrm>
          <a:prstGeom prst="line">
            <a:avLst/>
          </a:prstGeom>
          <a:noFill/>
          <a:ln w="25400">
            <a:solidFill>
              <a:schemeClr val="accent3"/>
            </a:solidFill>
            <a:prstDash val="solid"/>
          </a:ln>
        </p:spPr>
      </p:sp>
      <p:sp>
        <p:nvSpPr>
          <p:cNvPr id="6" name="spoke 4"/>
          <p:cNvSpPr/>
          <p:nvPr/>
        </p:nvSpPr>
        <p:spPr>
          <a:xfrm>
            <a:off x="6099048" y="3813048"/>
            <a:ext cx="1785345" cy="1771269"/>
          </a:xfrm>
          <a:prstGeom prst="line">
            <a:avLst/>
          </a:prstGeom>
          <a:noFill/>
          <a:ln w="25400">
            <a:solidFill>
              <a:schemeClr val="accent3"/>
            </a:solidFill>
            <a:prstDash val="solid"/>
          </a:ln>
        </p:spPr>
      </p:sp>
      <p:sp>
        <p:nvSpPr>
          <p:cNvPr id="7" name="spoke 5"/>
          <p:cNvSpPr/>
          <p:nvPr/>
        </p:nvSpPr>
        <p:spPr>
          <a:xfrm flipV="1">
            <a:off x="4313703" y="3813048"/>
            <a:ext cx="1785345" cy="1771269"/>
          </a:xfrm>
          <a:prstGeom prst="line">
            <a:avLst/>
          </a:prstGeom>
          <a:noFill/>
          <a:ln w="25400">
            <a:solidFill>
              <a:schemeClr val="accent3"/>
            </a:solidFill>
            <a:prstDash val="solid"/>
          </a:ln>
        </p:spPr>
      </p:sp>
      <p:sp>
        <p:nvSpPr>
          <p:cNvPr id="8" name="spoke 6"/>
          <p:cNvSpPr/>
          <p:nvPr/>
        </p:nvSpPr>
        <p:spPr>
          <a:xfrm flipV="1">
            <a:off x="2087415" y="3813048"/>
            <a:ext cx="4011633" cy="437467"/>
          </a:xfrm>
          <a:prstGeom prst="line">
            <a:avLst/>
          </a:prstGeom>
          <a:noFill/>
          <a:ln w="25400">
            <a:solidFill>
              <a:schemeClr val="accent3"/>
            </a:solidFill>
            <a:prstDash val="solid"/>
          </a:ln>
        </p:spPr>
      </p:sp>
      <p:sp>
        <p:nvSpPr>
          <p:cNvPr id="9" name="spoke 7"/>
          <p:cNvSpPr/>
          <p:nvPr/>
        </p:nvSpPr>
        <p:spPr>
          <a:xfrm>
            <a:off x="2881968" y="2587292"/>
            <a:ext cx="3217080" cy="1225756"/>
          </a:xfrm>
          <a:prstGeom prst="line">
            <a:avLst/>
          </a:prstGeom>
          <a:noFill/>
          <a:ln w="25400">
            <a:solidFill>
              <a:schemeClr val="accent3"/>
            </a:solidFill>
            <a:prstDash val="solid"/>
          </a:ln>
        </p:spPr>
      </p:sp>
      <p:sp>
        <p:nvSpPr>
          <p:cNvPr id="10"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11" name="Text 9"/>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Town in a flood</a:t>
            </a:r>
            <a:endParaRPr lang="en-US" sz="1700" dirty="0"/>
          </a:p>
        </p:txBody>
      </p:sp>
      <p:sp>
        <p:nvSpPr>
          <p:cNvPr id="12" name="node 1"/>
          <p:cNvSpPr/>
          <p:nvPr/>
        </p:nvSpPr>
        <p:spPr>
          <a:xfrm>
            <a:off x="4636008" y="1321308"/>
            <a:ext cx="2926080" cy="1051560"/>
          </a:xfrm>
          <a:prstGeom prst="roundRect">
            <a:avLst>
              <a:gd name="adj" fmla="val 10435"/>
            </a:avLst>
          </a:prstGeom>
          <a:solidFill>
            <a:schemeClr val="bg2"/>
          </a:solidFill>
          <a:ln w="12700">
            <a:solidFill>
              <a:schemeClr val="bg2"/>
            </a:solidFill>
            <a:prstDash val="solid"/>
          </a:ln>
        </p:spPr>
      </p:sp>
      <p:sp>
        <p:nvSpPr>
          <p:cNvPr id="13" name="Text 11"/>
          <p:cNvSpPr txBox="1"/>
          <p:nvPr/>
        </p:nvSpPr>
        <p:spPr>
          <a:xfrm>
            <a:off x="4800600" y="1394460"/>
            <a:ext cx="2651760" cy="923544"/>
          </a:xfrm>
          <a:prstGeom prst="rect">
            <a:avLst/>
          </a:prstGeom>
          <a:noFill/>
          <a:ln/>
        </p:spPr>
        <p:txBody>
          <a:bodyPr wrap="square" lIns="0" tIns="0" rIns="0" bIns="0" rtlCol="0" anchor="ctr"/>
          <a:lstStyle/>
          <a:p>
            <a:pPr indent="0" marL="0">
              <a:buNone/>
            </a:pPr>
            <a:r>
              <a:rPr lang="en-US" sz="1600" b="1" dirty="0">
                <a:solidFill>
                  <a:schemeClr val="accent1"/>
                </a:solidFill>
              </a:rPr>
              <a:t>Municipal corporation</a:t>
            </a:r>
            <a:endParaRPr lang="en-US" sz="1600" dirty="0"/>
          </a:p>
          <a:p>
            <a:pPr indent="0" marL="0">
              <a:buNone/>
            </a:pPr>
            <a:r>
              <a:rPr lang="en-US" sz="1600" dirty="0">
                <a:solidFill>
                  <a:schemeClr val="tx1"/>
                </a:solidFill>
              </a:rPr>
              <a:t>Clears drains, removes garbage</a:t>
            </a:r>
            <a:endParaRPr lang="en-US" sz="1600" dirty="0"/>
          </a:p>
        </p:txBody>
      </p:sp>
      <p:sp>
        <p:nvSpPr>
          <p:cNvPr id="14" name="node 2"/>
          <p:cNvSpPr/>
          <p:nvPr/>
        </p:nvSpPr>
        <p:spPr>
          <a:xfrm>
            <a:off x="7853088" y="2061512"/>
            <a:ext cx="2926080" cy="1051560"/>
          </a:xfrm>
          <a:prstGeom prst="roundRect">
            <a:avLst>
              <a:gd name="adj" fmla="val 10435"/>
            </a:avLst>
          </a:prstGeom>
          <a:solidFill>
            <a:schemeClr val="bg2"/>
          </a:solidFill>
          <a:ln w="12700">
            <a:solidFill>
              <a:schemeClr val="bg2"/>
            </a:solidFill>
            <a:prstDash val="solid"/>
          </a:ln>
        </p:spPr>
      </p:sp>
      <p:sp>
        <p:nvSpPr>
          <p:cNvPr id="15" name="Text 13"/>
          <p:cNvSpPr txBox="1"/>
          <p:nvPr/>
        </p:nvSpPr>
        <p:spPr>
          <a:xfrm>
            <a:off x="8017680" y="2134664"/>
            <a:ext cx="2651760" cy="923544"/>
          </a:xfrm>
          <a:prstGeom prst="rect">
            <a:avLst/>
          </a:prstGeom>
          <a:noFill/>
          <a:ln/>
        </p:spPr>
        <p:txBody>
          <a:bodyPr wrap="square" lIns="0" tIns="0" rIns="0" bIns="0" rtlCol="0" anchor="ctr"/>
          <a:lstStyle/>
          <a:p>
            <a:pPr indent="0" marL="0">
              <a:buNone/>
            </a:pPr>
            <a:r>
              <a:rPr lang="en-US" sz="1600" b="1" dirty="0">
                <a:solidFill>
                  <a:schemeClr val="accent2"/>
                </a:solidFill>
              </a:rPr>
              <a:t>Public Works Dept</a:t>
            </a:r>
            <a:endParaRPr lang="en-US" sz="1600" dirty="0"/>
          </a:p>
          <a:p>
            <a:pPr indent="0" marL="0">
              <a:buNone/>
            </a:pPr>
            <a:r>
              <a:rPr lang="en-US" sz="1600" dirty="0">
                <a:solidFill>
                  <a:schemeClr val="tx1"/>
                </a:solidFill>
              </a:rPr>
              <a:t>Repairs damaged roads</a:t>
            </a:r>
            <a:endParaRPr lang="en-US" sz="1600" dirty="0"/>
          </a:p>
        </p:txBody>
      </p:sp>
      <p:sp>
        <p:nvSpPr>
          <p:cNvPr id="16" name="node 3"/>
          <p:cNvSpPr/>
          <p:nvPr/>
        </p:nvSpPr>
        <p:spPr>
          <a:xfrm>
            <a:off x="8647641" y="3724735"/>
            <a:ext cx="2926080" cy="1051560"/>
          </a:xfrm>
          <a:prstGeom prst="roundRect">
            <a:avLst>
              <a:gd name="adj" fmla="val 10435"/>
            </a:avLst>
          </a:prstGeom>
          <a:solidFill>
            <a:schemeClr val="bg2"/>
          </a:solidFill>
          <a:ln w="12700">
            <a:solidFill>
              <a:schemeClr val="bg2"/>
            </a:solidFill>
            <a:prstDash val="solid"/>
          </a:ln>
        </p:spPr>
      </p:sp>
      <p:sp>
        <p:nvSpPr>
          <p:cNvPr id="17" name="Text 15"/>
          <p:cNvSpPr txBox="1"/>
          <p:nvPr/>
        </p:nvSpPr>
        <p:spPr>
          <a:xfrm>
            <a:off x="8812233" y="3797887"/>
            <a:ext cx="2651760" cy="923544"/>
          </a:xfrm>
          <a:prstGeom prst="rect">
            <a:avLst/>
          </a:prstGeom>
          <a:noFill/>
          <a:ln/>
        </p:spPr>
        <p:txBody>
          <a:bodyPr wrap="square" lIns="0" tIns="0" rIns="0" bIns="0" rtlCol="0" anchor="ctr"/>
          <a:lstStyle/>
          <a:p>
            <a:pPr indent="0" marL="0">
              <a:buNone/>
            </a:pPr>
            <a:r>
              <a:rPr lang="en-US" sz="1600" b="1" dirty="0">
                <a:solidFill>
                  <a:schemeClr val="accent4"/>
                </a:solidFill>
              </a:rPr>
              <a:t>Police</a:t>
            </a:r>
            <a:endParaRPr lang="en-US" sz="1600" dirty="0"/>
          </a:p>
          <a:p>
            <a:pPr indent="0" marL="0">
              <a:buNone/>
            </a:pPr>
            <a:r>
              <a:rPr lang="en-US" sz="1600" dirty="0">
                <a:solidFill>
                  <a:schemeClr val="tx1"/>
                </a:solidFill>
              </a:rPr>
              <a:t>Manages traffic</a:t>
            </a:r>
            <a:endParaRPr lang="en-US" sz="1600" dirty="0"/>
          </a:p>
        </p:txBody>
      </p:sp>
      <p:sp>
        <p:nvSpPr>
          <p:cNvPr id="18" name="node 4"/>
          <p:cNvSpPr/>
          <p:nvPr/>
        </p:nvSpPr>
        <p:spPr>
          <a:xfrm>
            <a:off x="6421353" y="5058537"/>
            <a:ext cx="2926080" cy="1051560"/>
          </a:xfrm>
          <a:prstGeom prst="roundRect">
            <a:avLst>
              <a:gd name="adj" fmla="val 10435"/>
            </a:avLst>
          </a:prstGeom>
          <a:solidFill>
            <a:schemeClr val="bg2"/>
          </a:solidFill>
          <a:ln w="12700">
            <a:solidFill>
              <a:schemeClr val="bg2"/>
            </a:solidFill>
            <a:prstDash val="solid"/>
          </a:ln>
        </p:spPr>
      </p:sp>
      <p:sp>
        <p:nvSpPr>
          <p:cNvPr id="19" name="Text 17"/>
          <p:cNvSpPr txBox="1"/>
          <p:nvPr/>
        </p:nvSpPr>
        <p:spPr>
          <a:xfrm>
            <a:off x="6585945" y="5131689"/>
            <a:ext cx="2651760" cy="923544"/>
          </a:xfrm>
          <a:prstGeom prst="rect">
            <a:avLst/>
          </a:prstGeom>
          <a:noFill/>
          <a:ln/>
        </p:spPr>
        <p:txBody>
          <a:bodyPr wrap="square" lIns="0" tIns="0" rIns="0" bIns="0" rtlCol="0" anchor="ctr"/>
          <a:lstStyle/>
          <a:p>
            <a:pPr indent="0" marL="0">
              <a:buNone/>
            </a:pPr>
            <a:r>
              <a:rPr lang="en-US" sz="1600" b="1" dirty="0">
                <a:solidFill>
                  <a:schemeClr val="accent5"/>
                </a:solidFill>
              </a:rPr>
              <a:t>School authorities</a:t>
            </a:r>
            <a:endParaRPr lang="en-US" sz="1600" dirty="0"/>
          </a:p>
          <a:p>
            <a:pPr indent="0" marL="0">
              <a:buNone/>
            </a:pPr>
            <a:r>
              <a:rPr lang="en-US" sz="1600" dirty="0">
                <a:solidFill>
                  <a:schemeClr val="tx1"/>
                </a:solidFill>
              </a:rPr>
              <a:t>Inform parents about closures</a:t>
            </a:r>
            <a:endParaRPr lang="en-US" sz="1600" dirty="0"/>
          </a:p>
        </p:txBody>
      </p:sp>
      <p:sp>
        <p:nvSpPr>
          <p:cNvPr id="20" name="node 5"/>
          <p:cNvSpPr/>
          <p:nvPr/>
        </p:nvSpPr>
        <p:spPr>
          <a:xfrm>
            <a:off x="2850663" y="5058537"/>
            <a:ext cx="2926080" cy="1051560"/>
          </a:xfrm>
          <a:prstGeom prst="roundRect">
            <a:avLst>
              <a:gd name="adj" fmla="val 10435"/>
            </a:avLst>
          </a:prstGeom>
          <a:solidFill>
            <a:schemeClr val="bg2"/>
          </a:solidFill>
          <a:ln w="12700">
            <a:solidFill>
              <a:schemeClr val="bg2"/>
            </a:solidFill>
            <a:prstDash val="solid"/>
          </a:ln>
        </p:spPr>
      </p:sp>
      <p:sp>
        <p:nvSpPr>
          <p:cNvPr id="21" name="Text 19"/>
          <p:cNvSpPr txBox="1"/>
          <p:nvPr/>
        </p:nvSpPr>
        <p:spPr>
          <a:xfrm>
            <a:off x="3015255" y="5131689"/>
            <a:ext cx="2651760" cy="923544"/>
          </a:xfrm>
          <a:prstGeom prst="rect">
            <a:avLst/>
          </a:prstGeom>
          <a:noFill/>
          <a:ln/>
        </p:spPr>
        <p:txBody>
          <a:bodyPr wrap="square" lIns="0" tIns="0" rIns="0" bIns="0" rtlCol="0" anchor="ctr"/>
          <a:lstStyle/>
          <a:p>
            <a:pPr indent="0" marL="0">
              <a:buNone/>
            </a:pPr>
            <a:r>
              <a:rPr lang="en-US" sz="1600" b="1" dirty="0">
                <a:solidFill>
                  <a:schemeClr val="accent6"/>
                </a:solidFill>
              </a:rPr>
              <a:t>Health workers</a:t>
            </a:r>
            <a:endParaRPr lang="en-US" sz="1600" dirty="0"/>
          </a:p>
          <a:p>
            <a:pPr indent="0" marL="0">
              <a:buNone/>
            </a:pPr>
            <a:r>
              <a:rPr lang="en-US" sz="1600" dirty="0">
                <a:solidFill>
                  <a:schemeClr val="tx1"/>
                </a:solidFill>
              </a:rPr>
              <a:t>Prevent the spread of disease</a:t>
            </a:r>
            <a:endParaRPr lang="en-US" sz="1600" dirty="0"/>
          </a:p>
        </p:txBody>
      </p:sp>
      <p:sp>
        <p:nvSpPr>
          <p:cNvPr id="22" name="node 6"/>
          <p:cNvSpPr/>
          <p:nvPr/>
        </p:nvSpPr>
        <p:spPr>
          <a:xfrm>
            <a:off x="624375" y="3724735"/>
            <a:ext cx="2926080" cy="1051560"/>
          </a:xfrm>
          <a:prstGeom prst="roundRect">
            <a:avLst>
              <a:gd name="adj" fmla="val 10435"/>
            </a:avLst>
          </a:prstGeom>
          <a:solidFill>
            <a:schemeClr val="bg2"/>
          </a:solidFill>
          <a:ln w="12700">
            <a:solidFill>
              <a:schemeClr val="bg2"/>
            </a:solidFill>
            <a:prstDash val="solid"/>
          </a:ln>
        </p:spPr>
      </p:sp>
      <p:sp>
        <p:nvSpPr>
          <p:cNvPr id="23" name="Text 21"/>
          <p:cNvSpPr txBox="1"/>
          <p:nvPr/>
        </p:nvSpPr>
        <p:spPr>
          <a:xfrm>
            <a:off x="788967" y="3797887"/>
            <a:ext cx="2651760" cy="923544"/>
          </a:xfrm>
          <a:prstGeom prst="rect">
            <a:avLst/>
          </a:prstGeom>
          <a:noFill/>
          <a:ln/>
        </p:spPr>
        <p:txBody>
          <a:bodyPr wrap="square" lIns="0" tIns="0" rIns="0" bIns="0" rtlCol="0" anchor="ctr"/>
          <a:lstStyle/>
          <a:p>
            <a:pPr indent="0" marL="0">
              <a:buNone/>
            </a:pPr>
            <a:r>
              <a:rPr lang="en-US" sz="1600" b="1" dirty="0">
                <a:solidFill>
                  <a:schemeClr val="accent1"/>
                </a:solidFill>
              </a:rPr>
              <a:t>Local representatives</a:t>
            </a:r>
            <a:endParaRPr lang="en-US" sz="1600" dirty="0"/>
          </a:p>
          <a:p>
            <a:pPr indent="0" marL="0">
              <a:buNone/>
            </a:pPr>
            <a:r>
              <a:rPr lang="en-US" sz="1600" dirty="0">
                <a:solidFill>
                  <a:schemeClr val="tx1"/>
                </a:solidFill>
              </a:rPr>
              <a:t>Raise people's concerns</a:t>
            </a:r>
            <a:endParaRPr lang="en-US" sz="1600" dirty="0"/>
          </a:p>
        </p:txBody>
      </p:sp>
      <p:sp>
        <p:nvSpPr>
          <p:cNvPr id="24" name="node 7"/>
          <p:cNvSpPr/>
          <p:nvPr/>
        </p:nvSpPr>
        <p:spPr>
          <a:xfrm>
            <a:off x="1418928" y="2061512"/>
            <a:ext cx="2926080" cy="1051560"/>
          </a:xfrm>
          <a:prstGeom prst="roundRect">
            <a:avLst>
              <a:gd name="adj" fmla="val 10435"/>
            </a:avLst>
          </a:prstGeom>
          <a:solidFill>
            <a:schemeClr val="bg2"/>
          </a:solidFill>
          <a:ln w="12700">
            <a:solidFill>
              <a:schemeClr val="bg2"/>
            </a:solidFill>
            <a:prstDash val="solid"/>
          </a:ln>
        </p:spPr>
      </p:sp>
      <p:sp>
        <p:nvSpPr>
          <p:cNvPr id="25" name="Text 23"/>
          <p:cNvSpPr txBox="1"/>
          <p:nvPr/>
        </p:nvSpPr>
        <p:spPr>
          <a:xfrm>
            <a:off x="1583520" y="2134664"/>
            <a:ext cx="2651760" cy="923544"/>
          </a:xfrm>
          <a:prstGeom prst="rect">
            <a:avLst/>
          </a:prstGeom>
          <a:noFill/>
          <a:ln/>
        </p:spPr>
        <p:txBody>
          <a:bodyPr wrap="square" lIns="0" tIns="0" rIns="0" bIns="0" rtlCol="0" anchor="ctr"/>
          <a:lstStyle/>
          <a:p>
            <a:pPr indent="0" marL="0">
              <a:buNone/>
            </a:pPr>
            <a:r>
              <a:rPr lang="en-US" sz="1600" b="1" dirty="0">
                <a:solidFill>
                  <a:schemeClr val="accent2"/>
                </a:solidFill>
              </a:rPr>
              <a:t>Residents</a:t>
            </a:r>
            <a:endParaRPr lang="en-US" sz="1600" dirty="0"/>
          </a:p>
          <a:p>
            <a:pPr indent="0" marL="0">
              <a:buNone/>
            </a:pPr>
            <a:r>
              <a:rPr lang="en-US" sz="1600" dirty="0">
                <a:solidFill>
                  <a:schemeClr val="tx1"/>
                </a:solidFill>
              </a:rPr>
              <a:t>Help neighbours, report flooding</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Government vs Governance</a:t>
            </a:r>
            <a:endParaRPr lang="en-US" sz="3600" dirty="0"/>
          </a:p>
        </p:txBody>
      </p:sp>
      <p:sp>
        <p:nvSpPr>
          <p:cNvPr id="3" name="Government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Government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Government</a:t>
            </a:r>
            <a:endParaRPr lang="en-US" sz="2200" dirty="0"/>
          </a:p>
        </p:txBody>
      </p:sp>
      <p:sp>
        <p:nvSpPr>
          <p:cNvPr id="6" name="Government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The </a:t>
            </a:r>
            <a:r>
              <a:rPr lang="en-US" sz="2200" b="1" dirty="0">
                <a:solidFill>
                  <a:schemeClr val="tx1"/>
                </a:solidFill>
              </a:rPr>
              <a:t>institutions</a:t>
            </a:r>
            <a:r>
              <a:rPr lang="en-US" sz="2200" dirty="0">
                <a:solidFill>
                  <a:schemeClr val="tx1"/>
                </a:solidFill>
              </a:rPr>
              <a:t> that exercise political authority</a:t>
            </a:r>
            <a:endParaRPr lang="en-US" sz="1600" dirty="0"/>
          </a:p>
          <a:p>
            <a:pPr marL="228600" indent="-228600">
              <a:spcAft>
                <a:spcPts val="800"/>
              </a:spcAft>
              <a:buSzPct val="100000"/>
              <a:buChar char="•"/>
            </a:pPr>
            <a:r>
              <a:rPr lang="en-US" sz="2200" dirty="0">
                <a:solidFill>
                  <a:schemeClr val="tx1"/>
                </a:solidFill>
              </a:rPr>
              <a:t>Legislature, Executive and Judiciary</a:t>
            </a:r>
            <a:endParaRPr lang="en-US" sz="1600" dirty="0"/>
          </a:p>
          <a:p>
            <a:pPr marL="228600" indent="-228600">
              <a:spcAft>
                <a:spcPts val="800"/>
              </a:spcAft>
              <a:buSzPct val="100000"/>
              <a:buChar char="•"/>
            </a:pPr>
            <a:r>
              <a:rPr lang="en-US" sz="2200" dirty="0">
                <a:solidFill>
                  <a:schemeClr val="tx1"/>
                </a:solidFill>
              </a:rPr>
              <a:t>Focuses on </a:t>
            </a:r>
            <a:r>
              <a:rPr lang="en-US" sz="2200" b="1" dirty="0">
                <a:solidFill>
                  <a:schemeClr val="tx1"/>
                </a:solidFill>
              </a:rPr>
              <a:t>WHO</a:t>
            </a:r>
            <a:r>
              <a:rPr lang="en-US" sz="2200" dirty="0">
                <a:solidFill>
                  <a:schemeClr val="tx1"/>
                </a:solidFill>
              </a:rPr>
              <a:t> governs</a:t>
            </a:r>
            <a:endParaRPr lang="en-US" sz="1600" dirty="0"/>
          </a:p>
        </p:txBody>
      </p:sp>
      <p:sp>
        <p:nvSpPr>
          <p:cNvPr id="8" name="Governance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Governance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Governance</a:t>
            </a:r>
            <a:endParaRPr lang="en-US" sz="2200" dirty="0"/>
          </a:p>
        </p:txBody>
      </p:sp>
      <p:sp>
        <p:nvSpPr>
          <p:cNvPr id="11" name="Governance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The </a:t>
            </a:r>
            <a:r>
              <a:rPr lang="en-US" sz="2200" b="1" dirty="0">
                <a:solidFill>
                  <a:schemeClr val="tx1"/>
                </a:solidFill>
              </a:rPr>
              <a:t>process</a:t>
            </a:r>
            <a:r>
              <a:rPr lang="en-US" sz="2200" dirty="0">
                <a:solidFill>
                  <a:schemeClr val="tx1"/>
                </a:solidFill>
              </a:rPr>
              <a:t> of making, implementing and monitoring decisions</a:t>
            </a:r>
            <a:endParaRPr lang="en-US" sz="1600" dirty="0"/>
          </a:p>
          <a:p>
            <a:pPr marL="228600" indent="-228600">
              <a:spcAft>
                <a:spcPts val="800"/>
              </a:spcAft>
              <a:buSzPct val="100000"/>
              <a:buChar char="•"/>
            </a:pPr>
            <a:r>
              <a:rPr lang="en-US" sz="2200" dirty="0">
                <a:solidFill>
                  <a:schemeClr val="tx1"/>
                </a:solidFill>
              </a:rPr>
              <a:t>Includes government, citizens, media, civil society and private organisations</a:t>
            </a:r>
            <a:endParaRPr lang="en-US" sz="1600" dirty="0"/>
          </a:p>
          <a:p>
            <a:pPr marL="228600" indent="-228600">
              <a:spcAft>
                <a:spcPts val="800"/>
              </a:spcAft>
              <a:buSzPct val="100000"/>
              <a:buChar char="•"/>
            </a:pPr>
            <a:r>
              <a:rPr lang="en-US" sz="2200" dirty="0">
                <a:solidFill>
                  <a:schemeClr val="tx1"/>
                </a:solidFill>
              </a:rPr>
              <a:t>Focuses on </a:t>
            </a:r>
            <a:r>
              <a:rPr lang="en-US" sz="2200" b="1" dirty="0">
                <a:solidFill>
                  <a:schemeClr val="tx1"/>
                </a:solidFill>
              </a:rPr>
              <a:t>HOW</a:t>
            </a:r>
            <a:r>
              <a:rPr lang="en-US" sz="2200" dirty="0">
                <a:solidFill>
                  <a:schemeClr val="tx1"/>
                </a:solidFill>
              </a:rPr>
              <a:t> governing is done</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Example:</a:t>
            </a:r>
            <a:r>
              <a:rPr lang="en-US" sz="1500" dirty="0">
                <a:solidFill>
                  <a:schemeClr val="bg1"/>
                </a:solidFill>
              </a:rPr>
              <a:t> the panchayat installs street lights (government); planning, reporting dark spots and feedback (governance).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India's Roots of Good Governance</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Sabha and Samiti</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Assemblies in the </a:t>
            </a:r>
            <a:r>
              <a:rPr lang="en-US" sz="1800" b="1" dirty="0">
                <a:solidFill>
                  <a:schemeClr val="tx1"/>
                </a:solidFill>
              </a:rPr>
              <a:t>Rigveda</a:t>
            </a:r>
            <a:r>
              <a:rPr lang="en-US" sz="1800" dirty="0">
                <a:solidFill>
                  <a:schemeClr val="tx1"/>
                </a:solidFill>
              </a:rPr>
              <a:t> where governance and public welfare were discussed.</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Rajadharma</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 ruler's highest duty: protect the people and promote welfare by upholding Dharma.</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Ram Rajya</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Gandhi's ideal: honesty, transparency, compassion, welfare and people first.</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Satyameva Jayate</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National motto, 'Truth alone triumphs', from the </a:t>
            </a:r>
            <a:r>
              <a:rPr lang="en-US" sz="1800" b="1" dirty="0">
                <a:solidFill>
                  <a:schemeClr val="tx1"/>
                </a:solidFill>
              </a:rPr>
              <a:t>Mundaka Upanishad</a:t>
            </a:r>
            <a:r>
              <a:rPr lang="en-US" sz="1800" dirty="0">
                <a:solidFill>
                  <a:schemeClr val="tx1"/>
                </a:solidFill>
              </a:rPr>
              <a:t>.</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Yato Dharmastato Jayah</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Supreme Court motto from the Mahabharata: 'Where there is Dharma, there is victory'.</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The Sengol</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Chola symbol of righteous rule; given to Nehru in 1947, placed in the new Parliament in 2023.</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Source Detective: Kautilya's Arthashastra</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SOURCE DETECTIVE</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2100" dirty="0">
                <a:solidFill>
                  <a:schemeClr val="bg1"/>
                </a:solidFill>
              </a:rPr>
              <a:t>प्रजासुखे सुखं राज्ञः प्रजानां च हिते हितम्</a:t>
            </a:r>
            <a:endParaRPr lang="en-US" sz="2100" dirty="0"/>
          </a:p>
          <a:p>
            <a:pPr indent="0" marL="0">
              <a:buNone/>
            </a:pPr>
            <a:r>
              <a:rPr lang="en-US" sz="2100" dirty="0">
                <a:solidFill>
                  <a:schemeClr val="bg1"/>
                </a:solidFill>
              </a:rPr>
              <a:t>Prajāsukhe sukhaṁ rājñaḥ prajānāṁ cha hite hitam</a:t>
            </a:r>
            <a:endParaRPr lang="en-US" sz="2100" dirty="0"/>
          </a:p>
          <a:p>
            <a:pPr indent="0" marL="0">
              <a:buNone/>
            </a:pPr>
            <a:endParaRPr lang="en-US" sz="2100" dirty="0"/>
          </a:p>
          <a:p>
            <a:pPr indent="0" marL="0">
              <a:buNone/>
            </a:pPr>
            <a:r>
              <a:rPr lang="en-US" sz="2100" dirty="0">
                <a:solidFill>
                  <a:schemeClr val="bg1"/>
                </a:solidFill>
              </a:rPr>
              <a:t>'In the happiness of the people lies the happiness of the ruler, and in the interest of the people lies the interest of the ruler.'</a:t>
            </a:r>
            <a:endParaRPr lang="en-US" sz="21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Kautilya, Arthashastra (as quoted in the textbook)</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1115568"/>
          </a:xfrm>
          <a:prstGeom prst="rect">
            <a:avLst/>
          </a:prstGeom>
          <a:noFill/>
          <a:ln/>
        </p:spPr>
        <p:txBody>
          <a:bodyPr wrap="square" lIns="0" tIns="0" rIns="0" bIns="0" rtlCol="0" anchor="t"/>
          <a:lstStyle/>
          <a:p>
            <a:pPr indent="0" marL="0">
              <a:buNone/>
            </a:pPr>
            <a:r>
              <a:rPr lang="en-US" sz="1600" dirty="0">
                <a:solidFill>
                  <a:schemeClr val="tx1"/>
                </a:solidFill>
              </a:rPr>
              <a:t>What, according to Kautilya, should a ruler care about most?</a:t>
            </a:r>
            <a:endParaRPr lang="en-US" sz="1600" dirty="0"/>
          </a:p>
        </p:txBody>
      </p:sp>
      <p:sp>
        <p:nvSpPr>
          <p:cNvPr id="13" name="task 2 badge"/>
          <p:cNvSpPr/>
          <p:nvPr/>
        </p:nvSpPr>
        <p:spPr>
          <a:xfrm>
            <a:off x="7406640" y="340156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383280"/>
            <a:ext cx="3474720" cy="1115568"/>
          </a:xfrm>
          <a:prstGeom prst="rect">
            <a:avLst/>
          </a:prstGeom>
          <a:noFill/>
          <a:ln/>
        </p:spPr>
        <p:txBody>
          <a:bodyPr wrap="square" lIns="0" tIns="0" rIns="0" bIns="0" rtlCol="0" anchor="t"/>
          <a:lstStyle/>
          <a:p>
            <a:pPr indent="0" marL="0">
              <a:buNone/>
            </a:pPr>
            <a:r>
              <a:rPr lang="en-US" sz="1600" dirty="0">
                <a:solidFill>
                  <a:schemeClr val="tx1"/>
                </a:solidFill>
              </a:rPr>
              <a:t>How is this idea similar to </a:t>
            </a:r>
            <a:r>
              <a:rPr lang="en-US" sz="1600" b="1" dirty="0">
                <a:solidFill>
                  <a:schemeClr val="tx1"/>
                </a:solidFill>
              </a:rPr>
              <a:t>welfare-oriented</a:t>
            </a:r>
            <a:r>
              <a:rPr lang="en-US" sz="1600" dirty="0">
                <a:solidFill>
                  <a:schemeClr val="tx1"/>
                </a:solidFill>
              </a:rPr>
              <a:t> democratic governance?</a:t>
            </a:r>
            <a:endParaRPr lang="en-US" sz="1600" dirty="0"/>
          </a:p>
        </p:txBody>
      </p:sp>
      <p:sp>
        <p:nvSpPr>
          <p:cNvPr id="16" name="task 3 badge"/>
          <p:cNvSpPr/>
          <p:nvPr/>
        </p:nvSpPr>
        <p:spPr>
          <a:xfrm>
            <a:off x="7406640" y="459028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572000"/>
            <a:ext cx="3474720" cy="1115568"/>
          </a:xfrm>
          <a:prstGeom prst="rect">
            <a:avLst/>
          </a:prstGeom>
          <a:noFill/>
          <a:ln/>
        </p:spPr>
        <p:txBody>
          <a:bodyPr wrap="square" lIns="0" tIns="0" rIns="0" bIns="0" rtlCol="0" anchor="t"/>
          <a:lstStyle/>
          <a:p>
            <a:pPr indent="0" marL="0">
              <a:buNone/>
            </a:pPr>
            <a:r>
              <a:rPr lang="en-US" sz="1600" dirty="0">
                <a:solidFill>
                  <a:schemeClr val="tx1"/>
                </a:solidFill>
              </a:rPr>
              <a:t>Name one government scheme that reflects this idea.</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Features of Good Governance</a:t>
            </a:r>
            <a:endParaRPr lang="en-US" sz="3600" dirty="0"/>
          </a:p>
        </p:txBody>
      </p:sp>
      <p:sp>
        <p:nvSpPr>
          <p:cNvPr id="3" name="card 1"/>
          <p:cNvSpPr/>
          <p:nvPr/>
        </p:nvSpPr>
        <p:spPr>
          <a:xfrm>
            <a:off x="548640" y="1371600"/>
            <a:ext cx="2560320" cy="1988820"/>
          </a:xfrm>
          <a:prstGeom prst="roundRect">
            <a:avLst>
              <a:gd name="adj" fmla="val 5517"/>
            </a:avLst>
          </a:prstGeom>
          <a:solidFill>
            <a:schemeClr val="bg2"/>
          </a:solidFill>
          <a:ln w="12700">
            <a:solidFill>
              <a:schemeClr val="bg2"/>
            </a:solidFill>
            <a:prstDash val="solid"/>
          </a:ln>
        </p:spPr>
      </p:sp>
      <p:sp>
        <p:nvSpPr>
          <p:cNvPr id="4" name="card 1 disc"/>
          <p:cNvSpPr/>
          <p:nvPr/>
        </p:nvSpPr>
        <p:spPr>
          <a:xfrm>
            <a:off x="731520" y="1554480"/>
            <a:ext cx="457200" cy="457200"/>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832104" y="1655064"/>
            <a:ext cx="256032" cy="256032"/>
          </a:xfrm>
          <a:prstGeom prst="rect">
            <a:avLst/>
          </a:prstGeom>
        </p:spPr>
      </p:pic>
      <p:sp>
        <p:nvSpPr>
          <p:cNvPr id="6" name="Text 3"/>
          <p:cNvSpPr txBox="1"/>
          <p:nvPr/>
        </p:nvSpPr>
        <p:spPr>
          <a:xfrm>
            <a:off x="1325880" y="155448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Rule of law</a:t>
            </a:r>
            <a:endParaRPr lang="en-US" sz="1500" dirty="0"/>
          </a:p>
        </p:txBody>
      </p:sp>
      <p:sp>
        <p:nvSpPr>
          <p:cNvPr id="7" name="Text 4"/>
          <p:cNvSpPr txBox="1"/>
          <p:nvPr/>
        </p:nvSpPr>
        <p:spPr>
          <a:xfrm>
            <a:off x="731520" y="2121408"/>
            <a:ext cx="2194560" cy="1101852"/>
          </a:xfrm>
          <a:prstGeom prst="rect">
            <a:avLst/>
          </a:prstGeom>
          <a:noFill/>
          <a:ln/>
        </p:spPr>
        <p:txBody>
          <a:bodyPr wrap="square" lIns="0" tIns="0" rIns="0" bIns="0" rtlCol="0" anchor="t"/>
          <a:lstStyle/>
          <a:p>
            <a:pPr indent="0" marL="0">
              <a:buNone/>
            </a:pPr>
            <a:r>
              <a:rPr lang="en-US" sz="1800" dirty="0">
                <a:solidFill>
                  <a:schemeClr val="tx1"/>
                </a:solidFill>
              </a:rPr>
              <a:t>Everyone is equal before the law.</a:t>
            </a:r>
            <a:endParaRPr lang="en-US" sz="1600" dirty="0"/>
          </a:p>
        </p:txBody>
      </p:sp>
      <p:sp>
        <p:nvSpPr>
          <p:cNvPr id="8" name="card 2"/>
          <p:cNvSpPr/>
          <p:nvPr/>
        </p:nvSpPr>
        <p:spPr>
          <a:xfrm>
            <a:off x="3383280" y="1371600"/>
            <a:ext cx="2560320" cy="1988820"/>
          </a:xfrm>
          <a:prstGeom prst="roundRect">
            <a:avLst>
              <a:gd name="adj" fmla="val 5517"/>
            </a:avLst>
          </a:prstGeom>
          <a:solidFill>
            <a:schemeClr val="bg2"/>
          </a:solidFill>
          <a:ln w="12700">
            <a:solidFill>
              <a:schemeClr val="bg2"/>
            </a:solidFill>
            <a:prstDash val="solid"/>
          </a:ln>
        </p:spPr>
      </p:sp>
      <p:sp>
        <p:nvSpPr>
          <p:cNvPr id="9" name="card 2 disc"/>
          <p:cNvSpPr/>
          <p:nvPr/>
        </p:nvSpPr>
        <p:spPr>
          <a:xfrm>
            <a:off x="3566160" y="1554480"/>
            <a:ext cx="457200" cy="457200"/>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3666744" y="1655064"/>
            <a:ext cx="256032" cy="256032"/>
          </a:xfrm>
          <a:prstGeom prst="rect">
            <a:avLst/>
          </a:prstGeom>
        </p:spPr>
      </p:pic>
      <p:sp>
        <p:nvSpPr>
          <p:cNvPr id="11" name="Text 7"/>
          <p:cNvSpPr txBox="1"/>
          <p:nvPr/>
        </p:nvSpPr>
        <p:spPr>
          <a:xfrm>
            <a:off x="4160520" y="155448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Participation</a:t>
            </a:r>
            <a:endParaRPr lang="en-US" sz="1500" dirty="0"/>
          </a:p>
        </p:txBody>
      </p:sp>
      <p:sp>
        <p:nvSpPr>
          <p:cNvPr id="12" name="Text 8"/>
          <p:cNvSpPr txBox="1"/>
          <p:nvPr/>
        </p:nvSpPr>
        <p:spPr>
          <a:xfrm>
            <a:off x="3566160" y="2121408"/>
            <a:ext cx="2194560" cy="1101852"/>
          </a:xfrm>
          <a:prstGeom prst="rect">
            <a:avLst/>
          </a:prstGeom>
          <a:noFill/>
          <a:ln/>
        </p:spPr>
        <p:txBody>
          <a:bodyPr wrap="square" lIns="0" tIns="0" rIns="0" bIns="0" rtlCol="0" anchor="t"/>
          <a:lstStyle/>
          <a:p>
            <a:pPr indent="0" marL="0">
              <a:buNone/>
            </a:pPr>
            <a:r>
              <a:rPr lang="en-US" sz="1800" dirty="0">
                <a:solidFill>
                  <a:schemeClr val="tx1"/>
                </a:solidFill>
              </a:rPr>
              <a:t>Citizens take part in decision-making.</a:t>
            </a:r>
            <a:endParaRPr lang="en-US" sz="1600" dirty="0"/>
          </a:p>
        </p:txBody>
      </p:sp>
      <p:sp>
        <p:nvSpPr>
          <p:cNvPr id="13" name="card 3"/>
          <p:cNvSpPr/>
          <p:nvPr/>
        </p:nvSpPr>
        <p:spPr>
          <a:xfrm>
            <a:off x="6217920" y="1371600"/>
            <a:ext cx="2560320" cy="1988820"/>
          </a:xfrm>
          <a:prstGeom prst="roundRect">
            <a:avLst>
              <a:gd name="adj" fmla="val 5517"/>
            </a:avLst>
          </a:prstGeom>
          <a:solidFill>
            <a:schemeClr val="bg2"/>
          </a:solidFill>
          <a:ln w="12700">
            <a:solidFill>
              <a:schemeClr val="bg2"/>
            </a:solidFill>
            <a:prstDash val="solid"/>
          </a:ln>
        </p:spPr>
      </p:sp>
      <p:sp>
        <p:nvSpPr>
          <p:cNvPr id="14" name="card 3 disc"/>
          <p:cNvSpPr/>
          <p:nvPr/>
        </p:nvSpPr>
        <p:spPr>
          <a:xfrm>
            <a:off x="6400800" y="1554480"/>
            <a:ext cx="457200" cy="457200"/>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6501384" y="1655064"/>
            <a:ext cx="256032" cy="256032"/>
          </a:xfrm>
          <a:prstGeom prst="rect">
            <a:avLst/>
          </a:prstGeom>
        </p:spPr>
      </p:pic>
      <p:sp>
        <p:nvSpPr>
          <p:cNvPr id="16" name="Text 11"/>
          <p:cNvSpPr txBox="1"/>
          <p:nvPr/>
        </p:nvSpPr>
        <p:spPr>
          <a:xfrm>
            <a:off x="6995160" y="155448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Accountability</a:t>
            </a:r>
            <a:endParaRPr lang="en-US" sz="1500" dirty="0"/>
          </a:p>
        </p:txBody>
      </p:sp>
      <p:sp>
        <p:nvSpPr>
          <p:cNvPr id="17" name="Text 12"/>
          <p:cNvSpPr txBox="1"/>
          <p:nvPr/>
        </p:nvSpPr>
        <p:spPr>
          <a:xfrm>
            <a:off x="6400800" y="2121408"/>
            <a:ext cx="2194560" cy="1101852"/>
          </a:xfrm>
          <a:prstGeom prst="rect">
            <a:avLst/>
          </a:prstGeom>
          <a:noFill/>
          <a:ln/>
        </p:spPr>
        <p:txBody>
          <a:bodyPr wrap="square" lIns="0" tIns="0" rIns="0" bIns="0" rtlCol="0" anchor="t"/>
          <a:lstStyle/>
          <a:p>
            <a:pPr indent="0" marL="0">
              <a:buNone/>
            </a:pPr>
            <a:r>
              <a:rPr lang="en-US" sz="1800" dirty="0">
                <a:solidFill>
                  <a:schemeClr val="tx1"/>
                </a:solidFill>
              </a:rPr>
              <a:t>Officials answer for their actions.</a:t>
            </a:r>
            <a:endParaRPr lang="en-US" sz="1600" dirty="0"/>
          </a:p>
        </p:txBody>
      </p:sp>
      <p:sp>
        <p:nvSpPr>
          <p:cNvPr id="18" name="card 4"/>
          <p:cNvSpPr/>
          <p:nvPr/>
        </p:nvSpPr>
        <p:spPr>
          <a:xfrm>
            <a:off x="9052560" y="1371600"/>
            <a:ext cx="2560320" cy="1988820"/>
          </a:xfrm>
          <a:prstGeom prst="roundRect">
            <a:avLst>
              <a:gd name="adj" fmla="val 5517"/>
            </a:avLst>
          </a:prstGeom>
          <a:solidFill>
            <a:schemeClr val="bg2"/>
          </a:solidFill>
          <a:ln w="12700">
            <a:solidFill>
              <a:schemeClr val="bg2"/>
            </a:solidFill>
            <a:prstDash val="solid"/>
          </a:ln>
        </p:spPr>
      </p:sp>
      <p:sp>
        <p:nvSpPr>
          <p:cNvPr id="19" name="card 4 disc"/>
          <p:cNvSpPr/>
          <p:nvPr/>
        </p:nvSpPr>
        <p:spPr>
          <a:xfrm>
            <a:off x="9235440" y="1554480"/>
            <a:ext cx="457200" cy="457200"/>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336024" y="1655064"/>
            <a:ext cx="256032" cy="256032"/>
          </a:xfrm>
          <a:prstGeom prst="rect">
            <a:avLst/>
          </a:prstGeom>
        </p:spPr>
      </p:pic>
      <p:sp>
        <p:nvSpPr>
          <p:cNvPr id="21" name="Text 15"/>
          <p:cNvSpPr txBox="1"/>
          <p:nvPr/>
        </p:nvSpPr>
        <p:spPr>
          <a:xfrm>
            <a:off x="9829800" y="155448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Transparency</a:t>
            </a:r>
            <a:endParaRPr lang="en-US" sz="1500" dirty="0"/>
          </a:p>
        </p:txBody>
      </p:sp>
      <p:sp>
        <p:nvSpPr>
          <p:cNvPr id="22" name="Text 16"/>
          <p:cNvSpPr txBox="1"/>
          <p:nvPr/>
        </p:nvSpPr>
        <p:spPr>
          <a:xfrm>
            <a:off x="9235440" y="2121408"/>
            <a:ext cx="2194560" cy="1101852"/>
          </a:xfrm>
          <a:prstGeom prst="rect">
            <a:avLst/>
          </a:prstGeom>
          <a:noFill/>
          <a:ln/>
        </p:spPr>
        <p:txBody>
          <a:bodyPr wrap="square" lIns="0" tIns="0" rIns="0" bIns="0" rtlCol="0" anchor="t"/>
          <a:lstStyle/>
          <a:p>
            <a:pPr indent="0" marL="0">
              <a:buNone/>
            </a:pPr>
            <a:r>
              <a:rPr lang="en-US" sz="1800" dirty="0">
                <a:solidFill>
                  <a:schemeClr val="tx1"/>
                </a:solidFill>
              </a:rPr>
              <a:t>Decisions are open and accessible.</a:t>
            </a:r>
            <a:endParaRPr lang="en-US" sz="1600" dirty="0"/>
          </a:p>
        </p:txBody>
      </p:sp>
      <p:sp>
        <p:nvSpPr>
          <p:cNvPr id="23" name="card 5"/>
          <p:cNvSpPr/>
          <p:nvPr/>
        </p:nvSpPr>
        <p:spPr>
          <a:xfrm>
            <a:off x="548640" y="3634740"/>
            <a:ext cx="2560320" cy="1988820"/>
          </a:xfrm>
          <a:prstGeom prst="roundRect">
            <a:avLst>
              <a:gd name="adj" fmla="val 5517"/>
            </a:avLst>
          </a:prstGeom>
          <a:solidFill>
            <a:schemeClr val="bg2"/>
          </a:solidFill>
          <a:ln w="12700">
            <a:solidFill>
              <a:schemeClr val="bg2"/>
            </a:solidFill>
            <a:prstDash val="solid"/>
          </a:ln>
        </p:spPr>
      </p:sp>
      <p:sp>
        <p:nvSpPr>
          <p:cNvPr id="24" name="card 5 disc"/>
          <p:cNvSpPr/>
          <p:nvPr/>
        </p:nvSpPr>
        <p:spPr>
          <a:xfrm>
            <a:off x="731520" y="3817620"/>
            <a:ext cx="457200" cy="457200"/>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832104" y="3918204"/>
            <a:ext cx="256032" cy="256032"/>
          </a:xfrm>
          <a:prstGeom prst="rect">
            <a:avLst/>
          </a:prstGeom>
        </p:spPr>
      </p:pic>
      <p:sp>
        <p:nvSpPr>
          <p:cNvPr id="26" name="Text 19"/>
          <p:cNvSpPr txBox="1"/>
          <p:nvPr/>
        </p:nvSpPr>
        <p:spPr>
          <a:xfrm>
            <a:off x="1325880" y="381762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Effectiveness</a:t>
            </a:r>
            <a:endParaRPr lang="en-US" sz="1500" dirty="0"/>
          </a:p>
        </p:txBody>
      </p:sp>
      <p:sp>
        <p:nvSpPr>
          <p:cNvPr id="27" name="Text 20"/>
          <p:cNvSpPr txBox="1"/>
          <p:nvPr/>
        </p:nvSpPr>
        <p:spPr>
          <a:xfrm>
            <a:off x="731520" y="4384548"/>
            <a:ext cx="2194560" cy="1101852"/>
          </a:xfrm>
          <a:prstGeom prst="rect">
            <a:avLst/>
          </a:prstGeom>
          <a:noFill/>
          <a:ln/>
        </p:spPr>
        <p:txBody>
          <a:bodyPr wrap="square" lIns="0" tIns="0" rIns="0" bIns="0" rtlCol="0" anchor="t"/>
          <a:lstStyle/>
          <a:p>
            <a:pPr indent="0" marL="0">
              <a:buNone/>
            </a:pPr>
            <a:r>
              <a:rPr lang="en-US" sz="1800" dirty="0">
                <a:solidFill>
                  <a:schemeClr val="tx1"/>
                </a:solidFill>
              </a:rPr>
              <a:t>Public resources are used wisely.</a:t>
            </a:r>
            <a:endParaRPr lang="en-US" sz="1600" dirty="0"/>
          </a:p>
        </p:txBody>
      </p:sp>
      <p:sp>
        <p:nvSpPr>
          <p:cNvPr id="28" name="card 6"/>
          <p:cNvSpPr/>
          <p:nvPr/>
        </p:nvSpPr>
        <p:spPr>
          <a:xfrm>
            <a:off x="3383280" y="3634740"/>
            <a:ext cx="2560320" cy="1988820"/>
          </a:xfrm>
          <a:prstGeom prst="roundRect">
            <a:avLst>
              <a:gd name="adj" fmla="val 5517"/>
            </a:avLst>
          </a:prstGeom>
          <a:solidFill>
            <a:schemeClr val="bg2"/>
          </a:solidFill>
          <a:ln w="12700">
            <a:solidFill>
              <a:schemeClr val="bg2"/>
            </a:solidFill>
            <a:prstDash val="solid"/>
          </a:ln>
        </p:spPr>
      </p:sp>
      <p:sp>
        <p:nvSpPr>
          <p:cNvPr id="29" name="card 6 disc"/>
          <p:cNvSpPr/>
          <p:nvPr/>
        </p:nvSpPr>
        <p:spPr>
          <a:xfrm>
            <a:off x="3566160" y="3817620"/>
            <a:ext cx="457200" cy="457200"/>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3666744" y="3918204"/>
            <a:ext cx="256032" cy="256032"/>
          </a:xfrm>
          <a:prstGeom prst="rect">
            <a:avLst/>
          </a:prstGeom>
        </p:spPr>
      </p:pic>
      <p:sp>
        <p:nvSpPr>
          <p:cNvPr id="31" name="Text 23"/>
          <p:cNvSpPr txBox="1"/>
          <p:nvPr/>
        </p:nvSpPr>
        <p:spPr>
          <a:xfrm>
            <a:off x="4160520" y="381762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Responsiveness</a:t>
            </a:r>
            <a:endParaRPr lang="en-US" sz="1500" dirty="0"/>
          </a:p>
        </p:txBody>
      </p:sp>
      <p:sp>
        <p:nvSpPr>
          <p:cNvPr id="32" name="Text 24"/>
          <p:cNvSpPr txBox="1"/>
          <p:nvPr/>
        </p:nvSpPr>
        <p:spPr>
          <a:xfrm>
            <a:off x="3566160" y="4384548"/>
            <a:ext cx="2194560" cy="1101852"/>
          </a:xfrm>
          <a:prstGeom prst="rect">
            <a:avLst/>
          </a:prstGeom>
          <a:noFill/>
          <a:ln/>
        </p:spPr>
        <p:txBody>
          <a:bodyPr wrap="square" lIns="0" tIns="0" rIns="0" bIns="0" rtlCol="0" anchor="t"/>
          <a:lstStyle/>
          <a:p>
            <a:pPr indent="0" marL="0">
              <a:buNone/>
            </a:pPr>
            <a:r>
              <a:rPr lang="en-US" sz="1800" dirty="0">
                <a:solidFill>
                  <a:schemeClr val="tx1"/>
                </a:solidFill>
              </a:rPr>
              <a:t>Government addresses people's needs.</a:t>
            </a:r>
            <a:endParaRPr lang="en-US" sz="1600" dirty="0"/>
          </a:p>
        </p:txBody>
      </p:sp>
      <p:sp>
        <p:nvSpPr>
          <p:cNvPr id="33" name="card 7"/>
          <p:cNvSpPr/>
          <p:nvPr/>
        </p:nvSpPr>
        <p:spPr>
          <a:xfrm>
            <a:off x="6217920" y="3634740"/>
            <a:ext cx="2560320" cy="1988820"/>
          </a:xfrm>
          <a:prstGeom prst="roundRect">
            <a:avLst>
              <a:gd name="adj" fmla="val 5517"/>
            </a:avLst>
          </a:prstGeom>
          <a:solidFill>
            <a:schemeClr val="bg2"/>
          </a:solidFill>
          <a:ln w="12700">
            <a:solidFill>
              <a:schemeClr val="bg2"/>
            </a:solidFill>
            <a:prstDash val="solid"/>
          </a:ln>
        </p:spPr>
      </p:sp>
      <p:sp>
        <p:nvSpPr>
          <p:cNvPr id="34" name="card 7 disc"/>
          <p:cNvSpPr/>
          <p:nvPr/>
        </p:nvSpPr>
        <p:spPr>
          <a:xfrm>
            <a:off x="6400800" y="3817620"/>
            <a:ext cx="457200" cy="457200"/>
          </a:xfrm>
          <a:prstGeom prst="ellipse">
            <a:avLst/>
          </a:prstGeom>
          <a:solidFill>
            <a:schemeClr val="accent1"/>
          </a:solidFill>
          <a:ln w="12700">
            <a:solidFill>
              <a:schemeClr val="accent1"/>
            </a:solidFill>
            <a:prstDash val="solid"/>
          </a:ln>
        </p:spPr>
      </p:sp>
      <p:pic>
        <p:nvPicPr>
          <p:cNvPr id="35" name="card 7 glyph" descr="preencoded.png">    </p:cNvPr>
          <p:cNvPicPr>
            <a:picLocks noChangeAspect="1"/>
          </p:cNvPicPr>
          <p:nvPr/>
        </p:nvPicPr>
        <p:blipFill>
          <a:blip r:embed="rId7"/>
          <a:stretch>
            <a:fillRect/>
          </a:stretch>
        </p:blipFill>
        <p:spPr>
          <a:xfrm>
            <a:off x="6501384" y="3918204"/>
            <a:ext cx="256032" cy="256032"/>
          </a:xfrm>
          <a:prstGeom prst="rect">
            <a:avLst/>
          </a:prstGeom>
        </p:spPr>
      </p:pic>
      <p:sp>
        <p:nvSpPr>
          <p:cNvPr id="36" name="Text 27"/>
          <p:cNvSpPr txBox="1"/>
          <p:nvPr/>
        </p:nvSpPr>
        <p:spPr>
          <a:xfrm>
            <a:off x="6995160" y="381762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Inclusiveness</a:t>
            </a:r>
            <a:endParaRPr lang="en-US" sz="1500" dirty="0"/>
          </a:p>
        </p:txBody>
      </p:sp>
      <p:sp>
        <p:nvSpPr>
          <p:cNvPr id="37" name="Text 28"/>
          <p:cNvSpPr txBox="1"/>
          <p:nvPr/>
        </p:nvSpPr>
        <p:spPr>
          <a:xfrm>
            <a:off x="6400800" y="4384548"/>
            <a:ext cx="2194560" cy="1101852"/>
          </a:xfrm>
          <a:prstGeom prst="rect">
            <a:avLst/>
          </a:prstGeom>
          <a:noFill/>
          <a:ln/>
        </p:spPr>
        <p:txBody>
          <a:bodyPr wrap="square" lIns="0" tIns="0" rIns="0" bIns="0" rtlCol="0" anchor="t"/>
          <a:lstStyle/>
          <a:p>
            <a:pPr indent="0" marL="0">
              <a:buNone/>
            </a:pPr>
            <a:r>
              <a:rPr lang="en-US" sz="1800" dirty="0">
                <a:solidFill>
                  <a:schemeClr val="tx1"/>
                </a:solidFill>
              </a:rPr>
              <a:t>Every citizen has equal opportunities.</a:t>
            </a:r>
            <a:endParaRPr lang="en-US" sz="1600" dirty="0"/>
          </a:p>
        </p:txBody>
      </p:sp>
      <p:sp>
        <p:nvSpPr>
          <p:cNvPr id="38"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39" name="Text 30"/>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Good governance is a </a:t>
            </a:r>
            <a:r>
              <a:rPr lang="en-US" sz="1500" b="1" dirty="0">
                <a:solidFill>
                  <a:schemeClr val="bg1"/>
                </a:solidFill>
              </a:rPr>
              <a:t>partnership</a:t>
            </a:r>
            <a:r>
              <a:rPr lang="en-US" sz="1500" dirty="0">
                <a:solidFill>
                  <a:schemeClr val="bg1"/>
                </a:solidFill>
              </a:rPr>
              <a:t> between the government and citizens.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Everyone Has a Role</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Government</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Makes laws and policies and provides public services.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Citizens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Elect representatives, follow the law and take part in public life.</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Media</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Helps people understand public issues and raises important matters.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Civil society</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Works with communities and raises awareness of social concerns.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Private sector</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Contributes through economic activity and innovation.</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Students like you</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Follow rules, save resources, volunteer and give honest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Challenges to Good Governance</a:t>
            </a:r>
            <a:endParaRPr lang="en-US" sz="3600" dirty="0"/>
          </a:p>
        </p:txBody>
      </p:sp>
      <p:sp>
        <p:nvSpPr>
          <p:cNvPr id="3" name="card 1"/>
          <p:cNvSpPr/>
          <p:nvPr/>
        </p:nvSpPr>
        <p:spPr>
          <a:xfrm>
            <a:off x="548640" y="1371600"/>
            <a:ext cx="5394960" cy="1988820"/>
          </a:xfrm>
          <a:prstGeom prst="roundRect">
            <a:avLst>
              <a:gd name="adj" fmla="val 5517"/>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Weak coordination</a:t>
            </a:r>
            <a:endParaRPr lang="en-US" sz="1800" dirty="0"/>
          </a:p>
        </p:txBody>
      </p:sp>
      <p:sp>
        <p:nvSpPr>
          <p:cNvPr id="7" name="Text 4"/>
          <p:cNvSpPr txBox="1"/>
          <p:nvPr/>
        </p:nvSpPr>
        <p:spPr>
          <a:xfrm>
            <a:off x="77724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Departments that don't work together slow down programmes.</a:t>
            </a:r>
            <a:endParaRPr lang="en-US" sz="1600" dirty="0"/>
          </a:p>
        </p:txBody>
      </p:sp>
      <p:sp>
        <p:nvSpPr>
          <p:cNvPr id="8" name="card 2"/>
          <p:cNvSpPr/>
          <p:nvPr/>
        </p:nvSpPr>
        <p:spPr>
          <a:xfrm>
            <a:off x="6217920" y="1371600"/>
            <a:ext cx="5394960" cy="1988820"/>
          </a:xfrm>
          <a:prstGeom prst="roundRect">
            <a:avLst>
              <a:gd name="adj" fmla="val 5517"/>
            </a:avLst>
          </a:prstGeom>
          <a:solidFill>
            <a:schemeClr val="bg2"/>
          </a:solidFill>
          <a:ln w="12700">
            <a:solidFill>
              <a:schemeClr val="bg2"/>
            </a:solidFill>
            <a:prstDash val="solid"/>
          </a:ln>
        </p:spPr>
      </p:sp>
      <p:sp>
        <p:nvSpPr>
          <p:cNvPr id="9" name="card 2 disc"/>
          <p:cNvSpPr/>
          <p:nvPr/>
        </p:nvSpPr>
        <p:spPr>
          <a:xfrm>
            <a:off x="644652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6571244" y="1724924"/>
            <a:ext cx="317480" cy="317480"/>
          </a:xfrm>
          <a:prstGeom prst="rect">
            <a:avLst/>
          </a:prstGeom>
        </p:spPr>
      </p:pic>
      <p:sp>
        <p:nvSpPr>
          <p:cNvPr id="11" name="Text 7"/>
          <p:cNvSpPr txBox="1"/>
          <p:nvPr/>
        </p:nvSpPr>
        <p:spPr>
          <a:xfrm>
            <a:off x="715060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Unequal access</a:t>
            </a:r>
            <a:endParaRPr lang="en-US" sz="1800" dirty="0"/>
          </a:p>
        </p:txBody>
      </p:sp>
      <p:sp>
        <p:nvSpPr>
          <p:cNvPr id="12" name="Text 8"/>
          <p:cNvSpPr txBox="1"/>
          <p:nvPr/>
        </p:nvSpPr>
        <p:spPr>
          <a:xfrm>
            <a:off x="644652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Social, economic or geographical barriers leave some people behind.</a:t>
            </a:r>
            <a:endParaRPr lang="en-US" sz="1600" dirty="0"/>
          </a:p>
        </p:txBody>
      </p:sp>
      <p:sp>
        <p:nvSpPr>
          <p:cNvPr id="13" name="card 3"/>
          <p:cNvSpPr/>
          <p:nvPr/>
        </p:nvSpPr>
        <p:spPr>
          <a:xfrm>
            <a:off x="548640" y="3634740"/>
            <a:ext cx="5394960" cy="1988820"/>
          </a:xfrm>
          <a:prstGeom prst="roundRect">
            <a:avLst>
              <a:gd name="adj" fmla="val 5517"/>
            </a:avLst>
          </a:prstGeom>
          <a:solidFill>
            <a:schemeClr val="bg2"/>
          </a:solidFill>
          <a:ln w="12700">
            <a:solidFill>
              <a:schemeClr val="bg2"/>
            </a:solidFill>
            <a:prstDash val="solid"/>
          </a:ln>
        </p:spPr>
      </p:sp>
      <p:sp>
        <p:nvSpPr>
          <p:cNvPr id="14" name="card 3 disc"/>
          <p:cNvSpPr/>
          <p:nvPr/>
        </p:nvSpPr>
        <p:spPr>
          <a:xfrm>
            <a:off x="777240" y="386334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901964" y="3988064"/>
            <a:ext cx="317480" cy="317480"/>
          </a:xfrm>
          <a:prstGeom prst="rect">
            <a:avLst/>
          </a:prstGeom>
        </p:spPr>
      </p:pic>
      <p:sp>
        <p:nvSpPr>
          <p:cNvPr id="16" name="Text 11"/>
          <p:cNvSpPr txBox="1"/>
          <p:nvPr/>
        </p:nvSpPr>
        <p:spPr>
          <a:xfrm>
            <a:off x="148132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Misuse of office</a:t>
            </a:r>
            <a:endParaRPr lang="en-US" sz="1800" dirty="0"/>
          </a:p>
        </p:txBody>
      </p:sp>
      <p:sp>
        <p:nvSpPr>
          <p:cNvPr id="17" name="Text 12"/>
          <p:cNvSpPr txBox="1"/>
          <p:nvPr/>
        </p:nvSpPr>
        <p:spPr>
          <a:xfrm>
            <a:off x="77724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Malpractices stop benefits from reaching people.</a:t>
            </a:r>
            <a:endParaRPr lang="en-US" sz="1600" dirty="0"/>
          </a:p>
        </p:txBody>
      </p:sp>
      <p:sp>
        <p:nvSpPr>
          <p:cNvPr id="18" name="card 4"/>
          <p:cNvSpPr/>
          <p:nvPr/>
        </p:nvSpPr>
        <p:spPr>
          <a:xfrm>
            <a:off x="6217920" y="3634740"/>
            <a:ext cx="5394960" cy="1988820"/>
          </a:xfrm>
          <a:prstGeom prst="roundRect">
            <a:avLst>
              <a:gd name="adj" fmla="val 5517"/>
            </a:avLst>
          </a:prstGeom>
          <a:solidFill>
            <a:schemeClr val="bg2"/>
          </a:solidFill>
          <a:ln w="12700">
            <a:solidFill>
              <a:schemeClr val="bg2"/>
            </a:solidFill>
            <a:prstDash val="solid"/>
          </a:ln>
        </p:spPr>
      </p:sp>
      <p:sp>
        <p:nvSpPr>
          <p:cNvPr id="19" name="card 4 disc"/>
          <p:cNvSpPr/>
          <p:nvPr/>
        </p:nvSpPr>
        <p:spPr>
          <a:xfrm>
            <a:off x="6446520" y="386334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6571244" y="3988064"/>
            <a:ext cx="317480" cy="317480"/>
          </a:xfrm>
          <a:prstGeom prst="rect">
            <a:avLst/>
          </a:prstGeom>
        </p:spPr>
      </p:pic>
      <p:sp>
        <p:nvSpPr>
          <p:cNvPr id="21" name="Text 15"/>
          <p:cNvSpPr txBox="1"/>
          <p:nvPr/>
        </p:nvSpPr>
        <p:spPr>
          <a:xfrm>
            <a:off x="715060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Fake news</a:t>
            </a:r>
            <a:endParaRPr lang="en-US" sz="1800" dirty="0"/>
          </a:p>
        </p:txBody>
      </p:sp>
      <p:sp>
        <p:nvSpPr>
          <p:cNvPr id="22" name="Text 16"/>
          <p:cNvSpPr txBox="1"/>
          <p:nvPr/>
        </p:nvSpPr>
        <p:spPr>
          <a:xfrm>
            <a:off x="644652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Misinformation confuses people and harms trust.</a:t>
            </a:r>
            <a:endParaRPr lang="en-US" sz="1600" dirty="0"/>
          </a:p>
        </p:txBody>
      </p:sp>
      <p:sp>
        <p:nvSpPr>
          <p:cNvPr id="2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24" name="Text 18"/>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Solutions: effective institutions, responsible officials, </a:t>
            </a:r>
            <a:r>
              <a:rPr lang="en-US" sz="1500" b="1" dirty="0">
                <a:solidFill>
                  <a:schemeClr val="bg1"/>
                </a:solidFill>
              </a:rPr>
              <a:t>active citizens</a:t>
            </a:r>
            <a:r>
              <a:rPr lang="en-US" sz="1500" dirty="0">
                <a:solidFill>
                  <a:schemeClr val="bg1"/>
                </a:solidFill>
              </a:rPr>
              <a:t>, and </a:t>
            </a:r>
            <a:r>
              <a:rPr lang="en-US" sz="1500" b="1" dirty="0">
                <a:solidFill>
                  <a:schemeClr val="bg1"/>
                </a:solidFill>
              </a:rPr>
              <a:t>e-governance</a:t>
            </a:r>
            <a:r>
              <a:rPr lang="en-US" sz="15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Clean City Detectives</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PROJECT</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What makes a city clean?</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1 week + 5 min presentation</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Groups of 5</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Internet or newspapers, chart paper or slides</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500" dirty="0">
                <a:solidFill>
                  <a:schemeClr val="tx1"/>
                </a:solidFill>
              </a:rPr>
              <a:t>Pick </a:t>
            </a:r>
            <a:r>
              <a:rPr lang="en-US" sz="1500" b="1" dirty="0">
                <a:solidFill>
                  <a:schemeClr val="tx1"/>
                </a:solidFill>
              </a:rPr>
              <a:t>two award-winning clean cities</a:t>
            </a:r>
            <a:r>
              <a:rPr lang="en-US" sz="1500" dirty="0">
                <a:solidFill>
                  <a:schemeClr val="tx1"/>
                </a:solidFill>
              </a:rPr>
              <a:t> (one from another region).</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500" dirty="0">
                <a:solidFill>
                  <a:schemeClr val="tx1"/>
                </a:solidFill>
              </a:rPr>
              <a:t>Find the role of </a:t>
            </a:r>
            <a:r>
              <a:rPr lang="en-US" sz="1500" b="1" dirty="0">
                <a:solidFill>
                  <a:schemeClr val="tx1"/>
                </a:solidFill>
              </a:rPr>
              <a:t>local, state and national</a:t>
            </a:r>
            <a:r>
              <a:rPr lang="en-US" sz="1500" dirty="0">
                <a:solidFill>
                  <a:schemeClr val="tx1"/>
                </a:solidFill>
              </a:rPr>
              <a:t> agencies.</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500" dirty="0">
                <a:solidFill>
                  <a:schemeClr val="tx1"/>
                </a:solidFill>
              </a:rPr>
              <a:t>Find the role of </a:t>
            </a:r>
            <a:r>
              <a:rPr lang="en-US" sz="1500" b="1" dirty="0">
                <a:solidFill>
                  <a:schemeClr val="tx1"/>
                </a:solidFill>
              </a:rPr>
              <a:t>residents, market associations and NGOs</a:t>
            </a:r>
            <a:r>
              <a:rPr lang="en-US" sz="15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500" dirty="0">
                <a:solidFill>
                  <a:schemeClr val="tx1"/>
                </a:solidFill>
              </a:rPr>
              <a:t>List the steps they take to </a:t>
            </a:r>
            <a:r>
              <a:rPr lang="en-US" sz="1500" b="1" dirty="0">
                <a:solidFill>
                  <a:schemeClr val="tx1"/>
                </a:solidFill>
              </a:rPr>
              <a:t>stay</a:t>
            </a:r>
            <a:r>
              <a:rPr lang="en-US" sz="1500" dirty="0">
                <a:solidFill>
                  <a:schemeClr val="tx1"/>
                </a:solidFill>
              </a:rPr>
              <a:t> clean.</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500" dirty="0">
                <a:solidFill>
                  <a:schemeClr val="tx1"/>
                </a:solidFill>
              </a:rPr>
              <a:t>Present their </a:t>
            </a:r>
            <a:r>
              <a:rPr lang="en-US" sz="1500" b="1" dirty="0">
                <a:solidFill>
                  <a:schemeClr val="tx1"/>
                </a:solidFill>
              </a:rPr>
              <a:t>'good governance model'</a:t>
            </a:r>
            <a:r>
              <a:rPr lang="en-US" sz="1500" dirty="0">
                <a:solidFill>
                  <a:schemeClr val="tx1"/>
                </a:solidFill>
              </a:rPr>
              <a:t> to the class.</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Clean cities show coordination, participation and accountability in action.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E-Governance: Technology for Better Governance</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dirty="0">
                <a:solidFill>
                  <a:schemeClr val="tx1"/>
                </a:solidFill>
              </a:rPr>
              <a:t>Using </a:t>
            </a:r>
            <a:r>
              <a:rPr lang="en-US" sz="1700" b="1" dirty="0">
                <a:solidFill>
                  <a:schemeClr val="tx1"/>
                </a:solidFill>
              </a:rPr>
              <a:t>digital technology</a:t>
            </a:r>
            <a:r>
              <a:rPr lang="en-US" sz="1700" dirty="0">
                <a:solidFill>
                  <a:schemeClr val="tx1"/>
                </a:solidFill>
              </a:rPr>
              <a:t> to deliver services, share information and receive feedback, with less paperwork and fewer office visits.</a:t>
            </a:r>
            <a:endParaRPr lang="en-US" sz="16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2194560"/>
                <a:gridCol w="886968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Initiative</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3949A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3949AB"/>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UMANG</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One mobile app to use many central and state government services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Aadhaar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 12-digit unique ID based on biometrics, used for identity and direct benefit transfers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GeM</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Government e-Marketplace: offices buy goods and services online, transparently</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DigiLocker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Store and share official documents (marksheets, licences) digitally</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CPGRAMS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File and track complaints (grievances) with government departments online</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APAAR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'One Nation, One Student ID': a lifelong digital record of a student's academic work</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Life Before and After E-Governance</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INTERVIEW</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Then and now</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1 week + 20 min sharing</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5 groups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Question sheet, notebook</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Each group interviews one: </a:t>
            </a:r>
            <a:r>
              <a:rPr lang="en-US" sz="1400" b="1" dirty="0">
                <a:solidFill>
                  <a:schemeClr val="tx1"/>
                </a:solidFill>
              </a:rPr>
              <a:t>seniors, teachers, guards, office staff, parents</a:t>
            </a:r>
            <a:r>
              <a:rPr lang="en-US" sz="1400" dirty="0">
                <a:solidFill>
                  <a:schemeClr val="tx1"/>
                </a:solidFill>
              </a:rPr>
              <a: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Ask about: birth certificate, admit card, marksheets, salary, tickets, vehicle registration.</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What problems did they face </a:t>
            </a:r>
            <a:r>
              <a:rPr lang="en-US" sz="1400" b="1" dirty="0">
                <a:solidFill>
                  <a:schemeClr val="tx1"/>
                </a:solidFill>
              </a:rPr>
              <a:t>before</a:t>
            </a:r>
            <a:r>
              <a:rPr lang="en-US" sz="1400" dirty="0">
                <a:solidFill>
                  <a:schemeClr val="tx1"/>
                </a:solidFill>
              </a:rPr>
              <a:t> e-governance?</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Is it easier </a:t>
            </a:r>
            <a:r>
              <a:rPr lang="en-US" sz="1400" b="1" dirty="0">
                <a:solidFill>
                  <a:schemeClr val="tx1"/>
                </a:solidFill>
              </a:rPr>
              <a:t>now</a:t>
            </a:r>
            <a:r>
              <a:rPr lang="en-US" sz="1400" dirty="0">
                <a:solidFill>
                  <a:schemeClr val="tx1"/>
                </a:solidFill>
              </a:rPr>
              <a:t>? Do they have a smartphone and internet?</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Make a 'Then vs Now' chart for the class wall.</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Technology can make services faster and more transparent, but only if everyone can use it.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2</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Public Policy: Turning Ideas into Action</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From roads and traffic lights to clean water and vaccines.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 Policy Close to Home: Plastic-Free Campus</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b="1" dirty="0">
                <a:solidFill>
                  <a:schemeClr val="tx1"/>
                </a:solidFill>
              </a:rPr>
              <a:t>Public policy</a:t>
            </a:r>
            <a:r>
              <a:rPr lang="en-US" sz="1700" dirty="0">
                <a:solidFill>
                  <a:schemeClr val="tx1"/>
                </a:solidFill>
              </a:rPr>
              <a:t> is a course of action adopted by the government to solve public problems and promote welfare: </a:t>
            </a:r>
            <a:r>
              <a:rPr lang="en-US" sz="1700" b="1" dirty="0">
                <a:solidFill>
                  <a:schemeClr val="tx1"/>
                </a:solidFill>
              </a:rPr>
              <a:t>what, why, who, how</a:t>
            </a:r>
            <a:r>
              <a:rPr lang="en-US" sz="1700" dirty="0">
                <a:solidFill>
                  <a:schemeClr val="tx1"/>
                </a:solidFill>
              </a:rPr>
              <a:t>, and how success is measured.</a:t>
            </a:r>
            <a:endParaRPr lang="en-US" sz="1600" dirty="0"/>
          </a:p>
        </p:txBody>
      </p:sp>
      <p:sp>
        <p:nvSpPr>
          <p:cNvPr id="4" name="step 1 card"/>
          <p:cNvSpPr/>
          <p:nvPr/>
        </p:nvSpPr>
        <p:spPr>
          <a:xfrm>
            <a:off x="548640" y="2057400"/>
            <a:ext cx="2457450" cy="4160520"/>
          </a:xfrm>
          <a:prstGeom prst="roundRect">
            <a:avLst>
              <a:gd name="adj" fmla="val 4465"/>
            </a:avLst>
          </a:prstGeom>
          <a:solidFill>
            <a:schemeClr val="bg2"/>
          </a:solidFill>
          <a:ln w="12700">
            <a:solidFill>
              <a:schemeClr val="bg2"/>
            </a:solidFill>
            <a:prstDash val="solid"/>
          </a:ln>
        </p:spPr>
      </p:sp>
      <p:sp>
        <p:nvSpPr>
          <p:cNvPr id="5" name="step 1 disc"/>
          <p:cNvSpPr/>
          <p:nvPr/>
        </p:nvSpPr>
        <p:spPr>
          <a:xfrm>
            <a:off x="1343025" y="2331720"/>
            <a:ext cx="868680" cy="868680"/>
          </a:xfrm>
          <a:prstGeom prst="ellipse">
            <a:avLst/>
          </a:prstGeom>
          <a:solidFill>
            <a:schemeClr val="accent1"/>
          </a:solidFill>
          <a:ln w="12700">
            <a:solidFill>
              <a:schemeClr val="accent1"/>
            </a:solidFill>
            <a:prstDash val="solid"/>
          </a:ln>
        </p:spPr>
      </p:sp>
      <p:pic>
        <p:nvPicPr>
          <p:cNvPr id="6" name="step 1 glyph" descr="preencoded.png">    </p:cNvPr>
          <p:cNvPicPr>
            <a:picLocks noChangeAspect="1"/>
          </p:cNvPicPr>
          <p:nvPr/>
        </p:nvPicPr>
        <p:blipFill>
          <a:blip r:embed="rId1"/>
          <a:stretch>
            <a:fillRect/>
          </a:stretch>
        </p:blipFill>
        <p:spPr>
          <a:xfrm>
            <a:off x="1534135" y="2522830"/>
            <a:ext cx="486461" cy="486461"/>
          </a:xfrm>
          <a:prstGeom prst="rect">
            <a:avLst/>
          </a:prstGeom>
        </p:spPr>
      </p:pic>
      <p:sp>
        <p:nvSpPr>
          <p:cNvPr id="7" name="Text 4"/>
          <p:cNvSpPr txBox="1"/>
          <p:nvPr/>
        </p:nvSpPr>
        <p:spPr>
          <a:xfrm>
            <a:off x="68580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1. The problem</a:t>
            </a:r>
            <a:endParaRPr lang="en-US" sz="1700" dirty="0"/>
          </a:p>
        </p:txBody>
      </p:sp>
      <p:sp>
        <p:nvSpPr>
          <p:cNvPr id="8" name="Text 5"/>
          <p:cNvSpPr txBox="1"/>
          <p:nvPr/>
        </p:nvSpPr>
        <p:spPr>
          <a:xfrm>
            <a:off x="731520" y="4023360"/>
            <a:ext cx="2091690" cy="2057400"/>
          </a:xfrm>
          <a:prstGeom prst="rect">
            <a:avLst/>
          </a:prstGeom>
          <a:noFill/>
          <a:ln/>
        </p:spPr>
        <p:txBody>
          <a:bodyPr wrap="square" lIns="0" tIns="0" rIns="0" bIns="0" rtlCol="0" anchor="t"/>
          <a:lstStyle/>
          <a:p>
            <a:pPr algn="l" indent="0" marL="0">
              <a:buNone/>
            </a:pPr>
            <a:r>
              <a:rPr lang="en-US" sz="1700" dirty="0">
                <a:solidFill>
                  <a:schemeClr val="tx1"/>
                </a:solidFill>
              </a:rPr>
              <a:t>Students bring single-use plastic every day; the campus gets dirty.</a:t>
            </a:r>
            <a:endParaRPr lang="en-US" sz="1600" dirty="0"/>
          </a:p>
        </p:txBody>
      </p:sp>
      <p:sp>
        <p:nvSpPr>
          <p:cNvPr id="9" name="arrow 1"/>
          <p:cNvSpPr/>
          <p:nvPr/>
        </p:nvSpPr>
        <p:spPr>
          <a:xfrm>
            <a:off x="3060954" y="2619756"/>
            <a:ext cx="301752" cy="292608"/>
          </a:xfrm>
          <a:prstGeom prst="rightArrow">
            <a:avLst/>
          </a:prstGeom>
          <a:solidFill>
            <a:schemeClr val="accent3"/>
          </a:solidFill>
          <a:ln w="12700">
            <a:solidFill>
              <a:schemeClr val="accent3"/>
            </a:solidFill>
            <a:prstDash val="solid"/>
          </a:ln>
        </p:spPr>
      </p:sp>
      <p:sp>
        <p:nvSpPr>
          <p:cNvPr id="10" name="step 2 card"/>
          <p:cNvSpPr/>
          <p:nvPr/>
        </p:nvSpPr>
        <p:spPr>
          <a:xfrm>
            <a:off x="3417570" y="2057400"/>
            <a:ext cx="2457450" cy="4160520"/>
          </a:xfrm>
          <a:prstGeom prst="roundRect">
            <a:avLst>
              <a:gd name="adj" fmla="val 4465"/>
            </a:avLst>
          </a:prstGeom>
          <a:solidFill>
            <a:schemeClr val="bg2"/>
          </a:solidFill>
          <a:ln w="12700">
            <a:solidFill>
              <a:schemeClr val="bg2"/>
            </a:solidFill>
            <a:prstDash val="solid"/>
          </a:ln>
        </p:spPr>
      </p:sp>
      <p:sp>
        <p:nvSpPr>
          <p:cNvPr id="11" name="step 2 disc"/>
          <p:cNvSpPr/>
          <p:nvPr/>
        </p:nvSpPr>
        <p:spPr>
          <a:xfrm>
            <a:off x="4211955" y="2331720"/>
            <a:ext cx="868680" cy="868680"/>
          </a:xfrm>
          <a:prstGeom prst="ellipse">
            <a:avLst/>
          </a:prstGeom>
          <a:solidFill>
            <a:schemeClr val="accent2"/>
          </a:solidFill>
          <a:ln w="12700">
            <a:solidFill>
              <a:schemeClr val="accent2"/>
            </a:solidFill>
            <a:prstDash val="solid"/>
          </a:ln>
        </p:spPr>
      </p:sp>
      <p:pic>
        <p:nvPicPr>
          <p:cNvPr id="12" name="step 2 glyph" descr="preencoded.png">    </p:cNvPr>
          <p:cNvPicPr>
            <a:picLocks noChangeAspect="1"/>
          </p:cNvPicPr>
          <p:nvPr/>
        </p:nvPicPr>
        <p:blipFill>
          <a:blip r:embed="rId2"/>
          <a:stretch>
            <a:fillRect/>
          </a:stretch>
        </p:blipFill>
        <p:spPr>
          <a:xfrm>
            <a:off x="4403065" y="2522830"/>
            <a:ext cx="486461" cy="486461"/>
          </a:xfrm>
          <a:prstGeom prst="rect">
            <a:avLst/>
          </a:prstGeom>
        </p:spPr>
      </p:pic>
      <p:sp>
        <p:nvSpPr>
          <p:cNvPr id="13" name="Text 9"/>
          <p:cNvSpPr txBox="1"/>
          <p:nvPr/>
        </p:nvSpPr>
        <p:spPr>
          <a:xfrm>
            <a:off x="355473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2. Discuss</a:t>
            </a:r>
            <a:endParaRPr lang="en-US" sz="1700" dirty="0"/>
          </a:p>
        </p:txBody>
      </p:sp>
      <p:sp>
        <p:nvSpPr>
          <p:cNvPr id="14" name="Text 10"/>
          <p:cNvSpPr txBox="1"/>
          <p:nvPr/>
        </p:nvSpPr>
        <p:spPr>
          <a:xfrm>
            <a:off x="3600450" y="4023360"/>
            <a:ext cx="2091690" cy="2057400"/>
          </a:xfrm>
          <a:prstGeom prst="rect">
            <a:avLst/>
          </a:prstGeom>
          <a:noFill/>
          <a:ln/>
        </p:spPr>
        <p:txBody>
          <a:bodyPr wrap="square" lIns="0" tIns="0" rIns="0" bIns="0" rtlCol="0" anchor="t"/>
          <a:lstStyle/>
          <a:p>
            <a:pPr algn="l" indent="0" marL="0">
              <a:buNone/>
            </a:pPr>
            <a:r>
              <a:rPr lang="en-US" sz="1700" dirty="0">
                <a:solidFill>
                  <a:schemeClr val="tx1"/>
                </a:solidFill>
              </a:rPr>
              <a:t>The principal consults teachers, students and parents.</a:t>
            </a:r>
            <a:endParaRPr lang="en-US" sz="1600" dirty="0"/>
          </a:p>
        </p:txBody>
      </p:sp>
      <p:sp>
        <p:nvSpPr>
          <p:cNvPr id="15" name="arrow 2"/>
          <p:cNvSpPr/>
          <p:nvPr/>
        </p:nvSpPr>
        <p:spPr>
          <a:xfrm>
            <a:off x="5929884" y="2619756"/>
            <a:ext cx="301752" cy="292608"/>
          </a:xfrm>
          <a:prstGeom prst="rightArrow">
            <a:avLst/>
          </a:prstGeom>
          <a:solidFill>
            <a:schemeClr val="accent3"/>
          </a:solidFill>
          <a:ln w="12700">
            <a:solidFill>
              <a:schemeClr val="accent3"/>
            </a:solidFill>
            <a:prstDash val="solid"/>
          </a:ln>
        </p:spPr>
      </p:sp>
      <p:sp>
        <p:nvSpPr>
          <p:cNvPr id="16" name="step 3 card"/>
          <p:cNvSpPr/>
          <p:nvPr/>
        </p:nvSpPr>
        <p:spPr>
          <a:xfrm>
            <a:off x="6286500" y="2057400"/>
            <a:ext cx="2457450" cy="4160520"/>
          </a:xfrm>
          <a:prstGeom prst="roundRect">
            <a:avLst>
              <a:gd name="adj" fmla="val 4465"/>
            </a:avLst>
          </a:prstGeom>
          <a:solidFill>
            <a:schemeClr val="bg2"/>
          </a:solidFill>
          <a:ln w="12700">
            <a:solidFill>
              <a:schemeClr val="bg2"/>
            </a:solidFill>
            <a:prstDash val="solid"/>
          </a:ln>
        </p:spPr>
      </p:sp>
      <p:sp>
        <p:nvSpPr>
          <p:cNvPr id="17" name="step 3 disc"/>
          <p:cNvSpPr/>
          <p:nvPr/>
        </p:nvSpPr>
        <p:spPr>
          <a:xfrm>
            <a:off x="7080885" y="2331720"/>
            <a:ext cx="868680" cy="868680"/>
          </a:xfrm>
          <a:prstGeom prst="ellipse">
            <a:avLst/>
          </a:prstGeom>
          <a:solidFill>
            <a:schemeClr val="accent1"/>
          </a:solidFill>
          <a:ln w="12700">
            <a:solidFill>
              <a:schemeClr val="accent1"/>
            </a:solidFill>
            <a:prstDash val="solid"/>
          </a:ln>
        </p:spPr>
      </p:sp>
      <p:pic>
        <p:nvPicPr>
          <p:cNvPr id="18" name="step 3 glyph" descr="preencoded.png">    </p:cNvPr>
          <p:cNvPicPr>
            <a:picLocks noChangeAspect="1"/>
          </p:cNvPicPr>
          <p:nvPr/>
        </p:nvPicPr>
        <p:blipFill>
          <a:blip r:embed="rId3"/>
          <a:stretch>
            <a:fillRect/>
          </a:stretch>
        </p:blipFill>
        <p:spPr>
          <a:xfrm>
            <a:off x="7271995" y="2522830"/>
            <a:ext cx="486461" cy="486461"/>
          </a:xfrm>
          <a:prstGeom prst="rect">
            <a:avLst/>
          </a:prstGeom>
        </p:spPr>
      </p:pic>
      <p:sp>
        <p:nvSpPr>
          <p:cNvPr id="19" name="Text 14"/>
          <p:cNvSpPr txBox="1"/>
          <p:nvPr/>
        </p:nvSpPr>
        <p:spPr>
          <a:xfrm>
            <a:off x="642366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3. Decide</a:t>
            </a:r>
            <a:endParaRPr lang="en-US" sz="1700" dirty="0"/>
          </a:p>
        </p:txBody>
      </p:sp>
      <p:sp>
        <p:nvSpPr>
          <p:cNvPr id="20" name="Text 15"/>
          <p:cNvSpPr txBox="1"/>
          <p:nvPr/>
        </p:nvSpPr>
        <p:spPr>
          <a:xfrm>
            <a:off x="6469380" y="4023360"/>
            <a:ext cx="2091690" cy="2057400"/>
          </a:xfrm>
          <a:prstGeom prst="rect">
            <a:avLst/>
          </a:prstGeom>
          <a:noFill/>
          <a:ln/>
        </p:spPr>
        <p:txBody>
          <a:bodyPr wrap="square" lIns="0" tIns="0" rIns="0" bIns="0" rtlCol="0" anchor="t"/>
          <a:lstStyle/>
          <a:p>
            <a:pPr algn="l" indent="0" marL="0">
              <a:buNone/>
            </a:pPr>
            <a:r>
              <a:rPr lang="en-US" sz="1700" dirty="0">
                <a:solidFill>
                  <a:schemeClr val="tx1"/>
                </a:solidFill>
              </a:rPr>
              <a:t>Reusable bottles, no plastic bags, segregation bins, monthly awareness drives.</a:t>
            </a:r>
            <a:endParaRPr lang="en-US" sz="1600" dirty="0"/>
          </a:p>
        </p:txBody>
      </p:sp>
      <p:sp>
        <p:nvSpPr>
          <p:cNvPr id="21" name="arrow 3"/>
          <p:cNvSpPr/>
          <p:nvPr/>
        </p:nvSpPr>
        <p:spPr>
          <a:xfrm>
            <a:off x="8798814" y="2619756"/>
            <a:ext cx="301752" cy="292608"/>
          </a:xfrm>
          <a:prstGeom prst="rightArrow">
            <a:avLst/>
          </a:prstGeom>
          <a:solidFill>
            <a:schemeClr val="accent3"/>
          </a:solidFill>
          <a:ln w="12700">
            <a:solidFill>
              <a:schemeClr val="accent3"/>
            </a:solidFill>
            <a:prstDash val="solid"/>
          </a:ln>
        </p:spPr>
      </p:sp>
      <p:sp>
        <p:nvSpPr>
          <p:cNvPr id="22" name="step 4 card"/>
          <p:cNvSpPr/>
          <p:nvPr/>
        </p:nvSpPr>
        <p:spPr>
          <a:xfrm>
            <a:off x="9155430" y="2057400"/>
            <a:ext cx="2457450" cy="4160520"/>
          </a:xfrm>
          <a:prstGeom prst="roundRect">
            <a:avLst>
              <a:gd name="adj" fmla="val 4465"/>
            </a:avLst>
          </a:prstGeom>
          <a:solidFill>
            <a:schemeClr val="bg2"/>
          </a:solidFill>
          <a:ln w="12700">
            <a:solidFill>
              <a:schemeClr val="bg2"/>
            </a:solidFill>
            <a:prstDash val="solid"/>
          </a:ln>
        </p:spPr>
      </p:sp>
      <p:sp>
        <p:nvSpPr>
          <p:cNvPr id="23" name="step 4 disc"/>
          <p:cNvSpPr/>
          <p:nvPr/>
        </p:nvSpPr>
        <p:spPr>
          <a:xfrm>
            <a:off x="9949815" y="2331720"/>
            <a:ext cx="868680" cy="868680"/>
          </a:xfrm>
          <a:prstGeom prst="ellipse">
            <a:avLst/>
          </a:prstGeom>
          <a:solidFill>
            <a:schemeClr val="accent2"/>
          </a:solidFill>
          <a:ln w="12700">
            <a:solidFill>
              <a:schemeClr val="accent2"/>
            </a:solidFill>
            <a:prstDash val="solid"/>
          </a:ln>
        </p:spPr>
      </p:sp>
      <p:pic>
        <p:nvPicPr>
          <p:cNvPr id="24" name="step 4 glyph" descr="preencoded.png">    </p:cNvPr>
          <p:cNvPicPr>
            <a:picLocks noChangeAspect="1"/>
          </p:cNvPicPr>
          <p:nvPr/>
        </p:nvPicPr>
        <p:blipFill>
          <a:blip r:embed="rId4"/>
          <a:stretch>
            <a:fillRect/>
          </a:stretch>
        </p:blipFill>
        <p:spPr>
          <a:xfrm>
            <a:off x="10140925" y="2522830"/>
            <a:ext cx="486461" cy="486461"/>
          </a:xfrm>
          <a:prstGeom prst="rect">
            <a:avLst/>
          </a:prstGeom>
        </p:spPr>
      </p:pic>
      <p:sp>
        <p:nvSpPr>
          <p:cNvPr id="25" name="Text 19"/>
          <p:cNvSpPr txBox="1"/>
          <p:nvPr/>
        </p:nvSpPr>
        <p:spPr>
          <a:xfrm>
            <a:off x="929259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4. Monitor and improve</a:t>
            </a:r>
            <a:endParaRPr lang="en-US" sz="1700" dirty="0"/>
          </a:p>
        </p:txBody>
      </p:sp>
      <p:sp>
        <p:nvSpPr>
          <p:cNvPr id="26" name="Text 20"/>
          <p:cNvSpPr txBox="1"/>
          <p:nvPr/>
        </p:nvSpPr>
        <p:spPr>
          <a:xfrm>
            <a:off x="9338310" y="4023360"/>
            <a:ext cx="2091690" cy="2057400"/>
          </a:xfrm>
          <a:prstGeom prst="rect">
            <a:avLst/>
          </a:prstGeom>
          <a:noFill/>
          <a:ln/>
        </p:spPr>
        <p:txBody>
          <a:bodyPr wrap="square" lIns="0" tIns="0" rIns="0" bIns="0" rtlCol="0" anchor="t"/>
          <a:lstStyle/>
          <a:p>
            <a:pPr algn="l" indent="0" marL="0">
              <a:buNone/>
            </a:pPr>
            <a:r>
              <a:rPr lang="en-US" sz="1700" dirty="0">
                <a:solidFill>
                  <a:schemeClr val="tx1"/>
                </a:solidFill>
              </a:rPr>
              <a:t>Teachers monitor; feedback is used to improve the policy.</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What Makes a Policy 'Public'?</a:t>
            </a:r>
            <a:endParaRPr lang="en-US" sz="3600" dirty="0"/>
          </a:p>
        </p:txBody>
      </p:sp>
      <p:sp>
        <p:nvSpPr>
          <p:cNvPr id="3" name="spoke 1"/>
          <p:cNvSpPr/>
          <p:nvPr/>
        </p:nvSpPr>
        <p:spPr>
          <a:xfrm>
            <a:off x="6099048" y="1984248"/>
            <a:ext cx="914" cy="1828800"/>
          </a:xfrm>
          <a:prstGeom prst="line">
            <a:avLst/>
          </a:prstGeom>
          <a:noFill/>
          <a:ln w="25400">
            <a:solidFill>
              <a:schemeClr val="accent3"/>
            </a:solidFill>
            <a:prstDash val="solid"/>
          </a:ln>
        </p:spPr>
      </p:sp>
      <p:sp>
        <p:nvSpPr>
          <p:cNvPr id="4" name="spoke 2"/>
          <p:cNvSpPr/>
          <p:nvPr/>
        </p:nvSpPr>
        <p:spPr>
          <a:xfrm flipV="1">
            <a:off x="6099048" y="3247918"/>
            <a:ext cx="3739478" cy="565130"/>
          </a:xfrm>
          <a:prstGeom prst="line">
            <a:avLst/>
          </a:prstGeom>
          <a:noFill/>
          <a:ln w="25400">
            <a:solidFill>
              <a:schemeClr val="accent3"/>
            </a:solidFill>
            <a:prstDash val="solid"/>
          </a:ln>
        </p:spPr>
      </p:sp>
      <p:sp>
        <p:nvSpPr>
          <p:cNvPr id="5" name="spoke 3"/>
          <p:cNvSpPr/>
          <p:nvPr/>
        </p:nvSpPr>
        <p:spPr>
          <a:xfrm>
            <a:off x="6099048" y="3813048"/>
            <a:ext cx="2311125" cy="1479530"/>
          </a:xfrm>
          <a:prstGeom prst="line">
            <a:avLst/>
          </a:prstGeom>
          <a:noFill/>
          <a:ln w="25400">
            <a:solidFill>
              <a:schemeClr val="accent3"/>
            </a:solidFill>
            <a:prstDash val="solid"/>
          </a:ln>
        </p:spPr>
      </p:sp>
      <p:sp>
        <p:nvSpPr>
          <p:cNvPr id="6" name="spoke 4"/>
          <p:cNvSpPr/>
          <p:nvPr/>
        </p:nvSpPr>
        <p:spPr>
          <a:xfrm flipV="1">
            <a:off x="3787923" y="3813048"/>
            <a:ext cx="2311125" cy="1479530"/>
          </a:xfrm>
          <a:prstGeom prst="line">
            <a:avLst/>
          </a:prstGeom>
          <a:noFill/>
          <a:ln w="25400">
            <a:solidFill>
              <a:schemeClr val="accent3"/>
            </a:solidFill>
            <a:prstDash val="solid"/>
          </a:ln>
        </p:spPr>
      </p:sp>
      <p:sp>
        <p:nvSpPr>
          <p:cNvPr id="7" name="spoke 5"/>
          <p:cNvSpPr/>
          <p:nvPr/>
        </p:nvSpPr>
        <p:spPr>
          <a:xfrm>
            <a:off x="2359570" y="3247918"/>
            <a:ext cx="3739478" cy="565130"/>
          </a:xfrm>
          <a:prstGeom prst="line">
            <a:avLst/>
          </a:prstGeom>
          <a:noFill/>
          <a:ln w="25400">
            <a:solidFill>
              <a:schemeClr val="accent3"/>
            </a:solidFill>
            <a:prstDash val="solid"/>
          </a:ln>
        </p:spPr>
      </p:sp>
      <p:sp>
        <p:nvSpPr>
          <p:cNvPr id="8"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9" name="Text 7"/>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Public Policy</a:t>
            </a:r>
            <a:endParaRPr lang="en-US" sz="1700" dirty="0"/>
          </a:p>
        </p:txBody>
      </p:sp>
      <p:sp>
        <p:nvSpPr>
          <p:cNvPr id="10" name="node 1"/>
          <p:cNvSpPr/>
          <p:nvPr/>
        </p:nvSpPr>
        <p:spPr>
          <a:xfrm>
            <a:off x="4453128" y="1367028"/>
            <a:ext cx="3291840" cy="1234440"/>
          </a:xfrm>
          <a:prstGeom prst="roundRect">
            <a:avLst>
              <a:gd name="adj" fmla="val 8889"/>
            </a:avLst>
          </a:prstGeom>
          <a:solidFill>
            <a:schemeClr val="bg2"/>
          </a:solidFill>
          <a:ln w="12700">
            <a:solidFill>
              <a:schemeClr val="bg2"/>
            </a:solidFill>
            <a:prstDash val="solid"/>
          </a:ln>
        </p:spPr>
      </p:sp>
      <p:sp>
        <p:nvSpPr>
          <p:cNvPr id="11" name="Text 9"/>
          <p:cNvSpPr txBox="1"/>
          <p:nvPr/>
        </p:nvSpPr>
        <p:spPr>
          <a:xfrm>
            <a:off x="4617720" y="14401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Exists for everyone</a:t>
            </a:r>
            <a:endParaRPr lang="en-US" sz="1600" dirty="0"/>
          </a:p>
          <a:p>
            <a:pPr indent="0" marL="0">
              <a:buNone/>
            </a:pPr>
            <a:r>
              <a:rPr lang="en-US" sz="1600" dirty="0">
                <a:solidFill>
                  <a:schemeClr val="tx1"/>
                </a:solidFill>
              </a:rPr>
              <a:t>Addresses issues that concern society as a whole</a:t>
            </a:r>
            <a:endParaRPr lang="en-US" sz="1600" dirty="0"/>
          </a:p>
        </p:txBody>
      </p:sp>
      <p:sp>
        <p:nvSpPr>
          <p:cNvPr id="12" name="node 2"/>
          <p:cNvSpPr/>
          <p:nvPr/>
        </p:nvSpPr>
        <p:spPr>
          <a:xfrm>
            <a:off x="8192606" y="2630698"/>
            <a:ext cx="3291840" cy="1234440"/>
          </a:xfrm>
          <a:prstGeom prst="roundRect">
            <a:avLst>
              <a:gd name="adj" fmla="val 8889"/>
            </a:avLst>
          </a:prstGeom>
          <a:solidFill>
            <a:schemeClr val="bg2"/>
          </a:solidFill>
          <a:ln w="12700">
            <a:solidFill>
              <a:schemeClr val="bg2"/>
            </a:solidFill>
            <a:prstDash val="solid"/>
          </a:ln>
        </p:spPr>
      </p:sp>
      <p:sp>
        <p:nvSpPr>
          <p:cNvPr id="13" name="Text 11"/>
          <p:cNvSpPr txBox="1"/>
          <p:nvPr/>
        </p:nvSpPr>
        <p:spPr>
          <a:xfrm>
            <a:off x="8357198" y="2703850"/>
            <a:ext cx="3017520" cy="1106424"/>
          </a:xfrm>
          <a:prstGeom prst="rect">
            <a:avLst/>
          </a:prstGeom>
          <a:noFill/>
          <a:ln/>
        </p:spPr>
        <p:txBody>
          <a:bodyPr wrap="square" lIns="0" tIns="0" rIns="0" bIns="0" rtlCol="0" anchor="ctr"/>
          <a:lstStyle/>
          <a:p>
            <a:pPr indent="0" marL="0">
              <a:buNone/>
            </a:pPr>
            <a:r>
              <a:rPr lang="en-US" sz="1600" b="1" dirty="0">
                <a:solidFill>
                  <a:schemeClr val="accent2"/>
                </a:solidFill>
              </a:rPr>
              <a:t>Promotes public welfare</a:t>
            </a:r>
            <a:endParaRPr lang="en-US" sz="1600" dirty="0"/>
          </a:p>
          <a:p>
            <a:pPr indent="0" marL="0">
              <a:buNone/>
            </a:pPr>
            <a:r>
              <a:rPr lang="en-US" sz="1600" dirty="0">
                <a:solidFill>
                  <a:schemeClr val="tx1"/>
                </a:solidFill>
              </a:rPr>
              <a:t>Education, health, transport, safety, environment</a:t>
            </a:r>
            <a:endParaRPr lang="en-US" sz="1600" dirty="0"/>
          </a:p>
        </p:txBody>
      </p:sp>
      <p:sp>
        <p:nvSpPr>
          <p:cNvPr id="14" name="node 3"/>
          <p:cNvSpPr/>
          <p:nvPr/>
        </p:nvSpPr>
        <p:spPr>
          <a:xfrm>
            <a:off x="6764253" y="4675358"/>
            <a:ext cx="3291840" cy="1234440"/>
          </a:xfrm>
          <a:prstGeom prst="roundRect">
            <a:avLst>
              <a:gd name="adj" fmla="val 8889"/>
            </a:avLst>
          </a:prstGeom>
          <a:solidFill>
            <a:schemeClr val="bg2"/>
          </a:solidFill>
          <a:ln w="12700">
            <a:solidFill>
              <a:schemeClr val="bg2"/>
            </a:solidFill>
            <a:prstDash val="solid"/>
          </a:ln>
        </p:spPr>
      </p:sp>
      <p:sp>
        <p:nvSpPr>
          <p:cNvPr id="15" name="Text 13"/>
          <p:cNvSpPr txBox="1"/>
          <p:nvPr/>
        </p:nvSpPr>
        <p:spPr>
          <a:xfrm>
            <a:off x="6928845" y="4748510"/>
            <a:ext cx="3017520" cy="1106424"/>
          </a:xfrm>
          <a:prstGeom prst="rect">
            <a:avLst/>
          </a:prstGeom>
          <a:noFill/>
          <a:ln/>
        </p:spPr>
        <p:txBody>
          <a:bodyPr wrap="square" lIns="0" tIns="0" rIns="0" bIns="0" rtlCol="0" anchor="ctr"/>
          <a:lstStyle/>
          <a:p>
            <a:pPr indent="0" marL="0">
              <a:buNone/>
            </a:pPr>
            <a:r>
              <a:rPr lang="en-US" sz="1600" b="1" dirty="0">
                <a:solidFill>
                  <a:schemeClr val="accent4"/>
                </a:solidFill>
              </a:rPr>
              <a:t>Formulated by government</a:t>
            </a:r>
            <a:endParaRPr lang="en-US" sz="1600" dirty="0"/>
          </a:p>
          <a:p>
            <a:pPr indent="0" marL="0">
              <a:buNone/>
            </a:pPr>
            <a:r>
              <a:rPr lang="en-US" sz="1600" dirty="0">
                <a:solidFill>
                  <a:schemeClr val="tx1"/>
                </a:solidFill>
              </a:rPr>
              <a:t>Made and carried out by public institutions</a:t>
            </a:r>
            <a:endParaRPr lang="en-US" sz="1600" dirty="0"/>
          </a:p>
        </p:txBody>
      </p:sp>
      <p:sp>
        <p:nvSpPr>
          <p:cNvPr id="16" name="node 4"/>
          <p:cNvSpPr/>
          <p:nvPr/>
        </p:nvSpPr>
        <p:spPr>
          <a:xfrm>
            <a:off x="2142003" y="4675358"/>
            <a:ext cx="3291840" cy="1234440"/>
          </a:xfrm>
          <a:prstGeom prst="roundRect">
            <a:avLst>
              <a:gd name="adj" fmla="val 8889"/>
            </a:avLst>
          </a:prstGeom>
          <a:solidFill>
            <a:schemeClr val="bg2"/>
          </a:solidFill>
          <a:ln w="12700">
            <a:solidFill>
              <a:schemeClr val="bg2"/>
            </a:solidFill>
            <a:prstDash val="solid"/>
          </a:ln>
        </p:spPr>
      </p:sp>
      <p:sp>
        <p:nvSpPr>
          <p:cNvPr id="17" name="Text 15"/>
          <p:cNvSpPr txBox="1"/>
          <p:nvPr/>
        </p:nvSpPr>
        <p:spPr>
          <a:xfrm>
            <a:off x="2306595" y="4748510"/>
            <a:ext cx="3017520" cy="1106424"/>
          </a:xfrm>
          <a:prstGeom prst="rect">
            <a:avLst/>
          </a:prstGeom>
          <a:noFill/>
          <a:ln/>
        </p:spPr>
        <p:txBody>
          <a:bodyPr wrap="square" lIns="0" tIns="0" rIns="0" bIns="0" rtlCol="0" anchor="ctr"/>
          <a:lstStyle/>
          <a:p>
            <a:pPr indent="0" marL="0">
              <a:buNone/>
            </a:pPr>
            <a:r>
              <a:rPr lang="en-US" sz="1600" b="1" dirty="0">
                <a:solidFill>
                  <a:schemeClr val="accent5"/>
                </a:solidFill>
              </a:rPr>
              <a:t>Uses public resources</a:t>
            </a:r>
            <a:endParaRPr lang="en-US" sz="1600" dirty="0"/>
          </a:p>
          <a:p>
            <a:pPr indent="0" marL="0">
              <a:buNone/>
            </a:pPr>
            <a:r>
              <a:rPr lang="en-US" sz="1600" dirty="0">
                <a:solidFill>
                  <a:schemeClr val="tx1"/>
                </a:solidFill>
              </a:rPr>
              <a:t>Often funded by taxes collected from people</a:t>
            </a:r>
            <a:endParaRPr lang="en-US" sz="1600" dirty="0"/>
          </a:p>
        </p:txBody>
      </p:sp>
      <p:sp>
        <p:nvSpPr>
          <p:cNvPr id="18" name="node 5"/>
          <p:cNvSpPr/>
          <p:nvPr/>
        </p:nvSpPr>
        <p:spPr>
          <a:xfrm>
            <a:off x="713650" y="2630698"/>
            <a:ext cx="3291840" cy="1234440"/>
          </a:xfrm>
          <a:prstGeom prst="roundRect">
            <a:avLst>
              <a:gd name="adj" fmla="val 8889"/>
            </a:avLst>
          </a:prstGeom>
          <a:solidFill>
            <a:schemeClr val="bg2"/>
          </a:solidFill>
          <a:ln w="12700">
            <a:solidFill>
              <a:schemeClr val="bg2"/>
            </a:solidFill>
            <a:prstDash val="solid"/>
          </a:ln>
        </p:spPr>
      </p:sp>
      <p:sp>
        <p:nvSpPr>
          <p:cNvPr id="19" name="Text 17"/>
          <p:cNvSpPr txBox="1"/>
          <p:nvPr/>
        </p:nvSpPr>
        <p:spPr>
          <a:xfrm>
            <a:off x="878242" y="2703850"/>
            <a:ext cx="3017520" cy="1106424"/>
          </a:xfrm>
          <a:prstGeom prst="rect">
            <a:avLst/>
          </a:prstGeom>
          <a:noFill/>
          <a:ln/>
        </p:spPr>
        <p:txBody>
          <a:bodyPr wrap="square" lIns="0" tIns="0" rIns="0" bIns="0" rtlCol="0" anchor="ctr"/>
          <a:lstStyle/>
          <a:p>
            <a:pPr indent="0" marL="0">
              <a:buNone/>
            </a:pPr>
            <a:r>
              <a:rPr lang="en-US" sz="1600" b="1" dirty="0">
                <a:solidFill>
                  <a:schemeClr val="accent6"/>
                </a:solidFill>
              </a:rPr>
              <a:t>Citizens participate</a:t>
            </a:r>
            <a:endParaRPr lang="en-US" sz="1600" dirty="0"/>
          </a:p>
          <a:p>
            <a:pPr indent="0" marL="0">
              <a:buNone/>
            </a:pPr>
            <a:r>
              <a:rPr lang="en-US" sz="1600" dirty="0">
                <a:solidFill>
                  <a:schemeClr val="tx1"/>
                </a:solidFill>
              </a:rPr>
              <a:t>People raise issues, give suggestions and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Game: Policy or Public Policy?</a:t>
            </a:r>
            <a:endParaRPr lang="en-US" sz="3600" dirty="0"/>
          </a:p>
        </p:txBody>
      </p:sp>
      <p:sp>
        <p:nvSpPr>
          <p:cNvPr id="3" name="statement 1"/>
          <p:cNvSpPr/>
          <p:nvPr/>
        </p:nvSpPr>
        <p:spPr>
          <a:xfrm>
            <a:off x="548640" y="137160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670560"/>
          </a:xfrm>
          <a:prstGeom prst="rect">
            <a:avLst/>
          </a:prstGeom>
          <a:noFill/>
          <a:ln/>
        </p:spPr>
        <p:txBody>
          <a:bodyPr wrap="square" lIns="0" tIns="0" rIns="0" bIns="0" rtlCol="0" anchor="ctr"/>
          <a:lstStyle/>
          <a:p>
            <a:pPr indent="0" marL="0">
              <a:buNone/>
            </a:pPr>
            <a:r>
              <a:rPr lang="en-US" sz="1700" dirty="0">
                <a:solidFill>
                  <a:schemeClr val="tx1"/>
                </a:solidFill>
              </a:rPr>
              <a:t>1.  The government introduces a sports policy.</a:t>
            </a:r>
            <a:endParaRPr lang="en-US" sz="1700" dirty="0"/>
          </a:p>
        </p:txBody>
      </p:sp>
      <p:sp>
        <p:nvSpPr>
          <p:cNvPr id="5" name="vote 1"/>
          <p:cNvSpPr/>
          <p:nvPr/>
        </p:nvSpPr>
        <p:spPr>
          <a:xfrm>
            <a:off x="9646920" y="1478280"/>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4782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7" name="statement 2"/>
          <p:cNvSpPr/>
          <p:nvPr/>
        </p:nvSpPr>
        <p:spPr>
          <a:xfrm>
            <a:off x="548640" y="217932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179320"/>
            <a:ext cx="8595360" cy="670560"/>
          </a:xfrm>
          <a:prstGeom prst="rect">
            <a:avLst/>
          </a:prstGeom>
          <a:noFill/>
          <a:ln/>
        </p:spPr>
        <p:txBody>
          <a:bodyPr wrap="square" lIns="0" tIns="0" rIns="0" bIns="0" rtlCol="0" anchor="ctr"/>
          <a:lstStyle/>
          <a:p>
            <a:pPr indent="0" marL="0">
              <a:buNone/>
            </a:pPr>
            <a:r>
              <a:rPr lang="en-US" sz="1700" dirty="0">
                <a:solidFill>
                  <a:schemeClr val="tx1"/>
                </a:solidFill>
              </a:rPr>
              <a:t>2.  The government launches a campaign to give safe drinking water to every household.</a:t>
            </a:r>
            <a:endParaRPr lang="en-US" sz="1700" dirty="0"/>
          </a:p>
        </p:txBody>
      </p:sp>
      <p:sp>
        <p:nvSpPr>
          <p:cNvPr id="9" name="vote 2"/>
          <p:cNvSpPr/>
          <p:nvPr/>
        </p:nvSpPr>
        <p:spPr>
          <a:xfrm>
            <a:off x="9646920" y="2286000"/>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28600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11" name="statement 3"/>
          <p:cNvSpPr/>
          <p:nvPr/>
        </p:nvSpPr>
        <p:spPr>
          <a:xfrm>
            <a:off x="548640" y="298704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2987040"/>
            <a:ext cx="8595360" cy="670560"/>
          </a:xfrm>
          <a:prstGeom prst="rect">
            <a:avLst/>
          </a:prstGeom>
          <a:noFill/>
          <a:ln/>
        </p:spPr>
        <p:txBody>
          <a:bodyPr wrap="square" lIns="0" tIns="0" rIns="0" bIns="0" rtlCol="0" anchor="ctr"/>
          <a:lstStyle/>
          <a:p>
            <a:pPr indent="0" marL="0">
              <a:buNone/>
            </a:pPr>
            <a:r>
              <a:rPr lang="en-US" sz="1700" dirty="0">
                <a:solidFill>
                  <a:schemeClr val="tx1"/>
                </a:solidFill>
              </a:rPr>
              <a:t>3.  A company lets employees work from home twice a week.</a:t>
            </a:r>
            <a:endParaRPr lang="en-US" sz="1700" dirty="0"/>
          </a:p>
        </p:txBody>
      </p:sp>
      <p:sp>
        <p:nvSpPr>
          <p:cNvPr id="13" name="vote 3"/>
          <p:cNvSpPr/>
          <p:nvPr/>
        </p:nvSpPr>
        <p:spPr>
          <a:xfrm>
            <a:off x="9646920" y="309372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09372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15" name="statement 4"/>
          <p:cNvSpPr/>
          <p:nvPr/>
        </p:nvSpPr>
        <p:spPr>
          <a:xfrm>
            <a:off x="548640" y="379476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3794760"/>
            <a:ext cx="8595360" cy="670560"/>
          </a:xfrm>
          <a:prstGeom prst="rect">
            <a:avLst/>
          </a:prstGeom>
          <a:noFill/>
          <a:ln/>
        </p:spPr>
        <p:txBody>
          <a:bodyPr wrap="square" lIns="0" tIns="0" rIns="0" bIns="0" rtlCol="0" anchor="ctr"/>
          <a:lstStyle/>
          <a:p>
            <a:pPr indent="0" marL="0">
              <a:buNone/>
            </a:pPr>
            <a:r>
              <a:rPr lang="en-US" sz="1700" dirty="0">
                <a:solidFill>
                  <a:schemeClr val="tx1"/>
                </a:solidFill>
              </a:rPr>
              <a:t>4.  A municipality introduces waste segregation in the city.</a:t>
            </a:r>
            <a:endParaRPr lang="en-US" sz="1700" dirty="0"/>
          </a:p>
        </p:txBody>
      </p:sp>
      <p:sp>
        <p:nvSpPr>
          <p:cNvPr id="17" name="vote 4"/>
          <p:cNvSpPr/>
          <p:nvPr/>
        </p:nvSpPr>
        <p:spPr>
          <a:xfrm>
            <a:off x="9646920" y="3901440"/>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390144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19" name="statement 5"/>
          <p:cNvSpPr/>
          <p:nvPr/>
        </p:nvSpPr>
        <p:spPr>
          <a:xfrm>
            <a:off x="548640" y="460248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4602480"/>
            <a:ext cx="8595360" cy="670560"/>
          </a:xfrm>
          <a:prstGeom prst="rect">
            <a:avLst/>
          </a:prstGeom>
          <a:noFill/>
          <a:ln/>
        </p:spPr>
        <p:txBody>
          <a:bodyPr wrap="square" lIns="0" tIns="0" rIns="0" bIns="0" rtlCol="0" anchor="ctr"/>
          <a:lstStyle/>
          <a:p>
            <a:pPr indent="0" marL="0">
              <a:buNone/>
            </a:pPr>
            <a:r>
              <a:rPr lang="en-US" sz="1700" dirty="0">
                <a:solidFill>
                  <a:schemeClr val="tx1"/>
                </a:solidFill>
              </a:rPr>
              <a:t>5.  A housing society fixes visiting hours for guests.</a:t>
            </a:r>
            <a:endParaRPr lang="en-US" sz="1700" dirty="0"/>
          </a:p>
        </p:txBody>
      </p:sp>
      <p:sp>
        <p:nvSpPr>
          <p:cNvPr id="21" name="vote 5"/>
          <p:cNvSpPr/>
          <p:nvPr/>
        </p:nvSpPr>
        <p:spPr>
          <a:xfrm>
            <a:off x="9646920" y="4709160"/>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470916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23" name="statement 6"/>
          <p:cNvSpPr/>
          <p:nvPr/>
        </p:nvSpPr>
        <p:spPr>
          <a:xfrm>
            <a:off x="548640" y="541020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4" name="Text 22"/>
          <p:cNvSpPr txBox="1"/>
          <p:nvPr/>
        </p:nvSpPr>
        <p:spPr>
          <a:xfrm>
            <a:off x="822960" y="5410200"/>
            <a:ext cx="8595360" cy="670560"/>
          </a:xfrm>
          <a:prstGeom prst="rect">
            <a:avLst/>
          </a:prstGeom>
          <a:noFill/>
          <a:ln/>
        </p:spPr>
        <p:txBody>
          <a:bodyPr wrap="square" lIns="0" tIns="0" rIns="0" bIns="0" rtlCol="0" anchor="ctr"/>
          <a:lstStyle/>
          <a:p>
            <a:pPr indent="0" marL="0">
              <a:buNone/>
            </a:pPr>
            <a:r>
              <a:rPr lang="en-US" sz="1700" dirty="0">
                <a:solidFill>
                  <a:schemeClr val="tx1"/>
                </a:solidFill>
              </a:rPr>
              <a:t>6.  The government introduces free vaccination for children.</a:t>
            </a:r>
            <a:endParaRPr lang="en-US" sz="1700" dirty="0"/>
          </a:p>
        </p:txBody>
      </p:sp>
      <p:sp>
        <p:nvSpPr>
          <p:cNvPr id="25" name="vote 6"/>
          <p:cNvSpPr/>
          <p:nvPr/>
        </p:nvSpPr>
        <p:spPr>
          <a:xfrm>
            <a:off x="9646920" y="5516880"/>
            <a:ext cx="1737360" cy="457200"/>
          </a:xfrm>
          <a:prstGeom prst="roundRect">
            <a:avLst>
              <a:gd name="adj" fmla="val 50000"/>
            </a:avLst>
          </a:prstGeom>
          <a:solidFill>
            <a:schemeClr val="bg2"/>
          </a:solidFill>
          <a:ln w="12700">
            <a:solidFill>
              <a:schemeClr val="bg2"/>
            </a:solidFill>
            <a:prstDash val="solid"/>
          </a:ln>
        </p:spPr>
      </p:sp>
      <p:sp>
        <p:nvSpPr>
          <p:cNvPr id="26" name="Text 24"/>
          <p:cNvSpPr txBox="1"/>
          <p:nvPr/>
        </p:nvSpPr>
        <p:spPr>
          <a:xfrm>
            <a:off x="9646920" y="55168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Who Shapes Public Policy?</a:t>
            </a:r>
            <a:endParaRPr lang="en-US" sz="36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4023360"/>
                <a:gridCol w="4389120"/>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Contributor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3949A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they do</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3949A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3949AB"/>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Citizens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Identify problems, vote, suggest, give feedback</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Residents ask for a zebra crossing near a school</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Elected representatives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Raise issues, make laws, approve budgets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An MLA raises water shortage in the Assembly</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Government officials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Prepare and implement policies, deliver services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 District Collector runs a scheme in the district</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Civil society, NGOs, media</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Study problems, create awareness, monitor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An NGO runs a water-conservation campaign</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Private sector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Bring know-how, innovation and resources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 company installs solar panels in schools (PPP)</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International organisations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Share experience, expertise and funds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WHO helps countries control infectious diseases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Problem-Solving: Traffic at the School Gate</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DECISION LAB</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Fix the jam</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25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Groups of 5</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Option cards (6 options from the textbook)</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Read the 6 options: volunteers, letter, meet principal, new gate, shift pick-up point, change timings.</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Choose </a:t>
            </a:r>
            <a:r>
              <a:rPr lang="en-US" sz="1400" b="1" dirty="0">
                <a:solidFill>
                  <a:schemeClr val="tx1"/>
                </a:solidFill>
              </a:rPr>
              <a:t>one</a:t>
            </a:r>
            <a:r>
              <a:rPr lang="en-US" sz="1400" dirty="0">
                <a:solidFill>
                  <a:schemeClr val="tx1"/>
                </a:solidFill>
              </a:rPr>
              <a:t> option and give reasons.</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Suggest a </a:t>
            </a:r>
            <a:r>
              <a:rPr lang="en-US" sz="1400" b="1" dirty="0">
                <a:solidFill>
                  <a:schemeClr val="tx1"/>
                </a:solidFill>
              </a:rPr>
              <a:t>better</a:t>
            </a:r>
            <a:r>
              <a:rPr lang="en-US" sz="1400" dirty="0">
                <a:solidFill>
                  <a:schemeClr val="tx1"/>
                </a:solidFill>
              </a:rPr>
              <a:t> solution if you can.</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Name the </a:t>
            </a:r>
            <a:r>
              <a:rPr lang="en-US" sz="1400" b="1" dirty="0">
                <a:solidFill>
                  <a:schemeClr val="tx1"/>
                </a:solidFill>
              </a:rPr>
              <a:t>stakeholders</a:t>
            </a:r>
            <a:r>
              <a:rPr lang="en-US" sz="1400" dirty="0">
                <a:solidFill>
                  <a:schemeClr val="tx1"/>
                </a:solidFill>
              </a:rPr>
              <a:t> and their roles.</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Design a </a:t>
            </a:r>
            <a:r>
              <a:rPr lang="en-US" sz="1400" b="1" dirty="0">
                <a:solidFill>
                  <a:schemeClr val="tx1"/>
                </a:solidFill>
              </a:rPr>
              <a:t>feedback loop</a:t>
            </a:r>
            <a:r>
              <a:rPr lang="en-US" sz="1400" dirty="0">
                <a:solidFill>
                  <a:schemeClr val="tx1"/>
                </a:solidFill>
              </a:rPr>
              <a:t> so the problem does not return.</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Good solutions need the right stakeholders, coordination and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A Ramp to Better Healthcare</a:t>
            </a:r>
            <a:endParaRPr lang="en-US" sz="3600" dirty="0"/>
          </a:p>
        </p:txBody>
      </p:sp>
      <p:sp>
        <p:nvSpPr>
          <p:cNvPr id="3" name="step 1 card"/>
          <p:cNvSpPr/>
          <p:nvPr/>
        </p:nvSpPr>
        <p:spPr>
          <a:xfrm>
            <a:off x="548640" y="1417320"/>
            <a:ext cx="1883664" cy="480060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Problem</a:t>
            </a:r>
            <a:endParaRPr lang="en-US" sz="1700" dirty="0"/>
          </a:p>
        </p:txBody>
      </p:sp>
      <p:sp>
        <p:nvSpPr>
          <p:cNvPr id="7" name="Text 4"/>
          <p:cNvSpPr txBox="1"/>
          <p:nvPr/>
        </p:nvSpPr>
        <p:spPr>
          <a:xfrm>
            <a:off x="731520"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Smt. Shanti Devi (72), a wheelchair user and a visually impaired person can't use the hospital easily.</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80060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Raised</a:t>
            </a:r>
            <a:endParaRPr lang="en-US" sz="1700" dirty="0"/>
          </a:p>
        </p:txBody>
      </p:sp>
      <p:sp>
        <p:nvSpPr>
          <p:cNvPr id="13" name="Text 9"/>
          <p:cNvSpPr txBox="1"/>
          <p:nvPr/>
        </p:nvSpPr>
        <p:spPr>
          <a:xfrm>
            <a:off x="3026664"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Patients, a disability rights group, newspapers and social media highlight it.</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80060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Inspected</a:t>
            </a:r>
            <a:endParaRPr lang="en-US" sz="1700" dirty="0"/>
          </a:p>
        </p:txBody>
      </p:sp>
      <p:sp>
        <p:nvSpPr>
          <p:cNvPr id="19" name="Text 14"/>
          <p:cNvSpPr txBox="1"/>
          <p:nvPr/>
        </p:nvSpPr>
        <p:spPr>
          <a:xfrm>
            <a:off x="5321808"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District administration asks PWD and the Health Department to inspect.</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80060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Consulted</a:t>
            </a:r>
            <a:endParaRPr lang="en-US" sz="1700" dirty="0"/>
          </a:p>
        </p:txBody>
      </p:sp>
      <p:sp>
        <p:nvSpPr>
          <p:cNvPr id="25" name="Text 19"/>
          <p:cNvSpPr txBox="1"/>
          <p:nvPr/>
        </p:nvSpPr>
        <p:spPr>
          <a:xfrm>
            <a:off x="7616952"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Doctors, architects, PwD groups, senior citizens and residents help plan.</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80060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Built</a:t>
            </a:r>
            <a:endParaRPr lang="en-US" sz="1700" dirty="0"/>
          </a:p>
        </p:txBody>
      </p:sp>
      <p:sp>
        <p:nvSpPr>
          <p:cNvPr id="31" name="Text 24"/>
          <p:cNvSpPr txBox="1"/>
          <p:nvPr/>
        </p:nvSpPr>
        <p:spPr>
          <a:xfrm>
            <a:off x="9912096"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Funds approved: ramps, lifts, handrails, tactile paths, Braille signs, accessible toilets.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Policy Cycle: Key Stages</a:t>
            </a:r>
            <a:endParaRPr lang="en-US" sz="3600" dirty="0"/>
          </a:p>
        </p:txBody>
      </p:sp>
      <p:sp>
        <p:nvSpPr>
          <p:cNvPr id="3" name="cycle ring"/>
          <p:cNvSpPr/>
          <p:nvPr/>
        </p:nvSpPr>
        <p:spPr>
          <a:xfrm>
            <a:off x="1984248" y="1847088"/>
            <a:ext cx="8229600" cy="3931920"/>
          </a:xfrm>
          <a:prstGeom prst="ellipse">
            <a:avLst/>
          </a:prstGeom>
          <a:noFill/>
          <a:ln w="50800">
            <a:solidFill>
              <a:schemeClr val="accent3"/>
            </a:solidFill>
            <a:prstDash val="solid"/>
          </a:ln>
        </p:spPr>
      </p:sp>
      <p:sp>
        <p:nvSpPr>
          <p:cNvPr id="4"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5" name="Text 3"/>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Policy Process</a:t>
            </a:r>
            <a:endParaRPr lang="en-US" sz="1700" dirty="0"/>
          </a:p>
        </p:txBody>
      </p:sp>
      <p:sp>
        <p:nvSpPr>
          <p:cNvPr id="6" name="node 1"/>
          <p:cNvSpPr/>
          <p:nvPr/>
        </p:nvSpPr>
        <p:spPr>
          <a:xfrm>
            <a:off x="4636008" y="1321308"/>
            <a:ext cx="2926080" cy="1051560"/>
          </a:xfrm>
          <a:prstGeom prst="roundRect">
            <a:avLst>
              <a:gd name="adj" fmla="val 10435"/>
            </a:avLst>
          </a:prstGeom>
          <a:solidFill>
            <a:schemeClr val="bg2"/>
          </a:solidFill>
          <a:ln w="12700">
            <a:solidFill>
              <a:schemeClr val="bg2"/>
            </a:solidFill>
            <a:prstDash val="solid"/>
          </a:ln>
        </p:spPr>
      </p:sp>
      <p:sp>
        <p:nvSpPr>
          <p:cNvPr id="7" name="node 1 badge"/>
          <p:cNvSpPr/>
          <p:nvPr/>
        </p:nvSpPr>
        <p:spPr>
          <a:xfrm>
            <a:off x="4498848" y="1184148"/>
            <a:ext cx="384048" cy="384048"/>
          </a:xfrm>
          <a:prstGeom prst="ellipse">
            <a:avLst/>
          </a:prstGeom>
          <a:solidFill>
            <a:schemeClr val="accent1"/>
          </a:solidFill>
          <a:ln w="19050">
            <a:solidFill>
              <a:schemeClr val="bg1"/>
            </a:solidFill>
            <a:prstDash val="solid"/>
          </a:ln>
        </p:spPr>
      </p:sp>
      <p:sp>
        <p:nvSpPr>
          <p:cNvPr id="8" name="Text 6"/>
          <p:cNvSpPr txBox="1"/>
          <p:nvPr/>
        </p:nvSpPr>
        <p:spPr>
          <a:xfrm>
            <a:off x="4498848" y="11841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7"/>
          <p:cNvSpPr txBox="1"/>
          <p:nvPr/>
        </p:nvSpPr>
        <p:spPr>
          <a:xfrm>
            <a:off x="4800600" y="1394460"/>
            <a:ext cx="2651760" cy="923544"/>
          </a:xfrm>
          <a:prstGeom prst="rect">
            <a:avLst/>
          </a:prstGeom>
          <a:noFill/>
          <a:ln/>
        </p:spPr>
        <p:txBody>
          <a:bodyPr wrap="square" lIns="0" tIns="0" rIns="0" bIns="0" rtlCol="0" anchor="ctr"/>
          <a:lstStyle/>
          <a:p>
            <a:pPr indent="0" marL="0">
              <a:buNone/>
            </a:pPr>
            <a:r>
              <a:rPr lang="en-US" sz="1600" b="1" dirty="0">
                <a:solidFill>
                  <a:schemeClr val="accent1"/>
                </a:solidFill>
              </a:rPr>
              <a:t>Desirability</a:t>
            </a:r>
            <a:endParaRPr lang="en-US" sz="1600" dirty="0"/>
          </a:p>
          <a:p>
            <a:pPr indent="0" marL="0">
              <a:buNone/>
            </a:pPr>
            <a:r>
              <a:rPr lang="en-US" sz="1600" dirty="0">
                <a:solidFill>
                  <a:schemeClr val="tx1"/>
                </a:solidFill>
              </a:rPr>
              <a:t>What needs and problems must be addressed?</a:t>
            </a:r>
            <a:endParaRPr lang="en-US" sz="1600" dirty="0"/>
          </a:p>
        </p:txBody>
      </p:sp>
      <p:sp>
        <p:nvSpPr>
          <p:cNvPr id="10" name="node 2"/>
          <p:cNvSpPr/>
          <p:nvPr/>
        </p:nvSpPr>
        <p:spPr>
          <a:xfrm>
            <a:off x="7853088" y="2061512"/>
            <a:ext cx="2926080" cy="1051560"/>
          </a:xfrm>
          <a:prstGeom prst="roundRect">
            <a:avLst>
              <a:gd name="adj" fmla="val 10435"/>
            </a:avLst>
          </a:prstGeom>
          <a:solidFill>
            <a:schemeClr val="bg2"/>
          </a:solidFill>
          <a:ln w="12700">
            <a:solidFill>
              <a:schemeClr val="bg2"/>
            </a:solidFill>
            <a:prstDash val="solid"/>
          </a:ln>
        </p:spPr>
      </p:sp>
      <p:sp>
        <p:nvSpPr>
          <p:cNvPr id="11" name="node 2 badge"/>
          <p:cNvSpPr/>
          <p:nvPr/>
        </p:nvSpPr>
        <p:spPr>
          <a:xfrm>
            <a:off x="7715928" y="1924352"/>
            <a:ext cx="384048" cy="384048"/>
          </a:xfrm>
          <a:prstGeom prst="ellipse">
            <a:avLst/>
          </a:prstGeom>
          <a:solidFill>
            <a:schemeClr val="accent2"/>
          </a:solidFill>
          <a:ln w="19050">
            <a:solidFill>
              <a:schemeClr val="bg1"/>
            </a:solidFill>
            <a:prstDash val="solid"/>
          </a:ln>
        </p:spPr>
      </p:sp>
      <p:sp>
        <p:nvSpPr>
          <p:cNvPr id="12" name="Text 10"/>
          <p:cNvSpPr txBox="1"/>
          <p:nvPr/>
        </p:nvSpPr>
        <p:spPr>
          <a:xfrm>
            <a:off x="7715928" y="19243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11"/>
          <p:cNvSpPr txBox="1"/>
          <p:nvPr/>
        </p:nvSpPr>
        <p:spPr>
          <a:xfrm>
            <a:off x="8017680" y="2134664"/>
            <a:ext cx="2651760" cy="923544"/>
          </a:xfrm>
          <a:prstGeom prst="rect">
            <a:avLst/>
          </a:prstGeom>
          <a:noFill/>
          <a:ln/>
        </p:spPr>
        <p:txBody>
          <a:bodyPr wrap="square" lIns="0" tIns="0" rIns="0" bIns="0" rtlCol="0" anchor="ctr"/>
          <a:lstStyle/>
          <a:p>
            <a:pPr indent="0" marL="0">
              <a:buNone/>
            </a:pPr>
            <a:r>
              <a:rPr lang="en-US" sz="1600" b="1" dirty="0">
                <a:solidFill>
                  <a:schemeClr val="accent2"/>
                </a:solidFill>
              </a:rPr>
              <a:t>Prioritising</a:t>
            </a:r>
            <a:endParaRPr lang="en-US" sz="1600" dirty="0"/>
          </a:p>
          <a:p>
            <a:pPr indent="0" marL="0">
              <a:buNone/>
            </a:pPr>
            <a:r>
              <a:rPr lang="en-US" sz="1600" dirty="0">
                <a:solidFill>
                  <a:schemeClr val="tx1"/>
                </a:solidFill>
              </a:rPr>
              <a:t>Which issues come first?</a:t>
            </a:r>
            <a:endParaRPr lang="en-US" sz="1600" dirty="0"/>
          </a:p>
        </p:txBody>
      </p:sp>
      <p:sp>
        <p:nvSpPr>
          <p:cNvPr id="14" name="node 3"/>
          <p:cNvSpPr/>
          <p:nvPr/>
        </p:nvSpPr>
        <p:spPr>
          <a:xfrm>
            <a:off x="8647641" y="3724735"/>
            <a:ext cx="2926080" cy="1051560"/>
          </a:xfrm>
          <a:prstGeom prst="roundRect">
            <a:avLst>
              <a:gd name="adj" fmla="val 10435"/>
            </a:avLst>
          </a:prstGeom>
          <a:solidFill>
            <a:schemeClr val="bg2"/>
          </a:solidFill>
          <a:ln w="12700">
            <a:solidFill>
              <a:schemeClr val="bg2"/>
            </a:solidFill>
            <a:prstDash val="solid"/>
          </a:ln>
        </p:spPr>
      </p:sp>
      <p:sp>
        <p:nvSpPr>
          <p:cNvPr id="15" name="node 3 badge"/>
          <p:cNvSpPr/>
          <p:nvPr/>
        </p:nvSpPr>
        <p:spPr>
          <a:xfrm>
            <a:off x="8510481" y="3587575"/>
            <a:ext cx="384048" cy="384048"/>
          </a:xfrm>
          <a:prstGeom prst="ellipse">
            <a:avLst/>
          </a:prstGeom>
          <a:solidFill>
            <a:schemeClr val="accent4"/>
          </a:solidFill>
          <a:ln w="19050">
            <a:solidFill>
              <a:schemeClr val="bg1"/>
            </a:solidFill>
            <a:prstDash val="solid"/>
          </a:ln>
        </p:spPr>
      </p:sp>
      <p:sp>
        <p:nvSpPr>
          <p:cNvPr id="16" name="Text 14"/>
          <p:cNvSpPr txBox="1"/>
          <p:nvPr/>
        </p:nvSpPr>
        <p:spPr>
          <a:xfrm>
            <a:off x="8510481" y="3587575"/>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5"/>
          <p:cNvSpPr txBox="1"/>
          <p:nvPr/>
        </p:nvSpPr>
        <p:spPr>
          <a:xfrm>
            <a:off x="8812233" y="3797887"/>
            <a:ext cx="2651760" cy="923544"/>
          </a:xfrm>
          <a:prstGeom prst="rect">
            <a:avLst/>
          </a:prstGeom>
          <a:noFill/>
          <a:ln/>
        </p:spPr>
        <p:txBody>
          <a:bodyPr wrap="square" lIns="0" tIns="0" rIns="0" bIns="0" rtlCol="0" anchor="ctr"/>
          <a:lstStyle/>
          <a:p>
            <a:pPr indent="0" marL="0">
              <a:buNone/>
            </a:pPr>
            <a:r>
              <a:rPr lang="en-US" sz="1600" b="1" dirty="0">
                <a:solidFill>
                  <a:schemeClr val="accent4"/>
                </a:solidFill>
              </a:rPr>
              <a:t>Formulation</a:t>
            </a:r>
            <a:endParaRPr lang="en-US" sz="1600" dirty="0"/>
          </a:p>
          <a:p>
            <a:pPr indent="0" marL="0">
              <a:buNone/>
            </a:pPr>
            <a:r>
              <a:rPr lang="en-US" sz="1600" dirty="0">
                <a:solidFill>
                  <a:schemeClr val="tx1"/>
                </a:solidFill>
              </a:rPr>
              <a:t>Consult, draft, check financial feasibility</a:t>
            </a:r>
            <a:endParaRPr lang="en-US" sz="1600" dirty="0"/>
          </a:p>
        </p:txBody>
      </p:sp>
      <p:sp>
        <p:nvSpPr>
          <p:cNvPr id="18" name="node 4"/>
          <p:cNvSpPr/>
          <p:nvPr/>
        </p:nvSpPr>
        <p:spPr>
          <a:xfrm>
            <a:off x="6421353" y="5058537"/>
            <a:ext cx="2926080" cy="1051560"/>
          </a:xfrm>
          <a:prstGeom prst="roundRect">
            <a:avLst>
              <a:gd name="adj" fmla="val 10435"/>
            </a:avLst>
          </a:prstGeom>
          <a:solidFill>
            <a:schemeClr val="bg2"/>
          </a:solidFill>
          <a:ln w="12700">
            <a:solidFill>
              <a:schemeClr val="bg2"/>
            </a:solidFill>
            <a:prstDash val="solid"/>
          </a:ln>
        </p:spPr>
      </p:sp>
      <p:sp>
        <p:nvSpPr>
          <p:cNvPr id="19" name="node 4 badge"/>
          <p:cNvSpPr/>
          <p:nvPr/>
        </p:nvSpPr>
        <p:spPr>
          <a:xfrm>
            <a:off x="6284193" y="4921377"/>
            <a:ext cx="384048" cy="384048"/>
          </a:xfrm>
          <a:prstGeom prst="ellipse">
            <a:avLst/>
          </a:prstGeom>
          <a:solidFill>
            <a:schemeClr val="accent5"/>
          </a:solidFill>
          <a:ln w="19050">
            <a:solidFill>
              <a:schemeClr val="bg1"/>
            </a:solidFill>
            <a:prstDash val="solid"/>
          </a:ln>
        </p:spPr>
      </p:sp>
      <p:sp>
        <p:nvSpPr>
          <p:cNvPr id="20" name="Text 18"/>
          <p:cNvSpPr txBox="1"/>
          <p:nvPr/>
        </p:nvSpPr>
        <p:spPr>
          <a:xfrm>
            <a:off x="6284193" y="4921377"/>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9"/>
          <p:cNvSpPr txBox="1"/>
          <p:nvPr/>
        </p:nvSpPr>
        <p:spPr>
          <a:xfrm>
            <a:off x="6585945" y="5131689"/>
            <a:ext cx="2651760" cy="923544"/>
          </a:xfrm>
          <a:prstGeom prst="rect">
            <a:avLst/>
          </a:prstGeom>
          <a:noFill/>
          <a:ln/>
        </p:spPr>
        <p:txBody>
          <a:bodyPr wrap="square" lIns="0" tIns="0" rIns="0" bIns="0" rtlCol="0" anchor="ctr"/>
          <a:lstStyle/>
          <a:p>
            <a:pPr indent="0" marL="0">
              <a:buNone/>
            </a:pPr>
            <a:r>
              <a:rPr lang="en-US" sz="1600" b="1" dirty="0">
                <a:solidFill>
                  <a:schemeClr val="accent5"/>
                </a:solidFill>
              </a:rPr>
              <a:t>Adoption</a:t>
            </a:r>
            <a:endParaRPr lang="en-US" sz="1600" dirty="0"/>
          </a:p>
          <a:p>
            <a:pPr indent="0" marL="0">
              <a:buNone/>
            </a:pPr>
            <a:r>
              <a:rPr lang="en-US" sz="1600" dirty="0">
                <a:solidFill>
                  <a:schemeClr val="tx1"/>
                </a:solidFill>
              </a:rPr>
              <a:t>Frame the law and rules (regulations)</a:t>
            </a:r>
            <a:endParaRPr lang="en-US" sz="1600" dirty="0"/>
          </a:p>
        </p:txBody>
      </p:sp>
      <p:sp>
        <p:nvSpPr>
          <p:cNvPr id="22" name="node 5"/>
          <p:cNvSpPr/>
          <p:nvPr/>
        </p:nvSpPr>
        <p:spPr>
          <a:xfrm>
            <a:off x="2850663" y="5058537"/>
            <a:ext cx="2926080" cy="1051560"/>
          </a:xfrm>
          <a:prstGeom prst="roundRect">
            <a:avLst>
              <a:gd name="adj" fmla="val 10435"/>
            </a:avLst>
          </a:prstGeom>
          <a:solidFill>
            <a:schemeClr val="bg2"/>
          </a:solidFill>
          <a:ln w="12700">
            <a:solidFill>
              <a:schemeClr val="bg2"/>
            </a:solidFill>
            <a:prstDash val="solid"/>
          </a:ln>
        </p:spPr>
      </p:sp>
      <p:sp>
        <p:nvSpPr>
          <p:cNvPr id="23" name="node 5 badge"/>
          <p:cNvSpPr/>
          <p:nvPr/>
        </p:nvSpPr>
        <p:spPr>
          <a:xfrm>
            <a:off x="2713503" y="4921377"/>
            <a:ext cx="384048" cy="384048"/>
          </a:xfrm>
          <a:prstGeom prst="ellipse">
            <a:avLst/>
          </a:prstGeom>
          <a:solidFill>
            <a:schemeClr val="accent6"/>
          </a:solidFill>
          <a:ln w="19050">
            <a:solidFill>
              <a:schemeClr val="bg1"/>
            </a:solidFill>
            <a:prstDash val="solid"/>
          </a:ln>
        </p:spPr>
      </p:sp>
      <p:sp>
        <p:nvSpPr>
          <p:cNvPr id="24" name="Text 22"/>
          <p:cNvSpPr txBox="1"/>
          <p:nvPr/>
        </p:nvSpPr>
        <p:spPr>
          <a:xfrm>
            <a:off x="2713503" y="4921377"/>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5" name="Text 23"/>
          <p:cNvSpPr txBox="1"/>
          <p:nvPr/>
        </p:nvSpPr>
        <p:spPr>
          <a:xfrm>
            <a:off x="3015255" y="5131689"/>
            <a:ext cx="2651760" cy="923544"/>
          </a:xfrm>
          <a:prstGeom prst="rect">
            <a:avLst/>
          </a:prstGeom>
          <a:noFill/>
          <a:ln/>
        </p:spPr>
        <p:txBody>
          <a:bodyPr wrap="square" lIns="0" tIns="0" rIns="0" bIns="0" rtlCol="0" anchor="ctr"/>
          <a:lstStyle/>
          <a:p>
            <a:pPr indent="0" marL="0">
              <a:buNone/>
            </a:pPr>
            <a:r>
              <a:rPr lang="en-US" sz="1600" b="1" dirty="0">
                <a:solidFill>
                  <a:schemeClr val="accent6"/>
                </a:solidFill>
              </a:rPr>
              <a:t>Implementation</a:t>
            </a:r>
            <a:endParaRPr lang="en-US" sz="1600" dirty="0"/>
          </a:p>
          <a:p>
            <a:pPr indent="0" marL="0">
              <a:buNone/>
            </a:pPr>
            <a:r>
              <a:rPr lang="en-US" sz="1600" dirty="0">
                <a:solidFill>
                  <a:schemeClr val="tx1"/>
                </a:solidFill>
              </a:rPr>
              <a:t>Officials, local bodies, NGOs, citizens act</a:t>
            </a:r>
            <a:endParaRPr lang="en-US" sz="1600" dirty="0"/>
          </a:p>
        </p:txBody>
      </p:sp>
      <p:sp>
        <p:nvSpPr>
          <p:cNvPr id="26" name="node 6"/>
          <p:cNvSpPr/>
          <p:nvPr/>
        </p:nvSpPr>
        <p:spPr>
          <a:xfrm>
            <a:off x="624375" y="3724735"/>
            <a:ext cx="2926080" cy="1051560"/>
          </a:xfrm>
          <a:prstGeom prst="roundRect">
            <a:avLst>
              <a:gd name="adj" fmla="val 10435"/>
            </a:avLst>
          </a:prstGeom>
          <a:solidFill>
            <a:schemeClr val="bg2"/>
          </a:solidFill>
          <a:ln w="12700">
            <a:solidFill>
              <a:schemeClr val="bg2"/>
            </a:solidFill>
            <a:prstDash val="solid"/>
          </a:ln>
        </p:spPr>
      </p:sp>
      <p:sp>
        <p:nvSpPr>
          <p:cNvPr id="27" name="node 6 badge"/>
          <p:cNvSpPr/>
          <p:nvPr/>
        </p:nvSpPr>
        <p:spPr>
          <a:xfrm>
            <a:off x="487215" y="3587575"/>
            <a:ext cx="384048" cy="384048"/>
          </a:xfrm>
          <a:prstGeom prst="ellipse">
            <a:avLst/>
          </a:prstGeom>
          <a:solidFill>
            <a:schemeClr val="accent1"/>
          </a:solidFill>
          <a:ln w="19050">
            <a:solidFill>
              <a:schemeClr val="bg1"/>
            </a:solidFill>
            <a:prstDash val="solid"/>
          </a:ln>
        </p:spPr>
      </p:sp>
      <p:sp>
        <p:nvSpPr>
          <p:cNvPr id="28" name="Text 26"/>
          <p:cNvSpPr txBox="1"/>
          <p:nvPr/>
        </p:nvSpPr>
        <p:spPr>
          <a:xfrm>
            <a:off x="487215" y="3587575"/>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9" name="Text 27"/>
          <p:cNvSpPr txBox="1"/>
          <p:nvPr/>
        </p:nvSpPr>
        <p:spPr>
          <a:xfrm>
            <a:off x="788967" y="3797887"/>
            <a:ext cx="2651760" cy="923544"/>
          </a:xfrm>
          <a:prstGeom prst="rect">
            <a:avLst/>
          </a:prstGeom>
          <a:noFill/>
          <a:ln/>
        </p:spPr>
        <p:txBody>
          <a:bodyPr wrap="square" lIns="0" tIns="0" rIns="0" bIns="0" rtlCol="0" anchor="ctr"/>
          <a:lstStyle/>
          <a:p>
            <a:pPr indent="0" marL="0">
              <a:buNone/>
            </a:pPr>
            <a:r>
              <a:rPr lang="en-US" sz="1600" b="1" dirty="0">
                <a:solidFill>
                  <a:schemeClr val="accent1"/>
                </a:solidFill>
              </a:rPr>
              <a:t>Monitoring</a:t>
            </a:r>
            <a:endParaRPr lang="en-US" sz="1600" dirty="0"/>
          </a:p>
          <a:p>
            <a:pPr indent="0" marL="0">
              <a:buNone/>
            </a:pPr>
            <a:r>
              <a:rPr lang="en-US" sz="1600" dirty="0">
                <a:solidFill>
                  <a:schemeClr val="tx1"/>
                </a:solidFill>
              </a:rPr>
              <a:t>Track progress and accountability</a:t>
            </a:r>
            <a:endParaRPr lang="en-US" sz="1600" dirty="0"/>
          </a:p>
        </p:txBody>
      </p:sp>
      <p:sp>
        <p:nvSpPr>
          <p:cNvPr id="30" name="node 7"/>
          <p:cNvSpPr/>
          <p:nvPr/>
        </p:nvSpPr>
        <p:spPr>
          <a:xfrm>
            <a:off x="1418928" y="2061512"/>
            <a:ext cx="2926080" cy="1051560"/>
          </a:xfrm>
          <a:prstGeom prst="roundRect">
            <a:avLst>
              <a:gd name="adj" fmla="val 10435"/>
            </a:avLst>
          </a:prstGeom>
          <a:solidFill>
            <a:schemeClr val="bg2"/>
          </a:solidFill>
          <a:ln w="12700">
            <a:solidFill>
              <a:schemeClr val="bg2"/>
            </a:solidFill>
            <a:prstDash val="solid"/>
          </a:ln>
        </p:spPr>
      </p:sp>
      <p:sp>
        <p:nvSpPr>
          <p:cNvPr id="31" name="node 7 badge"/>
          <p:cNvSpPr/>
          <p:nvPr/>
        </p:nvSpPr>
        <p:spPr>
          <a:xfrm>
            <a:off x="1281768" y="1924352"/>
            <a:ext cx="384048" cy="384048"/>
          </a:xfrm>
          <a:prstGeom prst="ellipse">
            <a:avLst/>
          </a:prstGeom>
          <a:solidFill>
            <a:schemeClr val="accent2"/>
          </a:solidFill>
          <a:ln w="19050">
            <a:solidFill>
              <a:schemeClr val="bg1"/>
            </a:solidFill>
            <a:prstDash val="solid"/>
          </a:ln>
        </p:spPr>
      </p:sp>
      <p:sp>
        <p:nvSpPr>
          <p:cNvPr id="32" name="Text 30"/>
          <p:cNvSpPr txBox="1"/>
          <p:nvPr/>
        </p:nvSpPr>
        <p:spPr>
          <a:xfrm>
            <a:off x="1281768" y="19243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3" name="Text 31"/>
          <p:cNvSpPr txBox="1"/>
          <p:nvPr/>
        </p:nvSpPr>
        <p:spPr>
          <a:xfrm>
            <a:off x="1583520" y="2134664"/>
            <a:ext cx="2651760" cy="923544"/>
          </a:xfrm>
          <a:prstGeom prst="rect">
            <a:avLst/>
          </a:prstGeom>
          <a:noFill/>
          <a:ln/>
        </p:spPr>
        <p:txBody>
          <a:bodyPr wrap="square" lIns="0" tIns="0" rIns="0" bIns="0" rtlCol="0" anchor="ctr"/>
          <a:lstStyle/>
          <a:p>
            <a:pPr indent="0" marL="0">
              <a:buNone/>
            </a:pPr>
            <a:r>
              <a:rPr lang="en-US" sz="1600" b="1" dirty="0">
                <a:solidFill>
                  <a:schemeClr val="accent2"/>
                </a:solidFill>
              </a:rPr>
              <a:t>Evaluation</a:t>
            </a:r>
            <a:endParaRPr lang="en-US" sz="1600" dirty="0"/>
          </a:p>
          <a:p>
            <a:pPr indent="0" marL="0">
              <a:buNone/>
            </a:pPr>
            <a:r>
              <a:rPr lang="en-US" sz="1600" dirty="0">
                <a:solidFill>
                  <a:schemeClr val="tx1"/>
                </a:solidFill>
              </a:rPr>
              <a:t>Assess results and impact; give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NEP 2020: A Collaborative Journey</a:t>
            </a:r>
            <a:endParaRPr lang="en-US" sz="3600" dirty="0"/>
          </a:p>
        </p:txBody>
      </p:sp>
      <p:sp>
        <p:nvSpPr>
          <p:cNvPr id="3" name="step 1 card"/>
          <p:cNvSpPr/>
          <p:nvPr/>
        </p:nvSpPr>
        <p:spPr>
          <a:xfrm>
            <a:off x="548640" y="1417320"/>
            <a:ext cx="1883664" cy="480060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1. 1986</a:t>
            </a:r>
            <a:endParaRPr lang="en-US" sz="1700" dirty="0"/>
          </a:p>
        </p:txBody>
      </p:sp>
      <p:sp>
        <p:nvSpPr>
          <p:cNvPr id="7" name="Text 4"/>
          <p:cNvSpPr txBox="1"/>
          <p:nvPr/>
        </p:nvSpPr>
        <p:spPr>
          <a:xfrm>
            <a:off x="731520"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India's previous National Policy on Education.</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80060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2. 2015</a:t>
            </a:r>
            <a:endParaRPr lang="en-US" sz="1700" dirty="0"/>
          </a:p>
        </p:txBody>
      </p:sp>
      <p:sp>
        <p:nvSpPr>
          <p:cNvPr id="13" name="Text 9"/>
          <p:cNvSpPr txBox="1"/>
          <p:nvPr/>
        </p:nvSpPr>
        <p:spPr>
          <a:xfrm>
            <a:off x="3026664"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Government begins work on a new policy as society changes.</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80060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3. 2017</a:t>
            </a:r>
            <a:endParaRPr lang="en-US" sz="1700" dirty="0"/>
          </a:p>
        </p:txBody>
      </p:sp>
      <p:sp>
        <p:nvSpPr>
          <p:cNvPr id="19" name="Text 14"/>
          <p:cNvSpPr txBox="1"/>
          <p:nvPr/>
        </p:nvSpPr>
        <p:spPr>
          <a:xfrm>
            <a:off x="5321808"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Expert committee chaired by </a:t>
            </a:r>
            <a:r>
              <a:rPr lang="en-US" sz="1700" b="1" dirty="0">
                <a:solidFill>
                  <a:schemeClr val="tx1"/>
                </a:solidFill>
              </a:rPr>
              <a:t>Dr K. Kasturirangan</a:t>
            </a:r>
            <a:r>
              <a:rPr lang="en-US" sz="1700" dirty="0">
                <a:solidFill>
                  <a:schemeClr val="tx1"/>
                </a:solidFill>
              </a:rPr>
              <a:t>.</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80060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Consultation</a:t>
            </a:r>
            <a:endParaRPr lang="en-US" sz="1700" dirty="0"/>
          </a:p>
        </p:txBody>
      </p:sp>
      <p:sp>
        <p:nvSpPr>
          <p:cNvPr id="25" name="Text 19"/>
          <p:cNvSpPr txBox="1"/>
          <p:nvPr/>
        </p:nvSpPr>
        <p:spPr>
          <a:xfrm>
            <a:off x="7616952"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2.5 lakh gram panchayats, 6,600 blocks, 676 districts; about </a:t>
            </a:r>
            <a:r>
              <a:rPr lang="en-US" sz="1700" b="1" dirty="0">
                <a:solidFill>
                  <a:schemeClr val="tx1"/>
                </a:solidFill>
              </a:rPr>
              <a:t>2 lakh suggestions</a:t>
            </a:r>
            <a:r>
              <a:rPr lang="en-US" sz="1700" dirty="0">
                <a:solidFill>
                  <a:schemeClr val="tx1"/>
                </a:solidFill>
              </a:rPr>
              <a:t>.</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80060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July 2020</a:t>
            </a:r>
            <a:endParaRPr lang="en-US" sz="1700" dirty="0"/>
          </a:p>
        </p:txBody>
      </p:sp>
      <p:sp>
        <p:nvSpPr>
          <p:cNvPr id="31" name="Text 24"/>
          <p:cNvSpPr txBox="1"/>
          <p:nvPr/>
        </p:nvSpPr>
        <p:spPr>
          <a:xfrm>
            <a:off x="9912096"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Approved by the Union Cabinet.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Role-Play: Making NEP 2020 Work</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ROLE-PLAY</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Stakeholder roundtable</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30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8 groups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Role cards, NEP summary points</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Groups: </a:t>
            </a:r>
            <a:r>
              <a:rPr lang="en-US" sz="1400" b="1" dirty="0">
                <a:solidFill>
                  <a:schemeClr val="tx1"/>
                </a:solidFill>
              </a:rPr>
              <a:t>Union Govt, state govt, principal, teacher, parent, student, NGO, journalist</a:t>
            </a:r>
            <a:r>
              <a:rPr lang="en-US" sz="1400" dirty="0">
                <a:solidFill>
                  <a:schemeClr val="tx1"/>
                </a:solidFill>
              </a:rPr>
              <a: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Discuss: How can your group help implement NEP?</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Prepare 3 action points.</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Present in 2 minutes each.</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Class finds links: who needs whom?</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A policy succeeds only when every stakeholder plays its part.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Policy, Programmes and Schemes</a:t>
            </a:r>
            <a:endParaRPr lang="en-US" sz="3600" dirty="0"/>
          </a:p>
        </p:txBody>
      </p:sp>
      <p:sp>
        <p:nvSpPr>
          <p:cNvPr id="3" name="Text 1"/>
          <p:cNvSpPr txBox="1"/>
          <p:nvPr/>
        </p:nvSpPr>
        <p:spPr>
          <a:xfrm>
            <a:off x="548640" y="1234440"/>
            <a:ext cx="11064240" cy="457200"/>
          </a:xfrm>
          <a:prstGeom prst="rect">
            <a:avLst/>
          </a:prstGeom>
          <a:noFill/>
          <a:ln/>
        </p:spPr>
        <p:txBody>
          <a:bodyPr wrap="square" lIns="0" tIns="0" rIns="0" bIns="0" rtlCol="0" anchor="ctr"/>
          <a:lstStyle/>
          <a:p>
            <a:pPr indent="0" marL="0">
              <a:buNone/>
            </a:pPr>
            <a:r>
              <a:rPr lang="en-US" sz="1700" dirty="0">
                <a:solidFill>
                  <a:schemeClr val="tx1"/>
                </a:solidFill>
              </a:rPr>
              <a:t>Example: </a:t>
            </a:r>
            <a:r>
              <a:rPr lang="en-US" sz="1700" b="1" dirty="0">
                <a:solidFill>
                  <a:schemeClr val="tx1"/>
                </a:solidFill>
              </a:rPr>
              <a:t>National Health Policy 2017</a:t>
            </a:r>
            <a:endParaRPr lang="en-US" sz="1600" dirty="0"/>
          </a:p>
        </p:txBody>
      </p:sp>
      <p:sp>
        <p:nvSpPr>
          <p:cNvPr id="4" name="POLICY"/>
          <p:cNvSpPr/>
          <p:nvPr/>
        </p:nvSpPr>
        <p:spPr>
          <a:xfrm>
            <a:off x="548640" y="1828800"/>
            <a:ext cx="2834640" cy="1188720"/>
          </a:xfrm>
          <a:prstGeom prst="roundRect">
            <a:avLst>
              <a:gd name="adj" fmla="val 9231"/>
            </a:avLst>
          </a:prstGeom>
          <a:solidFill>
            <a:schemeClr val="accent1"/>
          </a:solidFill>
          <a:ln w="12700">
            <a:solidFill>
              <a:schemeClr val="accent1"/>
            </a:solidFill>
            <a:prstDash val="solid"/>
          </a:ln>
        </p:spPr>
      </p:sp>
      <p:sp>
        <p:nvSpPr>
          <p:cNvPr id="5" name="Text 3"/>
          <p:cNvSpPr txBox="1"/>
          <p:nvPr/>
        </p:nvSpPr>
        <p:spPr>
          <a:xfrm>
            <a:off x="731520" y="1828800"/>
            <a:ext cx="2560320" cy="1188720"/>
          </a:xfrm>
          <a:prstGeom prst="rect">
            <a:avLst/>
          </a:prstGeom>
          <a:noFill/>
          <a:ln/>
        </p:spPr>
        <p:txBody>
          <a:bodyPr wrap="square" lIns="0" tIns="0" rIns="0" bIns="0" rtlCol="0" anchor="ctr"/>
          <a:lstStyle/>
          <a:p>
            <a:pPr indent="0" marL="0">
              <a:buNone/>
            </a:pPr>
            <a:r>
              <a:rPr lang="en-US" sz="2000" b="1" dirty="0">
                <a:solidFill>
                  <a:schemeClr val="bg1"/>
                </a:solidFill>
              </a:rPr>
              <a:t>POLICY</a:t>
            </a:r>
            <a:endParaRPr lang="en-US" sz="1600" dirty="0"/>
          </a:p>
          <a:p>
            <a:pPr indent="0" marL="0">
              <a:buNone/>
            </a:pPr>
            <a:r>
              <a:rPr lang="en-US" sz="1400" dirty="0">
                <a:solidFill>
                  <a:schemeClr val="bg1"/>
                </a:solidFill>
              </a:rPr>
              <a:t>Sets the direction and goal</a:t>
            </a:r>
            <a:endParaRPr lang="en-US" sz="1600" dirty="0"/>
          </a:p>
        </p:txBody>
      </p:sp>
      <p:sp>
        <p:nvSpPr>
          <p:cNvPr id="6" name="POLICY item 1"/>
          <p:cNvSpPr/>
          <p:nvPr/>
        </p:nvSpPr>
        <p:spPr>
          <a:xfrm>
            <a:off x="3611880" y="1828800"/>
            <a:ext cx="1863090" cy="1188720"/>
          </a:xfrm>
          <a:prstGeom prst="roundRect">
            <a:avLst>
              <a:gd name="adj" fmla="val 9231"/>
            </a:avLst>
          </a:prstGeom>
          <a:solidFill>
            <a:schemeClr val="bg2"/>
          </a:solidFill>
          <a:ln w="12700">
            <a:solidFill>
              <a:schemeClr val="bg2"/>
            </a:solidFill>
            <a:prstDash val="solid"/>
          </a:ln>
        </p:spPr>
      </p:sp>
      <p:sp>
        <p:nvSpPr>
          <p:cNvPr id="7" name="Text 5"/>
          <p:cNvSpPr txBox="1"/>
          <p:nvPr/>
        </p:nvSpPr>
        <p:spPr>
          <a:xfrm>
            <a:off x="3749040" y="18288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Universal access to good-quality healthcare</a:t>
            </a:r>
            <a:endParaRPr lang="en-US" sz="1500" dirty="0"/>
          </a:p>
        </p:txBody>
      </p:sp>
      <p:sp>
        <p:nvSpPr>
          <p:cNvPr id="8" name="POLICY item 2"/>
          <p:cNvSpPr/>
          <p:nvPr/>
        </p:nvSpPr>
        <p:spPr>
          <a:xfrm>
            <a:off x="5657850" y="1828800"/>
            <a:ext cx="1863090" cy="1188720"/>
          </a:xfrm>
          <a:prstGeom prst="roundRect">
            <a:avLst>
              <a:gd name="adj" fmla="val 9231"/>
            </a:avLst>
          </a:prstGeom>
          <a:solidFill>
            <a:schemeClr val="bg2"/>
          </a:solidFill>
          <a:ln w="12700">
            <a:solidFill>
              <a:schemeClr val="bg2"/>
            </a:solidFill>
            <a:prstDash val="solid"/>
          </a:ln>
        </p:spPr>
      </p:sp>
      <p:sp>
        <p:nvSpPr>
          <p:cNvPr id="9" name="Text 7"/>
          <p:cNvSpPr txBox="1"/>
          <p:nvPr/>
        </p:nvSpPr>
        <p:spPr>
          <a:xfrm>
            <a:off x="5795010" y="18288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Strengthen public healthcare systems</a:t>
            </a:r>
            <a:endParaRPr lang="en-US" sz="1500" dirty="0"/>
          </a:p>
        </p:txBody>
      </p:sp>
      <p:sp>
        <p:nvSpPr>
          <p:cNvPr id="10" name="POLICY item 3"/>
          <p:cNvSpPr/>
          <p:nvPr/>
        </p:nvSpPr>
        <p:spPr>
          <a:xfrm>
            <a:off x="7703820" y="1828800"/>
            <a:ext cx="1863090" cy="1188720"/>
          </a:xfrm>
          <a:prstGeom prst="roundRect">
            <a:avLst>
              <a:gd name="adj" fmla="val 9231"/>
            </a:avLst>
          </a:prstGeom>
          <a:solidFill>
            <a:schemeClr val="bg2"/>
          </a:solidFill>
          <a:ln w="12700">
            <a:solidFill>
              <a:schemeClr val="bg2"/>
            </a:solidFill>
            <a:prstDash val="solid"/>
          </a:ln>
        </p:spPr>
      </p:sp>
      <p:sp>
        <p:nvSpPr>
          <p:cNvPr id="11" name="Text 9"/>
          <p:cNvSpPr txBox="1"/>
          <p:nvPr/>
        </p:nvSpPr>
        <p:spPr>
          <a:xfrm>
            <a:off x="7840980" y="18288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Equity, affordability, accountability</a:t>
            </a:r>
            <a:endParaRPr lang="en-US" sz="1500" dirty="0"/>
          </a:p>
        </p:txBody>
      </p:sp>
      <p:sp>
        <p:nvSpPr>
          <p:cNvPr id="12" name="POLICY item 4"/>
          <p:cNvSpPr/>
          <p:nvPr/>
        </p:nvSpPr>
        <p:spPr>
          <a:xfrm>
            <a:off x="9749790" y="1828800"/>
            <a:ext cx="1863090" cy="1188720"/>
          </a:xfrm>
          <a:prstGeom prst="roundRect">
            <a:avLst>
              <a:gd name="adj" fmla="val 9231"/>
            </a:avLst>
          </a:prstGeom>
          <a:solidFill>
            <a:schemeClr val="bg2"/>
          </a:solidFill>
          <a:ln w="12700">
            <a:solidFill>
              <a:schemeClr val="bg2"/>
            </a:solidFill>
            <a:prstDash val="solid"/>
          </a:ln>
        </p:spPr>
      </p:sp>
      <p:sp>
        <p:nvSpPr>
          <p:cNvPr id="13" name="Text 11"/>
          <p:cNvSpPr txBox="1"/>
          <p:nvPr/>
        </p:nvSpPr>
        <p:spPr>
          <a:xfrm>
            <a:off x="9886950" y="18288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Preventive and promotive care</a:t>
            </a:r>
            <a:endParaRPr lang="en-US" sz="1500" dirty="0"/>
          </a:p>
        </p:txBody>
      </p:sp>
      <p:sp>
        <p:nvSpPr>
          <p:cNvPr id="14" name="tier arrow 0"/>
          <p:cNvSpPr/>
          <p:nvPr/>
        </p:nvSpPr>
        <p:spPr>
          <a:xfrm>
            <a:off x="1783080" y="3035808"/>
            <a:ext cx="365760" cy="155448"/>
          </a:xfrm>
          <a:prstGeom prst="downArrow">
            <a:avLst/>
          </a:prstGeom>
          <a:solidFill>
            <a:schemeClr val="accent3"/>
          </a:solidFill>
          <a:ln w="12700">
            <a:solidFill>
              <a:schemeClr val="accent3"/>
            </a:solidFill>
            <a:prstDash val="solid"/>
          </a:ln>
        </p:spPr>
      </p:sp>
      <p:sp>
        <p:nvSpPr>
          <p:cNvPr id="15" name="PROGRAMMES"/>
          <p:cNvSpPr/>
          <p:nvPr/>
        </p:nvSpPr>
        <p:spPr>
          <a:xfrm>
            <a:off x="548640" y="3200400"/>
            <a:ext cx="2834640" cy="1188720"/>
          </a:xfrm>
          <a:prstGeom prst="roundRect">
            <a:avLst>
              <a:gd name="adj" fmla="val 9231"/>
            </a:avLst>
          </a:prstGeom>
          <a:solidFill>
            <a:schemeClr val="accent5"/>
          </a:solidFill>
          <a:ln w="12700">
            <a:solidFill>
              <a:schemeClr val="accent5"/>
            </a:solidFill>
            <a:prstDash val="solid"/>
          </a:ln>
        </p:spPr>
      </p:sp>
      <p:sp>
        <p:nvSpPr>
          <p:cNvPr id="16" name="Text 14"/>
          <p:cNvSpPr txBox="1"/>
          <p:nvPr/>
        </p:nvSpPr>
        <p:spPr>
          <a:xfrm>
            <a:off x="731520" y="3200400"/>
            <a:ext cx="2560320" cy="1188720"/>
          </a:xfrm>
          <a:prstGeom prst="rect">
            <a:avLst/>
          </a:prstGeom>
          <a:noFill/>
          <a:ln/>
        </p:spPr>
        <p:txBody>
          <a:bodyPr wrap="square" lIns="0" tIns="0" rIns="0" bIns="0" rtlCol="0" anchor="ctr"/>
          <a:lstStyle/>
          <a:p>
            <a:pPr indent="0" marL="0">
              <a:buNone/>
            </a:pPr>
            <a:r>
              <a:rPr lang="en-US" sz="2000" b="1" dirty="0">
                <a:solidFill>
                  <a:schemeClr val="bg1"/>
                </a:solidFill>
              </a:rPr>
              <a:t>PROGRAMMES</a:t>
            </a:r>
            <a:endParaRPr lang="en-US" sz="1600" dirty="0"/>
          </a:p>
          <a:p>
            <a:pPr indent="0" marL="0">
              <a:buNone/>
            </a:pPr>
            <a:r>
              <a:rPr lang="en-US" sz="1400" dirty="0">
                <a:solidFill>
                  <a:schemeClr val="bg1"/>
                </a:solidFill>
              </a:rPr>
              <a:t>Turn goals into strategies</a:t>
            </a:r>
            <a:endParaRPr lang="en-US" sz="1600" dirty="0"/>
          </a:p>
        </p:txBody>
      </p:sp>
      <p:sp>
        <p:nvSpPr>
          <p:cNvPr id="17" name="PROGRAMMES item 1"/>
          <p:cNvSpPr/>
          <p:nvPr/>
        </p:nvSpPr>
        <p:spPr>
          <a:xfrm>
            <a:off x="3611880" y="3200400"/>
            <a:ext cx="1863090" cy="1188720"/>
          </a:xfrm>
          <a:prstGeom prst="roundRect">
            <a:avLst>
              <a:gd name="adj" fmla="val 9231"/>
            </a:avLst>
          </a:prstGeom>
          <a:solidFill>
            <a:schemeClr val="bg2"/>
          </a:solidFill>
          <a:ln w="12700">
            <a:solidFill>
              <a:schemeClr val="bg2"/>
            </a:solidFill>
            <a:prstDash val="solid"/>
          </a:ln>
        </p:spPr>
      </p:sp>
      <p:sp>
        <p:nvSpPr>
          <p:cNvPr id="18" name="Text 16"/>
          <p:cNvSpPr txBox="1"/>
          <p:nvPr/>
        </p:nvSpPr>
        <p:spPr>
          <a:xfrm>
            <a:off x="3749040" y="32004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Strengthening the health system</a:t>
            </a:r>
            <a:endParaRPr lang="en-US" sz="1500" dirty="0"/>
          </a:p>
        </p:txBody>
      </p:sp>
      <p:sp>
        <p:nvSpPr>
          <p:cNvPr id="19" name="PROGRAMMES item 2"/>
          <p:cNvSpPr/>
          <p:nvPr/>
        </p:nvSpPr>
        <p:spPr>
          <a:xfrm>
            <a:off x="5657850" y="3200400"/>
            <a:ext cx="1863090" cy="1188720"/>
          </a:xfrm>
          <a:prstGeom prst="roundRect">
            <a:avLst>
              <a:gd name="adj" fmla="val 9231"/>
            </a:avLst>
          </a:prstGeom>
          <a:solidFill>
            <a:schemeClr val="bg2"/>
          </a:solidFill>
          <a:ln w="12700">
            <a:solidFill>
              <a:schemeClr val="bg2"/>
            </a:solidFill>
            <a:prstDash val="solid"/>
          </a:ln>
        </p:spPr>
      </p:sp>
      <p:sp>
        <p:nvSpPr>
          <p:cNvPr id="20" name="Text 18"/>
          <p:cNvSpPr txBox="1"/>
          <p:nvPr/>
        </p:nvSpPr>
        <p:spPr>
          <a:xfrm>
            <a:off x="5795010" y="32004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Universal access to comprehensive care</a:t>
            </a:r>
            <a:endParaRPr lang="en-US" sz="1500" dirty="0"/>
          </a:p>
        </p:txBody>
      </p:sp>
      <p:sp>
        <p:nvSpPr>
          <p:cNvPr id="21" name="PROGRAMMES item 3"/>
          <p:cNvSpPr/>
          <p:nvPr/>
        </p:nvSpPr>
        <p:spPr>
          <a:xfrm>
            <a:off x="7703820" y="3200400"/>
            <a:ext cx="1863090" cy="1188720"/>
          </a:xfrm>
          <a:prstGeom prst="roundRect">
            <a:avLst>
              <a:gd name="adj" fmla="val 9231"/>
            </a:avLst>
          </a:prstGeom>
          <a:solidFill>
            <a:schemeClr val="bg2"/>
          </a:solidFill>
          <a:ln w="12700">
            <a:solidFill>
              <a:schemeClr val="bg2"/>
            </a:solidFill>
            <a:prstDash val="solid"/>
          </a:ln>
        </p:spPr>
      </p:sp>
      <p:sp>
        <p:nvSpPr>
          <p:cNvPr id="22" name="Text 20"/>
          <p:cNvSpPr txBox="1"/>
          <p:nvPr/>
        </p:nvSpPr>
        <p:spPr>
          <a:xfrm>
            <a:off x="7840980" y="32004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Preventive and promotive healthcare</a:t>
            </a:r>
            <a:endParaRPr lang="en-US" sz="1500" dirty="0"/>
          </a:p>
        </p:txBody>
      </p:sp>
      <p:sp>
        <p:nvSpPr>
          <p:cNvPr id="23" name="PROGRAMMES item 4"/>
          <p:cNvSpPr/>
          <p:nvPr/>
        </p:nvSpPr>
        <p:spPr>
          <a:xfrm>
            <a:off x="9749790" y="3200400"/>
            <a:ext cx="1863090" cy="1188720"/>
          </a:xfrm>
          <a:prstGeom prst="roundRect">
            <a:avLst>
              <a:gd name="adj" fmla="val 9231"/>
            </a:avLst>
          </a:prstGeom>
          <a:solidFill>
            <a:schemeClr val="bg2"/>
          </a:solidFill>
          <a:ln w="12700">
            <a:solidFill>
              <a:schemeClr val="bg2"/>
            </a:solidFill>
            <a:prstDash val="solid"/>
          </a:ln>
        </p:spPr>
      </p:sp>
      <p:sp>
        <p:nvSpPr>
          <p:cNvPr id="24" name="Text 22"/>
          <p:cNvSpPr txBox="1"/>
          <p:nvPr/>
        </p:nvSpPr>
        <p:spPr>
          <a:xfrm>
            <a:off x="9886950" y="32004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Digital health information system</a:t>
            </a:r>
            <a:endParaRPr lang="en-US" sz="1500" dirty="0"/>
          </a:p>
        </p:txBody>
      </p:sp>
      <p:sp>
        <p:nvSpPr>
          <p:cNvPr id="25" name="tier arrow 1"/>
          <p:cNvSpPr/>
          <p:nvPr/>
        </p:nvSpPr>
        <p:spPr>
          <a:xfrm>
            <a:off x="1783080" y="4407408"/>
            <a:ext cx="365760" cy="155448"/>
          </a:xfrm>
          <a:prstGeom prst="downArrow">
            <a:avLst/>
          </a:prstGeom>
          <a:solidFill>
            <a:schemeClr val="accent3"/>
          </a:solidFill>
          <a:ln w="12700">
            <a:solidFill>
              <a:schemeClr val="accent3"/>
            </a:solidFill>
            <a:prstDash val="solid"/>
          </a:ln>
        </p:spPr>
      </p:sp>
      <p:sp>
        <p:nvSpPr>
          <p:cNvPr id="26" name="SCHEMES"/>
          <p:cNvSpPr/>
          <p:nvPr/>
        </p:nvSpPr>
        <p:spPr>
          <a:xfrm>
            <a:off x="548640" y="4572000"/>
            <a:ext cx="2834640" cy="1188720"/>
          </a:xfrm>
          <a:prstGeom prst="roundRect">
            <a:avLst>
              <a:gd name="adj" fmla="val 9231"/>
            </a:avLst>
          </a:prstGeom>
          <a:solidFill>
            <a:schemeClr val="accent2"/>
          </a:solidFill>
          <a:ln w="12700">
            <a:solidFill>
              <a:schemeClr val="accent2"/>
            </a:solidFill>
            <a:prstDash val="solid"/>
          </a:ln>
        </p:spPr>
      </p:sp>
      <p:sp>
        <p:nvSpPr>
          <p:cNvPr id="27" name="Text 25"/>
          <p:cNvSpPr txBox="1"/>
          <p:nvPr/>
        </p:nvSpPr>
        <p:spPr>
          <a:xfrm>
            <a:off x="731520" y="4572000"/>
            <a:ext cx="2560320" cy="1188720"/>
          </a:xfrm>
          <a:prstGeom prst="rect">
            <a:avLst/>
          </a:prstGeom>
          <a:noFill/>
          <a:ln/>
        </p:spPr>
        <p:txBody>
          <a:bodyPr wrap="square" lIns="0" tIns="0" rIns="0" bIns="0" rtlCol="0" anchor="ctr"/>
          <a:lstStyle/>
          <a:p>
            <a:pPr indent="0" marL="0">
              <a:buNone/>
            </a:pPr>
            <a:r>
              <a:rPr lang="en-US" sz="2000" b="1" dirty="0">
                <a:solidFill>
                  <a:schemeClr val="bg1"/>
                </a:solidFill>
              </a:rPr>
              <a:t>SCHEMES</a:t>
            </a:r>
            <a:endParaRPr lang="en-US" sz="1600" dirty="0"/>
          </a:p>
          <a:p>
            <a:pPr indent="0" marL="0">
              <a:buNone/>
            </a:pPr>
            <a:r>
              <a:rPr lang="en-US" sz="1400" dirty="0">
                <a:solidFill>
                  <a:schemeClr val="bg1"/>
                </a:solidFill>
              </a:rPr>
              <a:t>Deliver concrete benefits to people</a:t>
            </a:r>
            <a:endParaRPr lang="en-US" sz="1600" dirty="0"/>
          </a:p>
        </p:txBody>
      </p:sp>
      <p:sp>
        <p:nvSpPr>
          <p:cNvPr id="28" name="SCHEMES item 1"/>
          <p:cNvSpPr/>
          <p:nvPr/>
        </p:nvSpPr>
        <p:spPr>
          <a:xfrm>
            <a:off x="3611880" y="4572000"/>
            <a:ext cx="1863090" cy="1188720"/>
          </a:xfrm>
          <a:prstGeom prst="roundRect">
            <a:avLst>
              <a:gd name="adj" fmla="val 9231"/>
            </a:avLst>
          </a:prstGeom>
          <a:solidFill>
            <a:schemeClr val="bg2"/>
          </a:solidFill>
          <a:ln w="12700">
            <a:solidFill>
              <a:schemeClr val="bg2"/>
            </a:solidFill>
            <a:prstDash val="solid"/>
          </a:ln>
        </p:spPr>
      </p:sp>
      <p:sp>
        <p:nvSpPr>
          <p:cNvPr id="29" name="Text 27"/>
          <p:cNvSpPr txBox="1"/>
          <p:nvPr/>
        </p:nvSpPr>
        <p:spPr>
          <a:xfrm>
            <a:off x="3749040" y="4572000"/>
            <a:ext cx="1588770" cy="1188720"/>
          </a:xfrm>
          <a:prstGeom prst="rect">
            <a:avLst/>
          </a:prstGeom>
          <a:noFill/>
          <a:ln/>
        </p:spPr>
        <p:txBody>
          <a:bodyPr wrap="square" lIns="0" tIns="0" rIns="0" bIns="0" rtlCol="0" anchor="ctr"/>
          <a:lstStyle/>
          <a:p>
            <a:pPr algn="ctr" indent="0" marL="0">
              <a:buNone/>
            </a:pPr>
            <a:r>
              <a:rPr lang="en-US" sz="1500" b="1" dirty="0">
                <a:solidFill>
                  <a:schemeClr val="tx2"/>
                </a:solidFill>
              </a:rPr>
              <a:t>Ayushman Bharat PM-JAY</a:t>
            </a:r>
            <a:endParaRPr lang="en-US" sz="1500" dirty="0"/>
          </a:p>
        </p:txBody>
      </p:sp>
      <p:sp>
        <p:nvSpPr>
          <p:cNvPr id="30" name="SCHEMES item 2"/>
          <p:cNvSpPr/>
          <p:nvPr/>
        </p:nvSpPr>
        <p:spPr>
          <a:xfrm>
            <a:off x="5657850" y="4572000"/>
            <a:ext cx="1863090" cy="1188720"/>
          </a:xfrm>
          <a:prstGeom prst="roundRect">
            <a:avLst>
              <a:gd name="adj" fmla="val 9231"/>
            </a:avLst>
          </a:prstGeom>
          <a:solidFill>
            <a:schemeClr val="bg2"/>
          </a:solidFill>
          <a:ln w="12700">
            <a:solidFill>
              <a:schemeClr val="bg2"/>
            </a:solidFill>
            <a:prstDash val="solid"/>
          </a:ln>
        </p:spPr>
      </p:sp>
      <p:sp>
        <p:nvSpPr>
          <p:cNvPr id="31" name="Text 29"/>
          <p:cNvSpPr txBox="1"/>
          <p:nvPr/>
        </p:nvSpPr>
        <p:spPr>
          <a:xfrm>
            <a:off x="5795010" y="4572000"/>
            <a:ext cx="1588770" cy="1188720"/>
          </a:xfrm>
          <a:prstGeom prst="rect">
            <a:avLst/>
          </a:prstGeom>
          <a:noFill/>
          <a:ln/>
        </p:spPr>
        <p:txBody>
          <a:bodyPr wrap="square" lIns="0" tIns="0" rIns="0" bIns="0" rtlCol="0" anchor="ctr"/>
          <a:lstStyle/>
          <a:p>
            <a:pPr algn="ctr" indent="0" marL="0">
              <a:buNone/>
            </a:pPr>
            <a:r>
              <a:rPr lang="en-US" sz="1500" b="1" dirty="0">
                <a:solidFill>
                  <a:schemeClr val="tx2"/>
                </a:solidFill>
              </a:rPr>
              <a:t>Health and wellness centres</a:t>
            </a:r>
            <a:endParaRPr lang="en-US" sz="1500" dirty="0"/>
          </a:p>
        </p:txBody>
      </p:sp>
      <p:sp>
        <p:nvSpPr>
          <p:cNvPr id="32" name="SCHEMES item 3"/>
          <p:cNvSpPr/>
          <p:nvPr/>
        </p:nvSpPr>
        <p:spPr>
          <a:xfrm>
            <a:off x="7703820" y="4572000"/>
            <a:ext cx="1863090" cy="1188720"/>
          </a:xfrm>
          <a:prstGeom prst="roundRect">
            <a:avLst>
              <a:gd name="adj" fmla="val 9231"/>
            </a:avLst>
          </a:prstGeom>
          <a:solidFill>
            <a:schemeClr val="bg2"/>
          </a:solidFill>
          <a:ln w="12700">
            <a:solidFill>
              <a:schemeClr val="bg2"/>
            </a:solidFill>
            <a:prstDash val="solid"/>
          </a:ln>
        </p:spPr>
      </p:sp>
      <p:sp>
        <p:nvSpPr>
          <p:cNvPr id="33" name="Text 31"/>
          <p:cNvSpPr txBox="1"/>
          <p:nvPr/>
        </p:nvSpPr>
        <p:spPr>
          <a:xfrm>
            <a:off x="7840980" y="4572000"/>
            <a:ext cx="1588770" cy="1188720"/>
          </a:xfrm>
          <a:prstGeom prst="rect">
            <a:avLst/>
          </a:prstGeom>
          <a:noFill/>
          <a:ln/>
        </p:spPr>
        <p:txBody>
          <a:bodyPr wrap="square" lIns="0" tIns="0" rIns="0" bIns="0" rtlCol="0" anchor="ctr"/>
          <a:lstStyle/>
          <a:p>
            <a:pPr algn="ctr" indent="0" marL="0">
              <a:buNone/>
            </a:pPr>
            <a:r>
              <a:rPr lang="en-US" sz="1500" b="1" dirty="0">
                <a:solidFill>
                  <a:schemeClr val="tx2"/>
                </a:solidFill>
              </a:rPr>
              <a:t>Janani Suraksha Yojana</a:t>
            </a:r>
            <a:endParaRPr lang="en-US" sz="1500" dirty="0"/>
          </a:p>
        </p:txBody>
      </p:sp>
      <p:sp>
        <p:nvSpPr>
          <p:cNvPr id="34" name="SCHEMES item 4"/>
          <p:cNvSpPr/>
          <p:nvPr/>
        </p:nvSpPr>
        <p:spPr>
          <a:xfrm>
            <a:off x="9749790" y="4572000"/>
            <a:ext cx="1863090" cy="1188720"/>
          </a:xfrm>
          <a:prstGeom prst="roundRect">
            <a:avLst>
              <a:gd name="adj" fmla="val 9231"/>
            </a:avLst>
          </a:prstGeom>
          <a:solidFill>
            <a:schemeClr val="bg2"/>
          </a:solidFill>
          <a:ln w="12700">
            <a:solidFill>
              <a:schemeClr val="bg2"/>
            </a:solidFill>
            <a:prstDash val="solid"/>
          </a:ln>
        </p:spPr>
      </p:sp>
      <p:sp>
        <p:nvSpPr>
          <p:cNvPr id="35" name="Text 33"/>
          <p:cNvSpPr txBox="1"/>
          <p:nvPr/>
        </p:nvSpPr>
        <p:spPr>
          <a:xfrm>
            <a:off x="9886950" y="4572000"/>
            <a:ext cx="1588770" cy="1188720"/>
          </a:xfrm>
          <a:prstGeom prst="rect">
            <a:avLst/>
          </a:prstGeom>
          <a:noFill/>
          <a:ln/>
        </p:spPr>
        <p:txBody>
          <a:bodyPr wrap="square" lIns="0" tIns="0" rIns="0" bIns="0" rtlCol="0" anchor="ctr"/>
          <a:lstStyle/>
          <a:p>
            <a:pPr algn="ctr" indent="0" marL="0">
              <a:buNone/>
            </a:pPr>
            <a:r>
              <a:rPr lang="en-US" sz="1500" b="1" dirty="0">
                <a:solidFill>
                  <a:schemeClr val="tx2"/>
                </a:solidFill>
              </a:rPr>
              <a:t>Mission Indradhanush</a:t>
            </a:r>
            <a:endParaRPr lang="en-US" sz="1500" dirty="0"/>
          </a:p>
        </p:txBody>
      </p:sp>
      <p:sp>
        <p:nvSpPr>
          <p:cNvPr id="36" name="takeaway band"/>
          <p:cNvSpPr/>
          <p:nvPr/>
        </p:nvSpPr>
        <p:spPr>
          <a:xfrm>
            <a:off x="548640" y="5852160"/>
            <a:ext cx="11064240" cy="457200"/>
          </a:xfrm>
          <a:prstGeom prst="roundRect">
            <a:avLst>
              <a:gd name="adj" fmla="val 16000"/>
            </a:avLst>
          </a:prstGeom>
          <a:solidFill>
            <a:schemeClr val="tx2"/>
          </a:solidFill>
          <a:ln w="12700">
            <a:solidFill>
              <a:schemeClr val="tx2"/>
            </a:solidFill>
            <a:prstDash val="solid"/>
          </a:ln>
        </p:spPr>
      </p:sp>
      <p:sp>
        <p:nvSpPr>
          <p:cNvPr id="37" name="Text 35"/>
          <p:cNvSpPr txBox="1"/>
          <p:nvPr/>
        </p:nvSpPr>
        <p:spPr>
          <a:xfrm>
            <a:off x="777240" y="5852160"/>
            <a:ext cx="10607040" cy="457200"/>
          </a:xfrm>
          <a:prstGeom prst="rect">
            <a:avLst/>
          </a:prstGeom>
          <a:noFill/>
          <a:ln/>
        </p:spPr>
        <p:txBody>
          <a:bodyPr wrap="square" lIns="0" tIns="0" rIns="0" bIns="0" rtlCol="0" anchor="ctr"/>
          <a:lstStyle/>
          <a:p>
            <a:pPr indent="0" marL="0">
              <a:buNone/>
            </a:pPr>
            <a:r>
              <a:rPr lang="en-US" sz="1500" b="1" dirty="0">
                <a:solidFill>
                  <a:schemeClr val="bg1"/>
                </a:solidFill>
              </a:rPr>
              <a:t>Key takeaway:</a:t>
            </a:r>
            <a:r>
              <a:rPr lang="en-US" sz="1500" dirty="0">
                <a:solidFill>
                  <a:schemeClr val="bg1"/>
                </a:solidFill>
              </a:rPr>
              <a:t> Policy gives the direction. Programmes show the path. Schemes are the course of action.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Khelo Bharat Niti 2025: Coordination in Action</a:t>
            </a:r>
            <a:endParaRPr lang="en-US" sz="3600" dirty="0"/>
          </a:p>
        </p:txBody>
      </p:sp>
      <p:sp>
        <p:nvSpPr>
          <p:cNvPr id="3" name="spoke 1"/>
          <p:cNvSpPr/>
          <p:nvPr/>
        </p:nvSpPr>
        <p:spPr>
          <a:xfrm>
            <a:off x="6099048" y="1984248"/>
            <a:ext cx="914" cy="1828800"/>
          </a:xfrm>
          <a:prstGeom prst="line">
            <a:avLst/>
          </a:prstGeom>
          <a:noFill/>
          <a:ln w="25400">
            <a:solidFill>
              <a:schemeClr val="accent3"/>
            </a:solidFill>
            <a:prstDash val="solid"/>
          </a:ln>
        </p:spPr>
      </p:sp>
      <p:sp>
        <p:nvSpPr>
          <p:cNvPr id="4" name="spoke 2"/>
          <p:cNvSpPr/>
          <p:nvPr/>
        </p:nvSpPr>
        <p:spPr>
          <a:xfrm flipV="1">
            <a:off x="6099048" y="2898648"/>
            <a:ext cx="3405143" cy="914400"/>
          </a:xfrm>
          <a:prstGeom prst="line">
            <a:avLst/>
          </a:prstGeom>
          <a:noFill/>
          <a:ln w="25400">
            <a:solidFill>
              <a:schemeClr val="accent3"/>
            </a:solidFill>
            <a:prstDash val="solid"/>
          </a:ln>
        </p:spPr>
      </p:sp>
      <p:sp>
        <p:nvSpPr>
          <p:cNvPr id="5" name="spoke 3"/>
          <p:cNvSpPr/>
          <p:nvPr/>
        </p:nvSpPr>
        <p:spPr>
          <a:xfrm>
            <a:off x="6099048" y="3813048"/>
            <a:ext cx="3405143" cy="914400"/>
          </a:xfrm>
          <a:prstGeom prst="line">
            <a:avLst/>
          </a:prstGeom>
          <a:noFill/>
          <a:ln w="25400">
            <a:solidFill>
              <a:schemeClr val="accent3"/>
            </a:solidFill>
            <a:prstDash val="solid"/>
          </a:ln>
        </p:spPr>
      </p:sp>
      <p:sp>
        <p:nvSpPr>
          <p:cNvPr id="6" name="spoke 4"/>
          <p:cNvSpPr/>
          <p:nvPr/>
        </p:nvSpPr>
        <p:spPr>
          <a:xfrm flipV="1">
            <a:off x="6099048" y="3813048"/>
            <a:ext cx="914" cy="1828800"/>
          </a:xfrm>
          <a:prstGeom prst="line">
            <a:avLst/>
          </a:prstGeom>
          <a:noFill/>
          <a:ln w="25400">
            <a:solidFill>
              <a:schemeClr val="accent3"/>
            </a:solidFill>
            <a:prstDash val="solid"/>
          </a:ln>
        </p:spPr>
      </p:sp>
      <p:sp>
        <p:nvSpPr>
          <p:cNvPr id="7" name="spoke 5"/>
          <p:cNvSpPr/>
          <p:nvPr/>
        </p:nvSpPr>
        <p:spPr>
          <a:xfrm flipV="1">
            <a:off x="2693905" y="3813048"/>
            <a:ext cx="3405143" cy="914400"/>
          </a:xfrm>
          <a:prstGeom prst="line">
            <a:avLst/>
          </a:prstGeom>
          <a:noFill/>
          <a:ln w="25400">
            <a:solidFill>
              <a:schemeClr val="accent3"/>
            </a:solidFill>
            <a:prstDash val="solid"/>
          </a:ln>
        </p:spPr>
      </p:sp>
      <p:sp>
        <p:nvSpPr>
          <p:cNvPr id="8" name="spoke 6"/>
          <p:cNvSpPr/>
          <p:nvPr/>
        </p:nvSpPr>
        <p:spPr>
          <a:xfrm>
            <a:off x="2693905" y="2898648"/>
            <a:ext cx="3405143" cy="914400"/>
          </a:xfrm>
          <a:prstGeom prst="line">
            <a:avLst/>
          </a:prstGeom>
          <a:noFill/>
          <a:ln w="25400">
            <a:solidFill>
              <a:schemeClr val="accent3"/>
            </a:solidFill>
            <a:prstDash val="solid"/>
          </a:ln>
        </p:spPr>
      </p:sp>
      <p:sp>
        <p:nvSpPr>
          <p:cNvPr id="9"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10" name="Text 8"/>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Khelo Bharat Niti 2025</a:t>
            </a:r>
            <a:endParaRPr lang="en-US" sz="1500" dirty="0"/>
          </a:p>
        </p:txBody>
      </p:sp>
      <p:sp>
        <p:nvSpPr>
          <p:cNvPr id="11" name="node 1"/>
          <p:cNvSpPr/>
          <p:nvPr/>
        </p:nvSpPr>
        <p:spPr>
          <a:xfrm>
            <a:off x="4453128" y="1367028"/>
            <a:ext cx="3291840" cy="1234440"/>
          </a:xfrm>
          <a:prstGeom prst="roundRect">
            <a:avLst>
              <a:gd name="adj" fmla="val 8889"/>
            </a:avLst>
          </a:prstGeom>
          <a:solidFill>
            <a:schemeClr val="bg2"/>
          </a:solidFill>
          <a:ln w="12700">
            <a:solidFill>
              <a:schemeClr val="bg2"/>
            </a:solidFill>
            <a:prstDash val="solid"/>
          </a:ln>
        </p:spPr>
      </p:sp>
      <p:sp>
        <p:nvSpPr>
          <p:cNvPr id="12" name="Text 10"/>
          <p:cNvSpPr txBox="1"/>
          <p:nvPr/>
        </p:nvSpPr>
        <p:spPr>
          <a:xfrm>
            <a:off x="4617720" y="14401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Central Government</a:t>
            </a:r>
            <a:endParaRPr lang="en-US" sz="1600" dirty="0"/>
          </a:p>
          <a:p>
            <a:pPr indent="0" marL="0">
              <a:buNone/>
            </a:pPr>
            <a:r>
              <a:rPr lang="en-US" sz="1600" dirty="0">
                <a:solidFill>
                  <a:schemeClr val="tx1"/>
                </a:solidFill>
              </a:rPr>
              <a:t>Policy framework, objectives and funding</a:t>
            </a:r>
            <a:endParaRPr lang="en-US" sz="1600" dirty="0"/>
          </a:p>
        </p:txBody>
      </p:sp>
      <p:sp>
        <p:nvSpPr>
          <p:cNvPr id="13" name="node 2"/>
          <p:cNvSpPr/>
          <p:nvPr/>
        </p:nvSpPr>
        <p:spPr>
          <a:xfrm>
            <a:off x="7858271" y="2281428"/>
            <a:ext cx="3291840" cy="1234440"/>
          </a:xfrm>
          <a:prstGeom prst="roundRect">
            <a:avLst>
              <a:gd name="adj" fmla="val 8889"/>
            </a:avLst>
          </a:prstGeom>
          <a:solidFill>
            <a:schemeClr val="bg2"/>
          </a:solidFill>
          <a:ln w="12700">
            <a:solidFill>
              <a:schemeClr val="bg2"/>
            </a:solidFill>
            <a:prstDash val="solid"/>
          </a:ln>
        </p:spPr>
      </p:sp>
      <p:sp>
        <p:nvSpPr>
          <p:cNvPr id="14" name="Text 12"/>
          <p:cNvSpPr txBox="1"/>
          <p:nvPr/>
        </p:nvSpPr>
        <p:spPr>
          <a:xfrm>
            <a:off x="8022863" y="2354580"/>
            <a:ext cx="3017520" cy="1106424"/>
          </a:xfrm>
          <a:prstGeom prst="rect">
            <a:avLst/>
          </a:prstGeom>
          <a:noFill/>
          <a:ln/>
        </p:spPr>
        <p:txBody>
          <a:bodyPr wrap="square" lIns="0" tIns="0" rIns="0" bIns="0" rtlCol="0" anchor="ctr"/>
          <a:lstStyle/>
          <a:p>
            <a:pPr indent="0" marL="0">
              <a:buNone/>
            </a:pPr>
            <a:r>
              <a:rPr lang="en-US" sz="1600" b="1" dirty="0">
                <a:solidFill>
                  <a:schemeClr val="accent2"/>
                </a:solidFill>
              </a:rPr>
              <a:t>State Government</a:t>
            </a:r>
            <a:endParaRPr lang="en-US" sz="1600" dirty="0"/>
          </a:p>
          <a:p>
            <a:pPr indent="0" marL="0">
              <a:buNone/>
            </a:pPr>
            <a:r>
              <a:rPr lang="en-US" sz="1600" dirty="0">
                <a:solidFill>
                  <a:schemeClr val="tx1"/>
                </a:solidFill>
              </a:rPr>
              <a:t>Host national games, build infrastructure ('Model Sports State')</a:t>
            </a:r>
            <a:endParaRPr lang="en-US" sz="1600" dirty="0"/>
          </a:p>
        </p:txBody>
      </p:sp>
      <p:sp>
        <p:nvSpPr>
          <p:cNvPr id="15" name="node 3"/>
          <p:cNvSpPr/>
          <p:nvPr/>
        </p:nvSpPr>
        <p:spPr>
          <a:xfrm>
            <a:off x="7858271" y="4110228"/>
            <a:ext cx="3291840" cy="1234440"/>
          </a:xfrm>
          <a:prstGeom prst="roundRect">
            <a:avLst>
              <a:gd name="adj" fmla="val 8889"/>
            </a:avLst>
          </a:prstGeom>
          <a:solidFill>
            <a:schemeClr val="bg2"/>
          </a:solidFill>
          <a:ln w="12700">
            <a:solidFill>
              <a:schemeClr val="bg2"/>
            </a:solidFill>
            <a:prstDash val="solid"/>
          </a:ln>
        </p:spPr>
      </p:sp>
      <p:sp>
        <p:nvSpPr>
          <p:cNvPr id="16" name="Text 14"/>
          <p:cNvSpPr txBox="1"/>
          <p:nvPr/>
        </p:nvSpPr>
        <p:spPr>
          <a:xfrm>
            <a:off x="8022863" y="4183380"/>
            <a:ext cx="3017520" cy="1106424"/>
          </a:xfrm>
          <a:prstGeom prst="rect">
            <a:avLst/>
          </a:prstGeom>
          <a:noFill/>
          <a:ln/>
        </p:spPr>
        <p:txBody>
          <a:bodyPr wrap="square" lIns="0" tIns="0" rIns="0" bIns="0" rtlCol="0" anchor="ctr"/>
          <a:lstStyle/>
          <a:p>
            <a:pPr indent="0" marL="0">
              <a:buNone/>
            </a:pPr>
            <a:r>
              <a:rPr lang="en-US" sz="1600" b="1" dirty="0">
                <a:solidFill>
                  <a:schemeClr val="accent4"/>
                </a:solidFill>
              </a:rPr>
              <a:t>Districts and blocks</a:t>
            </a:r>
            <a:endParaRPr lang="en-US" sz="1600" dirty="0"/>
          </a:p>
          <a:p>
            <a:pPr indent="0" marL="0">
              <a:buNone/>
            </a:pPr>
            <a:r>
              <a:rPr lang="en-US" sz="1600" dirty="0">
                <a:solidFill>
                  <a:schemeClr val="tx1"/>
                </a:solidFill>
              </a:rPr>
              <a:t>'Model Sports Districts'; regular events, camps, talent scouting</a:t>
            </a:r>
            <a:endParaRPr lang="en-US" sz="1600" dirty="0"/>
          </a:p>
        </p:txBody>
      </p:sp>
      <p:sp>
        <p:nvSpPr>
          <p:cNvPr id="17" name="node 4"/>
          <p:cNvSpPr/>
          <p:nvPr/>
        </p:nvSpPr>
        <p:spPr>
          <a:xfrm>
            <a:off x="4453128" y="5024628"/>
            <a:ext cx="3291840" cy="1234440"/>
          </a:xfrm>
          <a:prstGeom prst="roundRect">
            <a:avLst>
              <a:gd name="adj" fmla="val 8889"/>
            </a:avLst>
          </a:prstGeom>
          <a:solidFill>
            <a:schemeClr val="bg2"/>
          </a:solidFill>
          <a:ln w="12700">
            <a:solidFill>
              <a:schemeClr val="bg2"/>
            </a:solidFill>
            <a:prstDash val="solid"/>
          </a:ln>
        </p:spPr>
      </p:sp>
      <p:sp>
        <p:nvSpPr>
          <p:cNvPr id="18" name="Text 16"/>
          <p:cNvSpPr txBox="1"/>
          <p:nvPr/>
        </p:nvSpPr>
        <p:spPr>
          <a:xfrm>
            <a:off x="4617720" y="5097780"/>
            <a:ext cx="3017520" cy="1106424"/>
          </a:xfrm>
          <a:prstGeom prst="rect">
            <a:avLst/>
          </a:prstGeom>
          <a:noFill/>
          <a:ln/>
        </p:spPr>
        <p:txBody>
          <a:bodyPr wrap="square" lIns="0" tIns="0" rIns="0" bIns="0" rtlCol="0" anchor="ctr"/>
          <a:lstStyle/>
          <a:p>
            <a:pPr indent="0" marL="0">
              <a:buNone/>
            </a:pPr>
            <a:r>
              <a:rPr lang="en-US" sz="1600" b="1" dirty="0">
                <a:solidFill>
                  <a:schemeClr val="accent5"/>
                </a:solidFill>
              </a:rPr>
              <a:t>Sports institutions</a:t>
            </a:r>
            <a:endParaRPr lang="en-US" sz="1600" dirty="0"/>
          </a:p>
          <a:p>
            <a:pPr indent="0" marL="0">
              <a:buNone/>
            </a:pPr>
            <a:r>
              <a:rPr lang="en-US" sz="1600" dirty="0">
                <a:solidFill>
                  <a:schemeClr val="tx1"/>
                </a:solidFill>
              </a:rPr>
              <a:t>Coaching, training, equipment and facilities</a:t>
            </a:r>
            <a:endParaRPr lang="en-US" sz="1600" dirty="0"/>
          </a:p>
        </p:txBody>
      </p:sp>
      <p:sp>
        <p:nvSpPr>
          <p:cNvPr id="19" name="node 5"/>
          <p:cNvSpPr/>
          <p:nvPr/>
        </p:nvSpPr>
        <p:spPr>
          <a:xfrm>
            <a:off x="1047985" y="4110228"/>
            <a:ext cx="3291840" cy="1234440"/>
          </a:xfrm>
          <a:prstGeom prst="roundRect">
            <a:avLst>
              <a:gd name="adj" fmla="val 8889"/>
            </a:avLst>
          </a:prstGeom>
          <a:solidFill>
            <a:schemeClr val="bg2"/>
          </a:solidFill>
          <a:ln w="12700">
            <a:solidFill>
              <a:schemeClr val="bg2"/>
            </a:solidFill>
            <a:prstDash val="solid"/>
          </a:ln>
        </p:spPr>
      </p:sp>
      <p:sp>
        <p:nvSpPr>
          <p:cNvPr id="20" name="Text 18"/>
          <p:cNvSpPr txBox="1"/>
          <p:nvPr/>
        </p:nvSpPr>
        <p:spPr>
          <a:xfrm>
            <a:off x="1212577" y="4183380"/>
            <a:ext cx="3017520" cy="1106424"/>
          </a:xfrm>
          <a:prstGeom prst="rect">
            <a:avLst/>
          </a:prstGeom>
          <a:noFill/>
          <a:ln/>
        </p:spPr>
        <p:txBody>
          <a:bodyPr wrap="square" lIns="0" tIns="0" rIns="0" bIns="0" rtlCol="0" anchor="ctr"/>
          <a:lstStyle/>
          <a:p>
            <a:pPr indent="0" marL="0">
              <a:buNone/>
            </a:pPr>
            <a:r>
              <a:rPr lang="en-US" sz="1600" b="1" dirty="0">
                <a:solidFill>
                  <a:schemeClr val="accent6"/>
                </a:solidFill>
              </a:rPr>
              <a:t>Private organisations</a:t>
            </a:r>
            <a:endParaRPr lang="en-US" sz="1600" dirty="0"/>
          </a:p>
          <a:p>
            <a:pPr indent="0" marL="0">
              <a:buNone/>
            </a:pPr>
            <a:r>
              <a:rPr lang="en-US" sz="1600" dirty="0">
                <a:solidFill>
                  <a:schemeClr val="tx1"/>
                </a:solidFill>
              </a:rPr>
              <a:t>Sponsorships, PPP, research on nutrition and equipment</a:t>
            </a:r>
            <a:endParaRPr lang="en-US" sz="1600" dirty="0"/>
          </a:p>
        </p:txBody>
      </p:sp>
      <p:sp>
        <p:nvSpPr>
          <p:cNvPr id="21" name="node 6"/>
          <p:cNvSpPr/>
          <p:nvPr/>
        </p:nvSpPr>
        <p:spPr>
          <a:xfrm>
            <a:off x="1047985" y="2281428"/>
            <a:ext cx="3291840" cy="1234440"/>
          </a:xfrm>
          <a:prstGeom prst="roundRect">
            <a:avLst>
              <a:gd name="adj" fmla="val 8889"/>
            </a:avLst>
          </a:prstGeom>
          <a:solidFill>
            <a:schemeClr val="bg2"/>
          </a:solidFill>
          <a:ln w="12700">
            <a:solidFill>
              <a:schemeClr val="bg2"/>
            </a:solidFill>
            <a:prstDash val="solid"/>
          </a:ln>
        </p:spPr>
      </p:sp>
      <p:sp>
        <p:nvSpPr>
          <p:cNvPr id="22" name="Text 20"/>
          <p:cNvSpPr txBox="1"/>
          <p:nvPr/>
        </p:nvSpPr>
        <p:spPr>
          <a:xfrm>
            <a:off x="1212577" y="23545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Citizens and families</a:t>
            </a:r>
            <a:endParaRPr lang="en-US" sz="1600" dirty="0"/>
          </a:p>
          <a:p>
            <a:pPr indent="0" marL="0">
              <a:buNone/>
            </a:pPr>
            <a:r>
              <a:rPr lang="en-US" sz="1600" dirty="0">
                <a:solidFill>
                  <a:schemeClr val="tx1"/>
                </a:solidFill>
              </a:rPr>
              <a:t>Encourage children, especially girls; give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Citizens Strengthen Democracy</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Vote</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Choose responsible representatives.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Follow laws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Respect rules even when no one is watching.</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Raise concerns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Report problems through proper channels.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Participate</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Join community efforts and public consultations.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Give feedback</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Tell authorities what works and what doesn't.</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Hold to account</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Ask questions; expect honest, transparent answers.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a:t>
            </a:r>
            <a:endParaRPr lang="en-US" sz="3600" dirty="0"/>
          </a:p>
        </p:txBody>
      </p:sp>
      <p:sp>
        <p:nvSpPr>
          <p:cNvPr id="3" name="quiz q1"/>
          <p:cNvSpPr/>
          <p:nvPr/>
        </p:nvSpPr>
        <p:spPr>
          <a:xfrm>
            <a:off x="54864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iz q1 badge"/>
          <p:cNvSpPr/>
          <p:nvPr/>
        </p:nvSpPr>
        <p:spPr>
          <a:xfrm>
            <a:off x="73152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6" name="Text 4"/>
          <p:cNvSpPr txBox="1"/>
          <p:nvPr/>
        </p:nvSpPr>
        <p:spPr>
          <a:xfrm>
            <a:off x="132588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Governance mainly focuses on…</a:t>
            </a:r>
            <a:endParaRPr lang="en-US" sz="1600" dirty="0"/>
          </a:p>
        </p:txBody>
      </p:sp>
      <p:sp>
        <p:nvSpPr>
          <p:cNvPr id="7" name="Text 5"/>
          <p:cNvSpPr txBox="1"/>
          <p:nvPr/>
        </p:nvSpPr>
        <p:spPr>
          <a:xfrm>
            <a:off x="132588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who governs</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how governing is carried out</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only elections</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only the courts</a:t>
            </a:r>
            <a:endParaRPr lang="en-US" sz="1700" dirty="0"/>
          </a:p>
        </p:txBody>
      </p:sp>
      <p:sp>
        <p:nvSpPr>
          <p:cNvPr id="8" name="quiz q2"/>
          <p:cNvSpPr/>
          <p:nvPr/>
        </p:nvSpPr>
        <p:spPr>
          <a:xfrm>
            <a:off x="621792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quiz q2 badge"/>
          <p:cNvSpPr/>
          <p:nvPr/>
        </p:nvSpPr>
        <p:spPr>
          <a:xfrm>
            <a:off x="6400800" y="1554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1" name="Text 9"/>
          <p:cNvSpPr txBox="1"/>
          <p:nvPr/>
        </p:nvSpPr>
        <p:spPr>
          <a:xfrm>
            <a:off x="699516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Which is NOT a feature of good governance?</a:t>
            </a:r>
            <a:endParaRPr lang="en-US" sz="1600" dirty="0"/>
          </a:p>
        </p:txBody>
      </p:sp>
      <p:sp>
        <p:nvSpPr>
          <p:cNvPr id="12" name="Text 10"/>
          <p:cNvSpPr txBox="1"/>
          <p:nvPr/>
        </p:nvSpPr>
        <p:spPr>
          <a:xfrm>
            <a:off x="699516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Transparency</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Accountability</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Secrecy</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Inclusiveness</a:t>
            </a:r>
            <a:endParaRPr lang="en-US" sz="1700" dirty="0"/>
          </a:p>
        </p:txBody>
      </p:sp>
      <p:sp>
        <p:nvSpPr>
          <p:cNvPr id="13" name="quiz q3"/>
          <p:cNvSpPr/>
          <p:nvPr/>
        </p:nvSpPr>
        <p:spPr>
          <a:xfrm>
            <a:off x="54864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quiz q3 badge"/>
          <p:cNvSpPr/>
          <p:nvPr/>
        </p:nvSpPr>
        <p:spPr>
          <a:xfrm>
            <a:off x="731520" y="411480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16" name="Text 14"/>
          <p:cNvSpPr txBox="1"/>
          <p:nvPr/>
        </p:nvSpPr>
        <p:spPr>
          <a:xfrm>
            <a:off x="132588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'Framing the legislation' belongs to which stage?</a:t>
            </a:r>
            <a:endParaRPr lang="en-US" sz="1600" dirty="0"/>
          </a:p>
        </p:txBody>
      </p:sp>
      <p:sp>
        <p:nvSpPr>
          <p:cNvPr id="17" name="Text 15"/>
          <p:cNvSpPr txBox="1"/>
          <p:nvPr/>
        </p:nvSpPr>
        <p:spPr>
          <a:xfrm>
            <a:off x="132588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Formulation</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Adoption</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Monitoring</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Evaluation</a:t>
            </a:r>
            <a:endParaRPr lang="en-US" sz="1700" dirty="0"/>
          </a:p>
        </p:txBody>
      </p:sp>
      <p:sp>
        <p:nvSpPr>
          <p:cNvPr id="18" name="quiz q4"/>
          <p:cNvSpPr/>
          <p:nvPr/>
        </p:nvSpPr>
        <p:spPr>
          <a:xfrm>
            <a:off x="621792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quiz q4 badge"/>
          <p:cNvSpPr/>
          <p:nvPr/>
        </p:nvSpPr>
        <p:spPr>
          <a:xfrm>
            <a:off x="6400800" y="411480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1" name="Text 19"/>
          <p:cNvSpPr txBox="1"/>
          <p:nvPr/>
        </p:nvSpPr>
        <p:spPr>
          <a:xfrm>
            <a:off x="699516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Ayushman Bharat PM-JAY is an example of a…</a:t>
            </a:r>
            <a:endParaRPr lang="en-US" sz="1600" dirty="0"/>
          </a:p>
        </p:txBody>
      </p:sp>
      <p:sp>
        <p:nvSpPr>
          <p:cNvPr id="22" name="Text 20"/>
          <p:cNvSpPr txBox="1"/>
          <p:nvPr/>
        </p:nvSpPr>
        <p:spPr>
          <a:xfrm>
            <a:off x="699516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policy</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programme</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scheme</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constitution</a:t>
            </a:r>
            <a:endParaRPr lang="en-US" sz="17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 Answers</a:t>
            </a:r>
            <a:endParaRPr lang="en-US" sz="3600" dirty="0"/>
          </a:p>
        </p:txBody>
      </p:sp>
      <p:sp>
        <p:nvSpPr>
          <p:cNvPr id="3" name="answer 1"/>
          <p:cNvSpPr/>
          <p:nvPr/>
        </p:nvSpPr>
        <p:spPr>
          <a:xfrm>
            <a:off x="548640" y="1371600"/>
            <a:ext cx="11064240" cy="1074420"/>
          </a:xfrm>
          <a:prstGeom prst="roundRect">
            <a:avLst>
              <a:gd name="adj" fmla="val 10213"/>
            </a:avLst>
          </a:prstGeom>
          <a:solidFill>
            <a:schemeClr val="bg2"/>
          </a:solidFill>
          <a:ln w="12700">
            <a:solidFill>
              <a:schemeClr val="bg2"/>
            </a:solidFill>
            <a:prstDash val="solid"/>
          </a:ln>
        </p:spPr>
      </p:sp>
      <p:sp>
        <p:nvSpPr>
          <p:cNvPr id="4" name="answer 1 badge"/>
          <p:cNvSpPr/>
          <p:nvPr/>
        </p:nvSpPr>
        <p:spPr>
          <a:xfrm>
            <a:off x="731520" y="168021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6802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6" name="Text 4"/>
          <p:cNvSpPr txBox="1"/>
          <p:nvPr/>
        </p:nvSpPr>
        <p:spPr>
          <a:xfrm>
            <a:off x="1371600" y="137160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Q1. How governing is carried out</a:t>
            </a:r>
            <a:endParaRPr lang="en-US" sz="1600" dirty="0"/>
          </a:p>
          <a:p>
            <a:pPr indent="0" marL="0">
              <a:buNone/>
            </a:pPr>
            <a:r>
              <a:rPr lang="en-US" sz="1400" dirty="0">
                <a:solidFill>
                  <a:schemeClr val="tx1"/>
                </a:solidFill>
              </a:rPr>
              <a:t>Government is about who governs; governance is about how.</a:t>
            </a:r>
            <a:endParaRPr lang="en-US" sz="1600" dirty="0"/>
          </a:p>
        </p:txBody>
      </p:sp>
      <p:sp>
        <p:nvSpPr>
          <p:cNvPr id="7" name="answer 2"/>
          <p:cNvSpPr/>
          <p:nvPr/>
        </p:nvSpPr>
        <p:spPr>
          <a:xfrm>
            <a:off x="548640" y="2583180"/>
            <a:ext cx="11064240" cy="1074420"/>
          </a:xfrm>
          <a:prstGeom prst="roundRect">
            <a:avLst>
              <a:gd name="adj" fmla="val 10213"/>
            </a:avLst>
          </a:prstGeom>
          <a:solidFill>
            <a:schemeClr val="bg2"/>
          </a:solidFill>
          <a:ln w="12700">
            <a:solidFill>
              <a:schemeClr val="bg2"/>
            </a:solidFill>
            <a:prstDash val="solid"/>
          </a:ln>
        </p:spPr>
      </p:sp>
      <p:sp>
        <p:nvSpPr>
          <p:cNvPr id="8" name="answer 2 badge"/>
          <p:cNvSpPr/>
          <p:nvPr/>
        </p:nvSpPr>
        <p:spPr>
          <a:xfrm>
            <a:off x="731520" y="289179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731520" y="289179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0" name="Text 8"/>
          <p:cNvSpPr txBox="1"/>
          <p:nvPr/>
        </p:nvSpPr>
        <p:spPr>
          <a:xfrm>
            <a:off x="1371600" y="258318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Q2. Secrecy</a:t>
            </a:r>
            <a:endParaRPr lang="en-US" sz="1600" dirty="0"/>
          </a:p>
          <a:p>
            <a:pPr indent="0" marL="0">
              <a:buNone/>
            </a:pPr>
            <a:r>
              <a:rPr lang="en-US" sz="1400" dirty="0">
                <a:solidFill>
                  <a:schemeClr val="tx1"/>
                </a:solidFill>
              </a:rPr>
              <a:t>Good governance is open and accessible, not secret.</a:t>
            </a:r>
            <a:endParaRPr lang="en-US" sz="1600" dirty="0"/>
          </a:p>
        </p:txBody>
      </p:sp>
      <p:sp>
        <p:nvSpPr>
          <p:cNvPr id="11" name="answer 3"/>
          <p:cNvSpPr/>
          <p:nvPr/>
        </p:nvSpPr>
        <p:spPr>
          <a:xfrm>
            <a:off x="548640" y="3794760"/>
            <a:ext cx="11064240" cy="1074420"/>
          </a:xfrm>
          <a:prstGeom prst="roundRect">
            <a:avLst>
              <a:gd name="adj" fmla="val 10213"/>
            </a:avLst>
          </a:prstGeom>
          <a:solidFill>
            <a:schemeClr val="bg2"/>
          </a:solidFill>
          <a:ln w="12700">
            <a:solidFill>
              <a:schemeClr val="bg2"/>
            </a:solidFill>
            <a:prstDash val="solid"/>
          </a:ln>
        </p:spPr>
      </p:sp>
      <p:sp>
        <p:nvSpPr>
          <p:cNvPr id="12" name="answer 3 badge"/>
          <p:cNvSpPr/>
          <p:nvPr/>
        </p:nvSpPr>
        <p:spPr>
          <a:xfrm>
            <a:off x="731520" y="410337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731520" y="41033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4" name="Text 12"/>
          <p:cNvSpPr txBox="1"/>
          <p:nvPr/>
        </p:nvSpPr>
        <p:spPr>
          <a:xfrm>
            <a:off x="1371600" y="379476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Q3. Adoption</a:t>
            </a:r>
            <a:endParaRPr lang="en-US" sz="1600" dirty="0"/>
          </a:p>
          <a:p>
            <a:pPr indent="0" marL="0">
              <a:buNone/>
            </a:pPr>
            <a:r>
              <a:rPr lang="en-US" sz="1400" dirty="0">
                <a:solidFill>
                  <a:schemeClr val="tx1"/>
                </a:solidFill>
              </a:rPr>
              <a:t>Policy adoption frames laws and regulations.</a:t>
            </a:r>
            <a:endParaRPr lang="en-US" sz="1600" dirty="0"/>
          </a:p>
        </p:txBody>
      </p:sp>
      <p:sp>
        <p:nvSpPr>
          <p:cNvPr id="15" name="answer 4"/>
          <p:cNvSpPr/>
          <p:nvPr/>
        </p:nvSpPr>
        <p:spPr>
          <a:xfrm>
            <a:off x="548640" y="5006340"/>
            <a:ext cx="11064240" cy="1074420"/>
          </a:xfrm>
          <a:prstGeom prst="roundRect">
            <a:avLst>
              <a:gd name="adj" fmla="val 10213"/>
            </a:avLst>
          </a:prstGeom>
          <a:solidFill>
            <a:schemeClr val="bg2"/>
          </a:solidFill>
          <a:ln w="12700">
            <a:solidFill>
              <a:schemeClr val="bg2"/>
            </a:solidFill>
            <a:prstDash val="solid"/>
          </a:ln>
        </p:spPr>
      </p:sp>
      <p:sp>
        <p:nvSpPr>
          <p:cNvPr id="16" name="answer 4 badge"/>
          <p:cNvSpPr/>
          <p:nvPr/>
        </p:nvSpPr>
        <p:spPr>
          <a:xfrm>
            <a:off x="731520" y="531495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53149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8" name="Text 16"/>
          <p:cNvSpPr txBox="1"/>
          <p:nvPr/>
        </p:nvSpPr>
        <p:spPr>
          <a:xfrm>
            <a:off x="1371600" y="500634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Q4. Scheme</a:t>
            </a:r>
            <a:endParaRPr lang="en-US" sz="1600" dirty="0"/>
          </a:p>
          <a:p>
            <a:pPr indent="0" marL="0">
              <a:buNone/>
            </a:pPr>
            <a:r>
              <a:rPr lang="en-US" sz="1400" dirty="0">
                <a:solidFill>
                  <a:schemeClr val="tx1"/>
                </a:solidFill>
              </a:rPr>
              <a:t>Schemes provide concrete benefits to specific groups.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Agree or Disagree?</a:t>
            </a:r>
            <a:endParaRPr lang="en-US" sz="3600" dirty="0"/>
          </a:p>
        </p:txBody>
      </p:sp>
      <p:sp>
        <p:nvSpPr>
          <p:cNvPr id="3" name="statement 1"/>
          <p:cNvSpPr/>
          <p:nvPr/>
        </p:nvSpPr>
        <p:spPr>
          <a:xfrm>
            <a:off x="548640" y="1371600"/>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832104"/>
          </a:xfrm>
          <a:prstGeom prst="rect">
            <a:avLst/>
          </a:prstGeom>
          <a:noFill/>
          <a:ln/>
        </p:spPr>
        <p:txBody>
          <a:bodyPr wrap="square" lIns="0" tIns="0" rIns="0" bIns="0" rtlCol="0" anchor="ctr"/>
          <a:lstStyle/>
          <a:p>
            <a:pPr indent="0" marL="0">
              <a:buNone/>
            </a:pPr>
            <a:r>
              <a:rPr lang="en-US" sz="1700" dirty="0">
                <a:solidFill>
                  <a:schemeClr val="tx1"/>
                </a:solidFill>
              </a:rPr>
              <a:t>1.  Good governance is the responsibility of the government alone.</a:t>
            </a:r>
            <a:endParaRPr lang="en-US" sz="1700" dirty="0"/>
          </a:p>
        </p:txBody>
      </p:sp>
      <p:sp>
        <p:nvSpPr>
          <p:cNvPr id="5" name="vote 1"/>
          <p:cNvSpPr/>
          <p:nvPr/>
        </p:nvSpPr>
        <p:spPr>
          <a:xfrm>
            <a:off x="9646920" y="1559052"/>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559052"/>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Agree / Disagree</a:t>
            </a:r>
            <a:endParaRPr lang="en-US" sz="1300" dirty="0"/>
          </a:p>
        </p:txBody>
      </p:sp>
      <p:sp>
        <p:nvSpPr>
          <p:cNvPr id="7" name="statement 2"/>
          <p:cNvSpPr/>
          <p:nvPr/>
        </p:nvSpPr>
        <p:spPr>
          <a:xfrm>
            <a:off x="548640" y="2340864"/>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340864"/>
            <a:ext cx="8595360" cy="832104"/>
          </a:xfrm>
          <a:prstGeom prst="rect">
            <a:avLst/>
          </a:prstGeom>
          <a:noFill/>
          <a:ln/>
        </p:spPr>
        <p:txBody>
          <a:bodyPr wrap="square" lIns="0" tIns="0" rIns="0" bIns="0" rtlCol="0" anchor="ctr"/>
          <a:lstStyle/>
          <a:p>
            <a:pPr indent="0" marL="0">
              <a:buNone/>
            </a:pPr>
            <a:r>
              <a:rPr lang="en-US" sz="1700" dirty="0">
                <a:solidFill>
                  <a:schemeClr val="tx1"/>
                </a:solidFill>
              </a:rPr>
              <a:t>2.  A good public policy can fail if it is not implemented properly.</a:t>
            </a:r>
            <a:endParaRPr lang="en-US" sz="1700" dirty="0"/>
          </a:p>
        </p:txBody>
      </p:sp>
      <p:sp>
        <p:nvSpPr>
          <p:cNvPr id="9" name="vote 2"/>
          <p:cNvSpPr/>
          <p:nvPr/>
        </p:nvSpPr>
        <p:spPr>
          <a:xfrm>
            <a:off x="9646920" y="2528316"/>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528316"/>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Agree / Disagree</a:t>
            </a:r>
            <a:endParaRPr lang="en-US" sz="1300" dirty="0"/>
          </a:p>
        </p:txBody>
      </p:sp>
      <p:sp>
        <p:nvSpPr>
          <p:cNvPr id="11" name="statement 3"/>
          <p:cNvSpPr/>
          <p:nvPr/>
        </p:nvSpPr>
        <p:spPr>
          <a:xfrm>
            <a:off x="548640" y="3310128"/>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3310128"/>
            <a:ext cx="8595360" cy="832104"/>
          </a:xfrm>
          <a:prstGeom prst="rect">
            <a:avLst/>
          </a:prstGeom>
          <a:noFill/>
          <a:ln/>
        </p:spPr>
        <p:txBody>
          <a:bodyPr wrap="square" lIns="0" tIns="0" rIns="0" bIns="0" rtlCol="0" anchor="ctr"/>
          <a:lstStyle/>
          <a:p>
            <a:pPr indent="0" marL="0">
              <a:buNone/>
            </a:pPr>
            <a:r>
              <a:rPr lang="en-US" sz="1700" dirty="0">
                <a:solidFill>
                  <a:schemeClr val="tx1"/>
                </a:solidFill>
              </a:rPr>
              <a:t>3.  Citizen participation may slow decisions, but it improves governance.</a:t>
            </a:r>
            <a:endParaRPr lang="en-US" sz="1700" dirty="0"/>
          </a:p>
        </p:txBody>
      </p:sp>
      <p:sp>
        <p:nvSpPr>
          <p:cNvPr id="13" name="vote 3"/>
          <p:cNvSpPr/>
          <p:nvPr/>
        </p:nvSpPr>
        <p:spPr>
          <a:xfrm>
            <a:off x="9646920" y="349758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4975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Agree / Disagree</a:t>
            </a:r>
            <a:endParaRPr lang="en-US" sz="1300" dirty="0"/>
          </a:p>
        </p:txBody>
      </p:sp>
      <p:sp>
        <p:nvSpPr>
          <p:cNvPr id="15" name="statement 4"/>
          <p:cNvSpPr/>
          <p:nvPr/>
        </p:nvSpPr>
        <p:spPr>
          <a:xfrm>
            <a:off x="548640" y="4279392"/>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4279392"/>
            <a:ext cx="8595360" cy="832104"/>
          </a:xfrm>
          <a:prstGeom prst="rect">
            <a:avLst/>
          </a:prstGeom>
          <a:noFill/>
          <a:ln/>
        </p:spPr>
        <p:txBody>
          <a:bodyPr wrap="square" lIns="0" tIns="0" rIns="0" bIns="0" rtlCol="0" anchor="ctr"/>
          <a:lstStyle/>
          <a:p>
            <a:pPr indent="0" marL="0">
              <a:buNone/>
            </a:pPr>
            <a:r>
              <a:rPr lang="en-US" sz="1700" dirty="0">
                <a:solidFill>
                  <a:schemeClr val="tx1"/>
                </a:solidFill>
              </a:rPr>
              <a:t>4.  Technology alone can ensure good governance.</a:t>
            </a:r>
            <a:endParaRPr lang="en-US" sz="1700" dirty="0"/>
          </a:p>
        </p:txBody>
      </p:sp>
      <p:sp>
        <p:nvSpPr>
          <p:cNvPr id="17" name="vote 4"/>
          <p:cNvSpPr/>
          <p:nvPr/>
        </p:nvSpPr>
        <p:spPr>
          <a:xfrm>
            <a:off x="9646920" y="4466844"/>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4466844"/>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Agree / Disagree</a:t>
            </a:r>
            <a:endParaRPr lang="en-US" sz="1300" dirty="0"/>
          </a:p>
        </p:txBody>
      </p:sp>
      <p:sp>
        <p:nvSpPr>
          <p:cNvPr id="19" name="statement 5"/>
          <p:cNvSpPr/>
          <p:nvPr/>
        </p:nvSpPr>
        <p:spPr>
          <a:xfrm>
            <a:off x="548640" y="5248656"/>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5248656"/>
            <a:ext cx="8595360" cy="832104"/>
          </a:xfrm>
          <a:prstGeom prst="rect">
            <a:avLst/>
          </a:prstGeom>
          <a:noFill/>
          <a:ln/>
        </p:spPr>
        <p:txBody>
          <a:bodyPr wrap="square" lIns="0" tIns="0" rIns="0" bIns="0" rtlCol="0" anchor="ctr"/>
          <a:lstStyle/>
          <a:p>
            <a:pPr indent="0" marL="0">
              <a:buNone/>
            </a:pPr>
            <a:r>
              <a:rPr lang="en-US" sz="1700" dirty="0">
                <a:solidFill>
                  <a:schemeClr val="tx1"/>
                </a:solidFill>
              </a:rPr>
              <a:t>5.  Every policy is a public policy.</a:t>
            </a:r>
            <a:endParaRPr lang="en-US" sz="1700" dirty="0"/>
          </a:p>
        </p:txBody>
      </p:sp>
      <p:sp>
        <p:nvSpPr>
          <p:cNvPr id="21" name="vote 5"/>
          <p:cNvSpPr/>
          <p:nvPr/>
        </p:nvSpPr>
        <p:spPr>
          <a:xfrm>
            <a:off x="9646920" y="5436108"/>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5436108"/>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Agree / Disagree</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Before We Move On</a:t>
            </a:r>
            <a:endParaRPr lang="en-US" sz="3600" dirty="0"/>
          </a:p>
        </p:txBody>
      </p:sp>
      <p:sp>
        <p:nvSpPr>
          <p:cNvPr id="3" name="mind map centre"/>
          <p:cNvSpPr/>
          <p:nvPr/>
        </p:nvSpPr>
        <p:spPr>
          <a:xfrm>
            <a:off x="4861408" y="3063240"/>
            <a:ext cx="2468880" cy="1463040"/>
          </a:xfrm>
          <a:prstGeom prst="ellipse">
            <a:avLst/>
          </a:prstGeom>
          <a:solidFill>
            <a:schemeClr val="tx2"/>
          </a:solidFill>
          <a:ln w="12700">
            <a:solidFill>
              <a:schemeClr val="tx2"/>
            </a:solidFill>
            <a:prstDash val="solid"/>
          </a:ln>
        </p:spPr>
      </p:sp>
      <p:sp>
        <p:nvSpPr>
          <p:cNvPr id="4" name="Text 2"/>
          <p:cNvSpPr txBox="1"/>
          <p:nvPr/>
        </p:nvSpPr>
        <p:spPr>
          <a:xfrm>
            <a:off x="4952848" y="3063240"/>
            <a:ext cx="2286000" cy="14630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Governance and Public Policy</a:t>
            </a:r>
            <a:endParaRPr lang="en-US" sz="1800" dirty="0"/>
          </a:p>
        </p:txBody>
      </p:sp>
      <p:sp>
        <p:nvSpPr>
          <p:cNvPr id="5" name="branch 1 line"/>
          <p:cNvSpPr/>
          <p:nvPr/>
        </p:nvSpPr>
        <p:spPr>
          <a:xfrm>
            <a:off x="4114800" y="2103120"/>
            <a:ext cx="792328" cy="1691640"/>
          </a:xfrm>
          <a:prstGeom prst="line">
            <a:avLst/>
          </a:prstGeom>
          <a:noFill/>
          <a:ln w="25400">
            <a:solidFill>
              <a:srgbClr val="FFB347"/>
            </a:solidFill>
            <a:prstDash val="solid"/>
          </a:ln>
        </p:spPr>
      </p:sp>
      <p:sp>
        <p:nvSpPr>
          <p:cNvPr id="6" name="branch 1"/>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7" name="Text 5"/>
          <p:cNvSpPr txBox="1"/>
          <p:nvPr/>
        </p:nvSpPr>
        <p:spPr>
          <a:xfrm>
            <a:off x="731520"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Government vs governance</a:t>
            </a:r>
            <a:endParaRPr lang="en-US" sz="1600" dirty="0"/>
          </a:p>
          <a:p>
            <a:pPr indent="0" marL="0">
              <a:buNone/>
            </a:pPr>
            <a:r>
              <a:rPr lang="en-US" sz="1600" dirty="0">
                <a:solidFill>
                  <a:schemeClr val="tx1"/>
                </a:solidFill>
              </a:rPr>
              <a:t>Who governs vs how decisions are made and monitored</a:t>
            </a:r>
            <a:endParaRPr lang="en-US" sz="1600" dirty="0"/>
          </a:p>
        </p:txBody>
      </p:sp>
      <p:sp>
        <p:nvSpPr>
          <p:cNvPr id="8" name="branch 2 line"/>
          <p:cNvSpPr/>
          <p:nvPr/>
        </p:nvSpPr>
        <p:spPr>
          <a:xfrm>
            <a:off x="4114800" y="3794760"/>
            <a:ext cx="792328" cy="914"/>
          </a:xfrm>
          <a:prstGeom prst="line">
            <a:avLst/>
          </a:prstGeom>
          <a:noFill/>
          <a:ln w="25400">
            <a:solidFill>
              <a:srgbClr val="FFB347"/>
            </a:solidFill>
            <a:prstDash val="solid"/>
          </a:ln>
        </p:spPr>
      </p:sp>
      <p:sp>
        <p:nvSpPr>
          <p:cNvPr id="9" name="branch 2"/>
          <p:cNvSpPr/>
          <p:nvPr/>
        </p:nvSpPr>
        <p:spPr>
          <a:xfrm>
            <a:off x="548640" y="3063240"/>
            <a:ext cx="3566160"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731520"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Indian roots</a:t>
            </a:r>
            <a:endParaRPr lang="en-US" sz="1600" dirty="0"/>
          </a:p>
          <a:p>
            <a:pPr indent="0" marL="0">
              <a:buNone/>
            </a:pPr>
            <a:r>
              <a:rPr lang="en-US" sz="1600" dirty="0">
                <a:solidFill>
                  <a:schemeClr val="tx1"/>
                </a:solidFill>
              </a:rPr>
              <a:t>Sabha, Samiti, Rajadharma, Ram Rajya, Satyameva Jayate</a:t>
            </a:r>
            <a:endParaRPr lang="en-US" sz="1600" dirty="0"/>
          </a:p>
        </p:txBody>
      </p:sp>
      <p:sp>
        <p:nvSpPr>
          <p:cNvPr id="11" name="branch 3 line"/>
          <p:cNvSpPr/>
          <p:nvPr/>
        </p:nvSpPr>
        <p:spPr>
          <a:xfrm flipV="1">
            <a:off x="4114800" y="3794760"/>
            <a:ext cx="792328" cy="1691640"/>
          </a:xfrm>
          <a:prstGeom prst="line">
            <a:avLst/>
          </a:prstGeom>
          <a:noFill/>
          <a:ln w="25400">
            <a:solidFill>
              <a:srgbClr val="FFB347"/>
            </a:solidFill>
            <a:prstDash val="solid"/>
          </a:ln>
        </p:spPr>
      </p:sp>
      <p:sp>
        <p:nvSpPr>
          <p:cNvPr id="12" name="branch 3"/>
          <p:cNvSpPr/>
          <p:nvPr/>
        </p:nvSpPr>
        <p:spPr>
          <a:xfrm>
            <a:off x="548640" y="4754880"/>
            <a:ext cx="3566160" cy="1463040"/>
          </a:xfrm>
          <a:prstGeom prst="roundRect">
            <a:avLst>
              <a:gd name="adj" fmla="val 7500"/>
            </a:avLst>
          </a:prstGeom>
          <a:solidFill>
            <a:schemeClr val="bg2"/>
          </a:solidFill>
          <a:ln w="12700">
            <a:solidFill>
              <a:schemeClr val="bg2"/>
            </a:solidFill>
            <a:prstDash val="solid"/>
          </a:ln>
        </p:spPr>
      </p:sp>
      <p:sp>
        <p:nvSpPr>
          <p:cNvPr id="13" name="Text 11"/>
          <p:cNvSpPr txBox="1"/>
          <p:nvPr/>
        </p:nvSpPr>
        <p:spPr>
          <a:xfrm>
            <a:off x="731520"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Good governance</a:t>
            </a:r>
            <a:endParaRPr lang="en-US" sz="1600" dirty="0"/>
          </a:p>
          <a:p>
            <a:pPr indent="0" marL="0">
              <a:buNone/>
            </a:pPr>
            <a:r>
              <a:rPr lang="en-US" sz="1600" dirty="0">
                <a:solidFill>
                  <a:schemeClr val="tx1"/>
                </a:solidFill>
              </a:rPr>
              <a:t>Rule of law, participation, accountability, transparency...</a:t>
            </a:r>
            <a:endParaRPr lang="en-US" sz="1600" dirty="0"/>
          </a:p>
        </p:txBody>
      </p:sp>
      <p:sp>
        <p:nvSpPr>
          <p:cNvPr id="14" name="branch 4 line"/>
          <p:cNvSpPr/>
          <p:nvPr/>
        </p:nvSpPr>
        <p:spPr>
          <a:xfrm flipV="1">
            <a:off x="7284568" y="2103120"/>
            <a:ext cx="789584" cy="1691640"/>
          </a:xfrm>
          <a:prstGeom prst="line">
            <a:avLst/>
          </a:prstGeom>
          <a:noFill/>
          <a:ln w="25400">
            <a:solidFill>
              <a:srgbClr val="FFB347"/>
            </a:solidFill>
            <a:prstDash val="solid"/>
          </a:ln>
        </p:spPr>
      </p:sp>
      <p:sp>
        <p:nvSpPr>
          <p:cNvPr id="15" name="branch 4"/>
          <p:cNvSpPr/>
          <p:nvPr/>
        </p:nvSpPr>
        <p:spPr>
          <a:xfrm>
            <a:off x="8074152" y="1371600"/>
            <a:ext cx="3566160" cy="146304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8257032"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E-governance</a:t>
            </a:r>
            <a:endParaRPr lang="en-US" sz="1600" dirty="0"/>
          </a:p>
          <a:p>
            <a:pPr indent="0" marL="0">
              <a:buNone/>
            </a:pPr>
            <a:r>
              <a:rPr lang="en-US" sz="1600" dirty="0">
                <a:solidFill>
                  <a:schemeClr val="tx1"/>
                </a:solidFill>
              </a:rPr>
              <a:t>UMANG, DigiLocker, CPGRAMS, APAAR; must be inclusive</a:t>
            </a:r>
            <a:endParaRPr lang="en-US" sz="1600" dirty="0"/>
          </a:p>
        </p:txBody>
      </p:sp>
      <p:sp>
        <p:nvSpPr>
          <p:cNvPr id="17" name="branch 5 line"/>
          <p:cNvSpPr/>
          <p:nvPr/>
        </p:nvSpPr>
        <p:spPr>
          <a:xfrm>
            <a:off x="7284568" y="3794760"/>
            <a:ext cx="789584" cy="914"/>
          </a:xfrm>
          <a:prstGeom prst="line">
            <a:avLst/>
          </a:prstGeom>
          <a:noFill/>
          <a:ln w="25400">
            <a:solidFill>
              <a:srgbClr val="FFB347"/>
            </a:solidFill>
            <a:prstDash val="solid"/>
          </a:ln>
        </p:spPr>
      </p:sp>
      <p:sp>
        <p:nvSpPr>
          <p:cNvPr id="18" name="branch 5"/>
          <p:cNvSpPr/>
          <p:nvPr/>
        </p:nvSpPr>
        <p:spPr>
          <a:xfrm>
            <a:off x="8074152" y="3063240"/>
            <a:ext cx="3566160" cy="1463040"/>
          </a:xfrm>
          <a:prstGeom prst="roundRect">
            <a:avLst>
              <a:gd name="adj" fmla="val 7500"/>
            </a:avLst>
          </a:prstGeom>
          <a:solidFill>
            <a:schemeClr val="bg2"/>
          </a:solidFill>
          <a:ln w="12700">
            <a:solidFill>
              <a:schemeClr val="bg2"/>
            </a:solidFill>
            <a:prstDash val="solid"/>
          </a:ln>
        </p:spPr>
      </p:sp>
      <p:sp>
        <p:nvSpPr>
          <p:cNvPr id="19" name="Text 17"/>
          <p:cNvSpPr txBox="1"/>
          <p:nvPr/>
        </p:nvSpPr>
        <p:spPr>
          <a:xfrm>
            <a:off x="8257032"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Public policy</a:t>
            </a:r>
            <a:endParaRPr lang="en-US" sz="1600" dirty="0"/>
          </a:p>
          <a:p>
            <a:pPr indent="0" marL="0">
              <a:buNone/>
            </a:pPr>
            <a:r>
              <a:rPr lang="en-US" sz="1600" dirty="0">
                <a:solidFill>
                  <a:schemeClr val="tx1"/>
                </a:solidFill>
              </a:rPr>
              <a:t>Made for all, by government, with public money and people</a:t>
            </a:r>
            <a:endParaRPr lang="en-US" sz="1600" dirty="0"/>
          </a:p>
        </p:txBody>
      </p:sp>
      <p:sp>
        <p:nvSpPr>
          <p:cNvPr id="20" name="branch 6 line"/>
          <p:cNvSpPr/>
          <p:nvPr/>
        </p:nvSpPr>
        <p:spPr>
          <a:xfrm>
            <a:off x="7284568" y="3794760"/>
            <a:ext cx="789584" cy="1691640"/>
          </a:xfrm>
          <a:prstGeom prst="line">
            <a:avLst/>
          </a:prstGeom>
          <a:noFill/>
          <a:ln w="25400">
            <a:solidFill>
              <a:srgbClr val="FFB347"/>
            </a:solidFill>
            <a:prstDash val="solid"/>
          </a:ln>
        </p:spPr>
      </p:sp>
      <p:sp>
        <p:nvSpPr>
          <p:cNvPr id="21" name="branch 6"/>
          <p:cNvSpPr/>
          <p:nvPr/>
        </p:nvSpPr>
        <p:spPr>
          <a:xfrm>
            <a:off x="8074152" y="4754880"/>
            <a:ext cx="3566160" cy="1463040"/>
          </a:xfrm>
          <a:prstGeom prst="roundRect">
            <a:avLst>
              <a:gd name="adj" fmla="val 7500"/>
            </a:avLst>
          </a:prstGeom>
          <a:solidFill>
            <a:schemeClr val="bg2"/>
          </a:solidFill>
          <a:ln w="12700">
            <a:solidFill>
              <a:schemeClr val="bg2"/>
            </a:solidFill>
            <a:prstDash val="solid"/>
          </a:ln>
        </p:spPr>
      </p:sp>
      <p:sp>
        <p:nvSpPr>
          <p:cNvPr id="22" name="Text 20"/>
          <p:cNvSpPr txBox="1"/>
          <p:nvPr/>
        </p:nvSpPr>
        <p:spPr>
          <a:xfrm>
            <a:off x="8257032"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Policy cycle</a:t>
            </a:r>
            <a:endParaRPr lang="en-US" sz="1600" dirty="0"/>
          </a:p>
          <a:p>
            <a:pPr indent="0" marL="0">
              <a:buNone/>
            </a:pPr>
            <a:r>
              <a:rPr lang="en-US" sz="1600" dirty="0">
                <a:solidFill>
                  <a:schemeClr val="tx1"/>
                </a:solidFill>
              </a:rPr>
              <a:t>Desirability to evaluation; coordination and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Exit Ticket and Homework</a:t>
            </a:r>
            <a:endParaRPr lang="en-US" sz="3600" dirty="0"/>
          </a:p>
        </p:txBody>
      </p:sp>
      <p:sp>
        <p:nvSpPr>
          <p:cNvPr id="3" name="exit 3"/>
          <p:cNvSpPr/>
          <p:nvPr/>
        </p:nvSpPr>
        <p:spPr>
          <a:xfrm>
            <a:off x="731520" y="1508760"/>
            <a:ext cx="2103120" cy="2743200"/>
          </a:xfrm>
          <a:prstGeom prst="roundRect">
            <a:avLst>
              <a:gd name="adj" fmla="val 5217"/>
            </a:avLst>
          </a:prstGeom>
          <a:solidFill>
            <a:schemeClr val="bg1"/>
          </a:solidFill>
          <a:ln w="12700">
            <a:solidFill>
              <a:schemeClr val="bg1"/>
            </a:solidFill>
            <a:prstDash val="solid"/>
          </a:ln>
        </p:spPr>
      </p:sp>
      <p:sp>
        <p:nvSpPr>
          <p:cNvPr id="4" name="Text 2"/>
          <p:cNvSpPr txBox="1"/>
          <p:nvPr/>
        </p:nvSpPr>
        <p:spPr>
          <a:xfrm>
            <a:off x="73152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86868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things I learnt</a:t>
            </a:r>
            <a:endParaRPr lang="en-US" sz="1800" dirty="0"/>
          </a:p>
        </p:txBody>
      </p:sp>
      <p:sp>
        <p:nvSpPr>
          <p:cNvPr id="6" name="Text 4"/>
          <p:cNvSpPr txBox="1"/>
          <p:nvPr/>
        </p:nvSpPr>
        <p:spPr>
          <a:xfrm>
            <a:off x="86868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Three key ideas from this chapter</a:t>
            </a:r>
            <a:endParaRPr lang="en-US" sz="1500" dirty="0"/>
          </a:p>
        </p:txBody>
      </p:sp>
      <p:sp>
        <p:nvSpPr>
          <p:cNvPr id="7" name="exit 2"/>
          <p:cNvSpPr/>
          <p:nvPr/>
        </p:nvSpPr>
        <p:spPr>
          <a:xfrm>
            <a:off x="3063240" y="1508760"/>
            <a:ext cx="2103120" cy="2743200"/>
          </a:xfrm>
          <a:prstGeom prst="roundRect">
            <a:avLst>
              <a:gd name="adj" fmla="val 5217"/>
            </a:avLst>
          </a:prstGeom>
          <a:solidFill>
            <a:schemeClr val="bg1"/>
          </a:solidFill>
          <a:ln w="12700">
            <a:solidFill>
              <a:schemeClr val="bg1"/>
            </a:solidFill>
            <a:prstDash val="solid"/>
          </a:ln>
        </p:spPr>
      </p:sp>
      <p:sp>
        <p:nvSpPr>
          <p:cNvPr id="8" name="Text 6"/>
          <p:cNvSpPr txBox="1"/>
          <p:nvPr/>
        </p:nvSpPr>
        <p:spPr>
          <a:xfrm>
            <a:off x="306324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320040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connections</a:t>
            </a:r>
            <a:endParaRPr lang="en-US" sz="1800" dirty="0"/>
          </a:p>
        </p:txBody>
      </p:sp>
      <p:sp>
        <p:nvSpPr>
          <p:cNvPr id="10" name="Text 8"/>
          <p:cNvSpPr txBox="1"/>
          <p:nvPr/>
        </p:nvSpPr>
        <p:spPr>
          <a:xfrm>
            <a:off x="320040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Two ways this topic connects to my life or my state</a:t>
            </a:r>
            <a:endParaRPr lang="en-US" sz="1500" dirty="0"/>
          </a:p>
        </p:txBody>
      </p:sp>
      <p:sp>
        <p:nvSpPr>
          <p:cNvPr id="11" name="exit 1"/>
          <p:cNvSpPr/>
          <p:nvPr/>
        </p:nvSpPr>
        <p:spPr>
          <a:xfrm>
            <a:off x="5394960" y="1508760"/>
            <a:ext cx="2103120" cy="2743200"/>
          </a:xfrm>
          <a:prstGeom prst="roundRect">
            <a:avLst>
              <a:gd name="adj" fmla="val 5217"/>
            </a:avLst>
          </a:prstGeom>
          <a:solidFill>
            <a:schemeClr val="bg1"/>
          </a:solidFill>
          <a:ln w="12700">
            <a:solidFill>
              <a:schemeClr val="bg1"/>
            </a:solidFill>
            <a:prstDash val="solid"/>
          </a:ln>
        </p:spPr>
      </p:sp>
      <p:sp>
        <p:nvSpPr>
          <p:cNvPr id="12" name="Text 10"/>
          <p:cNvSpPr txBox="1"/>
          <p:nvPr/>
        </p:nvSpPr>
        <p:spPr>
          <a:xfrm>
            <a:off x="539496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3" name="Text 11"/>
          <p:cNvSpPr txBox="1"/>
          <p:nvPr/>
        </p:nvSpPr>
        <p:spPr>
          <a:xfrm>
            <a:off x="553212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question</a:t>
            </a:r>
            <a:endParaRPr lang="en-US" sz="1800" dirty="0"/>
          </a:p>
        </p:txBody>
      </p:sp>
      <p:sp>
        <p:nvSpPr>
          <p:cNvPr id="14" name="Text 12"/>
          <p:cNvSpPr txBox="1"/>
          <p:nvPr/>
        </p:nvSpPr>
        <p:spPr>
          <a:xfrm>
            <a:off x="553212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One question I still have</a:t>
            </a:r>
            <a:endParaRPr lang="en-US" sz="1500" dirty="0"/>
          </a:p>
        </p:txBody>
      </p:sp>
      <p:sp>
        <p:nvSpPr>
          <p:cNvPr id="15" name="homework card"/>
          <p:cNvSpPr/>
          <p:nvPr/>
        </p:nvSpPr>
        <p:spPr>
          <a:xfrm>
            <a:off x="7863840" y="1508760"/>
            <a:ext cx="3749040" cy="4709160"/>
          </a:xfrm>
          <a:prstGeom prst="roundRect">
            <a:avLst>
              <a:gd name="adj" fmla="val 2927"/>
            </a:avLst>
          </a:prstGeom>
          <a:solidFill>
            <a:schemeClr val="accent1"/>
          </a:solidFill>
          <a:ln w="12700">
            <a:solidFill>
              <a:schemeClr val="accent1"/>
            </a:solidFill>
            <a:prstDash val="solid"/>
          </a:ln>
        </p:spPr>
      </p:sp>
      <p:pic>
        <p:nvPicPr>
          <p:cNvPr id="16" name="homework icon" descr="preencoded.png">    </p:cNvPr>
          <p:cNvPicPr>
            <a:picLocks noChangeAspect="1"/>
          </p:cNvPicPr>
          <p:nvPr/>
        </p:nvPicPr>
        <p:blipFill>
          <a:blip r:embed="rId1"/>
          <a:stretch>
            <a:fillRect/>
          </a:stretch>
        </p:blipFill>
        <p:spPr>
          <a:xfrm>
            <a:off x="8138160" y="1737360"/>
            <a:ext cx="502920" cy="502920"/>
          </a:xfrm>
          <a:prstGeom prst="rect">
            <a:avLst/>
          </a:prstGeom>
        </p:spPr>
      </p:pic>
      <p:sp>
        <p:nvSpPr>
          <p:cNvPr id="17" name="Text 14"/>
          <p:cNvSpPr txBox="1"/>
          <p:nvPr/>
        </p:nvSpPr>
        <p:spPr>
          <a:xfrm>
            <a:off x="8778240" y="1737360"/>
            <a:ext cx="2651760" cy="502920"/>
          </a:xfrm>
          <a:prstGeom prst="rect">
            <a:avLst/>
          </a:prstGeom>
          <a:noFill/>
          <a:ln/>
        </p:spPr>
        <p:txBody>
          <a:bodyPr wrap="square" lIns="0" tIns="0" rIns="0" bIns="0" rtlCol="0" anchor="ctr"/>
          <a:lstStyle/>
          <a:p>
            <a:pPr indent="0" marL="0">
              <a:buNone/>
            </a:pPr>
            <a:r>
              <a:rPr lang="en-US" sz="2000" b="1" dirty="0">
                <a:solidFill>
                  <a:schemeClr val="bg1"/>
                </a:solidFill>
              </a:rPr>
              <a:t>Homework / Project</a:t>
            </a:r>
            <a:endParaRPr lang="en-US" sz="2000" dirty="0"/>
          </a:p>
        </p:txBody>
      </p:sp>
      <p:sp>
        <p:nvSpPr>
          <p:cNvPr id="18" name="Text 15"/>
          <p:cNvSpPr txBox="1"/>
          <p:nvPr/>
        </p:nvSpPr>
        <p:spPr>
          <a:xfrm>
            <a:off x="8138160" y="2423160"/>
            <a:ext cx="3291840" cy="365760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chemeClr val="bg1"/>
                </a:solidFill>
              </a:rPr>
              <a:t>Design a public policy</a:t>
            </a:r>
            <a:r>
              <a:rPr lang="en-US" sz="1500" dirty="0">
                <a:solidFill>
                  <a:schemeClr val="bg1"/>
                </a:solidFill>
              </a:rPr>
              <a:t> for one school issue (plastic, water, road safety, energy, littering): reason, solution, who implements, student role, success measure.</a:t>
            </a:r>
            <a:endParaRPr lang="en-US" sz="1600" dirty="0"/>
          </a:p>
          <a:p>
            <a:pPr marL="228600" indent="-228600">
              <a:spcAft>
                <a:spcPts val="1000"/>
              </a:spcAft>
              <a:buSzPct val="100000"/>
              <a:buChar char="•"/>
            </a:pPr>
            <a:r>
              <a:rPr lang="en-US" sz="1500" dirty="0">
                <a:solidFill>
                  <a:schemeClr val="bg1"/>
                </a:solidFill>
              </a:rPr>
              <a:t>Make a chart on one public policy: </a:t>
            </a:r>
            <a:r>
              <a:rPr lang="en-US" sz="1500" b="1" dirty="0">
                <a:solidFill>
                  <a:schemeClr val="bg1"/>
                </a:solidFill>
              </a:rPr>
              <a:t>RTE, Swachh Bharat, PM POSHAN, Ayushman Bharat, Digital India or Jal Jeevan Mission</a:t>
            </a:r>
            <a:r>
              <a:rPr lang="en-US" sz="1500" dirty="0">
                <a:solidFill>
                  <a:schemeClr val="bg1"/>
                </a:solidFill>
              </a:rPr>
              <a:t>.</a:t>
            </a:r>
            <a:endParaRPr lang="en-US" sz="1600" dirty="0"/>
          </a:p>
          <a:p>
            <a:pPr marL="228600" indent="-228600">
              <a:spcAft>
                <a:spcPts val="1000"/>
              </a:spcAft>
              <a:buSzPct val="100000"/>
              <a:buChar char="•"/>
            </a:pPr>
            <a:r>
              <a:rPr lang="en-US" sz="1500" dirty="0">
                <a:solidFill>
                  <a:schemeClr val="bg1"/>
                </a:solidFill>
              </a:rPr>
              <a:t>Find out why </a:t>
            </a:r>
            <a:r>
              <a:rPr lang="en-US" sz="1500" b="1" dirty="0">
                <a:solidFill>
                  <a:schemeClr val="bg1"/>
                </a:solidFill>
              </a:rPr>
              <a:t>25 December</a:t>
            </a:r>
            <a:r>
              <a:rPr lang="en-US" sz="1500" dirty="0">
                <a:solidFill>
                  <a:schemeClr val="bg1"/>
                </a:solidFill>
              </a:rPr>
              <a:t> is National Good Governance Day.</a:t>
            </a:r>
            <a:endParaRPr lang="en-US" sz="1600" dirty="0"/>
          </a:p>
        </p:txBody>
      </p:sp>
      <p:pic>
        <p:nvPicPr>
          <p:cNvPr id="19" name="quote mark" descr="preencoded.png">    </p:cNvPr>
          <p:cNvPicPr>
            <a:picLocks noChangeAspect="1"/>
          </p:cNvPicPr>
          <p:nvPr/>
        </p:nvPicPr>
        <p:blipFill>
          <a:blip r:embed="rId2"/>
          <a:stretch>
            <a:fillRect/>
          </a:stretch>
        </p:blipFill>
        <p:spPr>
          <a:xfrm>
            <a:off x="731520" y="4617720"/>
            <a:ext cx="502920" cy="502920"/>
          </a:xfrm>
          <a:prstGeom prst="rect">
            <a:avLst/>
          </a:prstGeom>
        </p:spPr>
      </p:pic>
      <p:sp>
        <p:nvSpPr>
          <p:cNvPr id="20" name="Text 16"/>
          <p:cNvSpPr txBox="1"/>
          <p:nvPr/>
        </p:nvSpPr>
        <p:spPr>
          <a:xfrm>
            <a:off x="1463040" y="4526280"/>
            <a:ext cx="6035040" cy="1691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In the happiness of the people lies the happiness of the ruler.</a:t>
            </a:r>
            <a:endParaRPr lang="en-US" sz="2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BEEF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Governance and Public Policy">
  <a:themeElements>
    <a:clrScheme name="Governance and Public Policy">
      <a:dk1>
        <a:srgbClr val="1F2328"/>
      </a:dk1>
      <a:lt1>
        <a:srgbClr val="FFFFFF"/>
      </a:lt1>
      <a:dk2>
        <a:srgbClr val="1E2761"/>
      </a:dk2>
      <a:lt2>
        <a:srgbClr val="EBEEF8"/>
      </a:lt2>
      <a:accent1>
        <a:srgbClr val="3949AB"/>
      </a:accent1>
      <a:accent2>
        <a:srgbClr val="C2410C"/>
      </a:accent2>
      <a:accent3>
        <a:srgbClr val="FFB347"/>
      </a:accent3>
      <a:accent4>
        <a:srgbClr val="0F7B3F"/>
      </a:accent4>
      <a:accent5>
        <a:srgbClr val="0E7490"/>
      </a:accent5>
      <a:accent6>
        <a:srgbClr val="7B3FA0"/>
      </a:accent6>
      <a:hlink>
        <a:srgbClr val="0563C1"/>
      </a:hlink>
      <a:folHlink>
        <a:srgbClr val="954F72"/>
      </a:folHlink>
    </a:clrScheme>
    <a:fontScheme name="Governance and Public Polic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Edubytez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Edubytez | Grade 9 Social Science | Chapter 4: Governance and Public Policy</dc:title>
  <dc:subject>Understanding Society: India and Beyond, Grade 9 Part 2</dc:subject>
  <dc:creator>Edubytez</dc:creator>
  <cp:lastModifiedBy>Edubytez</cp:lastModifiedBy>
  <cp:revision>1</cp:revision>
  <dcterms:created xsi:type="dcterms:W3CDTF">2026-10-09T15:57:26Z</dcterms:created>
  <dcterms:modified xsi:type="dcterms:W3CDTF">2026-10-09T15:57:26Z</dcterms:modified>
</cp:coreProperties>
</file>