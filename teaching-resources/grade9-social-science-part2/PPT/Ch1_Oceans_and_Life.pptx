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06d187e-8eff-4eb3-936e-5cbea307f7ac}">
          <p14:sldIdLst>
            <p14:sldId id="256"/>
            <p14:sldId id="257"/>
            <p14:sldId id="258"/>
          </p14:sldIdLst>
        </p14:section>
        <p14:section name="Ocean Relief" id="{27f0ab72-b4ea-1946-5247-b57da285649c}">
          <p14:sldIdLst>
            <p14:sldId id="259"/>
            <p14:sldId id="260"/>
            <p14:sldId id="261"/>
            <p14:sldId id="262"/>
          </p14:sldIdLst>
        </p14:section>
        <p14:section name="Ocean in Motion" id="{068807b7-5297-3ef2-16ad-493126c84f5f}">
          <p14:sldIdLst>
            <p14:sldId id="263"/>
            <p14:sldId id="264"/>
            <p14:sldId id="265"/>
            <p14:sldId id="266"/>
            <p14:sldId id="267"/>
            <p14:sldId id="268"/>
            <p14:sldId id="269"/>
          </p14:sldIdLst>
        </p14:section>
        <p14:section name="Hazards and Early Warning" id="{162ca17e-d68b-d9f7-a11b-bc025e86b856}">
          <p14:sldIdLst>
            <p14:sldId id="270"/>
            <p14:sldId id="271"/>
            <p14:sldId id="272"/>
            <p14:sldId id="273"/>
          </p14:sldIdLst>
        </p14:section>
        <p14:section name="Marine Resources" id="{e5929623-692b-7b2b-3ac1-6736526c1158}">
          <p14:sldIdLst>
            <p14:sldId id="274"/>
            <p14:sldId id="275"/>
            <p14:sldId id="276"/>
          </p14:sldIdLst>
        </p14:section>
        <p14:section name="Maritime Zones" id="{ed8eb6c8-8adc-0736-81ce-2b043332ae6f}">
          <p14:sldIdLst>
            <p14:sldId id="277"/>
            <p14:sldId id="278"/>
            <p14:sldId id="279"/>
          </p14:sldIdLst>
        </p14:section>
        <p14:section name="Review" id="{3338a0b6-c10a-8dab-c5df-108cb236e6ad}">
          <p14:sldIdLst>
            <p14:sldId id="280"/>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Show a globe and ask: How much of our planet is blue? (Most of it.) Tell them that over the next few classes they will dive under the sea, ride the waves, learn how India warns people about tsunamis, and find out who owns the ocean.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students imagine a flat, sandy floor. Collect 3-4 sketches and keep them. At the end of Part 1, compare them with the real ocean relief diagram. This creates curiosity and a 'surprise'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Big Questions aloud. Ask students to note them on the first page of their notebook. They will answer them one by one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students 'across' the diagram from the coast outwards: shallow shelf, steep slope, rise, flat abyssal plain, seamount, guyot, ridge and trench. Ask: Which part is shallow? (Shelf.) Which part is deepest? (Trench.) How might these features have formed? (Volcanic activity, plate movement, erosion.) Then compare with the students' sketches from the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game: 'Point and Name'. Call out a feature; students point to it on the previous diagram (or on their textbook Fig. 1.2). Ask why the continental shelf matters to fishermen (shallow, sunlight, rich in fish).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approximate (Challenger Deep is about 10.9 km; Mauna Kea is about 10.2 km from base; Everest is 8.85 km above sea level). Let students compare using a quick bar sketch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Waves are mainly caused by wind blowing across the water. Demonstrate with a rope or a 'Mexican wave' in the class: students stand and sit in turn. Ask: Did the students move forward? (No, only the energy moved.) That is how waves carry energy over long distances.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 integration: students draw the five stages as a comic strip. Map task: find famous beaches of India (Marina, Puri, Radhanagar, Kovalam, Baga) and mark them on the outline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Tides are the rhythmic rise and fall of ocean water, usually twice a day. High tide = flood tide; low tide = ebb tide. Model it: one student is the Earth, one the Moon, one the Sun. Line them up for a spring tide, then move the Moon 90 degrees for a neap tide. Ask: When do the pulls add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of these would matter most to a fisher in Keralam? To a ship captain at Kandla? Discuss how tidal information is shared (tide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world map of currents (textbook Fig. 1.9). Let's Explore: note the currents along India's coast. Discuss why Norway's ports stay open in winter while parts of Canada at lower latitudes freeze.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use warm, not boiling, water. Expected result: blue cold water sinks and spreads along the bottom; red warm water stays on top. Link to the textbook: currents are caused by temperature and salinity differences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Worst-affected areas in India in 2004: Tamil Nadu, Puducherry, Andhra Pradesh, Keralam, and the Andaman &amp; Nicobar Islands. Ask: If you got a tsunami alert right now, what five steps would your family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GEMINI now works up to 50 nautical miles; an upgraded two-way version will help fishers going up to 300 nautical miles. Ask students to talk to elders about folk stories on disasters (textbook Let's Explore).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textbook Question 6. Keep a timer to create urgency. During debrief, highlight coordination, last-mile communication (SMS, loudspeakers, display boards) and the needs of the elderly and people with disabilities.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Marine resources are materials and features of the ocean that have intrinsic or economic value. Sorting game: call out items (prawns, sand, offshore wind, seaweed, natural gas, wave energy) and students shout LIVING or NON-LIVING.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World Bank definition of Blue Economy: 'the sustainable use of ocean resources to promote economic growth, improved livelihoods, and jobs, while preserving the health of the marine ecosystem.' SDG 14 aims: reduce marine pollution, address ocean acidification, regulate fishing, protect and conserve marine areas, eliminate harmful subsidies, increase economic benefits.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nautical mile = 1,852 metres = one minute of latitude. Use a 'human number line' along the classroom wall: one student is the coast, others stand at 12, 24 and 200 NM and explain their zone's rights.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such rules the oceans would be dangerous and chaotic: more pollution, accidents and disputes. Let's Explore: find countries that have disputes over sea areas (e.g., South China Sea disputes).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B, Q2: B, Q3: C, Q4: B. Let students vote with fingers (1-4) or A/B/C/D cards before revealing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why each wrong option is wrong. Ask: Which question was the trickiest,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stand up for FACT and stay seated for MYTH (or show thumbs up/down).
Answers:
1. FACT: Wind is the main cause of ordinary waves.
2. MYTH: It has special rights to resources, but other ships may pass; it does not fully own the waters.
3. MYTH: A seamount does not reach the sea surface.
4. MYTH: It is a warm current that starts in the Gulf of Mexico.
5. MYTH: Innocent passage does not allow fishing or military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ask a different student to explain each branch in one sentence,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sticky notes or half-sheets for the 3-2-1 exit ticket. Collect them at the door and use the questions to plan the next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H_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143000"/>
            <a:ext cx="6949440" cy="457200"/>
          </a:xfrm>
          <a:prstGeom prst="rect">
            <a:avLst/>
          </a:prstGeom>
          <a:noFill/>
          <a:ln/>
        </p:spPr>
        <p:txBody>
          <a:bodyPr wrap="square" rtlCol="0"/>
          <a:lstStyle>
            <a:lvl1pPr indent="0" marL="0">
              <a:buNone/>
              <a:defRPr lang="en-US" sz="1800" b="1" spc="300" kern="0" dirty="0">
                <a:solidFill>
                  <a:schemeClr val="accent3"/>
                </a:solidFill>
              </a:defRPr>
            </a:lvl1pPr>
          </a:lstStyle>
          <a:p>
            <a:pPr indent="0" marL="0">
              <a:buNone/>
            </a:pPr>
            <a:endParaRPr lang="en-US" sz="1800" dirty="0"/>
          </a:p>
        </p:txBody>
      </p:sp>
      <p:sp>
        <p:nvSpPr>
          <p:cNvPr id="3" name="Text 0"/>
          <p:cNvSpPr/>
          <p:nvPr>
            <p:ph idx="101" type="title" hasCustomPrompt="1"/>
          </p:nvPr>
        </p:nvSpPr>
        <p:spPr>
          <a:xfrm>
            <a:off x="731520" y="1691640"/>
            <a:ext cx="6949440" cy="21945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731520" y="4069080"/>
            <a:ext cx="694944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rtlCol="0"/>
          <a:lstStyle>
            <a:lvl1pPr indent="0" marL="0">
              <a:buNone/>
              <a:defRPr lang="en-US" sz="1800" b="1" spc="300" kern="0" dirty="0">
                <a:solidFill>
                  <a:schemeClr val="bg2"/>
                </a:solidFill>
              </a:defRPr>
            </a:lvl1pPr>
          </a:lstStyle>
          <a:p>
            <a:pPr indent="0" marL="0">
              <a:buNone/>
            </a:pP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tx2"/>
                </a:solidFill>
              </a:rPr>
              <a:t>Grade 9 Social Science  ·  Chapter 1: Oceans and Life</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CTIVITY">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tx2"/>
                </a:solidFill>
              </a:rPr>
              <a:t>Grade 9 Social Science  ·  Chapter 1: Oceans and Life</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F1F6"/>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5.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4.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4.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5.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4.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5.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4.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4.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6.xml"/><Relationship Id="rId4"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143000"/>
            <a:ext cx="6949440" cy="457200"/>
          </a:xfrm>
          <a:prstGeom prst="rect">
            <a:avLst/>
          </a:prstGeom>
          <a:noFill/>
          <a:ln/>
        </p:spPr>
        <p:txBody>
          <a:bodyPr wrap="square" lIns="0" tIns="0" rIns="0" bIns="0" rtlCol="0"/>
          <a:lstStyle/>
          <a:p>
            <a:pPr indent="0" marL="0">
              <a:buNone/>
            </a:pPr>
            <a:r>
              <a:rPr lang="en-US" sz="1800" b="1" spc="300" kern="0" dirty="0">
                <a:solidFill>
                  <a:schemeClr val="accent3"/>
                </a:solidFill>
              </a:rPr>
              <a:t>CHAPTER 1  ·  GEOGRAPHY</a:t>
            </a:r>
            <a:endParaRPr lang="en-US" sz="1800" dirty="0"/>
          </a:p>
        </p:txBody>
      </p:sp>
      <p:sp>
        <p:nvSpPr>
          <p:cNvPr id="3" name="Text 0"/>
          <p:cNvSpPr/>
          <p:nvPr>
            <p:ph idx="101" type="title" hasCustomPrompt="1"/>
          </p:nvPr>
        </p:nvSpPr>
        <p:spPr>
          <a:xfrm>
            <a:off x="731520" y="1691640"/>
            <a:ext cx="6949440" cy="2194560"/>
          </a:xfrm>
          <a:prstGeom prst="rect">
            <a:avLst/>
          </a:prstGeom>
          <a:noFill/>
          <a:ln/>
        </p:spPr>
        <p:txBody>
          <a:bodyPr wrap="square" lIns="0" tIns="0" rIns="0" bIns="0" rtlCol="0" anchor="t"/>
          <a:lstStyle/>
          <a:p>
            <a:pPr algn="l" indent="0" marL="0">
              <a:buNone/>
            </a:pPr>
            <a:r>
              <a:rPr lang="en-US" sz="5400" b="1" dirty="0">
                <a:solidFill>
                  <a:schemeClr val="bg1"/>
                </a:solidFill>
              </a:rPr>
              <a:t>Oceans and Life</a:t>
            </a:r>
            <a:endParaRPr lang="en-US" sz="5400" dirty="0"/>
          </a:p>
        </p:txBody>
      </p:sp>
      <p:sp>
        <p:nvSpPr>
          <p:cNvPr id="4" name="Text 0"/>
          <p:cNvSpPr/>
          <p:nvPr>
            <p:ph idx="102" type="body" hasCustomPrompt="1"/>
          </p:nvPr>
        </p:nvSpPr>
        <p:spPr>
          <a:xfrm>
            <a:off x="731520" y="4069080"/>
            <a:ext cx="6949440" cy="1097280"/>
          </a:xfrm>
          <a:prstGeom prst="rect">
            <a:avLst/>
          </a:prstGeom>
          <a:noFill/>
          <a:ln/>
        </p:spPr>
        <p:txBody>
          <a:bodyPr wrap="square" lIns="0" tIns="0" rIns="0" bIns="0" rtlCol="0" anchor="t"/>
          <a:lstStyle/>
          <a:p>
            <a:pPr indent="0" marL="0">
              <a:buNone/>
            </a:pPr>
            <a:r>
              <a:rPr lang="en-US" sz="1800" dirty="0">
                <a:solidFill>
                  <a:schemeClr val="bg2"/>
                </a:solidFill>
              </a:rPr>
              <a:t>Understanding Society: India and Beyond</a:t>
            </a:r>
            <a:endParaRPr lang="en-US" sz="1800" dirty="0"/>
          </a:p>
          <a:p>
            <a:pPr indent="0" marL="0">
              <a:buNone/>
            </a:pPr>
            <a:r>
              <a:rPr lang="en-US" sz="1800" dirty="0">
                <a:solidFill>
                  <a:schemeClr val="bg2"/>
                </a:solidFill>
              </a:rPr>
              <a:t>Grade 9, Part 2</a:t>
            </a:r>
            <a:endParaRPr lang="en-US" sz="1800" dirty="0"/>
          </a:p>
        </p:txBody>
      </p:sp>
      <p:sp>
        <p:nvSpPr>
          <p:cNvPr id="5" name="hero disc"/>
          <p:cNvSpPr/>
          <p:nvPr/>
        </p:nvSpPr>
        <p:spPr>
          <a:xfrm>
            <a:off x="8001000" y="1234440"/>
            <a:ext cx="3566160" cy="3566160"/>
          </a:xfrm>
          <a:prstGeom prst="ellipse">
            <a:avLst/>
          </a:prstGeom>
          <a:solidFill>
            <a:schemeClr val="accent1"/>
          </a:solidFill>
          <a:ln w="38100">
            <a:solidFill>
              <a:schemeClr val="accent3"/>
            </a:solidFill>
            <a:prstDash val="solid"/>
          </a:ln>
        </p:spPr>
      </p:sp>
      <p:pic>
        <p:nvPicPr>
          <p:cNvPr id="6" name="hero icon" descr="preencoded.png">    </p:cNvPr>
          <p:cNvPicPr>
            <a:picLocks noChangeAspect="1"/>
          </p:cNvPicPr>
          <p:nvPr/>
        </p:nvPicPr>
        <p:blipFill>
          <a:blip r:embed="rId1"/>
          <a:stretch>
            <a:fillRect/>
          </a:stretch>
        </p:blipFill>
        <p:spPr>
          <a:xfrm>
            <a:off x="8823960" y="2057400"/>
            <a:ext cx="1920240" cy="1920240"/>
          </a:xfrm>
          <a:prstGeom prst="rect">
            <a:avLst/>
          </a:prstGeom>
        </p:spPr>
      </p:pic>
      <p:sp>
        <p:nvSpPr>
          <p:cNvPr id="7" name="Text 4"/>
          <p:cNvSpPr txBox="1"/>
          <p:nvPr/>
        </p:nvSpPr>
        <p:spPr>
          <a:xfrm>
            <a:off x="7680960" y="5074920"/>
            <a:ext cx="4206240" cy="731520"/>
          </a:xfrm>
          <a:prstGeom prst="rect">
            <a:avLst/>
          </a:prstGeom>
          <a:noFill/>
          <a:ln/>
        </p:spPr>
        <p:txBody>
          <a:bodyPr wrap="square" lIns="0" tIns="0" rIns="0" bIns="0" rtlCol="0" anchor="t"/>
          <a:lstStyle/>
          <a:p>
            <a:pPr algn="ctr" indent="0" marL="0">
              <a:buNone/>
            </a:pPr>
            <a:r>
              <a:rPr lang="en-US" sz="1600" i="1" dirty="0">
                <a:solidFill>
                  <a:schemeClr val="bg2"/>
                </a:solidFill>
              </a:rPr>
              <a:t>Samudra: powerful, sacred and full of secrets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Let's Begin: Drain the Ocean!</a:t>
            </a:r>
            <a:endParaRPr lang="en-US" sz="3600" dirty="0"/>
          </a:p>
        </p:txBody>
      </p:sp>
      <p:sp>
        <p:nvSpPr>
          <p:cNvPr id="3" name="hook prompt card"/>
          <p:cNvSpPr/>
          <p:nvPr/>
        </p:nvSpPr>
        <p:spPr>
          <a:xfrm>
            <a:off x="548640" y="1371600"/>
            <a:ext cx="6766560" cy="4754880"/>
          </a:xfrm>
          <a:prstGeom prst="roundRect">
            <a:avLst>
              <a:gd name="adj" fmla="val 2308"/>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hook disc"/>
          <p:cNvSpPr/>
          <p:nvPr/>
        </p:nvSpPr>
        <p:spPr>
          <a:xfrm>
            <a:off x="868680" y="1691640"/>
            <a:ext cx="822960" cy="822960"/>
          </a:xfrm>
          <a:prstGeom prst="ellipse">
            <a:avLst/>
          </a:prstGeom>
          <a:solidFill>
            <a:schemeClr val="accent1"/>
          </a:solidFill>
          <a:ln w="12700">
            <a:solidFill>
              <a:schemeClr val="accent1"/>
            </a:solidFill>
            <a:prstDash val="solid"/>
          </a:ln>
        </p:spPr>
      </p:sp>
      <p:pic>
        <p:nvPicPr>
          <p:cNvPr id="5" name="hook glyph" descr="preencoded.png">    </p:cNvPr>
          <p:cNvPicPr>
            <a:picLocks noChangeAspect="1"/>
          </p:cNvPicPr>
          <p:nvPr/>
        </p:nvPicPr>
        <p:blipFill>
          <a:blip r:embed="rId1"/>
          <a:stretch>
            <a:fillRect/>
          </a:stretch>
        </p:blipFill>
        <p:spPr>
          <a:xfrm>
            <a:off x="1049731" y="1872691"/>
            <a:ext cx="460858" cy="460858"/>
          </a:xfrm>
          <a:prstGeom prst="rect">
            <a:avLst/>
          </a:prstGeom>
        </p:spPr>
      </p:pic>
      <p:sp>
        <p:nvSpPr>
          <p:cNvPr id="6" name="Text 3"/>
          <p:cNvSpPr txBox="1"/>
          <p:nvPr/>
        </p:nvSpPr>
        <p:spPr>
          <a:xfrm>
            <a:off x="1874520" y="1874520"/>
            <a:ext cx="5120640" cy="457200"/>
          </a:xfrm>
          <a:prstGeom prst="rect">
            <a:avLst/>
          </a:prstGeom>
          <a:noFill/>
          <a:ln/>
        </p:spPr>
        <p:txBody>
          <a:bodyPr wrap="square" lIns="0" tIns="0" rIns="0" bIns="0" rtlCol="0" anchor="ctr"/>
          <a:lstStyle/>
          <a:p>
            <a:pPr indent="0" marL="0">
              <a:buNone/>
            </a:pPr>
            <a:r>
              <a:rPr lang="en-US" sz="1400" b="1" spc="200" kern="0" dirty="0">
                <a:solidFill>
                  <a:schemeClr val="accent1"/>
                </a:solidFill>
              </a:rPr>
              <a:t>60-SECOND SKETCH</a:t>
            </a:r>
            <a:endParaRPr lang="en-US" sz="1400" dirty="0"/>
          </a:p>
        </p:txBody>
      </p:sp>
      <p:sp>
        <p:nvSpPr>
          <p:cNvPr id="7" name="Text 4"/>
          <p:cNvSpPr txBox="1"/>
          <p:nvPr/>
        </p:nvSpPr>
        <p:spPr>
          <a:xfrm>
            <a:off x="868680" y="2743200"/>
            <a:ext cx="6126480" cy="18288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If all the ocean water drained away tonight, what would the ocean floor look like?</a:t>
            </a:r>
            <a:endParaRPr lang="en-US" sz="2400" dirty="0"/>
          </a:p>
        </p:txBody>
      </p:sp>
      <p:sp>
        <p:nvSpPr>
          <p:cNvPr id="8" name="Text 5"/>
          <p:cNvSpPr txBox="1"/>
          <p:nvPr/>
        </p:nvSpPr>
        <p:spPr>
          <a:xfrm>
            <a:off x="868680" y="4617720"/>
            <a:ext cx="6126480" cy="137160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Sketch it in 60 seconds</a:t>
            </a:r>
            <a:endParaRPr lang="en-US" sz="1600" dirty="0"/>
          </a:p>
          <a:p>
            <a:pPr marL="228600" indent="-228600">
              <a:spcAft>
                <a:spcPts val="600"/>
              </a:spcAft>
              <a:buSzPct val="100000"/>
              <a:buChar char="•"/>
            </a:pPr>
            <a:r>
              <a:rPr lang="en-US" sz="1600" dirty="0">
                <a:solidFill>
                  <a:schemeClr val="tx1"/>
                </a:solidFill>
              </a:rPr>
              <a:t>Compare your sketch with your partner's</a:t>
            </a:r>
            <a:endParaRPr lang="en-US" sz="1600" dirty="0"/>
          </a:p>
        </p:txBody>
      </p:sp>
      <p:sp>
        <p:nvSpPr>
          <p:cNvPr id="9" name="did you know card"/>
          <p:cNvSpPr/>
          <p:nvPr/>
        </p:nvSpPr>
        <p:spPr>
          <a:xfrm>
            <a:off x="7635240" y="1371600"/>
            <a:ext cx="3977640" cy="4754880"/>
          </a:xfrm>
          <a:prstGeom prst="roundRect">
            <a:avLst>
              <a:gd name="adj" fmla="val 2759"/>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pic>
        <p:nvPicPr>
          <p:cNvPr id="10" name="bulb" descr="preencoded.png">    </p:cNvPr>
          <p:cNvPicPr>
            <a:picLocks noChangeAspect="1"/>
          </p:cNvPicPr>
          <p:nvPr/>
        </p:nvPicPr>
        <p:blipFill>
          <a:blip r:embed="rId2"/>
          <a:stretch>
            <a:fillRect/>
          </a:stretch>
        </p:blipFill>
        <p:spPr>
          <a:xfrm>
            <a:off x="7955280" y="1691640"/>
            <a:ext cx="548640" cy="548640"/>
          </a:xfrm>
          <a:prstGeom prst="rect">
            <a:avLst/>
          </a:prstGeom>
        </p:spPr>
      </p:pic>
      <p:sp>
        <p:nvSpPr>
          <p:cNvPr id="11" name="Text 7"/>
          <p:cNvSpPr txBox="1"/>
          <p:nvPr/>
        </p:nvSpPr>
        <p:spPr>
          <a:xfrm>
            <a:off x="8641080" y="1691640"/>
            <a:ext cx="2743200" cy="548640"/>
          </a:xfrm>
          <a:prstGeom prst="rect">
            <a:avLst/>
          </a:prstGeom>
          <a:noFill/>
          <a:ln/>
        </p:spPr>
        <p:txBody>
          <a:bodyPr wrap="square" lIns="0" tIns="0" rIns="0" bIns="0" rtlCol="0" anchor="ctr"/>
          <a:lstStyle/>
          <a:p>
            <a:pPr indent="0" marL="0">
              <a:buNone/>
            </a:pPr>
            <a:r>
              <a:rPr lang="en-US" sz="2000" b="1" dirty="0">
                <a:solidFill>
                  <a:schemeClr val="accent3"/>
                </a:solidFill>
              </a:rPr>
              <a:t>Did you know?</a:t>
            </a:r>
            <a:endParaRPr lang="en-US" sz="2000" dirty="0"/>
          </a:p>
        </p:txBody>
      </p:sp>
      <p:sp>
        <p:nvSpPr>
          <p:cNvPr id="12" name="Text 8"/>
          <p:cNvSpPr txBox="1"/>
          <p:nvPr/>
        </p:nvSpPr>
        <p:spPr>
          <a:xfrm>
            <a:off x="7955280" y="2468880"/>
            <a:ext cx="3383280" cy="34747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bg1"/>
                </a:solidFill>
              </a:rPr>
              <a:t>Oceans cover most of our planet and hide many secrets.</a:t>
            </a:r>
            <a:endParaRPr lang="en-US" sz="1600" dirty="0"/>
          </a:p>
          <a:p>
            <a:pPr marL="228600" indent="-228600">
              <a:spcAft>
                <a:spcPts val="1000"/>
              </a:spcAft>
              <a:buSzPct val="100000"/>
              <a:buChar char="•"/>
            </a:pPr>
            <a:r>
              <a:rPr lang="en-US" sz="1600" dirty="0">
                <a:solidFill>
                  <a:schemeClr val="bg1"/>
                </a:solidFill>
              </a:rPr>
              <a:t>Mauna Kea in Hawai'i is taller than Mount Everest when measured from its base on the sea floor.</a:t>
            </a:r>
            <a:endParaRPr lang="en-US" sz="1600" dirty="0"/>
          </a:p>
          <a:p>
            <a:pPr marL="228600" indent="-228600">
              <a:spcAft>
                <a:spcPts val="1000"/>
              </a:spcAft>
              <a:buSzPct val="100000"/>
              <a:buChar char="•"/>
            </a:pPr>
            <a:r>
              <a:rPr lang="en-US" sz="1600" dirty="0">
                <a:solidFill>
                  <a:schemeClr val="bg1"/>
                </a:solidFill>
              </a:rPr>
              <a:t>In Indian tradition, treasures like the conch (śhaṅkha) came from the Samudra Manthana.</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Big Questions</a:t>
            </a:r>
            <a:endParaRPr lang="en-US" sz="3600" dirty="0"/>
          </a:p>
        </p:txBody>
      </p:sp>
      <p:sp>
        <p:nvSpPr>
          <p:cNvPr id="3" name="question 1 card"/>
          <p:cNvSpPr/>
          <p:nvPr/>
        </p:nvSpPr>
        <p:spPr>
          <a:xfrm>
            <a:off x="548640" y="1371600"/>
            <a:ext cx="11064240" cy="749808"/>
          </a:xfrm>
          <a:prstGeom prst="roundRect">
            <a:avLst>
              <a:gd name="adj" fmla="val 14634"/>
            </a:avLst>
          </a:prstGeom>
          <a:solidFill>
            <a:schemeClr val="bg2"/>
          </a:solidFill>
          <a:ln w="12700">
            <a:solidFill>
              <a:schemeClr val="bg2"/>
            </a:solidFill>
            <a:prstDash val="solid"/>
          </a:ln>
        </p:spPr>
      </p:sp>
      <p:sp>
        <p:nvSpPr>
          <p:cNvPr id="4" name="q1 badge"/>
          <p:cNvSpPr/>
          <p:nvPr/>
        </p:nvSpPr>
        <p:spPr>
          <a:xfrm>
            <a:off x="731520" y="1495044"/>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731520" y="14950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463040" y="1371600"/>
            <a:ext cx="9966960" cy="749808"/>
          </a:xfrm>
          <a:prstGeom prst="rect">
            <a:avLst/>
          </a:prstGeom>
          <a:noFill/>
          <a:ln/>
        </p:spPr>
        <p:txBody>
          <a:bodyPr wrap="square" lIns="0" tIns="0" rIns="0" bIns="0" rtlCol="0" anchor="ctr"/>
          <a:lstStyle/>
          <a:p>
            <a:pPr indent="0" marL="0">
              <a:buNone/>
            </a:pPr>
            <a:r>
              <a:rPr lang="en-US" sz="1800" dirty="0">
                <a:solidFill>
                  <a:schemeClr val="tx1"/>
                </a:solidFill>
              </a:rPr>
              <a:t>What is the importance of ocean relief?</a:t>
            </a:r>
            <a:endParaRPr lang="en-US" sz="1800" dirty="0"/>
          </a:p>
        </p:txBody>
      </p:sp>
      <p:sp>
        <p:nvSpPr>
          <p:cNvPr id="7" name="question 2 card"/>
          <p:cNvSpPr/>
          <p:nvPr/>
        </p:nvSpPr>
        <p:spPr>
          <a:xfrm>
            <a:off x="548640" y="2286000"/>
            <a:ext cx="11064240" cy="749808"/>
          </a:xfrm>
          <a:prstGeom prst="roundRect">
            <a:avLst>
              <a:gd name="adj" fmla="val 14634"/>
            </a:avLst>
          </a:prstGeom>
          <a:solidFill>
            <a:schemeClr val="bg2"/>
          </a:solidFill>
          <a:ln w="12700">
            <a:solidFill>
              <a:schemeClr val="bg2"/>
            </a:solidFill>
            <a:prstDash val="solid"/>
          </a:ln>
        </p:spPr>
      </p:sp>
      <p:sp>
        <p:nvSpPr>
          <p:cNvPr id="8" name="q2 badge"/>
          <p:cNvSpPr/>
          <p:nvPr/>
        </p:nvSpPr>
        <p:spPr>
          <a:xfrm>
            <a:off x="731520" y="2409444"/>
            <a:ext cx="502920" cy="502920"/>
          </a:xfrm>
          <a:prstGeom prst="ellipse">
            <a:avLst/>
          </a:prstGeom>
          <a:solidFill>
            <a:schemeClr val="accent1"/>
          </a:solidFill>
          <a:ln w="12700">
            <a:solidFill>
              <a:schemeClr val="accent1"/>
            </a:solidFill>
            <a:prstDash val="solid"/>
          </a:ln>
        </p:spPr>
      </p:sp>
      <p:sp>
        <p:nvSpPr>
          <p:cNvPr id="9" name="Text 7"/>
          <p:cNvSpPr txBox="1"/>
          <p:nvPr/>
        </p:nvSpPr>
        <p:spPr>
          <a:xfrm>
            <a:off x="731520" y="24094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8"/>
          <p:cNvSpPr txBox="1"/>
          <p:nvPr/>
        </p:nvSpPr>
        <p:spPr>
          <a:xfrm>
            <a:off x="1463040" y="2286000"/>
            <a:ext cx="9966960" cy="749808"/>
          </a:xfrm>
          <a:prstGeom prst="rect">
            <a:avLst/>
          </a:prstGeom>
          <a:noFill/>
          <a:ln/>
        </p:spPr>
        <p:txBody>
          <a:bodyPr wrap="square" lIns="0" tIns="0" rIns="0" bIns="0" rtlCol="0" anchor="ctr"/>
          <a:lstStyle/>
          <a:p>
            <a:pPr indent="0" marL="0">
              <a:buNone/>
            </a:pPr>
            <a:r>
              <a:rPr lang="en-US" sz="1800" dirty="0">
                <a:solidFill>
                  <a:schemeClr val="tx1"/>
                </a:solidFill>
              </a:rPr>
              <a:t>How does ocean water movement impact life and the environment?</a:t>
            </a:r>
            <a:endParaRPr lang="en-US" sz="1800" dirty="0"/>
          </a:p>
        </p:txBody>
      </p:sp>
      <p:sp>
        <p:nvSpPr>
          <p:cNvPr id="11" name="question 3 card"/>
          <p:cNvSpPr/>
          <p:nvPr/>
        </p:nvSpPr>
        <p:spPr>
          <a:xfrm>
            <a:off x="548640" y="3200400"/>
            <a:ext cx="11064240" cy="749808"/>
          </a:xfrm>
          <a:prstGeom prst="roundRect">
            <a:avLst>
              <a:gd name="adj" fmla="val 14634"/>
            </a:avLst>
          </a:prstGeom>
          <a:solidFill>
            <a:schemeClr val="bg2"/>
          </a:solidFill>
          <a:ln w="12700">
            <a:solidFill>
              <a:schemeClr val="bg2"/>
            </a:solidFill>
            <a:prstDash val="solid"/>
          </a:ln>
        </p:spPr>
      </p:sp>
      <p:sp>
        <p:nvSpPr>
          <p:cNvPr id="12" name="q3 badge"/>
          <p:cNvSpPr/>
          <p:nvPr/>
        </p:nvSpPr>
        <p:spPr>
          <a:xfrm>
            <a:off x="731520" y="3323844"/>
            <a:ext cx="502920" cy="502920"/>
          </a:xfrm>
          <a:prstGeom prst="ellipse">
            <a:avLst/>
          </a:prstGeom>
          <a:solidFill>
            <a:schemeClr val="accent1"/>
          </a:solidFill>
          <a:ln w="12700">
            <a:solidFill>
              <a:schemeClr val="accent1"/>
            </a:solidFill>
            <a:prstDash val="solid"/>
          </a:ln>
        </p:spPr>
      </p:sp>
      <p:sp>
        <p:nvSpPr>
          <p:cNvPr id="13" name="Text 11"/>
          <p:cNvSpPr txBox="1"/>
          <p:nvPr/>
        </p:nvSpPr>
        <p:spPr>
          <a:xfrm>
            <a:off x="731520" y="33238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2"/>
          <p:cNvSpPr txBox="1"/>
          <p:nvPr/>
        </p:nvSpPr>
        <p:spPr>
          <a:xfrm>
            <a:off x="1463040" y="3200400"/>
            <a:ext cx="9966960" cy="749808"/>
          </a:xfrm>
          <a:prstGeom prst="rect">
            <a:avLst/>
          </a:prstGeom>
          <a:noFill/>
          <a:ln/>
        </p:spPr>
        <p:txBody>
          <a:bodyPr wrap="square" lIns="0" tIns="0" rIns="0" bIns="0" rtlCol="0" anchor="ctr"/>
          <a:lstStyle/>
          <a:p>
            <a:pPr indent="0" marL="0">
              <a:buNone/>
            </a:pPr>
            <a:r>
              <a:rPr lang="en-US" sz="1800" dirty="0">
                <a:solidFill>
                  <a:schemeClr val="tx1"/>
                </a:solidFill>
              </a:rPr>
              <a:t>Why are maritime zones important for a country?</a:t>
            </a:r>
            <a:endParaRPr lang="en-US" sz="1800" dirty="0"/>
          </a:p>
        </p:txBody>
      </p:sp>
      <p:sp>
        <p:nvSpPr>
          <p:cNvPr id="15" name="question 4 card"/>
          <p:cNvSpPr/>
          <p:nvPr/>
        </p:nvSpPr>
        <p:spPr>
          <a:xfrm>
            <a:off x="548640" y="4114800"/>
            <a:ext cx="11064240" cy="749808"/>
          </a:xfrm>
          <a:prstGeom prst="roundRect">
            <a:avLst>
              <a:gd name="adj" fmla="val 14634"/>
            </a:avLst>
          </a:prstGeom>
          <a:solidFill>
            <a:schemeClr val="bg2"/>
          </a:solidFill>
          <a:ln w="12700">
            <a:solidFill>
              <a:schemeClr val="bg2"/>
            </a:solidFill>
            <a:prstDash val="solid"/>
          </a:ln>
        </p:spPr>
      </p:sp>
      <p:sp>
        <p:nvSpPr>
          <p:cNvPr id="16" name="q4 badge"/>
          <p:cNvSpPr/>
          <p:nvPr/>
        </p:nvSpPr>
        <p:spPr>
          <a:xfrm>
            <a:off x="731520" y="4238244"/>
            <a:ext cx="502920" cy="502920"/>
          </a:xfrm>
          <a:prstGeom prst="ellipse">
            <a:avLst/>
          </a:prstGeom>
          <a:solidFill>
            <a:schemeClr val="accent1"/>
          </a:solidFill>
          <a:ln w="12700">
            <a:solidFill>
              <a:schemeClr val="accent1"/>
            </a:solidFill>
            <a:prstDash val="solid"/>
          </a:ln>
        </p:spPr>
      </p:sp>
      <p:sp>
        <p:nvSpPr>
          <p:cNvPr id="17" name="Text 15"/>
          <p:cNvSpPr txBox="1"/>
          <p:nvPr/>
        </p:nvSpPr>
        <p:spPr>
          <a:xfrm>
            <a:off x="731520" y="42382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8" name="Text 16"/>
          <p:cNvSpPr txBox="1"/>
          <p:nvPr/>
        </p:nvSpPr>
        <p:spPr>
          <a:xfrm>
            <a:off x="1463040" y="4114800"/>
            <a:ext cx="9966960" cy="749808"/>
          </a:xfrm>
          <a:prstGeom prst="rect">
            <a:avLst/>
          </a:prstGeom>
          <a:noFill/>
          <a:ln/>
        </p:spPr>
        <p:txBody>
          <a:bodyPr wrap="square" lIns="0" tIns="0" rIns="0" bIns="0" rtlCol="0" anchor="ctr"/>
          <a:lstStyle/>
          <a:p>
            <a:pPr indent="0" marL="0">
              <a:buNone/>
            </a:pPr>
            <a:r>
              <a:rPr lang="en-US" sz="1800" dirty="0">
                <a:solidFill>
                  <a:schemeClr val="tx1"/>
                </a:solidFill>
              </a:rPr>
              <a:t>How can we use ocean resources in a sustainable way?</a:t>
            </a:r>
            <a:endParaRPr lang="en-US" sz="1800" dirty="0"/>
          </a:p>
        </p:txBody>
      </p:sp>
      <p:sp>
        <p:nvSpPr>
          <p:cNvPr id="19" name="question 5 card"/>
          <p:cNvSpPr/>
          <p:nvPr/>
        </p:nvSpPr>
        <p:spPr>
          <a:xfrm>
            <a:off x="548640" y="5029200"/>
            <a:ext cx="11064240" cy="749808"/>
          </a:xfrm>
          <a:prstGeom prst="roundRect">
            <a:avLst>
              <a:gd name="adj" fmla="val 14634"/>
            </a:avLst>
          </a:prstGeom>
          <a:solidFill>
            <a:schemeClr val="bg2"/>
          </a:solidFill>
          <a:ln w="12700">
            <a:solidFill>
              <a:schemeClr val="bg2"/>
            </a:solidFill>
            <a:prstDash val="solid"/>
          </a:ln>
        </p:spPr>
      </p:sp>
      <p:sp>
        <p:nvSpPr>
          <p:cNvPr id="20" name="q5 badge"/>
          <p:cNvSpPr/>
          <p:nvPr/>
        </p:nvSpPr>
        <p:spPr>
          <a:xfrm>
            <a:off x="731520" y="5152644"/>
            <a:ext cx="502920" cy="502920"/>
          </a:xfrm>
          <a:prstGeom prst="ellipse">
            <a:avLst/>
          </a:prstGeom>
          <a:solidFill>
            <a:schemeClr val="accent1"/>
          </a:solidFill>
          <a:ln w="12700">
            <a:solidFill>
              <a:schemeClr val="accent1"/>
            </a:solidFill>
            <a:prstDash val="solid"/>
          </a:ln>
        </p:spPr>
      </p:sp>
      <p:sp>
        <p:nvSpPr>
          <p:cNvPr id="21" name="Text 19"/>
          <p:cNvSpPr txBox="1"/>
          <p:nvPr/>
        </p:nvSpPr>
        <p:spPr>
          <a:xfrm>
            <a:off x="731520" y="51526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2" name="Text 20"/>
          <p:cNvSpPr txBox="1"/>
          <p:nvPr/>
        </p:nvSpPr>
        <p:spPr>
          <a:xfrm>
            <a:off x="1463040" y="5029200"/>
            <a:ext cx="9966960" cy="749808"/>
          </a:xfrm>
          <a:prstGeom prst="rect">
            <a:avLst/>
          </a:prstGeom>
          <a:noFill/>
          <a:ln/>
        </p:spPr>
        <p:txBody>
          <a:bodyPr wrap="square" lIns="0" tIns="0" rIns="0" bIns="0" rtlCol="0" anchor="ctr"/>
          <a:lstStyle/>
          <a:p>
            <a:pPr indent="0" marL="0">
              <a:buNone/>
            </a:pPr>
            <a:r>
              <a:rPr lang="en-US" sz="1800" dirty="0">
                <a:solidFill>
                  <a:schemeClr val="tx1"/>
                </a:solidFill>
              </a:rPr>
              <a:t>How do early warning systems protect people from tsunamis and cyclones?</a:t>
            </a:r>
            <a:endParaRPr lang="en-US" sz="18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1</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Ocean Relief: The Hidden Landscape</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Just like land, the ocean floor has mountains, plains, valleys and deep trenches.</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 Journey Across the Ocean Floor</a:t>
            </a:r>
            <a:endParaRPr lang="en-US" sz="3600" dirty="0"/>
          </a:p>
        </p:txBody>
      </p:sp>
      <p:sp>
        <p:nvSpPr>
          <p:cNvPr id="3" name="ocean water"/>
          <p:cNvSpPr/>
          <p:nvPr/>
        </p:nvSpPr>
        <p:spPr>
          <a:xfrm>
            <a:off x="1371600" y="2057400"/>
            <a:ext cx="10268712" cy="3931920"/>
          </a:xfrm>
          <a:prstGeom prst="rect">
            <a:avLst/>
          </a:prstGeom>
          <a:solidFill>
            <a:schemeClr val="accent4">
              <a:alpha val="28000"/>
            </a:schemeClr>
          </a:solidFill>
          <a:ln w="12700">
            <a:solidFill>
              <a:schemeClr val="accent4"/>
            </a:solidFill>
            <a:prstDash val="solid"/>
          </a:ln>
        </p:spPr>
      </p:sp>
      <p:sp>
        <p:nvSpPr>
          <p:cNvPr id="4" name="sea level line"/>
          <p:cNvSpPr/>
          <p:nvPr/>
        </p:nvSpPr>
        <p:spPr>
          <a:xfrm>
            <a:off x="1371600" y="2057400"/>
            <a:ext cx="10268712" cy="0"/>
          </a:xfrm>
          <a:prstGeom prst="line">
            <a:avLst/>
          </a:prstGeom>
          <a:noFill/>
          <a:ln w="25400">
            <a:solidFill>
              <a:schemeClr val="accent4"/>
            </a:solidFill>
            <a:prstDash val="solid"/>
          </a:ln>
        </p:spPr>
      </p:sp>
      <p:sp>
        <p:nvSpPr>
          <p:cNvPr id="5" name="sea floor profile"/>
          <p:cNvSpPr/>
          <p:nvPr/>
        </p:nvSpPr>
        <p:spPr>
          <a:xfrm>
            <a:off x="548640" y="1691640"/>
            <a:ext cx="11091672" cy="4297680"/>
          </a:xfrm>
          <a:custGeom>
            <a:avLst/>
            <a:gdLst/>
            <a:ahLst/>
            <a:cxnLst/>
            <a:rect l="l" t="t" r="r" b="b"/>
            <a:pathLst>
              <a:path w="11091672" h="4297680">
                <a:moveTo>
                  <a:pt x="0" y="137160"/>
                </a:moveTo>
                <a:lnTo>
                  <a:pt x="822960" y="365760"/>
                </a:lnTo>
                <a:lnTo>
                  <a:pt x="2377440" y="640080"/>
                </a:lnTo>
                <a:lnTo>
                  <a:pt x="2926080" y="2377440"/>
                </a:lnTo>
                <a:lnTo>
                  <a:pt x="3840480" y="2926080"/>
                </a:lnTo>
                <a:lnTo>
                  <a:pt x="4937760" y="3017520"/>
                </a:lnTo>
                <a:lnTo>
                  <a:pt x="5394960" y="1463040"/>
                </a:lnTo>
                <a:lnTo>
                  <a:pt x="5852160" y="3017520"/>
                </a:lnTo>
                <a:lnTo>
                  <a:pt x="6217920" y="3017520"/>
                </a:lnTo>
                <a:lnTo>
                  <a:pt x="6583680" y="1737360"/>
                </a:lnTo>
                <a:lnTo>
                  <a:pt x="6949440" y="1737360"/>
                </a:lnTo>
                <a:lnTo>
                  <a:pt x="7315200" y="3017520"/>
                </a:lnTo>
                <a:lnTo>
                  <a:pt x="7680960" y="3017520"/>
                </a:lnTo>
                <a:lnTo>
                  <a:pt x="8321040" y="1371600"/>
                </a:lnTo>
                <a:lnTo>
                  <a:pt x="8412480" y="1783080"/>
                </a:lnTo>
                <a:lnTo>
                  <a:pt x="8503920" y="1371600"/>
                </a:lnTo>
                <a:lnTo>
                  <a:pt x="9144000" y="2926080"/>
                </a:lnTo>
                <a:lnTo>
                  <a:pt x="9509760" y="4069080"/>
                </a:lnTo>
                <a:lnTo>
                  <a:pt x="9875520" y="2377440"/>
                </a:lnTo>
                <a:lnTo>
                  <a:pt x="10332720" y="502920"/>
                </a:lnTo>
                <a:lnTo>
                  <a:pt x="10469880" y="45720"/>
                </a:lnTo>
                <a:lnTo>
                  <a:pt x="10607040" y="502920"/>
                </a:lnTo>
                <a:lnTo>
                  <a:pt x="11091672" y="1234440"/>
                </a:lnTo>
                <a:lnTo>
                  <a:pt x="11091672" y="4297680"/>
                </a:lnTo>
                <a:lnTo>
                  <a:pt x="0" y="4297680"/>
                </a:lnTo>
                <a:close/>
              </a:path>
            </a:pathLst>
          </a:custGeom>
          <a:solidFill>
            <a:schemeClr val="tx2"/>
          </a:solidFill>
          <a:ln w="12700">
            <a:solidFill>
              <a:schemeClr val="tx2"/>
            </a:solidFill>
            <a:prstDash val="solid"/>
          </a:ln>
        </p:spPr>
      </p:sp>
      <p:sp>
        <p:nvSpPr>
          <p:cNvPr id="6" name="label Continent"/>
          <p:cNvSpPr txBox="1"/>
          <p:nvPr/>
        </p:nvSpPr>
        <p:spPr>
          <a:xfrm>
            <a:off x="411480" y="1325880"/>
            <a:ext cx="1097280" cy="292608"/>
          </a:xfrm>
          <a:prstGeom prst="rect">
            <a:avLst/>
          </a:prstGeom>
          <a:noFill/>
          <a:ln/>
        </p:spPr>
        <p:txBody>
          <a:bodyPr wrap="square" lIns="0" tIns="0" rIns="0" bIns="0" rtlCol="0" anchor="ctr"/>
          <a:lstStyle/>
          <a:p>
            <a:pPr algn="ctr" indent="0" marL="0">
              <a:buNone/>
            </a:pPr>
            <a:r>
              <a:rPr lang="en-US" sz="1400" b="1" dirty="0">
                <a:solidFill>
                  <a:schemeClr val="tx2"/>
                </a:solidFill>
              </a:rPr>
              <a:t>Continent</a:t>
            </a:r>
            <a:endParaRPr lang="en-US" sz="1400" dirty="0"/>
          </a:p>
        </p:txBody>
      </p:sp>
      <p:sp>
        <p:nvSpPr>
          <p:cNvPr id="7" name="label Continental shelf"/>
          <p:cNvSpPr txBox="1"/>
          <p:nvPr/>
        </p:nvSpPr>
        <p:spPr>
          <a:xfrm>
            <a:off x="1463040" y="1325880"/>
            <a:ext cx="1828800" cy="292608"/>
          </a:xfrm>
          <a:prstGeom prst="rect">
            <a:avLst/>
          </a:prstGeom>
          <a:noFill/>
          <a:ln/>
        </p:spPr>
        <p:txBody>
          <a:bodyPr wrap="square" lIns="0" tIns="0" rIns="0" bIns="0" rtlCol="0" anchor="ctr"/>
          <a:lstStyle/>
          <a:p>
            <a:pPr algn="ctr" indent="0" marL="0">
              <a:buNone/>
            </a:pPr>
            <a:r>
              <a:rPr lang="en-US" sz="1400" b="1" dirty="0">
                <a:solidFill>
                  <a:schemeClr val="tx2"/>
                </a:solidFill>
              </a:rPr>
              <a:t>Continental shelf</a:t>
            </a:r>
            <a:endParaRPr lang="en-US" sz="1400" dirty="0"/>
          </a:p>
        </p:txBody>
      </p:sp>
      <p:sp>
        <p:nvSpPr>
          <p:cNvPr id="8" name="leader"/>
          <p:cNvSpPr/>
          <p:nvPr/>
        </p:nvSpPr>
        <p:spPr>
          <a:xfrm>
            <a:off x="2286000" y="1618488"/>
            <a:ext cx="914" cy="557784"/>
          </a:xfrm>
          <a:prstGeom prst="line">
            <a:avLst/>
          </a:prstGeom>
          <a:noFill/>
          <a:ln w="12700">
            <a:solidFill>
              <a:schemeClr val="tx1"/>
            </a:solidFill>
            <a:prstDash val="dash"/>
          </a:ln>
        </p:spPr>
      </p:sp>
      <p:sp>
        <p:nvSpPr>
          <p:cNvPr id="9" name="label Volcanic island"/>
          <p:cNvSpPr txBox="1"/>
          <p:nvPr/>
        </p:nvSpPr>
        <p:spPr>
          <a:xfrm>
            <a:off x="10058400" y="1325880"/>
            <a:ext cx="1600200" cy="292608"/>
          </a:xfrm>
          <a:prstGeom prst="rect">
            <a:avLst/>
          </a:prstGeom>
          <a:noFill/>
          <a:ln/>
        </p:spPr>
        <p:txBody>
          <a:bodyPr wrap="square" lIns="0" tIns="0" rIns="0" bIns="0" rtlCol="0" anchor="ctr"/>
          <a:lstStyle/>
          <a:p>
            <a:pPr algn="ctr" indent="0" marL="0">
              <a:buNone/>
            </a:pPr>
            <a:r>
              <a:rPr lang="en-US" sz="1400" b="1" dirty="0">
                <a:solidFill>
                  <a:schemeClr val="tx2"/>
                </a:solidFill>
              </a:rPr>
              <a:t>Volcanic island</a:t>
            </a:r>
            <a:endParaRPr lang="en-US" sz="1400" dirty="0"/>
          </a:p>
        </p:txBody>
      </p:sp>
      <p:sp>
        <p:nvSpPr>
          <p:cNvPr id="10" name="label Sea level"/>
          <p:cNvSpPr txBox="1"/>
          <p:nvPr/>
        </p:nvSpPr>
        <p:spPr>
          <a:xfrm>
            <a:off x="3657600" y="2103120"/>
            <a:ext cx="1097280" cy="292608"/>
          </a:xfrm>
          <a:prstGeom prst="rect">
            <a:avLst/>
          </a:prstGeom>
          <a:noFill/>
          <a:ln/>
        </p:spPr>
        <p:txBody>
          <a:bodyPr wrap="square" lIns="0" tIns="0" rIns="0" bIns="0" rtlCol="0" anchor="ctr"/>
          <a:lstStyle/>
          <a:p>
            <a:pPr algn="l" indent="0" marL="0">
              <a:buNone/>
            </a:pPr>
            <a:r>
              <a:rPr lang="en-US" sz="1200" b="1" dirty="0">
                <a:solidFill>
                  <a:schemeClr val="accent4"/>
                </a:solidFill>
              </a:rPr>
              <a:t>Sea level</a:t>
            </a:r>
            <a:endParaRPr lang="en-US" sz="1200" dirty="0"/>
          </a:p>
        </p:txBody>
      </p:sp>
      <p:sp>
        <p:nvSpPr>
          <p:cNvPr id="11" name="label Continental slope"/>
          <p:cNvSpPr txBox="1"/>
          <p:nvPr/>
        </p:nvSpPr>
        <p:spPr>
          <a:xfrm>
            <a:off x="3520440" y="2788920"/>
            <a:ext cx="1920240" cy="292608"/>
          </a:xfrm>
          <a:prstGeom prst="rect">
            <a:avLst/>
          </a:prstGeom>
          <a:noFill/>
          <a:ln/>
        </p:spPr>
        <p:txBody>
          <a:bodyPr wrap="square" lIns="0" tIns="0" rIns="0" bIns="0" rtlCol="0" anchor="ctr"/>
          <a:lstStyle/>
          <a:p>
            <a:pPr algn="l" indent="0" marL="0">
              <a:buNone/>
            </a:pPr>
            <a:r>
              <a:rPr lang="en-US" sz="1400" b="1" dirty="0">
                <a:solidFill>
                  <a:schemeClr val="tx2"/>
                </a:solidFill>
              </a:rPr>
              <a:t>Continental slope</a:t>
            </a:r>
            <a:endParaRPr lang="en-US" sz="1400" dirty="0"/>
          </a:p>
        </p:txBody>
      </p:sp>
      <p:sp>
        <p:nvSpPr>
          <p:cNvPr id="12" name="label Continental rise"/>
          <p:cNvSpPr txBox="1"/>
          <p:nvPr/>
        </p:nvSpPr>
        <p:spPr>
          <a:xfrm>
            <a:off x="3840480" y="3794760"/>
            <a:ext cx="1737360" cy="292608"/>
          </a:xfrm>
          <a:prstGeom prst="rect">
            <a:avLst/>
          </a:prstGeom>
          <a:noFill/>
          <a:ln/>
        </p:spPr>
        <p:txBody>
          <a:bodyPr wrap="square" lIns="0" tIns="0" rIns="0" bIns="0" rtlCol="0" anchor="ctr"/>
          <a:lstStyle/>
          <a:p>
            <a:pPr algn="l" indent="0" marL="0">
              <a:buNone/>
            </a:pPr>
            <a:r>
              <a:rPr lang="en-US" sz="1400" b="1" dirty="0">
                <a:solidFill>
                  <a:schemeClr val="tx2"/>
                </a:solidFill>
              </a:rPr>
              <a:t>Continental rise</a:t>
            </a:r>
            <a:endParaRPr lang="en-US" sz="1400" dirty="0"/>
          </a:p>
        </p:txBody>
      </p:sp>
      <p:sp>
        <p:nvSpPr>
          <p:cNvPr id="13" name="leader"/>
          <p:cNvSpPr/>
          <p:nvPr/>
        </p:nvSpPr>
        <p:spPr>
          <a:xfrm>
            <a:off x="3977640" y="4087368"/>
            <a:ext cx="914" cy="210312"/>
          </a:xfrm>
          <a:prstGeom prst="line">
            <a:avLst/>
          </a:prstGeom>
          <a:noFill/>
          <a:ln w="12700">
            <a:solidFill>
              <a:schemeClr val="tx1"/>
            </a:solidFill>
            <a:prstDash val="dash"/>
          </a:ln>
        </p:spPr>
      </p:sp>
      <p:sp>
        <p:nvSpPr>
          <p:cNvPr id="14" name="label Seamount"/>
          <p:cNvSpPr txBox="1"/>
          <p:nvPr/>
        </p:nvSpPr>
        <p:spPr>
          <a:xfrm>
            <a:off x="5440680" y="2697480"/>
            <a:ext cx="1005840" cy="292608"/>
          </a:xfrm>
          <a:prstGeom prst="rect">
            <a:avLst/>
          </a:prstGeom>
          <a:noFill/>
          <a:ln/>
        </p:spPr>
        <p:txBody>
          <a:bodyPr wrap="square" lIns="0" tIns="0" rIns="0" bIns="0" rtlCol="0" anchor="ctr"/>
          <a:lstStyle/>
          <a:p>
            <a:pPr algn="ctr" indent="0" marL="0">
              <a:buNone/>
            </a:pPr>
            <a:r>
              <a:rPr lang="en-US" sz="1400" b="1" dirty="0">
                <a:solidFill>
                  <a:schemeClr val="tx2"/>
                </a:solidFill>
              </a:rPr>
              <a:t>Seamount</a:t>
            </a:r>
            <a:endParaRPr lang="en-US" sz="1400" dirty="0"/>
          </a:p>
        </p:txBody>
      </p:sp>
      <p:sp>
        <p:nvSpPr>
          <p:cNvPr id="15" name="label Guyot"/>
          <p:cNvSpPr txBox="1"/>
          <p:nvPr/>
        </p:nvSpPr>
        <p:spPr>
          <a:xfrm>
            <a:off x="6858000" y="3017520"/>
            <a:ext cx="914400" cy="292608"/>
          </a:xfrm>
          <a:prstGeom prst="rect">
            <a:avLst/>
          </a:prstGeom>
          <a:noFill/>
          <a:ln/>
        </p:spPr>
        <p:txBody>
          <a:bodyPr wrap="square" lIns="0" tIns="0" rIns="0" bIns="0" rtlCol="0" anchor="ctr"/>
          <a:lstStyle/>
          <a:p>
            <a:pPr algn="ctr" indent="0" marL="0">
              <a:buNone/>
            </a:pPr>
            <a:r>
              <a:rPr lang="en-US" sz="1400" b="1" dirty="0">
                <a:solidFill>
                  <a:schemeClr val="tx2"/>
                </a:solidFill>
              </a:rPr>
              <a:t>Guyot</a:t>
            </a:r>
            <a:endParaRPr lang="en-US" sz="1400" dirty="0"/>
          </a:p>
        </p:txBody>
      </p:sp>
      <p:sp>
        <p:nvSpPr>
          <p:cNvPr id="16" name="label Mid-ocean ridge"/>
          <p:cNvSpPr txBox="1"/>
          <p:nvPr/>
        </p:nvSpPr>
        <p:spPr>
          <a:xfrm>
            <a:off x="8092440" y="2606040"/>
            <a:ext cx="1737360" cy="292608"/>
          </a:xfrm>
          <a:prstGeom prst="rect">
            <a:avLst/>
          </a:prstGeom>
          <a:noFill/>
          <a:ln/>
        </p:spPr>
        <p:txBody>
          <a:bodyPr wrap="square" lIns="0" tIns="0" rIns="0" bIns="0" rtlCol="0" anchor="ctr"/>
          <a:lstStyle/>
          <a:p>
            <a:pPr algn="ctr" indent="0" marL="0">
              <a:buNone/>
            </a:pPr>
            <a:r>
              <a:rPr lang="en-US" sz="1400" b="1" dirty="0">
                <a:solidFill>
                  <a:schemeClr val="tx2"/>
                </a:solidFill>
              </a:rPr>
              <a:t>Mid-ocean ridge</a:t>
            </a:r>
            <a:endParaRPr lang="en-US" sz="1400" dirty="0"/>
          </a:p>
        </p:txBody>
      </p:sp>
      <p:sp>
        <p:nvSpPr>
          <p:cNvPr id="17" name="label Abyssal plain"/>
          <p:cNvSpPr txBox="1"/>
          <p:nvPr/>
        </p:nvSpPr>
        <p:spPr>
          <a:xfrm>
            <a:off x="4343400" y="4983480"/>
            <a:ext cx="1463040" cy="292608"/>
          </a:xfrm>
          <a:prstGeom prst="rect">
            <a:avLst/>
          </a:prstGeom>
          <a:noFill/>
          <a:ln/>
        </p:spPr>
        <p:txBody>
          <a:bodyPr wrap="square" lIns="0" tIns="0" rIns="0" bIns="0" rtlCol="0" anchor="ctr"/>
          <a:lstStyle/>
          <a:p>
            <a:pPr algn="ctr" indent="0" marL="0">
              <a:buNone/>
            </a:pPr>
            <a:r>
              <a:rPr lang="en-US" sz="1400" b="1" dirty="0">
                <a:solidFill>
                  <a:schemeClr val="bg1"/>
                </a:solidFill>
              </a:rPr>
              <a:t>Abyssal plain</a:t>
            </a:r>
            <a:endParaRPr lang="en-US" sz="1400" dirty="0"/>
          </a:p>
        </p:txBody>
      </p:sp>
      <p:sp>
        <p:nvSpPr>
          <p:cNvPr id="18" name="label Ocean trench"/>
          <p:cNvSpPr txBox="1"/>
          <p:nvPr/>
        </p:nvSpPr>
        <p:spPr>
          <a:xfrm>
            <a:off x="10287000" y="5074920"/>
            <a:ext cx="1325880" cy="292608"/>
          </a:xfrm>
          <a:prstGeom prst="rect">
            <a:avLst/>
          </a:prstGeom>
          <a:noFill/>
          <a:ln/>
        </p:spPr>
        <p:txBody>
          <a:bodyPr wrap="square" lIns="0" tIns="0" rIns="0" bIns="0" rtlCol="0" anchor="ctr"/>
          <a:lstStyle/>
          <a:p>
            <a:pPr algn="ctr" indent="0" marL="0">
              <a:buNone/>
            </a:pPr>
            <a:r>
              <a:rPr lang="en-US" sz="1400" b="1" dirty="0">
                <a:solidFill>
                  <a:schemeClr val="bg1"/>
                </a:solidFill>
              </a:rPr>
              <a:t>Ocean trench</a:t>
            </a:r>
            <a:endParaRPr lang="en-US" sz="1400" dirty="0"/>
          </a:p>
        </p:txBody>
      </p:sp>
      <p:sp>
        <p:nvSpPr>
          <p:cNvPr id="19" name="Text 17"/>
          <p:cNvSpPr txBox="1"/>
          <p:nvPr/>
        </p:nvSpPr>
        <p:spPr>
          <a:xfrm>
            <a:off x="548640" y="6035040"/>
            <a:ext cx="11064240" cy="292608"/>
          </a:xfrm>
          <a:prstGeom prst="rect">
            <a:avLst/>
          </a:prstGeom>
          <a:noFill/>
          <a:ln/>
        </p:spPr>
        <p:txBody>
          <a:bodyPr wrap="square" lIns="0" tIns="0" rIns="0" bIns="0" rtlCol="0" anchor="t"/>
          <a:lstStyle/>
          <a:p>
            <a:pPr indent="0" marL="0">
              <a:buNone/>
            </a:pPr>
            <a:r>
              <a:rPr lang="en-US" sz="1200" i="1" dirty="0">
                <a:solidFill>
                  <a:schemeClr val="tx2"/>
                </a:solidFill>
              </a:rPr>
              <a:t>Not to scale. A trench is the deepest part; a guyot is a seamount whose top was flattened by waves.</a:t>
            </a:r>
            <a:endParaRPr lang="en-US" sz="12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Six Features to Know</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Continental shelf</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700" dirty="0">
                <a:solidFill>
                  <a:schemeClr val="tx1"/>
                </a:solidFill>
              </a:rPr>
              <a:t>Submerged, shallow edge of a continent. </a:t>
            </a:r>
            <a:r>
              <a:rPr lang="en-US" sz="1700" b="1" dirty="0">
                <a:solidFill>
                  <a:schemeClr val="tx1"/>
                </a:solidFill>
              </a:rPr>
              <a:t>Rich in marine life</a:t>
            </a:r>
            <a:r>
              <a:rPr lang="en-US" sz="1700" dirty="0">
                <a:solidFill>
                  <a:schemeClr val="tx1"/>
                </a:solidFill>
              </a:rPr>
              <a:t>, oil and gas.</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Continental slope</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700" dirty="0">
                <a:solidFill>
                  <a:schemeClr val="tx1"/>
                </a:solidFill>
              </a:rPr>
              <a:t>The </a:t>
            </a:r>
            <a:r>
              <a:rPr lang="en-US" sz="1700" b="1" dirty="0">
                <a:solidFill>
                  <a:schemeClr val="tx1"/>
                </a:solidFill>
              </a:rPr>
              <a:t>steep slope</a:t>
            </a:r>
            <a:r>
              <a:rPr lang="en-US" sz="1700" dirty="0">
                <a:solidFill>
                  <a:schemeClr val="tx1"/>
                </a:solidFill>
              </a:rPr>
              <a:t> that marks the true edge of a continent.</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Abyssal plain</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700" dirty="0">
                <a:solidFill>
                  <a:schemeClr val="tx1"/>
                </a:solidFill>
              </a:rPr>
              <a:t>The </a:t>
            </a:r>
            <a:r>
              <a:rPr lang="en-US" sz="1700" b="1" dirty="0">
                <a:solidFill>
                  <a:schemeClr val="tx1"/>
                </a:solidFill>
              </a:rPr>
              <a:t>vast, flat and deep</a:t>
            </a:r>
            <a:r>
              <a:rPr lang="en-US" sz="1700" dirty="0">
                <a:solidFill>
                  <a:schemeClr val="tx1"/>
                </a:solidFill>
              </a:rPr>
              <a:t> ocean floor.</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Mid-ocean ridge</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700" dirty="0">
                <a:solidFill>
                  <a:schemeClr val="tx1"/>
                </a:solidFill>
              </a:rPr>
              <a:t>A huge </a:t>
            </a:r>
            <a:r>
              <a:rPr lang="en-US" sz="1700" b="1" dirty="0">
                <a:solidFill>
                  <a:schemeClr val="tx1"/>
                </a:solidFill>
              </a:rPr>
              <a:t>underwater mountain range</a:t>
            </a:r>
            <a:r>
              <a:rPr lang="en-US" sz="1700" dirty="0">
                <a:solidFill>
                  <a:schemeClr val="tx1"/>
                </a:solidFill>
              </a:rPr>
              <a:t> formed by volcanic activity. The longest on Earth.</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Ocean trench</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700" dirty="0">
                <a:solidFill>
                  <a:schemeClr val="tx1"/>
                </a:solidFill>
              </a:rPr>
              <a:t>The </a:t>
            </a:r>
            <a:r>
              <a:rPr lang="en-US" sz="1700" b="1" dirty="0">
                <a:solidFill>
                  <a:schemeClr val="tx1"/>
                </a:solidFill>
              </a:rPr>
              <a:t>deepest parts</a:t>
            </a:r>
            <a:r>
              <a:rPr lang="en-US" sz="1700" dirty="0">
                <a:solidFill>
                  <a:schemeClr val="tx1"/>
                </a:solidFill>
              </a:rPr>
              <a:t> of the ocean. The Mariana Trench (Pacific) is the deepest place on Earth.</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Seamount and guyot</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700" b="1" dirty="0">
                <a:solidFill>
                  <a:schemeClr val="tx1"/>
                </a:solidFill>
              </a:rPr>
              <a:t>Seamount:</a:t>
            </a:r>
            <a:r>
              <a:rPr lang="en-US" sz="1700" dirty="0">
                <a:solidFill>
                  <a:schemeClr val="tx1"/>
                </a:solidFill>
              </a:rPr>
              <a:t> underwater volcanic mountain that does not reach the surface. </a:t>
            </a:r>
            <a:r>
              <a:rPr lang="en-US" sz="1700" b="1" dirty="0">
                <a:solidFill>
                  <a:schemeClr val="tx1"/>
                </a:solidFill>
              </a:rPr>
              <a:t>Guyot:</a:t>
            </a:r>
            <a:r>
              <a:rPr lang="en-US" sz="1700" dirty="0">
                <a:solidFill>
                  <a:schemeClr val="tx1"/>
                </a:solidFill>
              </a:rPr>
              <a:t> a seamount with a flat top.</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Record Breakers of the Deep</a:t>
            </a:r>
            <a:endParaRPr lang="en-US" sz="3600" dirty="0"/>
          </a:p>
        </p:txBody>
      </p:sp>
      <p:sp>
        <p:nvSpPr>
          <p:cNvPr id="3" name="stat 1"/>
          <p:cNvSpPr/>
          <p:nvPr/>
        </p:nvSpPr>
        <p:spPr>
          <a:xfrm>
            <a:off x="548640" y="1463040"/>
            <a:ext cx="3505200" cy="4114800"/>
          </a:xfrm>
          <a:prstGeom prst="roundRect">
            <a:avLst>
              <a:gd name="adj" fmla="val 3130"/>
            </a:avLst>
          </a:prstGeom>
          <a:solidFill>
            <a:schemeClr val="tx2"/>
          </a:solidFill>
          <a:ln w="12700">
            <a:solidFill>
              <a:schemeClr val="tx2"/>
            </a:solidFill>
            <a:prstDash val="solid"/>
          </a:ln>
        </p:spPr>
      </p:sp>
      <p:pic>
        <p:nvPicPr>
          <p:cNvPr id="4" name="stat 1 icon" descr="preencoded.png">    </p:cNvPr>
          <p:cNvPicPr>
            <a:picLocks noChangeAspect="1"/>
          </p:cNvPicPr>
          <p:nvPr/>
        </p:nvPicPr>
        <p:blipFill>
          <a:blip r:embed="rId1"/>
          <a:stretch>
            <a:fillRect/>
          </a:stretch>
        </p:blipFill>
        <p:spPr>
          <a:xfrm>
            <a:off x="822960" y="1737360"/>
            <a:ext cx="548640" cy="548640"/>
          </a:xfrm>
          <a:prstGeom prst="rect">
            <a:avLst/>
          </a:prstGeom>
        </p:spPr>
      </p:pic>
      <p:sp>
        <p:nvSpPr>
          <p:cNvPr id="5" name="Text 2"/>
          <p:cNvSpPr txBox="1"/>
          <p:nvPr/>
        </p:nvSpPr>
        <p:spPr>
          <a:xfrm>
            <a:off x="777240" y="2377440"/>
            <a:ext cx="3048000" cy="100584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~11 km</a:t>
            </a:r>
            <a:endParaRPr lang="en-US" sz="4400" dirty="0"/>
          </a:p>
        </p:txBody>
      </p:sp>
      <p:sp>
        <p:nvSpPr>
          <p:cNvPr id="6" name="Text 3"/>
          <p:cNvSpPr txBox="1"/>
          <p:nvPr/>
        </p:nvSpPr>
        <p:spPr>
          <a:xfrm>
            <a:off x="777240" y="3429000"/>
            <a:ext cx="3048000" cy="548640"/>
          </a:xfrm>
          <a:prstGeom prst="rect">
            <a:avLst/>
          </a:prstGeom>
          <a:noFill/>
          <a:ln/>
        </p:spPr>
        <p:txBody>
          <a:bodyPr wrap="square" lIns="0" tIns="0" rIns="0" bIns="0" rtlCol="0" anchor="t"/>
          <a:lstStyle/>
          <a:p>
            <a:pPr indent="0" marL="0">
              <a:buNone/>
            </a:pPr>
            <a:r>
              <a:rPr lang="en-US" sz="1800" b="1" dirty="0">
                <a:solidFill>
                  <a:schemeClr val="accent3"/>
                </a:solidFill>
              </a:rPr>
              <a:t>Mariana Trench</a:t>
            </a:r>
            <a:endParaRPr lang="en-US" sz="1800" dirty="0"/>
          </a:p>
        </p:txBody>
      </p:sp>
      <p:sp>
        <p:nvSpPr>
          <p:cNvPr id="7" name="Text 4"/>
          <p:cNvSpPr txBox="1"/>
          <p:nvPr/>
        </p:nvSpPr>
        <p:spPr>
          <a:xfrm>
            <a:off x="777240" y="4023360"/>
            <a:ext cx="3048000" cy="1417320"/>
          </a:xfrm>
          <a:prstGeom prst="rect">
            <a:avLst/>
          </a:prstGeom>
          <a:noFill/>
          <a:ln/>
        </p:spPr>
        <p:txBody>
          <a:bodyPr wrap="square" lIns="0" tIns="0" rIns="0" bIns="0" rtlCol="0" anchor="t"/>
          <a:lstStyle/>
          <a:p>
            <a:pPr indent="0" marL="0">
              <a:buNone/>
            </a:pPr>
            <a:r>
              <a:rPr lang="en-US" sz="1800" dirty="0">
                <a:solidFill>
                  <a:schemeClr val="bg1"/>
                </a:solidFill>
              </a:rPr>
              <a:t>Deepest place on Earth, in the Pacific Ocean. Mount Everest would sink without a trace.</a:t>
            </a:r>
            <a:endParaRPr lang="en-US" sz="1600" dirty="0"/>
          </a:p>
        </p:txBody>
      </p:sp>
      <p:sp>
        <p:nvSpPr>
          <p:cNvPr id="8" name="stat 2"/>
          <p:cNvSpPr/>
          <p:nvPr/>
        </p:nvSpPr>
        <p:spPr>
          <a:xfrm>
            <a:off x="4328160" y="1463040"/>
            <a:ext cx="3505200" cy="4114800"/>
          </a:xfrm>
          <a:prstGeom prst="roundRect">
            <a:avLst>
              <a:gd name="adj" fmla="val 3130"/>
            </a:avLst>
          </a:prstGeom>
          <a:solidFill>
            <a:schemeClr val="accent2"/>
          </a:solidFill>
          <a:ln w="12700">
            <a:solidFill>
              <a:schemeClr val="accent2"/>
            </a:solidFill>
            <a:prstDash val="solid"/>
          </a:ln>
        </p:spPr>
      </p:sp>
      <p:pic>
        <p:nvPicPr>
          <p:cNvPr id="9" name="stat 2 icon" descr="preencoded.png">    </p:cNvPr>
          <p:cNvPicPr>
            <a:picLocks noChangeAspect="1"/>
          </p:cNvPicPr>
          <p:nvPr/>
        </p:nvPicPr>
        <p:blipFill>
          <a:blip r:embed="rId2"/>
          <a:stretch>
            <a:fillRect/>
          </a:stretch>
        </p:blipFill>
        <p:spPr>
          <a:xfrm>
            <a:off x="4602480" y="1737360"/>
            <a:ext cx="548640" cy="548640"/>
          </a:xfrm>
          <a:prstGeom prst="rect">
            <a:avLst/>
          </a:prstGeom>
        </p:spPr>
      </p:pic>
      <p:sp>
        <p:nvSpPr>
          <p:cNvPr id="10" name="Text 6"/>
          <p:cNvSpPr txBox="1"/>
          <p:nvPr/>
        </p:nvSpPr>
        <p:spPr>
          <a:xfrm>
            <a:off x="4556760" y="2377440"/>
            <a:ext cx="3048000" cy="100584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~65,000 km</a:t>
            </a:r>
            <a:endParaRPr lang="en-US" sz="4000" dirty="0"/>
          </a:p>
        </p:txBody>
      </p:sp>
      <p:sp>
        <p:nvSpPr>
          <p:cNvPr id="11" name="Text 7"/>
          <p:cNvSpPr txBox="1"/>
          <p:nvPr/>
        </p:nvSpPr>
        <p:spPr>
          <a:xfrm>
            <a:off x="4556760" y="3429000"/>
            <a:ext cx="3048000" cy="548640"/>
          </a:xfrm>
          <a:prstGeom prst="rect">
            <a:avLst/>
          </a:prstGeom>
          <a:noFill/>
          <a:ln/>
        </p:spPr>
        <p:txBody>
          <a:bodyPr wrap="square" lIns="0" tIns="0" rIns="0" bIns="0" rtlCol="0" anchor="t"/>
          <a:lstStyle/>
          <a:p>
            <a:pPr indent="0" marL="0">
              <a:buNone/>
            </a:pPr>
            <a:r>
              <a:rPr lang="en-US" sz="1800" b="1" dirty="0">
                <a:solidFill>
                  <a:schemeClr val="accent3"/>
                </a:solidFill>
              </a:rPr>
              <a:t>Mid-Ocean Ridge</a:t>
            </a:r>
            <a:endParaRPr lang="en-US" sz="1800" dirty="0"/>
          </a:p>
        </p:txBody>
      </p:sp>
      <p:sp>
        <p:nvSpPr>
          <p:cNvPr id="12" name="Text 8"/>
          <p:cNvSpPr txBox="1"/>
          <p:nvPr/>
        </p:nvSpPr>
        <p:spPr>
          <a:xfrm>
            <a:off x="4556760" y="4023360"/>
            <a:ext cx="3048000" cy="1417320"/>
          </a:xfrm>
          <a:prstGeom prst="rect">
            <a:avLst/>
          </a:prstGeom>
          <a:noFill/>
          <a:ln/>
        </p:spPr>
        <p:txBody>
          <a:bodyPr wrap="square" lIns="0" tIns="0" rIns="0" bIns="0" rtlCol="0" anchor="t"/>
          <a:lstStyle/>
          <a:p>
            <a:pPr indent="0" marL="0">
              <a:buNone/>
            </a:pPr>
            <a:r>
              <a:rPr lang="en-US" sz="1800" dirty="0">
                <a:solidFill>
                  <a:schemeClr val="bg1"/>
                </a:solidFill>
              </a:rPr>
              <a:t>World's longest mountain range, hidden beneath the ocean.</a:t>
            </a:r>
            <a:endParaRPr lang="en-US" sz="1600" dirty="0"/>
          </a:p>
        </p:txBody>
      </p:sp>
      <p:sp>
        <p:nvSpPr>
          <p:cNvPr id="13" name="stat 3"/>
          <p:cNvSpPr/>
          <p:nvPr/>
        </p:nvSpPr>
        <p:spPr>
          <a:xfrm>
            <a:off x="8107680" y="1463040"/>
            <a:ext cx="3505200" cy="4114800"/>
          </a:xfrm>
          <a:prstGeom prst="roundRect">
            <a:avLst>
              <a:gd name="adj" fmla="val 3130"/>
            </a:avLst>
          </a:prstGeom>
          <a:solidFill>
            <a:schemeClr val="tx2"/>
          </a:solidFill>
          <a:ln w="12700">
            <a:solidFill>
              <a:schemeClr val="tx2"/>
            </a:solidFill>
            <a:prstDash val="solid"/>
          </a:ln>
        </p:spPr>
      </p:sp>
      <p:pic>
        <p:nvPicPr>
          <p:cNvPr id="14" name="stat 3 icon" descr="preencoded.png">    </p:cNvPr>
          <p:cNvPicPr>
            <a:picLocks noChangeAspect="1"/>
          </p:cNvPicPr>
          <p:nvPr/>
        </p:nvPicPr>
        <p:blipFill>
          <a:blip r:embed="rId3"/>
          <a:stretch>
            <a:fillRect/>
          </a:stretch>
        </p:blipFill>
        <p:spPr>
          <a:xfrm>
            <a:off x="8382000" y="1737360"/>
            <a:ext cx="548640" cy="548640"/>
          </a:xfrm>
          <a:prstGeom prst="rect">
            <a:avLst/>
          </a:prstGeom>
        </p:spPr>
      </p:pic>
      <p:sp>
        <p:nvSpPr>
          <p:cNvPr id="15" name="Text 10"/>
          <p:cNvSpPr txBox="1"/>
          <p:nvPr/>
        </p:nvSpPr>
        <p:spPr>
          <a:xfrm>
            <a:off x="8336280" y="2377440"/>
            <a:ext cx="3048000" cy="100584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&gt; Everest</a:t>
            </a:r>
            <a:endParaRPr lang="en-US" sz="4000" dirty="0"/>
          </a:p>
        </p:txBody>
      </p:sp>
      <p:sp>
        <p:nvSpPr>
          <p:cNvPr id="16" name="Text 11"/>
          <p:cNvSpPr txBox="1"/>
          <p:nvPr/>
        </p:nvSpPr>
        <p:spPr>
          <a:xfrm>
            <a:off x="8336280" y="3429000"/>
            <a:ext cx="3048000" cy="548640"/>
          </a:xfrm>
          <a:prstGeom prst="rect">
            <a:avLst/>
          </a:prstGeom>
          <a:noFill/>
          <a:ln/>
        </p:spPr>
        <p:txBody>
          <a:bodyPr wrap="square" lIns="0" tIns="0" rIns="0" bIns="0" rtlCol="0" anchor="t"/>
          <a:lstStyle/>
          <a:p>
            <a:pPr indent="0" marL="0">
              <a:buNone/>
            </a:pPr>
            <a:r>
              <a:rPr lang="en-US" sz="1800" b="1" dirty="0">
                <a:solidFill>
                  <a:schemeClr val="accent3"/>
                </a:solidFill>
              </a:rPr>
              <a:t>Mauna Kea, Hawai'i</a:t>
            </a:r>
            <a:endParaRPr lang="en-US" sz="1800" dirty="0"/>
          </a:p>
        </p:txBody>
      </p:sp>
      <p:sp>
        <p:nvSpPr>
          <p:cNvPr id="17" name="Text 12"/>
          <p:cNvSpPr txBox="1"/>
          <p:nvPr/>
        </p:nvSpPr>
        <p:spPr>
          <a:xfrm>
            <a:off x="8336280" y="4023360"/>
            <a:ext cx="3048000" cy="1417320"/>
          </a:xfrm>
          <a:prstGeom prst="rect">
            <a:avLst/>
          </a:prstGeom>
          <a:noFill/>
          <a:ln/>
        </p:spPr>
        <p:txBody>
          <a:bodyPr wrap="square" lIns="0" tIns="0" rIns="0" bIns="0" rtlCol="0" anchor="t"/>
          <a:lstStyle/>
          <a:p>
            <a:pPr indent="0" marL="0">
              <a:buNone/>
            </a:pPr>
            <a:r>
              <a:rPr lang="en-US" sz="1800" dirty="0">
                <a:solidFill>
                  <a:schemeClr val="bg1"/>
                </a:solidFill>
              </a:rPr>
              <a:t>Measured from its base on the sea floor, it is taller than Mount Everest.</a:t>
            </a:r>
            <a:endParaRPr lang="en-US" sz="1600" dirty="0"/>
          </a:p>
        </p:txBody>
      </p:sp>
      <p:sp>
        <p:nvSpPr>
          <p:cNvPr id="18" name="footnote band"/>
          <p:cNvSpPr/>
          <p:nvPr/>
        </p:nvSpPr>
        <p:spPr>
          <a:xfrm>
            <a:off x="548640" y="5715000"/>
            <a:ext cx="11064240" cy="548640"/>
          </a:xfrm>
          <a:prstGeom prst="roundRect">
            <a:avLst>
              <a:gd name="adj" fmla="val 13333"/>
            </a:avLst>
          </a:prstGeom>
          <a:solidFill>
            <a:schemeClr val="bg2"/>
          </a:solidFill>
          <a:ln w="12700">
            <a:solidFill>
              <a:schemeClr val="bg2"/>
            </a:solidFill>
            <a:prstDash val="solid"/>
          </a:ln>
        </p:spPr>
      </p:sp>
      <p:sp>
        <p:nvSpPr>
          <p:cNvPr id="19" name="Text 14"/>
          <p:cNvSpPr txBox="1"/>
          <p:nvPr/>
        </p:nvSpPr>
        <p:spPr>
          <a:xfrm>
            <a:off x="777240" y="5715000"/>
            <a:ext cx="10607040" cy="548640"/>
          </a:xfrm>
          <a:prstGeom prst="rect">
            <a:avLst/>
          </a:prstGeom>
          <a:noFill/>
          <a:ln/>
        </p:spPr>
        <p:txBody>
          <a:bodyPr wrap="square" lIns="0" tIns="0" rIns="0" bIns="0" rtlCol="0" anchor="ctr"/>
          <a:lstStyle/>
          <a:p>
            <a:pPr indent="0" marL="0">
              <a:buNone/>
            </a:pPr>
            <a:r>
              <a:rPr lang="en-US" sz="1500" b="1" dirty="0">
                <a:solidFill>
                  <a:schemeClr val="tx2"/>
                </a:solidFill>
              </a:rPr>
              <a:t>Let's Explore:</a:t>
            </a:r>
            <a:r>
              <a:rPr lang="en-US" sz="1500" dirty="0">
                <a:solidFill>
                  <a:schemeClr val="tx2"/>
                </a:solidFill>
              </a:rPr>
              <a:t> How might these underwater features affect marine life and the movement of ocean water?</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2</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Ocean in Motion: Waves, Tides and Currents</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They shape coastlines, support marine life, help fishing and travel, and even influence climate.</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Anatomy of a Wave</a:t>
            </a:r>
            <a:endParaRPr lang="en-US" sz="3600" dirty="0"/>
          </a:p>
        </p:txBody>
      </p:sp>
      <p:sp>
        <p:nvSpPr>
          <p:cNvPr id="3" name="wave water"/>
          <p:cNvSpPr/>
          <p:nvPr/>
        </p:nvSpPr>
        <p:spPr>
          <a:xfrm>
            <a:off x="822960" y="3063240"/>
            <a:ext cx="5852160" cy="2926080"/>
          </a:xfrm>
          <a:custGeom>
            <a:avLst/>
            <a:gdLst/>
            <a:ahLst/>
            <a:cxnLst/>
            <a:rect l="l" t="t" r="r" b="b"/>
            <a:pathLst>
              <a:path w="5852160" h="2926080">
                <a:moveTo>
                  <a:pt x="0" y="731520"/>
                </a:moveTo>
                <a:lnTo>
                  <a:pt x="45720" y="659819"/>
                </a:lnTo>
                <a:lnTo>
                  <a:pt x="91440" y="588808"/>
                </a:lnTo>
                <a:lnTo>
                  <a:pt x="137160" y="519171"/>
                </a:lnTo>
                <a:lnTo>
                  <a:pt x="182880" y="451579"/>
                </a:lnTo>
                <a:lnTo>
                  <a:pt x="228600" y="386684"/>
                </a:lnTo>
                <a:lnTo>
                  <a:pt x="274320" y="325109"/>
                </a:lnTo>
                <a:lnTo>
                  <a:pt x="320040" y="267449"/>
                </a:lnTo>
                <a:lnTo>
                  <a:pt x="365760" y="214257"/>
                </a:lnTo>
                <a:lnTo>
                  <a:pt x="411480" y="166047"/>
                </a:lnTo>
                <a:lnTo>
                  <a:pt x="457200" y="123283"/>
                </a:lnTo>
                <a:lnTo>
                  <a:pt x="502920" y="86377"/>
                </a:lnTo>
                <a:lnTo>
                  <a:pt x="548640" y="55684"/>
                </a:lnTo>
                <a:lnTo>
                  <a:pt x="594360" y="31499"/>
                </a:lnTo>
                <a:lnTo>
                  <a:pt x="640080" y="14056"/>
                </a:lnTo>
                <a:lnTo>
                  <a:pt x="685800" y="3522"/>
                </a:lnTo>
                <a:lnTo>
                  <a:pt x="731520" y="0"/>
                </a:lnTo>
                <a:lnTo>
                  <a:pt x="777240" y="3522"/>
                </a:lnTo>
                <a:lnTo>
                  <a:pt x="822960" y="14056"/>
                </a:lnTo>
                <a:lnTo>
                  <a:pt x="868680" y="31499"/>
                </a:lnTo>
                <a:lnTo>
                  <a:pt x="914400" y="55684"/>
                </a:lnTo>
                <a:lnTo>
                  <a:pt x="960120" y="86377"/>
                </a:lnTo>
                <a:lnTo>
                  <a:pt x="1005840" y="123283"/>
                </a:lnTo>
                <a:lnTo>
                  <a:pt x="1051560" y="166047"/>
                </a:lnTo>
                <a:lnTo>
                  <a:pt x="1097280" y="214257"/>
                </a:lnTo>
                <a:lnTo>
                  <a:pt x="1143000" y="267449"/>
                </a:lnTo>
                <a:lnTo>
                  <a:pt x="1188720" y="325109"/>
                </a:lnTo>
                <a:lnTo>
                  <a:pt x="1234440" y="386684"/>
                </a:lnTo>
                <a:lnTo>
                  <a:pt x="1280160" y="451579"/>
                </a:lnTo>
                <a:lnTo>
                  <a:pt x="1325880" y="519171"/>
                </a:lnTo>
                <a:lnTo>
                  <a:pt x="1371600" y="588808"/>
                </a:lnTo>
                <a:lnTo>
                  <a:pt x="1417320" y="659819"/>
                </a:lnTo>
                <a:lnTo>
                  <a:pt x="1463040" y="731520"/>
                </a:lnTo>
                <a:lnTo>
                  <a:pt x="1508760" y="803221"/>
                </a:lnTo>
                <a:lnTo>
                  <a:pt x="1554480" y="874232"/>
                </a:lnTo>
                <a:lnTo>
                  <a:pt x="1600200" y="943869"/>
                </a:lnTo>
                <a:lnTo>
                  <a:pt x="1645920" y="1011461"/>
                </a:lnTo>
                <a:lnTo>
                  <a:pt x="1691640" y="1076356"/>
                </a:lnTo>
                <a:lnTo>
                  <a:pt x="1737360" y="1137931"/>
                </a:lnTo>
                <a:lnTo>
                  <a:pt x="1783080" y="1195591"/>
                </a:lnTo>
                <a:lnTo>
                  <a:pt x="1828800" y="1248783"/>
                </a:lnTo>
                <a:lnTo>
                  <a:pt x="1874520" y="1296993"/>
                </a:lnTo>
                <a:lnTo>
                  <a:pt x="1920240" y="1339757"/>
                </a:lnTo>
                <a:lnTo>
                  <a:pt x="1965960" y="1376663"/>
                </a:lnTo>
                <a:lnTo>
                  <a:pt x="2011680" y="1407356"/>
                </a:lnTo>
                <a:lnTo>
                  <a:pt x="2057400" y="1431541"/>
                </a:lnTo>
                <a:lnTo>
                  <a:pt x="2103120" y="1448984"/>
                </a:lnTo>
                <a:lnTo>
                  <a:pt x="2148840" y="1459518"/>
                </a:lnTo>
                <a:lnTo>
                  <a:pt x="2194560" y="1463040"/>
                </a:lnTo>
                <a:lnTo>
                  <a:pt x="2240280" y="1459518"/>
                </a:lnTo>
                <a:lnTo>
                  <a:pt x="2286000" y="1448984"/>
                </a:lnTo>
                <a:lnTo>
                  <a:pt x="2331720" y="1431541"/>
                </a:lnTo>
                <a:lnTo>
                  <a:pt x="2377440" y="1407356"/>
                </a:lnTo>
                <a:lnTo>
                  <a:pt x="2423160" y="1376663"/>
                </a:lnTo>
                <a:lnTo>
                  <a:pt x="2468880" y="1339757"/>
                </a:lnTo>
                <a:lnTo>
                  <a:pt x="2514600" y="1296993"/>
                </a:lnTo>
                <a:lnTo>
                  <a:pt x="2560320" y="1248783"/>
                </a:lnTo>
                <a:lnTo>
                  <a:pt x="2606040" y="1195591"/>
                </a:lnTo>
                <a:lnTo>
                  <a:pt x="2651760" y="1137931"/>
                </a:lnTo>
                <a:lnTo>
                  <a:pt x="2697480" y="1076356"/>
                </a:lnTo>
                <a:lnTo>
                  <a:pt x="2743200" y="1011461"/>
                </a:lnTo>
                <a:lnTo>
                  <a:pt x="2788920" y="943869"/>
                </a:lnTo>
                <a:lnTo>
                  <a:pt x="2834640" y="874232"/>
                </a:lnTo>
                <a:lnTo>
                  <a:pt x="2880360" y="803221"/>
                </a:lnTo>
                <a:lnTo>
                  <a:pt x="2926080" y="731520"/>
                </a:lnTo>
                <a:lnTo>
                  <a:pt x="2971800" y="659819"/>
                </a:lnTo>
                <a:lnTo>
                  <a:pt x="3017520" y="588808"/>
                </a:lnTo>
                <a:lnTo>
                  <a:pt x="3063240" y="519171"/>
                </a:lnTo>
                <a:lnTo>
                  <a:pt x="3108960" y="451579"/>
                </a:lnTo>
                <a:lnTo>
                  <a:pt x="3154680" y="386684"/>
                </a:lnTo>
                <a:lnTo>
                  <a:pt x="3200400" y="325109"/>
                </a:lnTo>
                <a:lnTo>
                  <a:pt x="3246120" y="267449"/>
                </a:lnTo>
                <a:lnTo>
                  <a:pt x="3291840" y="214257"/>
                </a:lnTo>
                <a:lnTo>
                  <a:pt x="3337560" y="166047"/>
                </a:lnTo>
                <a:lnTo>
                  <a:pt x="3383280" y="123283"/>
                </a:lnTo>
                <a:lnTo>
                  <a:pt x="3429000" y="86377"/>
                </a:lnTo>
                <a:lnTo>
                  <a:pt x="3474720" y="55684"/>
                </a:lnTo>
                <a:lnTo>
                  <a:pt x="3520440" y="31499"/>
                </a:lnTo>
                <a:lnTo>
                  <a:pt x="3566160" y="14056"/>
                </a:lnTo>
                <a:lnTo>
                  <a:pt x="3611880" y="3522"/>
                </a:lnTo>
                <a:lnTo>
                  <a:pt x="3657600" y="0"/>
                </a:lnTo>
                <a:lnTo>
                  <a:pt x="3703320" y="3522"/>
                </a:lnTo>
                <a:lnTo>
                  <a:pt x="3749040" y="14056"/>
                </a:lnTo>
                <a:lnTo>
                  <a:pt x="3794760" y="31499"/>
                </a:lnTo>
                <a:lnTo>
                  <a:pt x="3840480" y="55684"/>
                </a:lnTo>
                <a:lnTo>
                  <a:pt x="3886200" y="86377"/>
                </a:lnTo>
                <a:lnTo>
                  <a:pt x="3931920" y="123283"/>
                </a:lnTo>
                <a:lnTo>
                  <a:pt x="3977640" y="166047"/>
                </a:lnTo>
                <a:lnTo>
                  <a:pt x="4023360" y="214257"/>
                </a:lnTo>
                <a:lnTo>
                  <a:pt x="4069080" y="267449"/>
                </a:lnTo>
                <a:lnTo>
                  <a:pt x="4114800" y="325109"/>
                </a:lnTo>
                <a:lnTo>
                  <a:pt x="4160520" y="386684"/>
                </a:lnTo>
                <a:lnTo>
                  <a:pt x="4206240" y="451579"/>
                </a:lnTo>
                <a:lnTo>
                  <a:pt x="4251960" y="519171"/>
                </a:lnTo>
                <a:lnTo>
                  <a:pt x="4297680" y="588808"/>
                </a:lnTo>
                <a:lnTo>
                  <a:pt x="4343400" y="659819"/>
                </a:lnTo>
                <a:lnTo>
                  <a:pt x="4389120" y="731520"/>
                </a:lnTo>
                <a:lnTo>
                  <a:pt x="4434840" y="803221"/>
                </a:lnTo>
                <a:lnTo>
                  <a:pt x="4480560" y="874232"/>
                </a:lnTo>
                <a:lnTo>
                  <a:pt x="4526280" y="943869"/>
                </a:lnTo>
                <a:lnTo>
                  <a:pt x="4572000" y="1011461"/>
                </a:lnTo>
                <a:lnTo>
                  <a:pt x="4617720" y="1076356"/>
                </a:lnTo>
                <a:lnTo>
                  <a:pt x="4663440" y="1137931"/>
                </a:lnTo>
                <a:lnTo>
                  <a:pt x="4709160" y="1195591"/>
                </a:lnTo>
                <a:lnTo>
                  <a:pt x="4754880" y="1248783"/>
                </a:lnTo>
                <a:lnTo>
                  <a:pt x="4800600" y="1296993"/>
                </a:lnTo>
                <a:lnTo>
                  <a:pt x="4846320" y="1339757"/>
                </a:lnTo>
                <a:lnTo>
                  <a:pt x="4892040" y="1376663"/>
                </a:lnTo>
                <a:lnTo>
                  <a:pt x="4937760" y="1407356"/>
                </a:lnTo>
                <a:lnTo>
                  <a:pt x="4983480" y="1431541"/>
                </a:lnTo>
                <a:lnTo>
                  <a:pt x="5029200" y="1448984"/>
                </a:lnTo>
                <a:lnTo>
                  <a:pt x="5074920" y="1459518"/>
                </a:lnTo>
                <a:lnTo>
                  <a:pt x="5120640" y="1463040"/>
                </a:lnTo>
                <a:lnTo>
                  <a:pt x="5166360" y="1459518"/>
                </a:lnTo>
                <a:lnTo>
                  <a:pt x="5212080" y="1448984"/>
                </a:lnTo>
                <a:lnTo>
                  <a:pt x="5257800" y="1431541"/>
                </a:lnTo>
                <a:lnTo>
                  <a:pt x="5303520" y="1407356"/>
                </a:lnTo>
                <a:lnTo>
                  <a:pt x="5349240" y="1376663"/>
                </a:lnTo>
                <a:lnTo>
                  <a:pt x="5394960" y="1339757"/>
                </a:lnTo>
                <a:lnTo>
                  <a:pt x="5440680" y="1296993"/>
                </a:lnTo>
                <a:lnTo>
                  <a:pt x="5486400" y="1248783"/>
                </a:lnTo>
                <a:lnTo>
                  <a:pt x="5532120" y="1195591"/>
                </a:lnTo>
                <a:lnTo>
                  <a:pt x="5577840" y="1137931"/>
                </a:lnTo>
                <a:lnTo>
                  <a:pt x="5623560" y="1076356"/>
                </a:lnTo>
                <a:lnTo>
                  <a:pt x="5669280" y="1011461"/>
                </a:lnTo>
                <a:lnTo>
                  <a:pt x="5715000" y="943869"/>
                </a:lnTo>
                <a:lnTo>
                  <a:pt x="5760720" y="874232"/>
                </a:lnTo>
                <a:lnTo>
                  <a:pt x="5806440" y="803221"/>
                </a:lnTo>
                <a:lnTo>
                  <a:pt x="5852160" y="731520"/>
                </a:lnTo>
                <a:lnTo>
                  <a:pt x="5852160" y="2926080"/>
                </a:lnTo>
                <a:lnTo>
                  <a:pt x="0" y="2926080"/>
                </a:lnTo>
                <a:close/>
              </a:path>
            </a:pathLst>
          </a:custGeom>
          <a:solidFill>
            <a:schemeClr val="accent4">
              <a:alpha val="75000"/>
            </a:schemeClr>
          </a:solidFill>
          <a:ln w="25400">
            <a:solidFill>
              <a:schemeClr val="accent4"/>
            </a:solidFill>
            <a:prstDash val="solid"/>
          </a:ln>
        </p:spPr>
      </p:sp>
      <p:sp>
        <p:nvSpPr>
          <p:cNvPr id="4" name="calm sea level"/>
          <p:cNvSpPr/>
          <p:nvPr/>
        </p:nvSpPr>
        <p:spPr>
          <a:xfrm>
            <a:off x="822960" y="3794760"/>
            <a:ext cx="6217920" cy="0"/>
          </a:xfrm>
          <a:prstGeom prst="line">
            <a:avLst/>
          </a:prstGeom>
          <a:noFill/>
          <a:ln w="15875">
            <a:solidFill>
              <a:schemeClr val="tx2"/>
            </a:solidFill>
            <a:prstDash val="dash"/>
          </a:ln>
        </p:spPr>
      </p:sp>
      <p:sp>
        <p:nvSpPr>
          <p:cNvPr id="5" name="chip Crest"/>
          <p:cNvSpPr/>
          <p:nvPr/>
        </p:nvSpPr>
        <p:spPr>
          <a:xfrm>
            <a:off x="1097280" y="2560320"/>
            <a:ext cx="914400" cy="329184"/>
          </a:xfrm>
          <a:prstGeom prst="roundRect">
            <a:avLst>
              <a:gd name="adj" fmla="val 50000"/>
            </a:avLst>
          </a:prstGeom>
          <a:solidFill>
            <a:schemeClr val="accent2"/>
          </a:solidFill>
          <a:ln w="12700">
            <a:solidFill>
              <a:schemeClr val="accent2"/>
            </a:solidFill>
            <a:prstDash val="solid"/>
          </a:ln>
        </p:spPr>
      </p:sp>
      <p:sp>
        <p:nvSpPr>
          <p:cNvPr id="6" name="Text 4"/>
          <p:cNvSpPr txBox="1"/>
          <p:nvPr/>
        </p:nvSpPr>
        <p:spPr>
          <a:xfrm>
            <a:off x="1097280" y="2560320"/>
            <a:ext cx="914400" cy="329184"/>
          </a:xfrm>
          <a:prstGeom prst="rect">
            <a:avLst/>
          </a:prstGeom>
          <a:noFill/>
          <a:ln/>
        </p:spPr>
        <p:txBody>
          <a:bodyPr wrap="square" lIns="0" tIns="0" rIns="0" bIns="0" rtlCol="0" anchor="ctr"/>
          <a:lstStyle/>
          <a:p>
            <a:pPr algn="ctr" indent="0" marL="0">
              <a:buNone/>
            </a:pPr>
            <a:r>
              <a:rPr lang="en-US" sz="1400" b="1" dirty="0">
                <a:solidFill>
                  <a:schemeClr val="bg1"/>
                </a:solidFill>
              </a:rPr>
              <a:t>Crest</a:t>
            </a:r>
            <a:endParaRPr lang="en-US" sz="1400" dirty="0"/>
          </a:p>
        </p:txBody>
      </p:sp>
      <p:sp>
        <p:nvSpPr>
          <p:cNvPr id="7" name="chip Trough"/>
          <p:cNvSpPr/>
          <p:nvPr/>
        </p:nvSpPr>
        <p:spPr>
          <a:xfrm>
            <a:off x="2514600" y="4636008"/>
            <a:ext cx="1005840" cy="329184"/>
          </a:xfrm>
          <a:prstGeom prst="roundRect">
            <a:avLst>
              <a:gd name="adj" fmla="val 50000"/>
            </a:avLst>
          </a:prstGeom>
          <a:solidFill>
            <a:schemeClr val="accent2"/>
          </a:solidFill>
          <a:ln w="12700">
            <a:solidFill>
              <a:schemeClr val="accent2"/>
            </a:solidFill>
            <a:prstDash val="solid"/>
          </a:ln>
        </p:spPr>
      </p:sp>
      <p:sp>
        <p:nvSpPr>
          <p:cNvPr id="8" name="Text 6"/>
          <p:cNvSpPr txBox="1"/>
          <p:nvPr/>
        </p:nvSpPr>
        <p:spPr>
          <a:xfrm>
            <a:off x="2514600" y="4636008"/>
            <a:ext cx="1005840" cy="329184"/>
          </a:xfrm>
          <a:prstGeom prst="rect">
            <a:avLst/>
          </a:prstGeom>
          <a:noFill/>
          <a:ln/>
        </p:spPr>
        <p:txBody>
          <a:bodyPr wrap="square" lIns="0" tIns="0" rIns="0" bIns="0" rtlCol="0" anchor="ctr"/>
          <a:lstStyle/>
          <a:p>
            <a:pPr algn="ctr" indent="0" marL="0">
              <a:buNone/>
            </a:pPr>
            <a:r>
              <a:rPr lang="en-US" sz="1400" b="1" dirty="0">
                <a:solidFill>
                  <a:schemeClr val="bg1"/>
                </a:solidFill>
              </a:rPr>
              <a:t>Trough</a:t>
            </a:r>
            <a:endParaRPr lang="en-US" sz="1400" dirty="0"/>
          </a:p>
        </p:txBody>
      </p:sp>
      <p:sp>
        <p:nvSpPr>
          <p:cNvPr id="9" name="wavelength arrow"/>
          <p:cNvSpPr/>
          <p:nvPr/>
        </p:nvSpPr>
        <p:spPr>
          <a:xfrm>
            <a:off x="3017520" y="5166360"/>
            <a:ext cx="2926080" cy="0"/>
          </a:xfrm>
          <a:prstGeom prst="line">
            <a:avLst/>
          </a:prstGeom>
          <a:noFill/>
          <a:ln w="25400">
            <a:solidFill>
              <a:schemeClr val="bg1"/>
            </a:solidFill>
            <a:prstDash val="solid"/>
            <a:headEnd type="triangle"/>
            <a:tailEnd type="triangle"/>
          </a:ln>
        </p:spPr>
      </p:sp>
      <p:sp>
        <p:nvSpPr>
          <p:cNvPr id="10" name="chip Wavelength"/>
          <p:cNvSpPr/>
          <p:nvPr/>
        </p:nvSpPr>
        <p:spPr>
          <a:xfrm>
            <a:off x="3794760" y="5330952"/>
            <a:ext cx="1371600" cy="329184"/>
          </a:xfrm>
          <a:prstGeom prst="roundRect">
            <a:avLst>
              <a:gd name="adj" fmla="val 50000"/>
            </a:avLst>
          </a:prstGeom>
          <a:solidFill>
            <a:schemeClr val="tx2"/>
          </a:solidFill>
          <a:ln w="12700">
            <a:solidFill>
              <a:schemeClr val="tx2"/>
            </a:solidFill>
            <a:prstDash val="solid"/>
          </a:ln>
        </p:spPr>
      </p:sp>
      <p:sp>
        <p:nvSpPr>
          <p:cNvPr id="11" name="Text 9"/>
          <p:cNvSpPr txBox="1"/>
          <p:nvPr/>
        </p:nvSpPr>
        <p:spPr>
          <a:xfrm>
            <a:off x="3794760" y="5330952"/>
            <a:ext cx="1371600" cy="329184"/>
          </a:xfrm>
          <a:prstGeom prst="rect">
            <a:avLst/>
          </a:prstGeom>
          <a:noFill/>
          <a:ln/>
        </p:spPr>
        <p:txBody>
          <a:bodyPr wrap="square" lIns="0" tIns="0" rIns="0" bIns="0" rtlCol="0" anchor="ctr"/>
          <a:lstStyle/>
          <a:p>
            <a:pPr algn="ctr" indent="0" marL="0">
              <a:buNone/>
            </a:pPr>
            <a:r>
              <a:rPr lang="en-US" sz="1400" b="1" dirty="0">
                <a:solidFill>
                  <a:schemeClr val="bg1"/>
                </a:solidFill>
              </a:rPr>
              <a:t>Wavelength</a:t>
            </a:r>
            <a:endParaRPr lang="en-US" sz="1400" dirty="0"/>
          </a:p>
        </p:txBody>
      </p:sp>
      <p:sp>
        <p:nvSpPr>
          <p:cNvPr id="12" name="wave height arrow"/>
          <p:cNvSpPr/>
          <p:nvPr/>
        </p:nvSpPr>
        <p:spPr>
          <a:xfrm>
            <a:off x="4480560" y="3063240"/>
            <a:ext cx="0" cy="1463040"/>
          </a:xfrm>
          <a:prstGeom prst="line">
            <a:avLst/>
          </a:prstGeom>
          <a:noFill/>
          <a:ln w="31750">
            <a:solidFill>
              <a:schemeClr val="accent3"/>
            </a:solidFill>
            <a:prstDash val="solid"/>
            <a:headEnd type="triangle"/>
            <a:tailEnd type="triangle"/>
          </a:ln>
        </p:spPr>
      </p:sp>
      <p:sp>
        <p:nvSpPr>
          <p:cNvPr id="13" name="trough level"/>
          <p:cNvSpPr/>
          <p:nvPr/>
        </p:nvSpPr>
        <p:spPr>
          <a:xfrm>
            <a:off x="4297680" y="4526280"/>
            <a:ext cx="1828800" cy="0"/>
          </a:xfrm>
          <a:prstGeom prst="line">
            <a:avLst/>
          </a:prstGeom>
          <a:noFill/>
          <a:ln w="12700">
            <a:solidFill>
              <a:schemeClr val="accent3"/>
            </a:solidFill>
            <a:prstDash val="dash"/>
          </a:ln>
        </p:spPr>
      </p:sp>
      <p:sp>
        <p:nvSpPr>
          <p:cNvPr id="14" name="chip Wave height"/>
          <p:cNvSpPr/>
          <p:nvPr/>
        </p:nvSpPr>
        <p:spPr>
          <a:xfrm>
            <a:off x="4617720" y="3840480"/>
            <a:ext cx="1325880" cy="329184"/>
          </a:xfrm>
          <a:prstGeom prst="roundRect">
            <a:avLst>
              <a:gd name="adj" fmla="val 50000"/>
            </a:avLst>
          </a:prstGeom>
          <a:solidFill>
            <a:schemeClr val="tx2"/>
          </a:solidFill>
          <a:ln w="12700">
            <a:solidFill>
              <a:schemeClr val="tx2"/>
            </a:solidFill>
            <a:prstDash val="solid"/>
          </a:ln>
        </p:spPr>
      </p:sp>
      <p:sp>
        <p:nvSpPr>
          <p:cNvPr id="15" name="Text 13"/>
          <p:cNvSpPr txBox="1"/>
          <p:nvPr/>
        </p:nvSpPr>
        <p:spPr>
          <a:xfrm>
            <a:off x="4617720" y="3840480"/>
            <a:ext cx="1325880" cy="329184"/>
          </a:xfrm>
          <a:prstGeom prst="rect">
            <a:avLst/>
          </a:prstGeom>
          <a:noFill/>
          <a:ln/>
        </p:spPr>
        <p:txBody>
          <a:bodyPr wrap="square" lIns="0" tIns="0" rIns="0" bIns="0" rtlCol="0" anchor="ctr"/>
          <a:lstStyle/>
          <a:p>
            <a:pPr algn="ctr" indent="0" marL="0">
              <a:buNone/>
            </a:pPr>
            <a:r>
              <a:rPr lang="en-US" sz="1400" b="1" dirty="0">
                <a:solidFill>
                  <a:schemeClr val="bg1"/>
                </a:solidFill>
              </a:rPr>
              <a:t>Wave height</a:t>
            </a:r>
            <a:endParaRPr lang="en-US" sz="1400" dirty="0"/>
          </a:p>
        </p:txBody>
      </p:sp>
      <p:sp>
        <p:nvSpPr>
          <p:cNvPr id="16" name="Text 14"/>
          <p:cNvSpPr txBox="1"/>
          <p:nvPr/>
        </p:nvSpPr>
        <p:spPr>
          <a:xfrm>
            <a:off x="5897880" y="3429000"/>
            <a:ext cx="1463040" cy="292608"/>
          </a:xfrm>
          <a:prstGeom prst="rect">
            <a:avLst/>
          </a:prstGeom>
          <a:noFill/>
          <a:ln/>
        </p:spPr>
        <p:txBody>
          <a:bodyPr wrap="square" lIns="0" tIns="0" rIns="0" bIns="0" rtlCol="0" anchor="ctr"/>
          <a:lstStyle/>
          <a:p>
            <a:pPr algn="ctr" indent="0" marL="0">
              <a:buNone/>
            </a:pPr>
            <a:r>
              <a:rPr lang="en-US" sz="1400" b="1" dirty="0">
                <a:solidFill>
                  <a:schemeClr val="tx2"/>
                </a:solidFill>
              </a:rPr>
              <a:t>Calm sea level</a:t>
            </a:r>
            <a:endParaRPr lang="en-US" sz="1400" dirty="0"/>
          </a:p>
        </p:txBody>
      </p:sp>
      <p:sp>
        <p:nvSpPr>
          <p:cNvPr id="17" name="direction arrow"/>
          <p:cNvSpPr/>
          <p:nvPr/>
        </p:nvSpPr>
        <p:spPr>
          <a:xfrm>
            <a:off x="4023360" y="1828800"/>
            <a:ext cx="2011680" cy="0"/>
          </a:xfrm>
          <a:prstGeom prst="line">
            <a:avLst/>
          </a:prstGeom>
          <a:noFill/>
          <a:ln w="31750">
            <a:solidFill>
              <a:schemeClr val="tx2"/>
            </a:solidFill>
            <a:prstDash val="solid"/>
            <a:tailEnd type="triangle"/>
          </a:ln>
        </p:spPr>
      </p:sp>
      <p:sp>
        <p:nvSpPr>
          <p:cNvPr id="18" name="Text 16"/>
          <p:cNvSpPr txBox="1"/>
          <p:nvPr/>
        </p:nvSpPr>
        <p:spPr>
          <a:xfrm>
            <a:off x="3840480" y="1417320"/>
            <a:ext cx="2377440" cy="292608"/>
          </a:xfrm>
          <a:prstGeom prst="rect">
            <a:avLst/>
          </a:prstGeom>
          <a:noFill/>
          <a:ln/>
        </p:spPr>
        <p:txBody>
          <a:bodyPr wrap="square" lIns="0" tIns="0" rIns="0" bIns="0" rtlCol="0" anchor="ctr"/>
          <a:lstStyle/>
          <a:p>
            <a:pPr algn="ctr" indent="0" marL="0">
              <a:buNone/>
            </a:pPr>
            <a:r>
              <a:rPr lang="en-US" sz="1500" b="1" dirty="0">
                <a:solidFill>
                  <a:schemeClr val="tx2"/>
                </a:solidFill>
              </a:rPr>
              <a:t>Direction of travel</a:t>
            </a:r>
            <a:endParaRPr lang="en-US" sz="1500" dirty="0"/>
          </a:p>
        </p:txBody>
      </p:sp>
      <p:sp>
        <p:nvSpPr>
          <p:cNvPr id="19" name="definition 1"/>
          <p:cNvSpPr/>
          <p:nvPr/>
        </p:nvSpPr>
        <p:spPr>
          <a:xfrm>
            <a:off x="7589520" y="1371600"/>
            <a:ext cx="4023360" cy="960120"/>
          </a:xfrm>
          <a:prstGeom prst="roundRect">
            <a:avLst>
              <a:gd name="adj" fmla="val 11429"/>
            </a:avLst>
          </a:prstGeom>
          <a:solidFill>
            <a:schemeClr val="bg2"/>
          </a:solidFill>
          <a:ln w="12700">
            <a:solidFill>
              <a:schemeClr val="bg2"/>
            </a:solidFill>
            <a:prstDash val="solid"/>
          </a:ln>
        </p:spPr>
      </p:sp>
      <p:sp>
        <p:nvSpPr>
          <p:cNvPr id="20" name="Text 18"/>
          <p:cNvSpPr txBox="1"/>
          <p:nvPr/>
        </p:nvSpPr>
        <p:spPr>
          <a:xfrm>
            <a:off x="7772400" y="1463040"/>
            <a:ext cx="3657600" cy="777240"/>
          </a:xfrm>
          <a:prstGeom prst="rect">
            <a:avLst/>
          </a:prstGeom>
          <a:noFill/>
          <a:ln/>
        </p:spPr>
        <p:txBody>
          <a:bodyPr wrap="square" lIns="0" tIns="0" rIns="0" bIns="0" rtlCol="0" anchor="ctr"/>
          <a:lstStyle/>
          <a:p>
            <a:pPr indent="0" marL="0">
              <a:buNone/>
            </a:pPr>
            <a:r>
              <a:rPr lang="en-US" sz="1600" b="1" dirty="0">
                <a:solidFill>
                  <a:schemeClr val="accent1"/>
                </a:solidFill>
              </a:rPr>
              <a:t>Crest and trough</a:t>
            </a:r>
            <a:endParaRPr lang="en-US" sz="1600" dirty="0"/>
          </a:p>
          <a:p>
            <a:pPr indent="0" marL="0">
              <a:buNone/>
            </a:pPr>
            <a:r>
              <a:rPr lang="en-US" sz="1400" dirty="0">
                <a:solidFill>
                  <a:schemeClr val="tx1"/>
                </a:solidFill>
              </a:rPr>
              <a:t>The high peak and the low valley of a wave.</a:t>
            </a:r>
            <a:endParaRPr lang="en-US" sz="1600" dirty="0"/>
          </a:p>
        </p:txBody>
      </p:sp>
      <p:sp>
        <p:nvSpPr>
          <p:cNvPr id="21" name="definition 2"/>
          <p:cNvSpPr/>
          <p:nvPr/>
        </p:nvSpPr>
        <p:spPr>
          <a:xfrm>
            <a:off x="7589520" y="2514600"/>
            <a:ext cx="4023360" cy="1051560"/>
          </a:xfrm>
          <a:prstGeom prst="roundRect">
            <a:avLst>
              <a:gd name="adj" fmla="val 10435"/>
            </a:avLst>
          </a:prstGeom>
          <a:solidFill>
            <a:schemeClr val="bg2"/>
          </a:solidFill>
          <a:ln w="12700">
            <a:solidFill>
              <a:schemeClr val="bg2"/>
            </a:solidFill>
            <a:prstDash val="solid"/>
          </a:ln>
        </p:spPr>
      </p:sp>
      <p:sp>
        <p:nvSpPr>
          <p:cNvPr id="22" name="Text 20"/>
          <p:cNvSpPr txBox="1"/>
          <p:nvPr/>
        </p:nvSpPr>
        <p:spPr>
          <a:xfrm>
            <a:off x="7772400" y="2606040"/>
            <a:ext cx="3657600" cy="868680"/>
          </a:xfrm>
          <a:prstGeom prst="rect">
            <a:avLst/>
          </a:prstGeom>
          <a:noFill/>
          <a:ln/>
        </p:spPr>
        <p:txBody>
          <a:bodyPr wrap="square" lIns="0" tIns="0" rIns="0" bIns="0" rtlCol="0" anchor="ctr"/>
          <a:lstStyle/>
          <a:p>
            <a:pPr indent="0" marL="0">
              <a:buNone/>
            </a:pPr>
            <a:r>
              <a:rPr lang="en-US" sz="1600" b="1" dirty="0">
                <a:solidFill>
                  <a:schemeClr val="accent1"/>
                </a:solidFill>
              </a:rPr>
              <a:t>Wavelength</a:t>
            </a:r>
            <a:endParaRPr lang="en-US" sz="1600" dirty="0"/>
          </a:p>
          <a:p>
            <a:pPr indent="0" marL="0">
              <a:buNone/>
            </a:pPr>
            <a:r>
              <a:rPr lang="en-US" sz="1400" dirty="0">
                <a:solidFill>
                  <a:schemeClr val="tx1"/>
                </a:solidFill>
              </a:rPr>
              <a:t>Horizontal distance between two crests (or two troughs) in a row.</a:t>
            </a:r>
            <a:endParaRPr lang="en-US" sz="1600" dirty="0"/>
          </a:p>
        </p:txBody>
      </p:sp>
      <p:sp>
        <p:nvSpPr>
          <p:cNvPr id="23" name="definition 3"/>
          <p:cNvSpPr/>
          <p:nvPr/>
        </p:nvSpPr>
        <p:spPr>
          <a:xfrm>
            <a:off x="7589520" y="3749040"/>
            <a:ext cx="4023360" cy="960120"/>
          </a:xfrm>
          <a:prstGeom prst="roundRect">
            <a:avLst>
              <a:gd name="adj" fmla="val 11429"/>
            </a:avLst>
          </a:prstGeom>
          <a:solidFill>
            <a:schemeClr val="bg2"/>
          </a:solidFill>
          <a:ln w="12700">
            <a:solidFill>
              <a:schemeClr val="bg2"/>
            </a:solidFill>
            <a:prstDash val="solid"/>
          </a:ln>
        </p:spPr>
      </p:sp>
      <p:sp>
        <p:nvSpPr>
          <p:cNvPr id="24" name="Text 22"/>
          <p:cNvSpPr txBox="1"/>
          <p:nvPr/>
        </p:nvSpPr>
        <p:spPr>
          <a:xfrm>
            <a:off x="7772400" y="3840480"/>
            <a:ext cx="3657600" cy="777240"/>
          </a:xfrm>
          <a:prstGeom prst="rect">
            <a:avLst/>
          </a:prstGeom>
          <a:noFill/>
          <a:ln/>
        </p:spPr>
        <p:txBody>
          <a:bodyPr wrap="square" lIns="0" tIns="0" rIns="0" bIns="0" rtlCol="0" anchor="ctr"/>
          <a:lstStyle/>
          <a:p>
            <a:pPr indent="0" marL="0">
              <a:buNone/>
            </a:pPr>
            <a:r>
              <a:rPr lang="en-US" sz="1600" b="1" dirty="0">
                <a:solidFill>
                  <a:schemeClr val="accent1"/>
                </a:solidFill>
              </a:rPr>
              <a:t>Wave height</a:t>
            </a:r>
            <a:endParaRPr lang="en-US" sz="1600" dirty="0"/>
          </a:p>
          <a:p>
            <a:pPr indent="0" marL="0">
              <a:buNone/>
            </a:pPr>
            <a:r>
              <a:rPr lang="en-US" sz="1400" dirty="0">
                <a:solidFill>
                  <a:schemeClr val="tx1"/>
                </a:solidFill>
              </a:rPr>
              <a:t>Vertical distance from the trough up to the crest.</a:t>
            </a:r>
            <a:endParaRPr lang="en-US" sz="1600" dirty="0"/>
          </a:p>
        </p:txBody>
      </p:sp>
      <p:sp>
        <p:nvSpPr>
          <p:cNvPr id="25" name="definition 4"/>
          <p:cNvSpPr/>
          <p:nvPr/>
        </p:nvSpPr>
        <p:spPr>
          <a:xfrm>
            <a:off x="7589520" y="4892040"/>
            <a:ext cx="4023360" cy="1417320"/>
          </a:xfrm>
          <a:prstGeom prst="roundRect">
            <a:avLst>
              <a:gd name="adj" fmla="val 7742"/>
            </a:avLst>
          </a:prstGeom>
          <a:solidFill>
            <a:schemeClr val="bg2"/>
          </a:solidFill>
          <a:ln w="12700">
            <a:solidFill>
              <a:schemeClr val="bg2"/>
            </a:solidFill>
            <a:prstDash val="solid"/>
          </a:ln>
        </p:spPr>
      </p:sp>
      <p:sp>
        <p:nvSpPr>
          <p:cNvPr id="26" name="Text 24"/>
          <p:cNvSpPr txBox="1"/>
          <p:nvPr/>
        </p:nvSpPr>
        <p:spPr>
          <a:xfrm>
            <a:off x="7772400" y="4983480"/>
            <a:ext cx="3657600" cy="1234440"/>
          </a:xfrm>
          <a:prstGeom prst="rect">
            <a:avLst/>
          </a:prstGeom>
          <a:noFill/>
          <a:ln/>
        </p:spPr>
        <p:txBody>
          <a:bodyPr wrap="square" lIns="0" tIns="0" rIns="0" bIns="0" rtlCol="0" anchor="ctr"/>
          <a:lstStyle/>
          <a:p>
            <a:pPr indent="0" marL="0">
              <a:buNone/>
            </a:pPr>
            <a:r>
              <a:rPr lang="en-US" sz="1600" b="1" dirty="0">
                <a:solidFill>
                  <a:schemeClr val="accent1"/>
                </a:solidFill>
              </a:rPr>
              <a:t>Frequency and period</a:t>
            </a:r>
            <a:endParaRPr lang="en-US" sz="1600" dirty="0"/>
          </a:p>
          <a:p>
            <a:pPr indent="0" marL="0">
              <a:buNone/>
            </a:pPr>
            <a:r>
              <a:rPr lang="en-US" sz="1400" dirty="0">
                <a:solidFill>
                  <a:schemeClr val="tx1"/>
                </a:solidFill>
              </a:rPr>
              <a:t>Frequency: crests passing a point each second. Period: time for one crest to travel from point A to point B.</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Waves: The Coastal Architects</a:t>
            </a:r>
            <a:endParaRPr lang="en-US" sz="3600" dirty="0"/>
          </a:p>
        </p:txBody>
      </p:sp>
      <p:sp>
        <p:nvSpPr>
          <p:cNvPr id="3" name="Text 1"/>
          <p:cNvSpPr txBox="1"/>
          <p:nvPr/>
        </p:nvSpPr>
        <p:spPr>
          <a:xfrm>
            <a:off x="548640" y="1280160"/>
            <a:ext cx="11064240" cy="594360"/>
          </a:xfrm>
          <a:prstGeom prst="rect">
            <a:avLst/>
          </a:prstGeom>
          <a:noFill/>
          <a:ln/>
        </p:spPr>
        <p:txBody>
          <a:bodyPr wrap="square" lIns="0" tIns="0" rIns="0" bIns="0" rtlCol="0" anchor="ctr"/>
          <a:lstStyle/>
          <a:p>
            <a:pPr indent="0" marL="0">
              <a:buNone/>
            </a:pPr>
            <a:r>
              <a:rPr lang="en-US" sz="1700" dirty="0">
                <a:solidFill>
                  <a:schemeClr val="tx1"/>
                </a:solidFill>
              </a:rPr>
              <a:t>Hydraulic action and abrasion slowly carve a rocky </a:t>
            </a:r>
            <a:r>
              <a:rPr lang="en-US" sz="1700" b="1" dirty="0">
                <a:solidFill>
                  <a:schemeClr val="tx1"/>
                </a:solidFill>
              </a:rPr>
              <a:t>headland</a:t>
            </a:r>
            <a:r>
              <a:rPr lang="en-US" sz="1700" dirty="0">
                <a:solidFill>
                  <a:schemeClr val="tx1"/>
                </a:solidFill>
              </a:rPr>
              <a:t>:</a:t>
            </a:r>
            <a:endParaRPr lang="en-US" sz="1600" dirty="0"/>
          </a:p>
        </p:txBody>
      </p:sp>
      <p:sp>
        <p:nvSpPr>
          <p:cNvPr id="4" name="step 1 card"/>
          <p:cNvSpPr/>
          <p:nvPr/>
        </p:nvSpPr>
        <p:spPr>
          <a:xfrm>
            <a:off x="548640" y="2057400"/>
            <a:ext cx="1883664" cy="3520440"/>
          </a:xfrm>
          <a:prstGeom prst="roundRect">
            <a:avLst>
              <a:gd name="adj" fmla="val 5825"/>
            </a:avLst>
          </a:prstGeom>
          <a:solidFill>
            <a:schemeClr val="bg2"/>
          </a:solidFill>
          <a:ln w="12700">
            <a:solidFill>
              <a:schemeClr val="bg2"/>
            </a:solidFill>
            <a:prstDash val="solid"/>
          </a:ln>
        </p:spPr>
      </p:sp>
      <p:sp>
        <p:nvSpPr>
          <p:cNvPr id="5" name="step 1 disc"/>
          <p:cNvSpPr/>
          <p:nvPr/>
        </p:nvSpPr>
        <p:spPr>
          <a:xfrm>
            <a:off x="1094903" y="2331720"/>
            <a:ext cx="791139" cy="791139"/>
          </a:xfrm>
          <a:prstGeom prst="ellipse">
            <a:avLst/>
          </a:prstGeom>
          <a:solidFill>
            <a:schemeClr val="accent1"/>
          </a:solidFill>
          <a:ln w="12700">
            <a:solidFill>
              <a:schemeClr val="accent1"/>
            </a:solidFill>
            <a:prstDash val="solid"/>
          </a:ln>
        </p:spPr>
      </p:sp>
      <p:pic>
        <p:nvPicPr>
          <p:cNvPr id="6" name="step 1 glyph" descr="preencoded.png">    </p:cNvPr>
          <p:cNvPicPr>
            <a:picLocks noChangeAspect="1"/>
          </p:cNvPicPr>
          <p:nvPr/>
        </p:nvPicPr>
        <p:blipFill>
          <a:blip r:embed="rId1"/>
          <a:stretch>
            <a:fillRect/>
          </a:stretch>
        </p:blipFill>
        <p:spPr>
          <a:xfrm>
            <a:off x="1268953" y="2505771"/>
            <a:ext cx="443038" cy="443038"/>
          </a:xfrm>
          <a:prstGeom prst="rect">
            <a:avLst/>
          </a:prstGeom>
        </p:spPr>
      </p:pic>
      <p:sp>
        <p:nvSpPr>
          <p:cNvPr id="7" name="Text 4"/>
          <p:cNvSpPr txBox="1"/>
          <p:nvPr/>
        </p:nvSpPr>
        <p:spPr>
          <a:xfrm>
            <a:off x="685800" y="321429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1. Crack</a:t>
            </a:r>
            <a:endParaRPr lang="en-US" sz="1700" dirty="0"/>
          </a:p>
        </p:txBody>
      </p:sp>
      <p:sp>
        <p:nvSpPr>
          <p:cNvPr id="8" name="Text 5"/>
          <p:cNvSpPr txBox="1"/>
          <p:nvPr/>
        </p:nvSpPr>
        <p:spPr>
          <a:xfrm>
            <a:off x="731520" y="3945819"/>
            <a:ext cx="1517904" cy="1494861"/>
          </a:xfrm>
          <a:prstGeom prst="rect">
            <a:avLst/>
          </a:prstGeom>
          <a:noFill/>
          <a:ln/>
        </p:spPr>
        <p:txBody>
          <a:bodyPr wrap="square" lIns="0" tIns="0" rIns="0" bIns="0" rtlCol="0" anchor="t"/>
          <a:lstStyle/>
          <a:p>
            <a:pPr algn="l" indent="0" marL="0">
              <a:buNone/>
            </a:pPr>
            <a:r>
              <a:rPr lang="en-US" sz="1700" dirty="0">
                <a:solidFill>
                  <a:schemeClr val="tx1"/>
                </a:solidFill>
              </a:rPr>
              <a:t>Waves force water into cracks and loosen the rock (hydraulic action).</a:t>
            </a:r>
            <a:endParaRPr lang="en-US" sz="1600" dirty="0"/>
          </a:p>
        </p:txBody>
      </p:sp>
      <p:sp>
        <p:nvSpPr>
          <p:cNvPr id="9" name="arrow 1"/>
          <p:cNvSpPr/>
          <p:nvPr/>
        </p:nvSpPr>
        <p:spPr>
          <a:xfrm>
            <a:off x="2487168" y="2580985"/>
            <a:ext cx="301752" cy="292608"/>
          </a:xfrm>
          <a:prstGeom prst="rightArrow">
            <a:avLst/>
          </a:prstGeom>
          <a:solidFill>
            <a:schemeClr val="accent3"/>
          </a:solidFill>
          <a:ln w="12700">
            <a:solidFill>
              <a:schemeClr val="accent3"/>
            </a:solidFill>
            <a:prstDash val="solid"/>
          </a:ln>
        </p:spPr>
      </p:sp>
      <p:sp>
        <p:nvSpPr>
          <p:cNvPr id="10" name="step 2 card"/>
          <p:cNvSpPr/>
          <p:nvPr/>
        </p:nvSpPr>
        <p:spPr>
          <a:xfrm>
            <a:off x="2843784" y="2057400"/>
            <a:ext cx="1883664" cy="3520440"/>
          </a:xfrm>
          <a:prstGeom prst="roundRect">
            <a:avLst>
              <a:gd name="adj" fmla="val 5825"/>
            </a:avLst>
          </a:prstGeom>
          <a:solidFill>
            <a:schemeClr val="bg2"/>
          </a:solidFill>
          <a:ln w="12700">
            <a:solidFill>
              <a:schemeClr val="bg2"/>
            </a:solidFill>
            <a:prstDash val="solid"/>
          </a:ln>
        </p:spPr>
      </p:sp>
      <p:sp>
        <p:nvSpPr>
          <p:cNvPr id="11" name="step 2 disc"/>
          <p:cNvSpPr/>
          <p:nvPr/>
        </p:nvSpPr>
        <p:spPr>
          <a:xfrm>
            <a:off x="3390047" y="2331720"/>
            <a:ext cx="791139" cy="791139"/>
          </a:xfrm>
          <a:prstGeom prst="ellipse">
            <a:avLst/>
          </a:prstGeom>
          <a:solidFill>
            <a:schemeClr val="accent2"/>
          </a:solidFill>
          <a:ln w="12700">
            <a:solidFill>
              <a:schemeClr val="accent2"/>
            </a:solidFill>
            <a:prstDash val="solid"/>
          </a:ln>
        </p:spPr>
      </p:sp>
      <p:pic>
        <p:nvPicPr>
          <p:cNvPr id="12" name="step 2 glyph" descr="preencoded.png">    </p:cNvPr>
          <p:cNvPicPr>
            <a:picLocks noChangeAspect="1"/>
          </p:cNvPicPr>
          <p:nvPr/>
        </p:nvPicPr>
        <p:blipFill>
          <a:blip r:embed="rId2"/>
          <a:stretch>
            <a:fillRect/>
          </a:stretch>
        </p:blipFill>
        <p:spPr>
          <a:xfrm>
            <a:off x="3564097" y="2505771"/>
            <a:ext cx="443038" cy="443038"/>
          </a:xfrm>
          <a:prstGeom prst="rect">
            <a:avLst/>
          </a:prstGeom>
        </p:spPr>
      </p:pic>
      <p:sp>
        <p:nvSpPr>
          <p:cNvPr id="13" name="Text 9"/>
          <p:cNvSpPr txBox="1"/>
          <p:nvPr/>
        </p:nvSpPr>
        <p:spPr>
          <a:xfrm>
            <a:off x="2980944" y="321429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2. Sea cave</a:t>
            </a:r>
            <a:endParaRPr lang="en-US" sz="1700" dirty="0"/>
          </a:p>
        </p:txBody>
      </p:sp>
      <p:sp>
        <p:nvSpPr>
          <p:cNvPr id="14" name="Text 10"/>
          <p:cNvSpPr txBox="1"/>
          <p:nvPr/>
        </p:nvSpPr>
        <p:spPr>
          <a:xfrm>
            <a:off x="3026664" y="3945819"/>
            <a:ext cx="1517904" cy="1494861"/>
          </a:xfrm>
          <a:prstGeom prst="rect">
            <a:avLst/>
          </a:prstGeom>
          <a:noFill/>
          <a:ln/>
        </p:spPr>
        <p:txBody>
          <a:bodyPr wrap="square" lIns="0" tIns="0" rIns="0" bIns="0" rtlCol="0" anchor="t"/>
          <a:lstStyle/>
          <a:p>
            <a:pPr algn="l" indent="0" marL="0">
              <a:buNone/>
            </a:pPr>
            <a:r>
              <a:rPr lang="en-US" sz="1700" dirty="0">
                <a:solidFill>
                  <a:schemeClr val="tx1"/>
                </a:solidFill>
              </a:rPr>
              <a:t>The crack is worn into a cave that keeps growing.</a:t>
            </a:r>
            <a:endParaRPr lang="en-US" sz="1600" dirty="0"/>
          </a:p>
        </p:txBody>
      </p:sp>
      <p:sp>
        <p:nvSpPr>
          <p:cNvPr id="15" name="arrow 2"/>
          <p:cNvSpPr/>
          <p:nvPr/>
        </p:nvSpPr>
        <p:spPr>
          <a:xfrm>
            <a:off x="4782312" y="2580985"/>
            <a:ext cx="301752" cy="292608"/>
          </a:xfrm>
          <a:prstGeom prst="rightArrow">
            <a:avLst/>
          </a:prstGeom>
          <a:solidFill>
            <a:schemeClr val="accent3"/>
          </a:solidFill>
          <a:ln w="12700">
            <a:solidFill>
              <a:schemeClr val="accent3"/>
            </a:solidFill>
            <a:prstDash val="solid"/>
          </a:ln>
        </p:spPr>
      </p:sp>
      <p:sp>
        <p:nvSpPr>
          <p:cNvPr id="16" name="step 3 card"/>
          <p:cNvSpPr/>
          <p:nvPr/>
        </p:nvSpPr>
        <p:spPr>
          <a:xfrm>
            <a:off x="5138928" y="2057400"/>
            <a:ext cx="1883664" cy="3520440"/>
          </a:xfrm>
          <a:prstGeom prst="roundRect">
            <a:avLst>
              <a:gd name="adj" fmla="val 5825"/>
            </a:avLst>
          </a:prstGeom>
          <a:solidFill>
            <a:schemeClr val="bg2"/>
          </a:solidFill>
          <a:ln w="12700">
            <a:solidFill>
              <a:schemeClr val="bg2"/>
            </a:solidFill>
            <a:prstDash val="solid"/>
          </a:ln>
        </p:spPr>
      </p:sp>
      <p:sp>
        <p:nvSpPr>
          <p:cNvPr id="17" name="step 3 disc"/>
          <p:cNvSpPr/>
          <p:nvPr/>
        </p:nvSpPr>
        <p:spPr>
          <a:xfrm>
            <a:off x="5685191" y="2331720"/>
            <a:ext cx="791139" cy="791139"/>
          </a:xfrm>
          <a:prstGeom prst="ellipse">
            <a:avLst/>
          </a:prstGeom>
          <a:solidFill>
            <a:schemeClr val="accent1"/>
          </a:solidFill>
          <a:ln w="12700">
            <a:solidFill>
              <a:schemeClr val="accent1"/>
            </a:solidFill>
            <a:prstDash val="solid"/>
          </a:ln>
        </p:spPr>
      </p:sp>
      <p:pic>
        <p:nvPicPr>
          <p:cNvPr id="18" name="step 3 glyph" descr="preencoded.png">    </p:cNvPr>
          <p:cNvPicPr>
            <a:picLocks noChangeAspect="1"/>
          </p:cNvPicPr>
          <p:nvPr/>
        </p:nvPicPr>
        <p:blipFill>
          <a:blip r:embed="rId3"/>
          <a:stretch>
            <a:fillRect/>
          </a:stretch>
        </p:blipFill>
        <p:spPr>
          <a:xfrm>
            <a:off x="5859241" y="2505771"/>
            <a:ext cx="443038" cy="443038"/>
          </a:xfrm>
          <a:prstGeom prst="rect">
            <a:avLst/>
          </a:prstGeom>
        </p:spPr>
      </p:pic>
      <p:sp>
        <p:nvSpPr>
          <p:cNvPr id="19" name="Text 14"/>
          <p:cNvSpPr txBox="1"/>
          <p:nvPr/>
        </p:nvSpPr>
        <p:spPr>
          <a:xfrm>
            <a:off x="5276088" y="321429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3. Arch</a:t>
            </a:r>
            <a:endParaRPr lang="en-US" sz="1700" dirty="0"/>
          </a:p>
        </p:txBody>
      </p:sp>
      <p:sp>
        <p:nvSpPr>
          <p:cNvPr id="20" name="Text 15"/>
          <p:cNvSpPr txBox="1"/>
          <p:nvPr/>
        </p:nvSpPr>
        <p:spPr>
          <a:xfrm>
            <a:off x="5321808" y="3945819"/>
            <a:ext cx="1517904" cy="1494861"/>
          </a:xfrm>
          <a:prstGeom prst="rect">
            <a:avLst/>
          </a:prstGeom>
          <a:noFill/>
          <a:ln/>
        </p:spPr>
        <p:txBody>
          <a:bodyPr wrap="square" lIns="0" tIns="0" rIns="0" bIns="0" rtlCol="0" anchor="t"/>
          <a:lstStyle/>
          <a:p>
            <a:pPr algn="l" indent="0" marL="0">
              <a:buNone/>
            </a:pPr>
            <a:r>
              <a:rPr lang="en-US" sz="1700" dirty="0">
                <a:solidFill>
                  <a:schemeClr val="tx1"/>
                </a:solidFill>
              </a:rPr>
              <a:t>The back of the cave is eroded through, forming an arch.</a:t>
            </a:r>
            <a:endParaRPr lang="en-US" sz="1600" dirty="0"/>
          </a:p>
        </p:txBody>
      </p:sp>
      <p:sp>
        <p:nvSpPr>
          <p:cNvPr id="21" name="arrow 3"/>
          <p:cNvSpPr/>
          <p:nvPr/>
        </p:nvSpPr>
        <p:spPr>
          <a:xfrm>
            <a:off x="7077456" y="2580985"/>
            <a:ext cx="301752" cy="292608"/>
          </a:xfrm>
          <a:prstGeom prst="rightArrow">
            <a:avLst/>
          </a:prstGeom>
          <a:solidFill>
            <a:schemeClr val="accent3"/>
          </a:solidFill>
          <a:ln w="12700">
            <a:solidFill>
              <a:schemeClr val="accent3"/>
            </a:solidFill>
            <a:prstDash val="solid"/>
          </a:ln>
        </p:spPr>
      </p:sp>
      <p:sp>
        <p:nvSpPr>
          <p:cNvPr id="22" name="step 4 card"/>
          <p:cNvSpPr/>
          <p:nvPr/>
        </p:nvSpPr>
        <p:spPr>
          <a:xfrm>
            <a:off x="7434072" y="2057400"/>
            <a:ext cx="1883664" cy="3520440"/>
          </a:xfrm>
          <a:prstGeom prst="roundRect">
            <a:avLst>
              <a:gd name="adj" fmla="val 5825"/>
            </a:avLst>
          </a:prstGeom>
          <a:solidFill>
            <a:schemeClr val="bg2"/>
          </a:solidFill>
          <a:ln w="12700">
            <a:solidFill>
              <a:schemeClr val="bg2"/>
            </a:solidFill>
            <a:prstDash val="solid"/>
          </a:ln>
        </p:spPr>
      </p:sp>
      <p:sp>
        <p:nvSpPr>
          <p:cNvPr id="23" name="step 4 disc"/>
          <p:cNvSpPr/>
          <p:nvPr/>
        </p:nvSpPr>
        <p:spPr>
          <a:xfrm>
            <a:off x="7980335" y="2331720"/>
            <a:ext cx="791139" cy="791139"/>
          </a:xfrm>
          <a:prstGeom prst="ellipse">
            <a:avLst/>
          </a:prstGeom>
          <a:solidFill>
            <a:schemeClr val="accent2"/>
          </a:solidFill>
          <a:ln w="12700">
            <a:solidFill>
              <a:schemeClr val="accent2"/>
            </a:solidFill>
            <a:prstDash val="solid"/>
          </a:ln>
        </p:spPr>
      </p:sp>
      <p:pic>
        <p:nvPicPr>
          <p:cNvPr id="24" name="step 4 glyph" descr="preencoded.png">    </p:cNvPr>
          <p:cNvPicPr>
            <a:picLocks noChangeAspect="1"/>
          </p:cNvPicPr>
          <p:nvPr/>
        </p:nvPicPr>
        <p:blipFill>
          <a:blip r:embed="rId4"/>
          <a:stretch>
            <a:fillRect/>
          </a:stretch>
        </p:blipFill>
        <p:spPr>
          <a:xfrm>
            <a:off x="8154385" y="2505771"/>
            <a:ext cx="443038" cy="443038"/>
          </a:xfrm>
          <a:prstGeom prst="rect">
            <a:avLst/>
          </a:prstGeom>
        </p:spPr>
      </p:pic>
      <p:sp>
        <p:nvSpPr>
          <p:cNvPr id="25" name="Text 19"/>
          <p:cNvSpPr txBox="1"/>
          <p:nvPr/>
        </p:nvSpPr>
        <p:spPr>
          <a:xfrm>
            <a:off x="7571232" y="321429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4. Sea stack</a:t>
            </a:r>
            <a:endParaRPr lang="en-US" sz="1700" dirty="0"/>
          </a:p>
        </p:txBody>
      </p:sp>
      <p:sp>
        <p:nvSpPr>
          <p:cNvPr id="26" name="Text 20"/>
          <p:cNvSpPr txBox="1"/>
          <p:nvPr/>
        </p:nvSpPr>
        <p:spPr>
          <a:xfrm>
            <a:off x="7616952" y="3945819"/>
            <a:ext cx="1517904" cy="1494861"/>
          </a:xfrm>
          <a:prstGeom prst="rect">
            <a:avLst/>
          </a:prstGeom>
          <a:noFill/>
          <a:ln/>
        </p:spPr>
        <p:txBody>
          <a:bodyPr wrap="square" lIns="0" tIns="0" rIns="0" bIns="0" rtlCol="0" anchor="t"/>
          <a:lstStyle/>
          <a:p>
            <a:pPr algn="l" indent="0" marL="0">
              <a:buNone/>
            </a:pPr>
            <a:r>
              <a:rPr lang="en-US" sz="1700" dirty="0">
                <a:solidFill>
                  <a:schemeClr val="tx1"/>
                </a:solidFill>
              </a:rPr>
              <a:t>The arch top collapses, leaving a tall stack of rock.</a:t>
            </a:r>
            <a:endParaRPr lang="en-US" sz="1600" dirty="0"/>
          </a:p>
        </p:txBody>
      </p:sp>
      <p:sp>
        <p:nvSpPr>
          <p:cNvPr id="27" name="arrow 4"/>
          <p:cNvSpPr/>
          <p:nvPr/>
        </p:nvSpPr>
        <p:spPr>
          <a:xfrm>
            <a:off x="9372600" y="2580985"/>
            <a:ext cx="301752" cy="292608"/>
          </a:xfrm>
          <a:prstGeom prst="rightArrow">
            <a:avLst/>
          </a:prstGeom>
          <a:solidFill>
            <a:schemeClr val="accent3"/>
          </a:solidFill>
          <a:ln w="12700">
            <a:solidFill>
              <a:schemeClr val="accent3"/>
            </a:solidFill>
            <a:prstDash val="solid"/>
          </a:ln>
        </p:spPr>
      </p:sp>
      <p:sp>
        <p:nvSpPr>
          <p:cNvPr id="28" name="step 5 card"/>
          <p:cNvSpPr/>
          <p:nvPr/>
        </p:nvSpPr>
        <p:spPr>
          <a:xfrm>
            <a:off x="9729216" y="2057400"/>
            <a:ext cx="1883664" cy="3520440"/>
          </a:xfrm>
          <a:prstGeom prst="roundRect">
            <a:avLst>
              <a:gd name="adj" fmla="val 5825"/>
            </a:avLst>
          </a:prstGeom>
          <a:solidFill>
            <a:schemeClr val="bg2"/>
          </a:solidFill>
          <a:ln w="12700">
            <a:solidFill>
              <a:schemeClr val="bg2"/>
            </a:solidFill>
            <a:prstDash val="solid"/>
          </a:ln>
        </p:spPr>
      </p:sp>
      <p:sp>
        <p:nvSpPr>
          <p:cNvPr id="29" name="step 5 disc"/>
          <p:cNvSpPr/>
          <p:nvPr/>
        </p:nvSpPr>
        <p:spPr>
          <a:xfrm>
            <a:off x="10275479" y="2331720"/>
            <a:ext cx="791139" cy="791139"/>
          </a:xfrm>
          <a:prstGeom prst="ellipse">
            <a:avLst/>
          </a:prstGeom>
          <a:solidFill>
            <a:schemeClr val="accent1"/>
          </a:solidFill>
          <a:ln w="12700">
            <a:solidFill>
              <a:schemeClr val="accent1"/>
            </a:solidFill>
            <a:prstDash val="solid"/>
          </a:ln>
        </p:spPr>
      </p:sp>
      <p:pic>
        <p:nvPicPr>
          <p:cNvPr id="30" name="step 5 glyph" descr="preencoded.png">    </p:cNvPr>
          <p:cNvPicPr>
            <a:picLocks noChangeAspect="1"/>
          </p:cNvPicPr>
          <p:nvPr/>
        </p:nvPicPr>
        <p:blipFill>
          <a:blip r:embed="rId5"/>
          <a:stretch>
            <a:fillRect/>
          </a:stretch>
        </p:blipFill>
        <p:spPr>
          <a:xfrm>
            <a:off x="10449529" y="2505771"/>
            <a:ext cx="443038" cy="443038"/>
          </a:xfrm>
          <a:prstGeom prst="rect">
            <a:avLst/>
          </a:prstGeom>
        </p:spPr>
      </p:pic>
      <p:sp>
        <p:nvSpPr>
          <p:cNvPr id="31" name="Text 24"/>
          <p:cNvSpPr txBox="1"/>
          <p:nvPr/>
        </p:nvSpPr>
        <p:spPr>
          <a:xfrm>
            <a:off x="9866376" y="321429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5. Stump</a:t>
            </a:r>
            <a:endParaRPr lang="en-US" sz="1700" dirty="0"/>
          </a:p>
        </p:txBody>
      </p:sp>
      <p:sp>
        <p:nvSpPr>
          <p:cNvPr id="32" name="Text 25"/>
          <p:cNvSpPr txBox="1"/>
          <p:nvPr/>
        </p:nvSpPr>
        <p:spPr>
          <a:xfrm>
            <a:off x="9912096" y="3945819"/>
            <a:ext cx="1517904" cy="1494861"/>
          </a:xfrm>
          <a:prstGeom prst="rect">
            <a:avLst/>
          </a:prstGeom>
          <a:noFill/>
          <a:ln/>
        </p:spPr>
        <p:txBody>
          <a:bodyPr wrap="square" lIns="0" tIns="0" rIns="0" bIns="0" rtlCol="0" anchor="t"/>
          <a:lstStyle/>
          <a:p>
            <a:pPr algn="l" indent="0" marL="0">
              <a:buNone/>
            </a:pPr>
            <a:r>
              <a:rPr lang="en-US" sz="1700" dirty="0">
                <a:solidFill>
                  <a:schemeClr val="tx1"/>
                </a:solidFill>
              </a:rPr>
              <a:t>Over time the stack is eroded and weathered into a stump.</a:t>
            </a:r>
            <a:endParaRPr lang="en-US" sz="1600" dirty="0"/>
          </a:p>
        </p:txBody>
      </p:sp>
      <p:sp>
        <p:nvSpPr>
          <p:cNvPr id="33" name="footnote band"/>
          <p:cNvSpPr/>
          <p:nvPr/>
        </p:nvSpPr>
        <p:spPr>
          <a:xfrm>
            <a:off x="548640" y="5715000"/>
            <a:ext cx="11064240" cy="548640"/>
          </a:xfrm>
          <a:prstGeom prst="roundRect">
            <a:avLst>
              <a:gd name="adj" fmla="val 13333"/>
            </a:avLst>
          </a:prstGeom>
          <a:solidFill>
            <a:schemeClr val="tx2"/>
          </a:solidFill>
          <a:ln w="12700">
            <a:solidFill>
              <a:schemeClr val="tx2"/>
            </a:solidFill>
            <a:prstDash val="solid"/>
          </a:ln>
        </p:spPr>
      </p:sp>
      <p:sp>
        <p:nvSpPr>
          <p:cNvPr id="34" name="Text 27"/>
          <p:cNvSpPr txBox="1"/>
          <p:nvPr/>
        </p:nvSpPr>
        <p:spPr>
          <a:xfrm>
            <a:off x="777240" y="5715000"/>
            <a:ext cx="10607040" cy="548640"/>
          </a:xfrm>
          <a:prstGeom prst="rect">
            <a:avLst/>
          </a:prstGeom>
          <a:noFill/>
          <a:ln/>
        </p:spPr>
        <p:txBody>
          <a:bodyPr wrap="square" lIns="0" tIns="0" rIns="0" bIns="0" rtlCol="0" anchor="ctr"/>
          <a:lstStyle/>
          <a:p>
            <a:pPr indent="0" marL="0">
              <a:buNone/>
            </a:pPr>
            <a:r>
              <a:rPr lang="en-US" sz="1500" dirty="0">
                <a:solidFill>
                  <a:schemeClr val="bg1"/>
                </a:solidFill>
              </a:rPr>
              <a:t>Waves also </a:t>
            </a:r>
            <a:r>
              <a:rPr lang="en-US" sz="1500" b="1" dirty="0">
                <a:solidFill>
                  <a:schemeClr val="bg1"/>
                </a:solidFill>
              </a:rPr>
              <a:t>deposit</a:t>
            </a:r>
            <a:r>
              <a:rPr lang="en-US" sz="1500" dirty="0">
                <a:solidFill>
                  <a:schemeClr val="bg1"/>
                </a:solidFill>
              </a:rPr>
              <a:t> sand to form beaches. Giant </a:t>
            </a:r>
            <a:r>
              <a:rPr lang="en-US" sz="1500" b="1" dirty="0">
                <a:solidFill>
                  <a:schemeClr val="bg1"/>
                </a:solidFill>
              </a:rPr>
              <a:t>tsunami</a:t>
            </a:r>
            <a:r>
              <a:rPr lang="en-US" sz="1500" dirty="0">
                <a:solidFill>
                  <a:schemeClr val="bg1"/>
                </a:solidFill>
              </a:rPr>
              <a:t> waves can reach a run-up height of 30 m or more.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Tides: Spring Tide and Neap Tide</a:t>
            </a:r>
            <a:endParaRPr lang="en-US" sz="3600" dirty="0"/>
          </a:p>
        </p:txBody>
      </p:sp>
      <p:sp>
        <p:nvSpPr>
          <p:cNvPr id="3" name="Spring tide: pulls ADD UP panel"/>
          <p:cNvSpPr/>
          <p:nvPr/>
        </p:nvSpPr>
        <p:spPr>
          <a:xfrm>
            <a:off x="548640" y="1371600"/>
            <a:ext cx="5394960" cy="2971800"/>
          </a:xfrm>
          <a:prstGeom prst="roundRect">
            <a:avLst>
              <a:gd name="adj" fmla="val 3692"/>
            </a:avLst>
          </a:prstGeom>
          <a:solidFill>
            <a:schemeClr val="bg2"/>
          </a:solidFill>
          <a:ln w="12700">
            <a:solidFill>
              <a:schemeClr val="bg2"/>
            </a:solidFill>
            <a:prstDash val="solid"/>
          </a:ln>
        </p:spPr>
      </p:sp>
      <p:sp>
        <p:nvSpPr>
          <p:cNvPr id="4" name="Text 2"/>
          <p:cNvSpPr txBox="1"/>
          <p:nvPr/>
        </p:nvSpPr>
        <p:spPr>
          <a:xfrm>
            <a:off x="777240" y="1463040"/>
            <a:ext cx="4937760" cy="411480"/>
          </a:xfrm>
          <a:prstGeom prst="rect">
            <a:avLst/>
          </a:prstGeom>
          <a:noFill/>
          <a:ln/>
        </p:spPr>
        <p:txBody>
          <a:bodyPr wrap="square" lIns="0" tIns="0" rIns="0" bIns="0" rtlCol="0" anchor="ctr"/>
          <a:lstStyle/>
          <a:p>
            <a:pPr indent="0" marL="0">
              <a:buNone/>
            </a:pPr>
            <a:r>
              <a:rPr lang="en-US" sz="2000" b="1" dirty="0">
                <a:solidFill>
                  <a:schemeClr val="accent1"/>
                </a:solidFill>
              </a:rPr>
              <a:t>Spring tide: pulls ADD UP</a:t>
            </a:r>
            <a:endParaRPr lang="en-US" sz="2000" dirty="0"/>
          </a:p>
        </p:txBody>
      </p:sp>
      <p:sp>
        <p:nvSpPr>
          <p:cNvPr id="5" name="sun"/>
          <p:cNvSpPr/>
          <p:nvPr/>
        </p:nvSpPr>
        <p:spPr>
          <a:xfrm>
            <a:off x="777240" y="2423160"/>
            <a:ext cx="1188720" cy="1188720"/>
          </a:xfrm>
          <a:prstGeom prst="ellipse">
            <a:avLst/>
          </a:prstGeom>
          <a:solidFill>
            <a:schemeClr val="accent3"/>
          </a:solidFill>
          <a:ln w="12700">
            <a:solidFill>
              <a:schemeClr val="accent3"/>
            </a:solidFill>
            <a:prstDash val="solid"/>
          </a:ln>
        </p:spPr>
      </p:sp>
      <p:sp>
        <p:nvSpPr>
          <p:cNvPr id="6" name="Text 4"/>
          <p:cNvSpPr txBox="1"/>
          <p:nvPr/>
        </p:nvSpPr>
        <p:spPr>
          <a:xfrm>
            <a:off x="777240" y="2423160"/>
            <a:ext cx="1188720" cy="1188720"/>
          </a:xfrm>
          <a:prstGeom prst="rect">
            <a:avLst/>
          </a:prstGeom>
          <a:noFill/>
          <a:ln/>
        </p:spPr>
        <p:txBody>
          <a:bodyPr wrap="square" lIns="0" tIns="0" rIns="0" bIns="0" rtlCol="0" anchor="ctr"/>
          <a:lstStyle/>
          <a:p>
            <a:pPr algn="ctr" indent="0" marL="0">
              <a:buNone/>
            </a:pPr>
            <a:r>
              <a:rPr lang="en-US" sz="1500" b="1" dirty="0">
                <a:solidFill>
                  <a:schemeClr val="tx2"/>
                </a:solidFill>
              </a:rPr>
              <a:t>Sun</a:t>
            </a:r>
            <a:endParaRPr lang="en-US" sz="1500" dirty="0"/>
          </a:p>
        </p:txBody>
      </p:sp>
      <p:sp>
        <p:nvSpPr>
          <p:cNvPr id="7" name="alignment line"/>
          <p:cNvSpPr/>
          <p:nvPr/>
        </p:nvSpPr>
        <p:spPr>
          <a:xfrm>
            <a:off x="1965960" y="3017520"/>
            <a:ext cx="3703320" cy="0"/>
          </a:xfrm>
          <a:prstGeom prst="line">
            <a:avLst/>
          </a:prstGeom>
          <a:noFill/>
          <a:ln w="12700">
            <a:solidFill>
              <a:schemeClr val="tx2"/>
            </a:solidFill>
            <a:prstDash val="dash"/>
          </a:ln>
        </p:spPr>
      </p:sp>
      <p:sp>
        <p:nvSpPr>
          <p:cNvPr id="8" name="tidal bulge"/>
          <p:cNvSpPr/>
          <p:nvPr/>
        </p:nvSpPr>
        <p:spPr>
          <a:xfrm>
            <a:off x="2606040" y="2560320"/>
            <a:ext cx="1737360" cy="914400"/>
          </a:xfrm>
          <a:prstGeom prst="ellipse">
            <a:avLst/>
          </a:prstGeom>
          <a:solidFill>
            <a:schemeClr val="accent4">
              <a:alpha val="55000"/>
            </a:schemeClr>
          </a:solidFill>
          <a:ln w="12700">
            <a:solidFill>
              <a:schemeClr val="accent4"/>
            </a:solidFill>
            <a:prstDash val="solid"/>
          </a:ln>
        </p:spPr>
      </p:sp>
      <p:sp>
        <p:nvSpPr>
          <p:cNvPr id="9" name="earth"/>
          <p:cNvSpPr/>
          <p:nvPr/>
        </p:nvSpPr>
        <p:spPr>
          <a:xfrm>
            <a:off x="3108960" y="2651760"/>
            <a:ext cx="731520" cy="731520"/>
          </a:xfrm>
          <a:prstGeom prst="ellipse">
            <a:avLst/>
          </a:prstGeom>
          <a:solidFill>
            <a:schemeClr val="accent5"/>
          </a:solidFill>
          <a:ln w="19050">
            <a:solidFill>
              <a:schemeClr val="bg1"/>
            </a:solidFill>
            <a:prstDash val="solid"/>
          </a:ln>
        </p:spPr>
      </p:sp>
      <p:sp>
        <p:nvSpPr>
          <p:cNvPr id="10" name="Text 8"/>
          <p:cNvSpPr txBox="1"/>
          <p:nvPr/>
        </p:nvSpPr>
        <p:spPr>
          <a:xfrm>
            <a:off x="2926080" y="3584448"/>
            <a:ext cx="1097280" cy="274320"/>
          </a:xfrm>
          <a:prstGeom prst="rect">
            <a:avLst/>
          </a:prstGeom>
          <a:noFill/>
          <a:ln/>
        </p:spPr>
        <p:txBody>
          <a:bodyPr wrap="square" lIns="0" tIns="0" rIns="0" bIns="0" rtlCol="0" anchor="t"/>
          <a:lstStyle/>
          <a:p>
            <a:pPr algn="ctr" indent="0" marL="0">
              <a:buNone/>
            </a:pPr>
            <a:r>
              <a:rPr lang="en-US" sz="1300" b="1" dirty="0">
                <a:solidFill>
                  <a:schemeClr val="tx2"/>
                </a:solidFill>
              </a:rPr>
              <a:t>Earth</a:t>
            </a:r>
            <a:endParaRPr lang="en-US" sz="1300" dirty="0"/>
          </a:p>
        </p:txBody>
      </p:sp>
      <p:sp>
        <p:nvSpPr>
          <p:cNvPr id="11" name="moon"/>
          <p:cNvSpPr/>
          <p:nvPr/>
        </p:nvSpPr>
        <p:spPr>
          <a:xfrm>
            <a:off x="5212080" y="2816352"/>
            <a:ext cx="402336" cy="402336"/>
          </a:xfrm>
          <a:prstGeom prst="ellipse">
            <a:avLst/>
          </a:prstGeom>
          <a:solidFill>
            <a:schemeClr val="tx2"/>
          </a:solidFill>
          <a:ln w="12700">
            <a:solidFill>
              <a:schemeClr val="tx2"/>
            </a:solidFill>
            <a:prstDash val="solid"/>
          </a:ln>
        </p:spPr>
      </p:sp>
      <p:sp>
        <p:nvSpPr>
          <p:cNvPr id="12" name="Text 10"/>
          <p:cNvSpPr txBox="1"/>
          <p:nvPr/>
        </p:nvSpPr>
        <p:spPr>
          <a:xfrm>
            <a:off x="4206240" y="3291840"/>
            <a:ext cx="2103120" cy="292608"/>
          </a:xfrm>
          <a:prstGeom prst="rect">
            <a:avLst/>
          </a:prstGeom>
          <a:noFill/>
          <a:ln/>
        </p:spPr>
        <p:txBody>
          <a:bodyPr wrap="square" lIns="0" tIns="0" rIns="0" bIns="0" rtlCol="0" anchor="t"/>
          <a:lstStyle/>
          <a:p>
            <a:pPr algn="ctr" indent="0" marL="0">
              <a:buNone/>
            </a:pPr>
            <a:r>
              <a:rPr lang="en-US" sz="1300" b="1" dirty="0">
                <a:solidFill>
                  <a:schemeClr val="tx2"/>
                </a:solidFill>
              </a:rPr>
              <a:t>Moon (full / new)</a:t>
            </a:r>
            <a:endParaRPr lang="en-US" sz="1300" dirty="0"/>
          </a:p>
        </p:txBody>
      </p:sp>
      <p:sp>
        <p:nvSpPr>
          <p:cNvPr id="13" name="Neap tide: pulls WORK APART panel"/>
          <p:cNvSpPr/>
          <p:nvPr/>
        </p:nvSpPr>
        <p:spPr>
          <a:xfrm>
            <a:off x="6217920" y="1371600"/>
            <a:ext cx="5394960" cy="2971800"/>
          </a:xfrm>
          <a:prstGeom prst="roundRect">
            <a:avLst>
              <a:gd name="adj" fmla="val 3692"/>
            </a:avLst>
          </a:prstGeom>
          <a:solidFill>
            <a:schemeClr val="bg2"/>
          </a:solidFill>
          <a:ln w="12700">
            <a:solidFill>
              <a:schemeClr val="bg2"/>
            </a:solidFill>
            <a:prstDash val="solid"/>
          </a:ln>
        </p:spPr>
      </p:sp>
      <p:sp>
        <p:nvSpPr>
          <p:cNvPr id="14" name="Text 12"/>
          <p:cNvSpPr txBox="1"/>
          <p:nvPr/>
        </p:nvSpPr>
        <p:spPr>
          <a:xfrm>
            <a:off x="6446520" y="1463040"/>
            <a:ext cx="4937760" cy="411480"/>
          </a:xfrm>
          <a:prstGeom prst="rect">
            <a:avLst/>
          </a:prstGeom>
          <a:noFill/>
          <a:ln/>
        </p:spPr>
        <p:txBody>
          <a:bodyPr wrap="square" lIns="0" tIns="0" rIns="0" bIns="0" rtlCol="0" anchor="ctr"/>
          <a:lstStyle/>
          <a:p>
            <a:pPr indent="0" marL="0">
              <a:buNone/>
            </a:pPr>
            <a:r>
              <a:rPr lang="en-US" sz="2000" b="1" dirty="0">
                <a:solidFill>
                  <a:schemeClr val="accent2"/>
                </a:solidFill>
              </a:rPr>
              <a:t>Neap tide: pulls WORK APART</a:t>
            </a:r>
            <a:endParaRPr lang="en-US" sz="2000" dirty="0"/>
          </a:p>
        </p:txBody>
      </p:sp>
      <p:sp>
        <p:nvSpPr>
          <p:cNvPr id="15" name="sun"/>
          <p:cNvSpPr/>
          <p:nvPr/>
        </p:nvSpPr>
        <p:spPr>
          <a:xfrm>
            <a:off x="6446520" y="2423160"/>
            <a:ext cx="1188720" cy="1188720"/>
          </a:xfrm>
          <a:prstGeom prst="ellipse">
            <a:avLst/>
          </a:prstGeom>
          <a:solidFill>
            <a:schemeClr val="accent3"/>
          </a:solidFill>
          <a:ln w="12700">
            <a:solidFill>
              <a:schemeClr val="accent3"/>
            </a:solidFill>
            <a:prstDash val="solid"/>
          </a:ln>
        </p:spPr>
      </p:sp>
      <p:sp>
        <p:nvSpPr>
          <p:cNvPr id="16" name="Text 14"/>
          <p:cNvSpPr txBox="1"/>
          <p:nvPr/>
        </p:nvSpPr>
        <p:spPr>
          <a:xfrm>
            <a:off x="6446520" y="2423160"/>
            <a:ext cx="1188720" cy="1188720"/>
          </a:xfrm>
          <a:prstGeom prst="rect">
            <a:avLst/>
          </a:prstGeom>
          <a:noFill/>
          <a:ln/>
        </p:spPr>
        <p:txBody>
          <a:bodyPr wrap="square" lIns="0" tIns="0" rIns="0" bIns="0" rtlCol="0" anchor="ctr"/>
          <a:lstStyle/>
          <a:p>
            <a:pPr algn="ctr" indent="0" marL="0">
              <a:buNone/>
            </a:pPr>
            <a:r>
              <a:rPr lang="en-US" sz="1500" b="1" dirty="0">
                <a:solidFill>
                  <a:schemeClr val="tx2"/>
                </a:solidFill>
              </a:rPr>
              <a:t>Sun</a:t>
            </a:r>
            <a:endParaRPr lang="en-US" sz="1500" dirty="0"/>
          </a:p>
        </p:txBody>
      </p:sp>
      <p:sp>
        <p:nvSpPr>
          <p:cNvPr id="17" name="alignment line"/>
          <p:cNvSpPr/>
          <p:nvPr/>
        </p:nvSpPr>
        <p:spPr>
          <a:xfrm>
            <a:off x="7635240" y="3017520"/>
            <a:ext cx="1508760" cy="0"/>
          </a:xfrm>
          <a:prstGeom prst="line">
            <a:avLst/>
          </a:prstGeom>
          <a:noFill/>
          <a:ln w="12700">
            <a:solidFill>
              <a:schemeClr val="tx2"/>
            </a:solidFill>
            <a:prstDash val="dash"/>
          </a:ln>
        </p:spPr>
      </p:sp>
      <p:sp>
        <p:nvSpPr>
          <p:cNvPr id="18" name="moon line"/>
          <p:cNvSpPr/>
          <p:nvPr/>
        </p:nvSpPr>
        <p:spPr>
          <a:xfrm>
            <a:off x="9144000" y="2194560"/>
            <a:ext cx="0" cy="822960"/>
          </a:xfrm>
          <a:prstGeom prst="line">
            <a:avLst/>
          </a:prstGeom>
          <a:noFill/>
          <a:ln w="12700">
            <a:solidFill>
              <a:schemeClr val="tx2"/>
            </a:solidFill>
            <a:prstDash val="dash"/>
          </a:ln>
        </p:spPr>
      </p:sp>
      <p:sp>
        <p:nvSpPr>
          <p:cNvPr id="19" name="tidal bulge"/>
          <p:cNvSpPr/>
          <p:nvPr/>
        </p:nvSpPr>
        <p:spPr>
          <a:xfrm>
            <a:off x="8641080" y="2450592"/>
            <a:ext cx="1005840" cy="1133856"/>
          </a:xfrm>
          <a:prstGeom prst="ellipse">
            <a:avLst/>
          </a:prstGeom>
          <a:solidFill>
            <a:schemeClr val="accent4">
              <a:alpha val="55000"/>
            </a:schemeClr>
          </a:solidFill>
          <a:ln w="12700">
            <a:solidFill>
              <a:schemeClr val="accent4"/>
            </a:solidFill>
            <a:prstDash val="solid"/>
          </a:ln>
        </p:spPr>
      </p:sp>
      <p:sp>
        <p:nvSpPr>
          <p:cNvPr id="20" name="earth"/>
          <p:cNvSpPr/>
          <p:nvPr/>
        </p:nvSpPr>
        <p:spPr>
          <a:xfrm>
            <a:off x="8778240" y="2651760"/>
            <a:ext cx="731520" cy="731520"/>
          </a:xfrm>
          <a:prstGeom prst="ellipse">
            <a:avLst/>
          </a:prstGeom>
          <a:solidFill>
            <a:schemeClr val="accent5"/>
          </a:solidFill>
          <a:ln w="19050">
            <a:solidFill>
              <a:schemeClr val="bg1"/>
            </a:solidFill>
            <a:prstDash val="solid"/>
          </a:ln>
        </p:spPr>
      </p:sp>
      <p:sp>
        <p:nvSpPr>
          <p:cNvPr id="21" name="Text 19"/>
          <p:cNvSpPr txBox="1"/>
          <p:nvPr/>
        </p:nvSpPr>
        <p:spPr>
          <a:xfrm>
            <a:off x="8595360" y="3584448"/>
            <a:ext cx="1097280" cy="274320"/>
          </a:xfrm>
          <a:prstGeom prst="rect">
            <a:avLst/>
          </a:prstGeom>
          <a:noFill/>
          <a:ln/>
        </p:spPr>
        <p:txBody>
          <a:bodyPr wrap="square" lIns="0" tIns="0" rIns="0" bIns="0" rtlCol="0" anchor="t"/>
          <a:lstStyle/>
          <a:p>
            <a:pPr algn="ctr" indent="0" marL="0">
              <a:buNone/>
            </a:pPr>
            <a:r>
              <a:rPr lang="en-US" sz="1300" b="1" dirty="0">
                <a:solidFill>
                  <a:schemeClr val="tx2"/>
                </a:solidFill>
              </a:rPr>
              <a:t>Earth</a:t>
            </a:r>
            <a:endParaRPr lang="en-US" sz="1300" dirty="0"/>
          </a:p>
        </p:txBody>
      </p:sp>
      <p:sp>
        <p:nvSpPr>
          <p:cNvPr id="22" name="moon"/>
          <p:cNvSpPr/>
          <p:nvPr/>
        </p:nvSpPr>
        <p:spPr>
          <a:xfrm>
            <a:off x="8942832" y="1965960"/>
            <a:ext cx="402336" cy="402336"/>
          </a:xfrm>
          <a:prstGeom prst="ellipse">
            <a:avLst/>
          </a:prstGeom>
          <a:solidFill>
            <a:schemeClr val="tx2"/>
          </a:solidFill>
          <a:ln w="12700">
            <a:solidFill>
              <a:schemeClr val="tx2"/>
            </a:solidFill>
            <a:prstDash val="solid"/>
          </a:ln>
        </p:spPr>
      </p:sp>
      <p:sp>
        <p:nvSpPr>
          <p:cNvPr id="23" name="Text 21"/>
          <p:cNvSpPr txBox="1"/>
          <p:nvPr/>
        </p:nvSpPr>
        <p:spPr>
          <a:xfrm>
            <a:off x="9418320" y="2011680"/>
            <a:ext cx="2103120" cy="292608"/>
          </a:xfrm>
          <a:prstGeom prst="rect">
            <a:avLst/>
          </a:prstGeom>
          <a:noFill/>
          <a:ln/>
        </p:spPr>
        <p:txBody>
          <a:bodyPr wrap="square" lIns="0" tIns="0" rIns="0" bIns="0" rtlCol="0" anchor="t"/>
          <a:lstStyle/>
          <a:p>
            <a:pPr algn="l" indent="0" marL="0">
              <a:buNone/>
            </a:pPr>
            <a:r>
              <a:rPr lang="en-US" sz="1300" b="1" dirty="0">
                <a:solidFill>
                  <a:schemeClr val="tx2"/>
                </a:solidFill>
              </a:rPr>
              <a:t>Moon (1st / 3rd quarter)</a:t>
            </a:r>
            <a:endParaRPr lang="en-US" sz="1300" dirty="0"/>
          </a:p>
        </p:txBody>
      </p:sp>
      <p:sp>
        <p:nvSpPr>
          <p:cNvPr id="24" name="Text 22"/>
          <p:cNvSpPr txBox="1"/>
          <p:nvPr/>
        </p:nvSpPr>
        <p:spPr>
          <a:xfrm>
            <a:off x="777240" y="4526280"/>
            <a:ext cx="5029200" cy="164592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Sun, Earth and Moon in a </a:t>
            </a:r>
            <a:r>
              <a:rPr lang="en-US" sz="1600" b="1" dirty="0">
                <a:solidFill>
                  <a:schemeClr val="tx1"/>
                </a:solidFill>
              </a:rPr>
              <a:t>straight line</a:t>
            </a:r>
            <a:endParaRPr lang="en-US" sz="1600" dirty="0"/>
          </a:p>
          <a:p>
            <a:pPr marL="228600" indent="-228600">
              <a:spcAft>
                <a:spcPts val="600"/>
              </a:spcAft>
              <a:buSzPct val="100000"/>
              <a:buChar char="•"/>
            </a:pPr>
            <a:r>
              <a:rPr lang="en-US" sz="1600" dirty="0">
                <a:solidFill>
                  <a:schemeClr val="tx1"/>
                </a:solidFill>
              </a:rPr>
              <a:t>Happens on </a:t>
            </a:r>
            <a:r>
              <a:rPr lang="en-US" sz="1600" b="1" dirty="0">
                <a:solidFill>
                  <a:schemeClr val="tx1"/>
                </a:solidFill>
              </a:rPr>
              <a:t>full moon and new moon</a:t>
            </a:r>
            <a:r>
              <a:rPr lang="en-US" sz="1600" dirty="0">
                <a:solidFill>
                  <a:schemeClr val="tx1"/>
                </a:solidFill>
              </a:rPr>
              <a:t> days</a:t>
            </a:r>
            <a:endParaRPr lang="en-US" sz="1600" dirty="0"/>
          </a:p>
          <a:p>
            <a:pPr marL="228600" indent="-228600">
              <a:spcAft>
                <a:spcPts val="600"/>
              </a:spcAft>
              <a:buSzPct val="100000"/>
              <a:buChar char="•"/>
            </a:pPr>
            <a:r>
              <a:rPr lang="en-US" sz="1600" b="1" dirty="0">
                <a:solidFill>
                  <a:schemeClr val="tx1"/>
                </a:solidFill>
              </a:rPr>
              <a:t>Highest high tides</a:t>
            </a:r>
            <a:r>
              <a:rPr lang="en-US" sz="1600" dirty="0">
                <a:solidFill>
                  <a:schemeClr val="tx1"/>
                </a:solidFill>
              </a:rPr>
              <a:t> and </a:t>
            </a:r>
            <a:r>
              <a:rPr lang="en-US" sz="1600" b="1" dirty="0">
                <a:solidFill>
                  <a:schemeClr val="tx1"/>
                </a:solidFill>
              </a:rPr>
              <a:t>lowest low tides</a:t>
            </a:r>
            <a:endParaRPr lang="en-US" sz="1600" dirty="0"/>
          </a:p>
        </p:txBody>
      </p:sp>
      <p:sp>
        <p:nvSpPr>
          <p:cNvPr id="25" name="Text 23"/>
          <p:cNvSpPr txBox="1"/>
          <p:nvPr/>
        </p:nvSpPr>
        <p:spPr>
          <a:xfrm>
            <a:off x="6446520" y="4526280"/>
            <a:ext cx="5029200" cy="164592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Sun and Moon pull at </a:t>
            </a:r>
            <a:r>
              <a:rPr lang="en-US" sz="1600" b="1" dirty="0">
                <a:solidFill>
                  <a:schemeClr val="tx1"/>
                </a:solidFill>
              </a:rPr>
              <a:t>right angles</a:t>
            </a:r>
            <a:endParaRPr lang="en-US" sz="1600" dirty="0"/>
          </a:p>
          <a:p>
            <a:pPr marL="228600" indent="-228600">
              <a:spcAft>
                <a:spcPts val="600"/>
              </a:spcAft>
              <a:buSzPct val="100000"/>
              <a:buChar char="•"/>
            </a:pPr>
            <a:r>
              <a:rPr lang="en-US" sz="1600" dirty="0">
                <a:solidFill>
                  <a:schemeClr val="tx1"/>
                </a:solidFill>
              </a:rPr>
              <a:t>Happens in the </a:t>
            </a:r>
            <a:r>
              <a:rPr lang="en-US" sz="1600" b="1" dirty="0">
                <a:solidFill>
                  <a:schemeClr val="tx1"/>
                </a:solidFill>
              </a:rPr>
              <a:t>first and third quarter</a:t>
            </a:r>
            <a:r>
              <a:rPr lang="en-US" sz="1600" dirty="0">
                <a:solidFill>
                  <a:schemeClr val="tx1"/>
                </a:solidFill>
              </a:rPr>
              <a:t> of the Moon</a:t>
            </a:r>
            <a:endParaRPr lang="en-US" sz="1600" dirty="0"/>
          </a:p>
          <a:p>
            <a:pPr marL="228600" indent="-228600">
              <a:spcAft>
                <a:spcPts val="600"/>
              </a:spcAft>
              <a:buSzPct val="100000"/>
              <a:buChar char="•"/>
            </a:pPr>
            <a:r>
              <a:rPr lang="en-US" sz="1600" b="1" dirty="0">
                <a:solidFill>
                  <a:schemeClr val="tx1"/>
                </a:solidFill>
              </a:rPr>
              <a:t>Smaller difference</a:t>
            </a:r>
            <a:r>
              <a:rPr lang="en-US" sz="1600" dirty="0">
                <a:solidFill>
                  <a:schemeClr val="tx1"/>
                </a:solidFill>
              </a:rPr>
              <a:t> between high and low tide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Why Do Tides Matter?</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Navigation</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400" dirty="0">
                <a:solidFill>
                  <a:schemeClr val="tx1"/>
                </a:solidFill>
              </a:rPr>
              <a:t>High tide raises water near the shore so ships enter harbours easily. Huge tankers (VLCCs) wait for high tide in the Singapore Strait.</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Safe docking</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400" dirty="0">
                <a:solidFill>
                  <a:schemeClr val="tx1"/>
                </a:solidFill>
              </a:rPr>
              <a:t>Tidal range can reach 4–5 m in some ports and about </a:t>
            </a:r>
            <a:r>
              <a:rPr lang="en-US" sz="1400" b="1" dirty="0">
                <a:solidFill>
                  <a:schemeClr val="tx1"/>
                </a:solidFill>
              </a:rPr>
              <a:t>12 m in the Gulf of Khambhat</a:t>
            </a:r>
            <a:r>
              <a:rPr lang="en-US" sz="1400" dirty="0">
                <a:solidFill>
                  <a:schemeClr val="tx1"/>
                </a:solidFill>
              </a:rPr>
              <a:t>.</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Fishing</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400" dirty="0">
                <a:solidFill>
                  <a:schemeClr val="tx1"/>
                </a:solidFill>
              </a:rPr>
              <a:t>At high tide, many fish move closer to the shore, giving fishing communities a better catch.</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Tidal energy</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400" dirty="0">
                <a:solidFill>
                  <a:schemeClr val="tx1"/>
                </a:solidFill>
              </a:rPr>
              <a:t>Sites in India: </a:t>
            </a:r>
            <a:r>
              <a:rPr lang="en-US" sz="1400" b="1" dirty="0">
                <a:solidFill>
                  <a:schemeClr val="tx1"/>
                </a:solidFill>
              </a:rPr>
              <a:t>Gulf of Kutch, Gulf of Khambhat, Sundarbans</a:t>
            </a:r>
            <a:r>
              <a:rPr lang="en-US" sz="1400" dirty="0">
                <a:solidFill>
                  <a:schemeClr val="tx1"/>
                </a:solidFill>
              </a:rPr>
              <a:t>. India's coastline: 11,098.81 km.</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Tidal currents</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400" dirty="0">
                <a:solidFill>
                  <a:schemeClr val="tx1"/>
                </a:solidFill>
              </a:rPr>
              <a:t>Water rushing in and out can flow at 5–6 knots (about 9–11 km/h).</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Culture</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400" dirty="0">
                <a:solidFill>
                  <a:schemeClr val="tx1"/>
                </a:solidFill>
              </a:rPr>
              <a:t>The Bhadkeshwar Mahadev Temple, Dwarka, can be reached only at </a:t>
            </a:r>
            <a:r>
              <a:rPr lang="en-US" sz="1400" b="1" dirty="0">
                <a:solidFill>
                  <a:schemeClr val="tx1"/>
                </a:solidFill>
              </a:rPr>
              <a:t>low tide</a:t>
            </a:r>
            <a:r>
              <a:rPr lang="en-US" sz="1400" dirty="0">
                <a:solidFill>
                  <a:schemeClr val="tx1"/>
                </a:solidFill>
              </a:rPr>
              <a: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Ocean Currents: Rivers in the Sea</a:t>
            </a:r>
            <a:endParaRPr lang="en-US" sz="3600" dirty="0"/>
          </a:p>
        </p:txBody>
      </p:sp>
      <p:sp>
        <p:nvSpPr>
          <p:cNvPr id="3" name="Text 1"/>
          <p:cNvSpPr txBox="1"/>
          <p:nvPr/>
        </p:nvSpPr>
        <p:spPr>
          <a:xfrm>
            <a:off x="548640" y="1280160"/>
            <a:ext cx="11064240" cy="594360"/>
          </a:xfrm>
          <a:prstGeom prst="rect">
            <a:avLst/>
          </a:prstGeom>
          <a:noFill/>
          <a:ln/>
        </p:spPr>
        <p:txBody>
          <a:bodyPr wrap="square" lIns="0" tIns="0" rIns="0" bIns="0" rtlCol="0" anchor="ctr"/>
          <a:lstStyle/>
          <a:p>
            <a:pPr indent="0" marL="0">
              <a:buNone/>
            </a:pPr>
            <a:r>
              <a:rPr lang="en-US" sz="1700" b="1" dirty="0">
                <a:solidFill>
                  <a:schemeClr val="tx1"/>
                </a:solidFill>
              </a:rPr>
              <a:t>Caused by:</a:t>
            </a:r>
            <a:r>
              <a:rPr lang="en-US" sz="1700" dirty="0">
                <a:solidFill>
                  <a:schemeClr val="tx1"/>
                </a:solidFill>
              </a:rPr>
              <a:t> winds · Earth's rotation (Coriolis force) · differences in temperature and salinity · shape of continents</a:t>
            </a:r>
            <a:endParaRPr lang="en-US" sz="1600" dirty="0"/>
          </a:p>
        </p:txBody>
      </p:sp>
      <p:sp>
        <p:nvSpPr>
          <p:cNvPr id="4" name="Warm currents header"/>
          <p:cNvSpPr/>
          <p:nvPr/>
        </p:nvSpPr>
        <p:spPr>
          <a:xfrm>
            <a:off x="548640" y="2011680"/>
            <a:ext cx="5257800" cy="777240"/>
          </a:xfrm>
          <a:prstGeom prst="roundRect">
            <a:avLst>
              <a:gd name="adj" fmla="val 14118"/>
            </a:avLst>
          </a:prstGeom>
          <a:solidFill>
            <a:schemeClr val="accent1"/>
          </a:solidFill>
          <a:ln w="12700">
            <a:solidFill>
              <a:schemeClr val="accent1"/>
            </a:solidFill>
            <a:prstDash val="solid"/>
          </a:ln>
        </p:spPr>
      </p:sp>
      <p:pic>
        <p:nvPicPr>
          <p:cNvPr id="5" name="Warm currents icon" descr="preencoded.png">    </p:cNvPr>
          <p:cNvPicPr>
            <a:picLocks noChangeAspect="1"/>
          </p:cNvPicPr>
          <p:nvPr/>
        </p:nvPicPr>
        <p:blipFill>
          <a:blip r:embed="rId1"/>
          <a:stretch>
            <a:fillRect/>
          </a:stretch>
        </p:blipFill>
        <p:spPr>
          <a:xfrm>
            <a:off x="777240" y="2148840"/>
            <a:ext cx="502920" cy="502920"/>
          </a:xfrm>
          <a:prstGeom prst="rect">
            <a:avLst/>
          </a:prstGeom>
        </p:spPr>
      </p:pic>
      <p:sp>
        <p:nvSpPr>
          <p:cNvPr id="6" name="Text 3"/>
          <p:cNvSpPr txBox="1"/>
          <p:nvPr/>
        </p:nvSpPr>
        <p:spPr>
          <a:xfrm>
            <a:off x="1463040" y="201168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Warm currents</a:t>
            </a:r>
            <a:endParaRPr lang="en-US" sz="2200" dirty="0"/>
          </a:p>
        </p:txBody>
      </p:sp>
      <p:sp>
        <p:nvSpPr>
          <p:cNvPr id="7" name="Warm currents body"/>
          <p:cNvSpPr/>
          <p:nvPr/>
        </p:nvSpPr>
        <p:spPr>
          <a:xfrm>
            <a:off x="548640" y="2880360"/>
            <a:ext cx="5257800" cy="2743200"/>
          </a:xfrm>
          <a:prstGeom prst="roundRect">
            <a:avLst>
              <a:gd name="adj" fmla="val 4000"/>
            </a:avLst>
          </a:prstGeom>
          <a:solidFill>
            <a:schemeClr val="bg2"/>
          </a:solidFill>
          <a:ln w="12700">
            <a:solidFill>
              <a:schemeClr val="bg2"/>
            </a:solidFill>
            <a:prstDash val="solid"/>
          </a:ln>
        </p:spPr>
      </p:sp>
      <p:sp>
        <p:nvSpPr>
          <p:cNvPr id="8" name="Text 5"/>
          <p:cNvSpPr txBox="1"/>
          <p:nvPr/>
        </p:nvSpPr>
        <p:spPr>
          <a:xfrm>
            <a:off x="822960" y="3063240"/>
            <a:ext cx="4709160" cy="2377440"/>
          </a:xfrm>
          <a:prstGeom prst="rect">
            <a:avLst/>
          </a:prstGeom>
          <a:noFill/>
          <a:ln/>
        </p:spPr>
        <p:txBody>
          <a:bodyPr wrap="square" lIns="0" tIns="0" rIns="0" bIns="0" rtlCol="0" anchor="t"/>
          <a:lstStyle/>
          <a:p>
            <a:pPr marL="228600" indent="-228600">
              <a:spcAft>
                <a:spcPts val="800"/>
              </a:spcAft>
              <a:buSzPct val="100000"/>
              <a:buChar char="•"/>
            </a:pPr>
            <a:r>
              <a:rPr lang="en-US" sz="1900" dirty="0">
                <a:solidFill>
                  <a:schemeClr val="tx1"/>
                </a:solidFill>
              </a:rPr>
              <a:t>Flow from </a:t>
            </a:r>
            <a:r>
              <a:rPr lang="en-US" sz="1900" b="1" dirty="0">
                <a:solidFill>
                  <a:schemeClr val="tx1"/>
                </a:solidFill>
              </a:rPr>
              <a:t>warmer</a:t>
            </a:r>
            <a:r>
              <a:rPr lang="en-US" sz="1900" dirty="0">
                <a:solidFill>
                  <a:schemeClr val="tx1"/>
                </a:solidFill>
              </a:rPr>
              <a:t> regions</a:t>
            </a:r>
            <a:endParaRPr lang="en-US" sz="1600" dirty="0"/>
          </a:p>
          <a:p>
            <a:pPr marL="228600" indent="-228600">
              <a:spcAft>
                <a:spcPts val="800"/>
              </a:spcAft>
              <a:buSzPct val="100000"/>
              <a:buChar char="•"/>
            </a:pPr>
            <a:r>
              <a:rPr lang="en-US" sz="1900" dirty="0">
                <a:solidFill>
                  <a:schemeClr val="tx1"/>
                </a:solidFill>
              </a:rPr>
              <a:t>Shown in </a:t>
            </a:r>
            <a:r>
              <a:rPr lang="en-US" sz="1900" b="1" dirty="0">
                <a:solidFill>
                  <a:schemeClr val="tx1"/>
                </a:solidFill>
              </a:rPr>
              <a:t>red</a:t>
            </a:r>
            <a:r>
              <a:rPr lang="en-US" sz="1900" dirty="0">
                <a:solidFill>
                  <a:schemeClr val="tx1"/>
                </a:solidFill>
              </a:rPr>
              <a:t> on maps</a:t>
            </a:r>
            <a:endParaRPr lang="en-US" sz="1600" dirty="0"/>
          </a:p>
          <a:p>
            <a:pPr marL="228600" indent="-228600">
              <a:spcAft>
                <a:spcPts val="800"/>
              </a:spcAft>
              <a:buSzPct val="100000"/>
              <a:buChar char="•"/>
            </a:pPr>
            <a:r>
              <a:rPr lang="en-US" sz="1900" b="1" dirty="0">
                <a:solidFill>
                  <a:schemeClr val="tx1"/>
                </a:solidFill>
              </a:rPr>
              <a:t>Gulf Stream:</a:t>
            </a:r>
            <a:r>
              <a:rPr lang="en-US" sz="1900" dirty="0">
                <a:solidFill>
                  <a:schemeClr val="tx1"/>
                </a:solidFill>
              </a:rPr>
              <a:t> from the Gulf of Mexico towards Norway</a:t>
            </a:r>
            <a:endParaRPr lang="en-US" sz="1600" dirty="0"/>
          </a:p>
          <a:p>
            <a:pPr marL="228600" indent="-228600">
              <a:spcAft>
                <a:spcPts val="800"/>
              </a:spcAft>
              <a:buSzPct val="100000"/>
              <a:buChar char="•"/>
            </a:pPr>
            <a:r>
              <a:rPr lang="en-US" sz="1900" dirty="0">
                <a:solidFill>
                  <a:schemeClr val="tx1"/>
                </a:solidFill>
              </a:rPr>
              <a:t>Keeps Norwegian waters ice-free, even at 60°–70° latitude</a:t>
            </a:r>
            <a:endParaRPr lang="en-US" sz="1600" dirty="0"/>
          </a:p>
        </p:txBody>
      </p:sp>
      <p:sp>
        <p:nvSpPr>
          <p:cNvPr id="9" name="Cold currents header"/>
          <p:cNvSpPr/>
          <p:nvPr/>
        </p:nvSpPr>
        <p:spPr>
          <a:xfrm>
            <a:off x="6355080" y="2011680"/>
            <a:ext cx="5257800" cy="777240"/>
          </a:xfrm>
          <a:prstGeom prst="roundRect">
            <a:avLst>
              <a:gd name="adj" fmla="val 14118"/>
            </a:avLst>
          </a:prstGeom>
          <a:solidFill>
            <a:schemeClr val="accent2"/>
          </a:solidFill>
          <a:ln w="12700">
            <a:solidFill>
              <a:schemeClr val="accent2"/>
            </a:solidFill>
            <a:prstDash val="solid"/>
          </a:ln>
        </p:spPr>
      </p:sp>
      <p:pic>
        <p:nvPicPr>
          <p:cNvPr id="10" name="Cold currents icon" descr="preencoded.png">    </p:cNvPr>
          <p:cNvPicPr>
            <a:picLocks noChangeAspect="1"/>
          </p:cNvPicPr>
          <p:nvPr/>
        </p:nvPicPr>
        <p:blipFill>
          <a:blip r:embed="rId2"/>
          <a:stretch>
            <a:fillRect/>
          </a:stretch>
        </p:blipFill>
        <p:spPr>
          <a:xfrm>
            <a:off x="6583680" y="2148840"/>
            <a:ext cx="502920" cy="502920"/>
          </a:xfrm>
          <a:prstGeom prst="rect">
            <a:avLst/>
          </a:prstGeom>
        </p:spPr>
      </p:pic>
      <p:sp>
        <p:nvSpPr>
          <p:cNvPr id="11" name="Text 7"/>
          <p:cNvSpPr txBox="1"/>
          <p:nvPr/>
        </p:nvSpPr>
        <p:spPr>
          <a:xfrm>
            <a:off x="7269480" y="201168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Cold currents</a:t>
            </a:r>
            <a:endParaRPr lang="en-US" sz="2200" dirty="0"/>
          </a:p>
        </p:txBody>
      </p:sp>
      <p:sp>
        <p:nvSpPr>
          <p:cNvPr id="12" name="Cold currents body"/>
          <p:cNvSpPr/>
          <p:nvPr/>
        </p:nvSpPr>
        <p:spPr>
          <a:xfrm>
            <a:off x="6355080" y="2880360"/>
            <a:ext cx="5257800" cy="2743200"/>
          </a:xfrm>
          <a:prstGeom prst="roundRect">
            <a:avLst>
              <a:gd name="adj" fmla="val 4000"/>
            </a:avLst>
          </a:prstGeom>
          <a:solidFill>
            <a:schemeClr val="bg2"/>
          </a:solidFill>
          <a:ln w="12700">
            <a:solidFill>
              <a:schemeClr val="bg2"/>
            </a:solidFill>
            <a:prstDash val="solid"/>
          </a:ln>
        </p:spPr>
      </p:sp>
      <p:sp>
        <p:nvSpPr>
          <p:cNvPr id="13" name="Text 9"/>
          <p:cNvSpPr txBox="1"/>
          <p:nvPr/>
        </p:nvSpPr>
        <p:spPr>
          <a:xfrm>
            <a:off x="6629400" y="3063240"/>
            <a:ext cx="4709160" cy="2377440"/>
          </a:xfrm>
          <a:prstGeom prst="rect">
            <a:avLst/>
          </a:prstGeom>
          <a:noFill/>
          <a:ln/>
        </p:spPr>
        <p:txBody>
          <a:bodyPr wrap="square" lIns="0" tIns="0" rIns="0" bIns="0" rtlCol="0" anchor="t"/>
          <a:lstStyle/>
          <a:p>
            <a:pPr marL="228600" indent="-228600">
              <a:spcAft>
                <a:spcPts val="800"/>
              </a:spcAft>
              <a:buSzPct val="100000"/>
              <a:buChar char="•"/>
            </a:pPr>
            <a:r>
              <a:rPr lang="en-US" sz="1900" dirty="0">
                <a:solidFill>
                  <a:schemeClr val="tx1"/>
                </a:solidFill>
              </a:rPr>
              <a:t>Flow from </a:t>
            </a:r>
            <a:r>
              <a:rPr lang="en-US" sz="1900" b="1" dirty="0">
                <a:solidFill>
                  <a:schemeClr val="tx1"/>
                </a:solidFill>
              </a:rPr>
              <a:t>colder</a:t>
            </a:r>
            <a:r>
              <a:rPr lang="en-US" sz="1900" dirty="0">
                <a:solidFill>
                  <a:schemeClr val="tx1"/>
                </a:solidFill>
              </a:rPr>
              <a:t> regions</a:t>
            </a:r>
            <a:endParaRPr lang="en-US" sz="1600" dirty="0"/>
          </a:p>
          <a:p>
            <a:pPr marL="228600" indent="-228600">
              <a:spcAft>
                <a:spcPts val="800"/>
              </a:spcAft>
              <a:buSzPct val="100000"/>
              <a:buChar char="•"/>
            </a:pPr>
            <a:r>
              <a:rPr lang="en-US" sz="1900" dirty="0">
                <a:solidFill>
                  <a:schemeClr val="tx1"/>
                </a:solidFill>
              </a:rPr>
              <a:t>Shown in </a:t>
            </a:r>
            <a:r>
              <a:rPr lang="en-US" sz="1900" b="1" dirty="0">
                <a:solidFill>
                  <a:schemeClr val="tx1"/>
                </a:solidFill>
              </a:rPr>
              <a:t>blue</a:t>
            </a:r>
            <a:r>
              <a:rPr lang="en-US" sz="1900" dirty="0">
                <a:solidFill>
                  <a:schemeClr val="tx1"/>
                </a:solidFill>
              </a:rPr>
              <a:t> on maps</a:t>
            </a:r>
            <a:endParaRPr lang="en-US" sz="1600" dirty="0"/>
          </a:p>
          <a:p>
            <a:pPr marL="228600" indent="-228600">
              <a:spcAft>
                <a:spcPts val="800"/>
              </a:spcAft>
              <a:buSzPct val="100000"/>
              <a:buChar char="•"/>
            </a:pPr>
            <a:r>
              <a:rPr lang="en-US" sz="1900" b="1" dirty="0">
                <a:solidFill>
                  <a:schemeClr val="tx1"/>
                </a:solidFill>
              </a:rPr>
              <a:t>Labrador Current:</a:t>
            </a:r>
            <a:r>
              <a:rPr lang="en-US" sz="1900" dirty="0">
                <a:solidFill>
                  <a:schemeClr val="tx1"/>
                </a:solidFill>
              </a:rPr>
              <a:t> along the east coast of Canada</a:t>
            </a:r>
            <a:endParaRPr lang="en-US" sz="1600" dirty="0"/>
          </a:p>
          <a:p>
            <a:pPr marL="228600" indent="-228600">
              <a:spcAft>
                <a:spcPts val="800"/>
              </a:spcAft>
              <a:buSzPct val="100000"/>
              <a:buChar char="•"/>
            </a:pPr>
            <a:r>
              <a:rPr lang="en-US" sz="1900" dirty="0">
                <a:solidFill>
                  <a:schemeClr val="tx1"/>
                </a:solidFill>
              </a:rPr>
              <a:t>Brings sea ice and icebergs even to lower latitudes</a:t>
            </a:r>
            <a:endParaRPr lang="en-US" sz="1600" dirty="0"/>
          </a:p>
        </p:txBody>
      </p:sp>
      <p:sp>
        <p:nvSpPr>
          <p:cNvPr id="14" name="vs badge"/>
          <p:cNvSpPr/>
          <p:nvPr/>
        </p:nvSpPr>
        <p:spPr>
          <a:xfrm>
            <a:off x="5733288" y="2057400"/>
            <a:ext cx="713232" cy="713232"/>
          </a:xfrm>
          <a:prstGeom prst="ellipse">
            <a:avLst/>
          </a:prstGeom>
          <a:solidFill>
            <a:schemeClr val="accent3"/>
          </a:solidFill>
          <a:ln w="25400">
            <a:solidFill>
              <a:schemeClr val="bg1"/>
            </a:solidFill>
            <a:prstDash val="solid"/>
          </a:ln>
        </p:spPr>
      </p:sp>
      <p:sp>
        <p:nvSpPr>
          <p:cNvPr id="15" name="Text 11"/>
          <p:cNvSpPr txBox="1"/>
          <p:nvPr/>
        </p:nvSpPr>
        <p:spPr>
          <a:xfrm>
            <a:off x="5733288" y="2057400"/>
            <a:ext cx="713232" cy="713232"/>
          </a:xfrm>
          <a:prstGeom prst="rect">
            <a:avLst/>
          </a:prstGeom>
          <a:noFill/>
          <a:ln/>
        </p:spPr>
        <p:txBody>
          <a:bodyPr wrap="square" lIns="0" tIns="0" rIns="0" bIns="0" rtlCol="0" anchor="ctr"/>
          <a:lstStyle/>
          <a:p>
            <a:pPr algn="ctr" indent="0" marL="0">
              <a:buNone/>
            </a:pPr>
            <a:r>
              <a:rPr lang="en-US" sz="1600" b="1" dirty="0">
                <a:solidFill>
                  <a:schemeClr val="tx2"/>
                </a:solidFill>
              </a:rPr>
              <a:t>VS</a:t>
            </a:r>
            <a:endParaRPr lang="en-US" sz="1600" dirty="0"/>
          </a:p>
        </p:txBody>
      </p:sp>
      <p:sp>
        <p:nvSpPr>
          <p:cNvPr id="16"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17" name="Text 13"/>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dirty="0">
                <a:solidFill>
                  <a:schemeClr val="bg1"/>
                </a:solidFill>
              </a:rPr>
              <a:t>Where warm and cold currents meet, waters are rich in nutrients: these become </a:t>
            </a:r>
            <a:r>
              <a:rPr lang="en-US" sz="1500" b="1" dirty="0">
                <a:solidFill>
                  <a:schemeClr val="bg1"/>
                </a:solidFill>
              </a:rPr>
              <a:t>great fishing grounds</a:t>
            </a:r>
            <a:r>
              <a:rPr lang="en-US" sz="1500" dirty="0">
                <a:solidFill>
                  <a:schemeClr val="bg1"/>
                </a:solidFill>
              </a:rPr>
              <a: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Activity: Ocean in a Glass</a:t>
            </a:r>
            <a:endParaRPr lang="en-US" sz="3600" dirty="0"/>
          </a:p>
        </p:txBody>
      </p:sp>
      <p:sp>
        <p:nvSpPr>
          <p:cNvPr id="3" name="activity info card"/>
          <p:cNvSpPr/>
          <p:nvPr/>
        </p:nvSpPr>
        <p:spPr>
          <a:xfrm>
            <a:off x="548640" y="1371600"/>
            <a:ext cx="3657600" cy="4846320"/>
          </a:xfrm>
          <a:prstGeom prst="roundRect">
            <a:avLst>
              <a:gd name="adj" fmla="val 300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4" name="activity disc"/>
          <p:cNvSpPr/>
          <p:nvPr/>
        </p:nvSpPr>
        <p:spPr>
          <a:xfrm>
            <a:off x="868680" y="1691640"/>
            <a:ext cx="914400" cy="914400"/>
          </a:xfrm>
          <a:prstGeom prst="ellipse">
            <a:avLst/>
          </a:prstGeom>
          <a:solidFill>
            <a:schemeClr val="accent3"/>
          </a:solidFill>
          <a:ln w="12700">
            <a:solidFill>
              <a:schemeClr val="accent3"/>
            </a:solidFill>
            <a:prstDash val="solid"/>
          </a:ln>
        </p:spPr>
      </p:sp>
      <p:pic>
        <p:nvPicPr>
          <p:cNvPr id="5" name="activity glyph" descr="preencoded.png">    </p:cNvPr>
          <p:cNvPicPr>
            <a:picLocks noChangeAspect="1"/>
          </p:cNvPicPr>
          <p:nvPr/>
        </p:nvPicPr>
        <p:blipFill>
          <a:blip r:embed="rId1"/>
          <a:stretch>
            <a:fillRect/>
          </a:stretch>
        </p:blipFill>
        <p:spPr>
          <a:xfrm>
            <a:off x="1069848" y="1892808"/>
            <a:ext cx="512064" cy="512064"/>
          </a:xfrm>
          <a:prstGeom prst="rect">
            <a:avLst/>
          </a:prstGeom>
        </p:spPr>
      </p:pic>
      <p:sp>
        <p:nvSpPr>
          <p:cNvPr id="6" name="Text 3"/>
          <p:cNvSpPr txBox="1"/>
          <p:nvPr/>
        </p:nvSpPr>
        <p:spPr>
          <a:xfrm>
            <a:off x="1965960" y="1737360"/>
            <a:ext cx="210312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HANDS-ON DEMO</a:t>
            </a:r>
            <a:endParaRPr lang="en-US" sz="1300" dirty="0"/>
          </a:p>
        </p:txBody>
      </p:sp>
      <p:sp>
        <p:nvSpPr>
          <p:cNvPr id="7" name="Text 4"/>
          <p:cNvSpPr txBox="1"/>
          <p:nvPr/>
        </p:nvSpPr>
        <p:spPr>
          <a:xfrm>
            <a:off x="1965960" y="2103120"/>
            <a:ext cx="2103120" cy="640080"/>
          </a:xfrm>
          <a:prstGeom prst="rect">
            <a:avLst/>
          </a:prstGeom>
          <a:noFill/>
          <a:ln/>
        </p:spPr>
        <p:txBody>
          <a:bodyPr wrap="square" lIns="0" tIns="0" rIns="0" bIns="0" rtlCol="0" anchor="t"/>
          <a:lstStyle/>
          <a:p>
            <a:pPr indent="0" marL="0">
              <a:buNone/>
            </a:pPr>
            <a:r>
              <a:rPr lang="en-US" sz="1800" b="1" dirty="0">
                <a:solidFill>
                  <a:schemeClr val="bg1"/>
                </a:solidFill>
              </a:rPr>
              <a:t>Make a current</a:t>
            </a:r>
            <a:endParaRPr lang="en-US" sz="1800" dirty="0"/>
          </a:p>
        </p:txBody>
      </p:sp>
      <p:pic>
        <p:nvPicPr>
          <p:cNvPr id="8" name="Time icon" descr="preencoded.png">    </p:cNvPr>
          <p:cNvPicPr>
            <a:picLocks noChangeAspect="1"/>
          </p:cNvPicPr>
          <p:nvPr/>
        </p:nvPicPr>
        <p:blipFill>
          <a:blip r:embed="rId2"/>
          <a:stretch>
            <a:fillRect/>
          </a:stretch>
        </p:blipFill>
        <p:spPr>
          <a:xfrm>
            <a:off x="868680" y="3063240"/>
            <a:ext cx="347472" cy="347472"/>
          </a:xfrm>
          <a:prstGeom prst="rect">
            <a:avLst/>
          </a:prstGeom>
        </p:spPr>
      </p:pic>
      <p:sp>
        <p:nvSpPr>
          <p:cNvPr id="9" name="Text 5"/>
          <p:cNvSpPr txBox="1"/>
          <p:nvPr/>
        </p:nvSpPr>
        <p:spPr>
          <a:xfrm>
            <a:off x="1371600" y="301752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Time: </a:t>
            </a:r>
            <a:r>
              <a:rPr lang="en-US" sz="1400" dirty="0">
                <a:solidFill>
                  <a:schemeClr val="bg1"/>
                </a:solidFill>
              </a:rPr>
              <a:t>15 minutes</a:t>
            </a:r>
            <a:endParaRPr lang="en-US" sz="1400" dirty="0"/>
          </a:p>
        </p:txBody>
      </p:sp>
      <p:pic>
        <p:nvPicPr>
          <p:cNvPr id="10" name="Group icon" descr="preencoded.png">    </p:cNvPr>
          <p:cNvPicPr>
            <a:picLocks noChangeAspect="1"/>
          </p:cNvPicPr>
          <p:nvPr/>
        </p:nvPicPr>
        <p:blipFill>
          <a:blip r:embed="rId3"/>
          <a:stretch>
            <a:fillRect/>
          </a:stretch>
        </p:blipFill>
        <p:spPr>
          <a:xfrm>
            <a:off x="868680" y="3703320"/>
            <a:ext cx="347472" cy="347472"/>
          </a:xfrm>
          <a:prstGeom prst="rect">
            <a:avLst/>
          </a:prstGeom>
        </p:spPr>
      </p:pic>
      <p:sp>
        <p:nvSpPr>
          <p:cNvPr id="11" name="Text 6"/>
          <p:cNvSpPr txBox="1"/>
          <p:nvPr/>
        </p:nvSpPr>
        <p:spPr>
          <a:xfrm>
            <a:off x="1371600" y="365760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Group: </a:t>
            </a:r>
            <a:r>
              <a:rPr lang="en-US" sz="1400" dirty="0">
                <a:solidFill>
                  <a:schemeClr val="bg1"/>
                </a:solidFill>
              </a:rPr>
              <a:t>Groups of 4</a:t>
            </a:r>
            <a:endParaRPr lang="en-US" sz="1400" dirty="0"/>
          </a:p>
        </p:txBody>
      </p:sp>
      <p:pic>
        <p:nvPicPr>
          <p:cNvPr id="12" name="You need icon" descr="preencoded.png">    </p:cNvPr>
          <p:cNvPicPr>
            <a:picLocks noChangeAspect="1"/>
          </p:cNvPicPr>
          <p:nvPr/>
        </p:nvPicPr>
        <p:blipFill>
          <a:blip r:embed="rId4"/>
          <a:stretch>
            <a:fillRect/>
          </a:stretch>
        </p:blipFill>
        <p:spPr>
          <a:xfrm>
            <a:off x="868680" y="4343400"/>
            <a:ext cx="347472" cy="347472"/>
          </a:xfrm>
          <a:prstGeom prst="rect">
            <a:avLst/>
          </a:prstGeom>
        </p:spPr>
      </p:pic>
      <p:sp>
        <p:nvSpPr>
          <p:cNvPr id="13" name="Text 7"/>
          <p:cNvSpPr txBox="1"/>
          <p:nvPr/>
        </p:nvSpPr>
        <p:spPr>
          <a:xfrm>
            <a:off x="1371600" y="429768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You need: </a:t>
            </a:r>
            <a:r>
              <a:rPr lang="en-US" sz="1400" dirty="0">
                <a:solidFill>
                  <a:schemeClr val="bg1"/>
                </a:solidFill>
              </a:rPr>
              <a:t>Clear glass bowl, warm water, ice cubes made with blue food colour, red-coloured warm water in a small cup</a:t>
            </a:r>
            <a:endParaRPr lang="en-US" sz="1400" dirty="0"/>
          </a:p>
        </p:txBody>
      </p:sp>
      <p:sp>
        <p:nvSpPr>
          <p:cNvPr id="14" name="activity steps card"/>
          <p:cNvSpPr/>
          <p:nvPr/>
        </p:nvSpPr>
        <p:spPr>
          <a:xfrm>
            <a:off x="4526280" y="1371600"/>
            <a:ext cx="7086600" cy="4846320"/>
          </a:xfrm>
          <a:prstGeom prst="roundRect">
            <a:avLst>
              <a:gd name="adj" fmla="val 22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9"/>
          <p:cNvSpPr txBox="1"/>
          <p:nvPr/>
        </p:nvSpPr>
        <p:spPr>
          <a:xfrm>
            <a:off x="4846320" y="1600200"/>
            <a:ext cx="6400800" cy="457200"/>
          </a:xfrm>
          <a:prstGeom prst="rect">
            <a:avLst/>
          </a:prstGeom>
          <a:noFill/>
          <a:ln/>
        </p:spPr>
        <p:txBody>
          <a:bodyPr wrap="square" lIns="0" tIns="0" rIns="0" bIns="0" rtlCol="0" anchor="ctr"/>
          <a:lstStyle/>
          <a:p>
            <a:pPr indent="0" marL="0">
              <a:buNone/>
            </a:pPr>
            <a:r>
              <a:rPr lang="en-US" sz="2000" b="1" dirty="0">
                <a:solidFill>
                  <a:schemeClr val="accent1"/>
                </a:solidFill>
              </a:rPr>
              <a:t>How to play</a:t>
            </a:r>
            <a:endParaRPr lang="en-US" sz="2000" dirty="0"/>
          </a:p>
        </p:txBody>
      </p:sp>
      <p:sp>
        <p:nvSpPr>
          <p:cNvPr id="16" name="step 1 badge"/>
          <p:cNvSpPr/>
          <p:nvPr/>
        </p:nvSpPr>
        <p:spPr>
          <a:xfrm>
            <a:off x="4846320" y="2212848"/>
            <a:ext cx="384048" cy="384048"/>
          </a:xfrm>
          <a:prstGeom prst="ellipse">
            <a:avLst/>
          </a:prstGeom>
          <a:solidFill>
            <a:schemeClr val="accent1"/>
          </a:solidFill>
          <a:ln w="12700">
            <a:solidFill>
              <a:schemeClr val="accent1"/>
            </a:solidFill>
            <a:prstDash val="solid"/>
          </a:ln>
        </p:spPr>
      </p:sp>
      <p:sp>
        <p:nvSpPr>
          <p:cNvPr id="17" name="Text 11"/>
          <p:cNvSpPr txBox="1"/>
          <p:nvPr/>
        </p:nvSpPr>
        <p:spPr>
          <a:xfrm>
            <a:off x="484632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 12"/>
          <p:cNvSpPr txBox="1"/>
          <p:nvPr/>
        </p:nvSpPr>
        <p:spPr>
          <a:xfrm>
            <a:off x="5394960" y="2194560"/>
            <a:ext cx="5943600" cy="493776"/>
          </a:xfrm>
          <a:prstGeom prst="rect">
            <a:avLst/>
          </a:prstGeom>
          <a:noFill/>
          <a:ln/>
        </p:spPr>
        <p:txBody>
          <a:bodyPr wrap="square" lIns="0" tIns="0" rIns="0" bIns="0" rtlCol="0" anchor="t"/>
          <a:lstStyle/>
          <a:p>
            <a:pPr indent="0" marL="0">
              <a:buNone/>
            </a:pPr>
            <a:r>
              <a:rPr lang="en-US" sz="1500" dirty="0">
                <a:solidFill>
                  <a:schemeClr val="tx1"/>
                </a:solidFill>
              </a:rPr>
              <a:t>Fill the bowl with room-temperature water and let it settle.</a:t>
            </a:r>
            <a:endParaRPr lang="en-US" sz="1600" dirty="0"/>
          </a:p>
        </p:txBody>
      </p:sp>
      <p:sp>
        <p:nvSpPr>
          <p:cNvPr id="19" name="step 2 badge"/>
          <p:cNvSpPr/>
          <p:nvPr/>
        </p:nvSpPr>
        <p:spPr>
          <a:xfrm>
            <a:off x="4846320" y="2752344"/>
            <a:ext cx="384048" cy="384048"/>
          </a:xfrm>
          <a:prstGeom prst="ellipse">
            <a:avLst/>
          </a:prstGeom>
          <a:solidFill>
            <a:schemeClr val="accent1"/>
          </a:solidFill>
          <a:ln w="12700">
            <a:solidFill>
              <a:schemeClr val="accent1"/>
            </a:solidFill>
            <a:prstDash val="solid"/>
          </a:ln>
        </p:spPr>
      </p:sp>
      <p:sp>
        <p:nvSpPr>
          <p:cNvPr id="20" name="Text 14"/>
          <p:cNvSpPr txBox="1"/>
          <p:nvPr/>
        </p:nvSpPr>
        <p:spPr>
          <a:xfrm>
            <a:off x="4846320" y="27523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5"/>
          <p:cNvSpPr txBox="1"/>
          <p:nvPr/>
        </p:nvSpPr>
        <p:spPr>
          <a:xfrm>
            <a:off x="5394960" y="2734056"/>
            <a:ext cx="5943600" cy="493776"/>
          </a:xfrm>
          <a:prstGeom prst="rect">
            <a:avLst/>
          </a:prstGeom>
          <a:noFill/>
          <a:ln/>
        </p:spPr>
        <p:txBody>
          <a:bodyPr wrap="square" lIns="0" tIns="0" rIns="0" bIns="0" rtlCol="0" anchor="t"/>
          <a:lstStyle/>
          <a:p>
            <a:pPr indent="0" marL="0">
              <a:buNone/>
            </a:pPr>
            <a:r>
              <a:rPr lang="en-US" sz="1500" dirty="0">
                <a:solidFill>
                  <a:schemeClr val="tx1"/>
                </a:solidFill>
              </a:rPr>
              <a:t>Gently place a </a:t>
            </a:r>
            <a:r>
              <a:rPr lang="en-US" sz="1500" b="1" dirty="0">
                <a:solidFill>
                  <a:schemeClr val="tx1"/>
                </a:solidFill>
              </a:rPr>
              <a:t>blue ice cube</a:t>
            </a:r>
            <a:r>
              <a:rPr lang="en-US" sz="1500" dirty="0">
                <a:solidFill>
                  <a:schemeClr val="tx1"/>
                </a:solidFill>
              </a:rPr>
              <a:t> at one end.</a:t>
            </a:r>
            <a:endParaRPr lang="en-US" sz="1600" dirty="0"/>
          </a:p>
        </p:txBody>
      </p:sp>
      <p:sp>
        <p:nvSpPr>
          <p:cNvPr id="22" name="step 3 badge"/>
          <p:cNvSpPr/>
          <p:nvPr/>
        </p:nvSpPr>
        <p:spPr>
          <a:xfrm>
            <a:off x="4846320" y="3291840"/>
            <a:ext cx="384048" cy="384048"/>
          </a:xfrm>
          <a:prstGeom prst="ellipse">
            <a:avLst/>
          </a:prstGeom>
          <a:solidFill>
            <a:schemeClr val="accent1"/>
          </a:solidFill>
          <a:ln w="12700">
            <a:solidFill>
              <a:schemeClr val="accent1"/>
            </a:solidFill>
            <a:prstDash val="solid"/>
          </a:ln>
        </p:spPr>
      </p:sp>
      <p:sp>
        <p:nvSpPr>
          <p:cNvPr id="23" name="Text 17"/>
          <p:cNvSpPr txBox="1"/>
          <p:nvPr/>
        </p:nvSpPr>
        <p:spPr>
          <a:xfrm>
            <a:off x="48463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18"/>
          <p:cNvSpPr txBox="1"/>
          <p:nvPr/>
        </p:nvSpPr>
        <p:spPr>
          <a:xfrm>
            <a:off x="5394960" y="3273552"/>
            <a:ext cx="5943600" cy="493776"/>
          </a:xfrm>
          <a:prstGeom prst="rect">
            <a:avLst/>
          </a:prstGeom>
          <a:noFill/>
          <a:ln/>
        </p:spPr>
        <p:txBody>
          <a:bodyPr wrap="square" lIns="0" tIns="0" rIns="0" bIns="0" rtlCol="0" anchor="t"/>
          <a:lstStyle/>
          <a:p>
            <a:pPr indent="0" marL="0">
              <a:buNone/>
            </a:pPr>
            <a:r>
              <a:rPr lang="en-US" sz="1500" dirty="0">
                <a:solidFill>
                  <a:schemeClr val="tx1"/>
                </a:solidFill>
              </a:rPr>
              <a:t>Slowly pour a little </a:t>
            </a:r>
            <a:r>
              <a:rPr lang="en-US" sz="1500" b="1" dirty="0">
                <a:solidFill>
                  <a:schemeClr val="tx1"/>
                </a:solidFill>
              </a:rPr>
              <a:t>red warm water</a:t>
            </a:r>
            <a:r>
              <a:rPr lang="en-US" sz="1500" dirty="0">
                <a:solidFill>
                  <a:schemeClr val="tx1"/>
                </a:solidFill>
              </a:rPr>
              <a:t> at the other end.</a:t>
            </a:r>
            <a:endParaRPr lang="en-US" sz="1600" dirty="0"/>
          </a:p>
        </p:txBody>
      </p:sp>
      <p:sp>
        <p:nvSpPr>
          <p:cNvPr id="25" name="step 4 badge"/>
          <p:cNvSpPr/>
          <p:nvPr/>
        </p:nvSpPr>
        <p:spPr>
          <a:xfrm>
            <a:off x="4846320" y="3831336"/>
            <a:ext cx="384048" cy="384048"/>
          </a:xfrm>
          <a:prstGeom prst="ellipse">
            <a:avLst/>
          </a:prstGeom>
          <a:solidFill>
            <a:schemeClr val="accent1"/>
          </a:solidFill>
          <a:ln w="12700">
            <a:solidFill>
              <a:schemeClr val="accent1"/>
            </a:solidFill>
            <a:prstDash val="solid"/>
          </a:ln>
        </p:spPr>
      </p:sp>
      <p:sp>
        <p:nvSpPr>
          <p:cNvPr id="26" name="Text 20"/>
          <p:cNvSpPr txBox="1"/>
          <p:nvPr/>
        </p:nvSpPr>
        <p:spPr>
          <a:xfrm>
            <a:off x="4846320" y="3831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5394960" y="3813048"/>
            <a:ext cx="5943600" cy="493776"/>
          </a:xfrm>
          <a:prstGeom prst="rect">
            <a:avLst/>
          </a:prstGeom>
          <a:noFill/>
          <a:ln/>
        </p:spPr>
        <p:txBody>
          <a:bodyPr wrap="square" lIns="0" tIns="0" rIns="0" bIns="0" rtlCol="0" anchor="t"/>
          <a:lstStyle/>
          <a:p>
            <a:pPr indent="0" marL="0">
              <a:buNone/>
            </a:pPr>
            <a:r>
              <a:rPr lang="en-US" sz="1500" dirty="0">
                <a:solidFill>
                  <a:schemeClr val="tx1"/>
                </a:solidFill>
              </a:rPr>
              <a:t>Watch from the side for 3 minutes. Draw what you see.</a:t>
            </a:r>
            <a:endParaRPr lang="en-US" sz="1600" dirty="0"/>
          </a:p>
        </p:txBody>
      </p:sp>
      <p:sp>
        <p:nvSpPr>
          <p:cNvPr id="28" name="step 5 badge"/>
          <p:cNvSpPr/>
          <p:nvPr/>
        </p:nvSpPr>
        <p:spPr>
          <a:xfrm>
            <a:off x="4846320" y="4370832"/>
            <a:ext cx="384048" cy="384048"/>
          </a:xfrm>
          <a:prstGeom prst="ellipse">
            <a:avLst/>
          </a:prstGeom>
          <a:solidFill>
            <a:schemeClr val="accent1"/>
          </a:solidFill>
          <a:ln w="12700">
            <a:solidFill>
              <a:schemeClr val="accent1"/>
            </a:solidFill>
            <a:prstDash val="solid"/>
          </a:ln>
        </p:spPr>
      </p:sp>
      <p:sp>
        <p:nvSpPr>
          <p:cNvPr id="29" name="Text 23"/>
          <p:cNvSpPr txBox="1"/>
          <p:nvPr/>
        </p:nvSpPr>
        <p:spPr>
          <a:xfrm>
            <a:off x="4846320" y="4370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4"/>
          <p:cNvSpPr txBox="1"/>
          <p:nvPr/>
        </p:nvSpPr>
        <p:spPr>
          <a:xfrm>
            <a:off x="5394960" y="4352544"/>
            <a:ext cx="5943600" cy="493776"/>
          </a:xfrm>
          <a:prstGeom prst="rect">
            <a:avLst/>
          </a:prstGeom>
          <a:noFill/>
          <a:ln/>
        </p:spPr>
        <p:txBody>
          <a:bodyPr wrap="square" lIns="0" tIns="0" rIns="0" bIns="0" rtlCol="0" anchor="t"/>
          <a:lstStyle/>
          <a:p>
            <a:pPr indent="0" marL="0">
              <a:buNone/>
            </a:pPr>
            <a:r>
              <a:rPr lang="en-US" sz="1500" dirty="0">
                <a:solidFill>
                  <a:schemeClr val="tx1"/>
                </a:solidFill>
              </a:rPr>
              <a:t>Discuss: Which colour sinks? Which rises? Why?</a:t>
            </a:r>
            <a:endParaRPr lang="en-US" sz="1600" dirty="0"/>
          </a:p>
        </p:txBody>
      </p:sp>
      <p:sp>
        <p:nvSpPr>
          <p:cNvPr id="31" name="outcome band"/>
          <p:cNvSpPr/>
          <p:nvPr/>
        </p:nvSpPr>
        <p:spPr>
          <a:xfrm>
            <a:off x="4846320" y="5074920"/>
            <a:ext cx="6446520" cy="914400"/>
          </a:xfrm>
          <a:prstGeom prst="roundRect">
            <a:avLst>
              <a:gd name="adj" fmla="val 8000"/>
            </a:avLst>
          </a:prstGeom>
          <a:solidFill>
            <a:schemeClr val="bg2"/>
          </a:solidFill>
          <a:ln w="12700">
            <a:solidFill>
              <a:schemeClr val="bg2"/>
            </a:solidFill>
            <a:prstDash val="solid"/>
          </a:ln>
        </p:spPr>
      </p:sp>
      <p:sp>
        <p:nvSpPr>
          <p:cNvPr id="32" name="Text 26"/>
          <p:cNvSpPr txBox="1"/>
          <p:nvPr/>
        </p:nvSpPr>
        <p:spPr>
          <a:xfrm>
            <a:off x="5029200" y="5074920"/>
            <a:ext cx="6126480" cy="914400"/>
          </a:xfrm>
          <a:prstGeom prst="rect">
            <a:avLst/>
          </a:prstGeom>
          <a:noFill/>
          <a:ln/>
        </p:spPr>
        <p:txBody>
          <a:bodyPr wrap="square" lIns="0" tIns="0" rIns="0" bIns="0" rtlCol="0" anchor="ctr"/>
          <a:lstStyle/>
          <a:p>
            <a:pPr indent="0" marL="0">
              <a:buNone/>
            </a:pPr>
            <a:r>
              <a:rPr lang="en-US" sz="1400" b="1" dirty="0">
                <a:solidFill>
                  <a:schemeClr val="tx2"/>
                </a:solidFill>
              </a:rPr>
              <a:t>Learning link:</a:t>
            </a:r>
            <a:r>
              <a:rPr lang="en-US" sz="1400" dirty="0">
                <a:solidFill>
                  <a:schemeClr val="tx2"/>
                </a:solidFill>
              </a:rPr>
              <a:t> Cold water is denser and sinks; warm water rises. Temperature differences drive ocean currents.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3</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Cyclones, Tsunamis and Early Warning</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Early Warning Systems work like giant alarm systems for coastal areas.</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How a Tsunami Warning Works</a:t>
            </a:r>
            <a:endParaRPr lang="en-US" sz="3600" dirty="0"/>
          </a:p>
        </p:txBody>
      </p:sp>
      <p:sp>
        <p:nvSpPr>
          <p:cNvPr id="3" name="Text 1"/>
          <p:cNvSpPr txBox="1"/>
          <p:nvPr/>
        </p:nvSpPr>
        <p:spPr>
          <a:xfrm>
            <a:off x="548640" y="1280160"/>
            <a:ext cx="11064240" cy="594360"/>
          </a:xfrm>
          <a:prstGeom prst="rect">
            <a:avLst/>
          </a:prstGeom>
          <a:noFill/>
          <a:ln/>
        </p:spPr>
        <p:txBody>
          <a:bodyPr wrap="square" lIns="0" tIns="0" rIns="0" bIns="0" rtlCol="0" anchor="ctr"/>
          <a:lstStyle/>
          <a:p>
            <a:pPr indent="0" marL="0">
              <a:buNone/>
            </a:pPr>
            <a:r>
              <a:rPr lang="en-US" sz="1700" b="1" dirty="0">
                <a:solidFill>
                  <a:schemeClr val="tx1"/>
                </a:solidFill>
              </a:rPr>
              <a:t>26 December 2004:</a:t>
            </a:r>
            <a:r>
              <a:rPr lang="en-US" sz="1700" dirty="0">
                <a:solidFill>
                  <a:schemeClr val="tx1"/>
                </a:solidFill>
              </a:rPr>
              <a:t> the Indian Ocean Tsunami took about </a:t>
            </a:r>
            <a:r>
              <a:rPr lang="en-US" sz="1700" b="1" dirty="0">
                <a:solidFill>
                  <a:schemeClr val="tx1"/>
                </a:solidFill>
              </a:rPr>
              <a:t>2,30,000 lives</a:t>
            </a:r>
            <a:r>
              <a:rPr lang="en-US" sz="1700" dirty="0">
                <a:solidFill>
                  <a:schemeClr val="tx1"/>
                </a:solidFill>
              </a:rPr>
              <a:t>. India then set up the </a:t>
            </a:r>
            <a:r>
              <a:rPr lang="en-US" sz="1700" b="1" dirty="0">
                <a:solidFill>
                  <a:schemeClr val="tx1"/>
                </a:solidFill>
              </a:rPr>
              <a:t>ITEWC</a:t>
            </a:r>
            <a:r>
              <a:rPr lang="en-US" sz="1700" dirty="0">
                <a:solidFill>
                  <a:schemeClr val="tx1"/>
                </a:solidFill>
              </a:rPr>
              <a:t> network.</a:t>
            </a:r>
            <a:endParaRPr lang="en-US" sz="1600" dirty="0"/>
          </a:p>
        </p:txBody>
      </p:sp>
      <p:sp>
        <p:nvSpPr>
          <p:cNvPr id="4" name="step 1 card"/>
          <p:cNvSpPr/>
          <p:nvPr/>
        </p:nvSpPr>
        <p:spPr>
          <a:xfrm>
            <a:off x="548640" y="2057400"/>
            <a:ext cx="2457450" cy="3520440"/>
          </a:xfrm>
          <a:prstGeom prst="roundRect">
            <a:avLst>
              <a:gd name="adj" fmla="val 4465"/>
            </a:avLst>
          </a:prstGeom>
          <a:solidFill>
            <a:schemeClr val="bg2"/>
          </a:solidFill>
          <a:ln w="12700">
            <a:solidFill>
              <a:schemeClr val="bg2"/>
            </a:solidFill>
            <a:prstDash val="solid"/>
          </a:ln>
        </p:spPr>
      </p:sp>
      <p:sp>
        <p:nvSpPr>
          <p:cNvPr id="5" name="step 1 disc"/>
          <p:cNvSpPr/>
          <p:nvPr/>
        </p:nvSpPr>
        <p:spPr>
          <a:xfrm>
            <a:off x="1343025" y="2331720"/>
            <a:ext cx="868680" cy="868680"/>
          </a:xfrm>
          <a:prstGeom prst="ellipse">
            <a:avLst/>
          </a:prstGeom>
          <a:solidFill>
            <a:schemeClr val="accent1"/>
          </a:solidFill>
          <a:ln w="12700">
            <a:solidFill>
              <a:schemeClr val="accent1"/>
            </a:solidFill>
            <a:prstDash val="solid"/>
          </a:ln>
        </p:spPr>
      </p:sp>
      <p:pic>
        <p:nvPicPr>
          <p:cNvPr id="6" name="step 1 glyph" descr="preencoded.png">    </p:cNvPr>
          <p:cNvPicPr>
            <a:picLocks noChangeAspect="1"/>
          </p:cNvPicPr>
          <p:nvPr/>
        </p:nvPicPr>
        <p:blipFill>
          <a:blip r:embed="rId1"/>
          <a:stretch>
            <a:fillRect/>
          </a:stretch>
        </p:blipFill>
        <p:spPr>
          <a:xfrm>
            <a:off x="1534135" y="2522830"/>
            <a:ext cx="486461" cy="486461"/>
          </a:xfrm>
          <a:prstGeom prst="rect">
            <a:avLst/>
          </a:prstGeom>
        </p:spPr>
      </p:pic>
      <p:sp>
        <p:nvSpPr>
          <p:cNvPr id="7" name="Text 4"/>
          <p:cNvSpPr txBox="1"/>
          <p:nvPr/>
        </p:nvSpPr>
        <p:spPr>
          <a:xfrm>
            <a:off x="685800" y="3291840"/>
            <a:ext cx="2183130" cy="685800"/>
          </a:xfrm>
          <a:prstGeom prst="rect">
            <a:avLst/>
          </a:prstGeom>
          <a:noFill/>
          <a:ln/>
        </p:spPr>
        <p:txBody>
          <a:bodyPr wrap="square" lIns="0" tIns="0" rIns="0" bIns="0" rtlCol="0" anchor="ctr"/>
          <a:lstStyle/>
          <a:p>
            <a:pPr algn="ctr" indent="0" marL="0">
              <a:buNone/>
            </a:pPr>
            <a:r>
              <a:rPr lang="en-US" sz="1700" b="1" dirty="0">
                <a:solidFill>
                  <a:schemeClr val="tx2"/>
                </a:solidFill>
              </a:rPr>
              <a:t>1. Detection</a:t>
            </a:r>
            <a:endParaRPr lang="en-US" sz="1700" dirty="0"/>
          </a:p>
        </p:txBody>
      </p:sp>
      <p:sp>
        <p:nvSpPr>
          <p:cNvPr id="8" name="Text 5"/>
          <p:cNvSpPr txBox="1"/>
          <p:nvPr/>
        </p:nvSpPr>
        <p:spPr>
          <a:xfrm>
            <a:off x="731520" y="4023360"/>
            <a:ext cx="2091690" cy="1417320"/>
          </a:xfrm>
          <a:prstGeom prst="rect">
            <a:avLst/>
          </a:prstGeom>
          <a:noFill/>
          <a:ln/>
        </p:spPr>
        <p:txBody>
          <a:bodyPr wrap="square" lIns="0" tIns="0" rIns="0" bIns="0" rtlCol="0" anchor="t"/>
          <a:lstStyle/>
          <a:p>
            <a:pPr algn="l" indent="0" marL="0">
              <a:buNone/>
            </a:pPr>
            <a:r>
              <a:rPr lang="en-US" sz="1600" dirty="0">
                <a:solidFill>
                  <a:schemeClr val="tx1"/>
                </a:solidFill>
              </a:rPr>
              <a:t>A network of seismic stations detects undersea earthquakes in real time.</a:t>
            </a:r>
            <a:endParaRPr lang="en-US" sz="1600" dirty="0"/>
          </a:p>
        </p:txBody>
      </p:sp>
      <p:sp>
        <p:nvSpPr>
          <p:cNvPr id="9" name="arrow 1"/>
          <p:cNvSpPr/>
          <p:nvPr/>
        </p:nvSpPr>
        <p:spPr>
          <a:xfrm>
            <a:off x="3060954" y="2619756"/>
            <a:ext cx="301752" cy="292608"/>
          </a:xfrm>
          <a:prstGeom prst="rightArrow">
            <a:avLst/>
          </a:prstGeom>
          <a:solidFill>
            <a:schemeClr val="accent3"/>
          </a:solidFill>
          <a:ln w="12700">
            <a:solidFill>
              <a:schemeClr val="accent3"/>
            </a:solidFill>
            <a:prstDash val="solid"/>
          </a:ln>
        </p:spPr>
      </p:sp>
      <p:sp>
        <p:nvSpPr>
          <p:cNvPr id="10" name="step 2 card"/>
          <p:cNvSpPr/>
          <p:nvPr/>
        </p:nvSpPr>
        <p:spPr>
          <a:xfrm>
            <a:off x="3417570" y="2057400"/>
            <a:ext cx="2457450" cy="3520440"/>
          </a:xfrm>
          <a:prstGeom prst="roundRect">
            <a:avLst>
              <a:gd name="adj" fmla="val 4465"/>
            </a:avLst>
          </a:prstGeom>
          <a:solidFill>
            <a:schemeClr val="bg2"/>
          </a:solidFill>
          <a:ln w="12700">
            <a:solidFill>
              <a:schemeClr val="bg2"/>
            </a:solidFill>
            <a:prstDash val="solid"/>
          </a:ln>
        </p:spPr>
      </p:sp>
      <p:sp>
        <p:nvSpPr>
          <p:cNvPr id="11" name="step 2 disc"/>
          <p:cNvSpPr/>
          <p:nvPr/>
        </p:nvSpPr>
        <p:spPr>
          <a:xfrm>
            <a:off x="4211955" y="2331720"/>
            <a:ext cx="868680" cy="868680"/>
          </a:xfrm>
          <a:prstGeom prst="ellipse">
            <a:avLst/>
          </a:prstGeom>
          <a:solidFill>
            <a:schemeClr val="accent2"/>
          </a:solidFill>
          <a:ln w="12700">
            <a:solidFill>
              <a:schemeClr val="accent2"/>
            </a:solidFill>
            <a:prstDash val="solid"/>
          </a:ln>
        </p:spPr>
      </p:sp>
      <p:pic>
        <p:nvPicPr>
          <p:cNvPr id="12" name="step 2 glyph" descr="preencoded.png">    </p:cNvPr>
          <p:cNvPicPr>
            <a:picLocks noChangeAspect="1"/>
          </p:cNvPicPr>
          <p:nvPr/>
        </p:nvPicPr>
        <p:blipFill>
          <a:blip r:embed="rId2"/>
          <a:stretch>
            <a:fillRect/>
          </a:stretch>
        </p:blipFill>
        <p:spPr>
          <a:xfrm>
            <a:off x="4403065" y="2522830"/>
            <a:ext cx="486461" cy="486461"/>
          </a:xfrm>
          <a:prstGeom prst="rect">
            <a:avLst/>
          </a:prstGeom>
        </p:spPr>
      </p:pic>
      <p:sp>
        <p:nvSpPr>
          <p:cNvPr id="13" name="Text 9"/>
          <p:cNvSpPr txBox="1"/>
          <p:nvPr/>
        </p:nvSpPr>
        <p:spPr>
          <a:xfrm>
            <a:off x="3554730" y="3291840"/>
            <a:ext cx="2183130" cy="685800"/>
          </a:xfrm>
          <a:prstGeom prst="rect">
            <a:avLst/>
          </a:prstGeom>
          <a:noFill/>
          <a:ln/>
        </p:spPr>
        <p:txBody>
          <a:bodyPr wrap="square" lIns="0" tIns="0" rIns="0" bIns="0" rtlCol="0" anchor="ctr"/>
          <a:lstStyle/>
          <a:p>
            <a:pPr algn="ctr" indent="0" marL="0">
              <a:buNone/>
            </a:pPr>
            <a:r>
              <a:rPr lang="en-US" sz="1700" b="1" dirty="0">
                <a:solidFill>
                  <a:schemeClr val="tx2"/>
                </a:solidFill>
              </a:rPr>
              <a:t>2. Confirmation</a:t>
            </a:r>
            <a:endParaRPr lang="en-US" sz="1700" dirty="0"/>
          </a:p>
        </p:txBody>
      </p:sp>
      <p:sp>
        <p:nvSpPr>
          <p:cNvPr id="14" name="Text 10"/>
          <p:cNvSpPr txBox="1"/>
          <p:nvPr/>
        </p:nvSpPr>
        <p:spPr>
          <a:xfrm>
            <a:off x="3600450" y="4023360"/>
            <a:ext cx="2091690" cy="1417320"/>
          </a:xfrm>
          <a:prstGeom prst="rect">
            <a:avLst/>
          </a:prstGeom>
          <a:noFill/>
          <a:ln/>
        </p:spPr>
        <p:txBody>
          <a:bodyPr wrap="square" lIns="0" tIns="0" rIns="0" bIns="0" rtlCol="0" anchor="t"/>
          <a:lstStyle/>
          <a:p>
            <a:pPr algn="l" indent="0" marL="0">
              <a:buNone/>
            </a:pPr>
            <a:r>
              <a:rPr lang="en-US" sz="1600" dirty="0">
                <a:solidFill>
                  <a:schemeClr val="tx1"/>
                </a:solidFill>
              </a:rPr>
              <a:t>Ocean Bottom Pressure Recorders on the seafloor confirm a tsunami is passing.</a:t>
            </a:r>
            <a:endParaRPr lang="en-US" sz="1600" dirty="0"/>
          </a:p>
        </p:txBody>
      </p:sp>
      <p:sp>
        <p:nvSpPr>
          <p:cNvPr id="15" name="arrow 2"/>
          <p:cNvSpPr/>
          <p:nvPr/>
        </p:nvSpPr>
        <p:spPr>
          <a:xfrm>
            <a:off x="5929884" y="2619756"/>
            <a:ext cx="301752" cy="292608"/>
          </a:xfrm>
          <a:prstGeom prst="rightArrow">
            <a:avLst/>
          </a:prstGeom>
          <a:solidFill>
            <a:schemeClr val="accent3"/>
          </a:solidFill>
          <a:ln w="12700">
            <a:solidFill>
              <a:schemeClr val="accent3"/>
            </a:solidFill>
            <a:prstDash val="solid"/>
          </a:ln>
        </p:spPr>
      </p:sp>
      <p:sp>
        <p:nvSpPr>
          <p:cNvPr id="16" name="step 3 card"/>
          <p:cNvSpPr/>
          <p:nvPr/>
        </p:nvSpPr>
        <p:spPr>
          <a:xfrm>
            <a:off x="6286500" y="2057400"/>
            <a:ext cx="2457450" cy="3520440"/>
          </a:xfrm>
          <a:prstGeom prst="roundRect">
            <a:avLst>
              <a:gd name="adj" fmla="val 4465"/>
            </a:avLst>
          </a:prstGeom>
          <a:solidFill>
            <a:schemeClr val="bg2"/>
          </a:solidFill>
          <a:ln w="12700">
            <a:solidFill>
              <a:schemeClr val="bg2"/>
            </a:solidFill>
            <a:prstDash val="solid"/>
          </a:ln>
        </p:spPr>
      </p:sp>
      <p:sp>
        <p:nvSpPr>
          <p:cNvPr id="17" name="step 3 disc"/>
          <p:cNvSpPr/>
          <p:nvPr/>
        </p:nvSpPr>
        <p:spPr>
          <a:xfrm>
            <a:off x="7080885" y="2331720"/>
            <a:ext cx="868680" cy="868680"/>
          </a:xfrm>
          <a:prstGeom prst="ellipse">
            <a:avLst/>
          </a:prstGeom>
          <a:solidFill>
            <a:schemeClr val="accent1"/>
          </a:solidFill>
          <a:ln w="12700">
            <a:solidFill>
              <a:schemeClr val="accent1"/>
            </a:solidFill>
            <a:prstDash val="solid"/>
          </a:ln>
        </p:spPr>
      </p:sp>
      <p:pic>
        <p:nvPicPr>
          <p:cNvPr id="18" name="step 3 glyph" descr="preencoded.png">    </p:cNvPr>
          <p:cNvPicPr>
            <a:picLocks noChangeAspect="1"/>
          </p:cNvPicPr>
          <p:nvPr/>
        </p:nvPicPr>
        <p:blipFill>
          <a:blip r:embed="rId3"/>
          <a:stretch>
            <a:fillRect/>
          </a:stretch>
        </p:blipFill>
        <p:spPr>
          <a:xfrm>
            <a:off x="7271995" y="2522830"/>
            <a:ext cx="486461" cy="486461"/>
          </a:xfrm>
          <a:prstGeom prst="rect">
            <a:avLst/>
          </a:prstGeom>
        </p:spPr>
      </p:pic>
      <p:sp>
        <p:nvSpPr>
          <p:cNvPr id="19" name="Text 14"/>
          <p:cNvSpPr txBox="1"/>
          <p:nvPr/>
        </p:nvSpPr>
        <p:spPr>
          <a:xfrm>
            <a:off x="6423660" y="3291840"/>
            <a:ext cx="2183130" cy="685800"/>
          </a:xfrm>
          <a:prstGeom prst="rect">
            <a:avLst/>
          </a:prstGeom>
          <a:noFill/>
          <a:ln/>
        </p:spPr>
        <p:txBody>
          <a:bodyPr wrap="square" lIns="0" tIns="0" rIns="0" bIns="0" rtlCol="0" anchor="ctr"/>
          <a:lstStyle/>
          <a:p>
            <a:pPr algn="ctr" indent="0" marL="0">
              <a:buNone/>
            </a:pPr>
            <a:r>
              <a:rPr lang="en-US" sz="1700" b="1" dirty="0">
                <a:solidFill>
                  <a:schemeClr val="tx2"/>
                </a:solidFill>
              </a:rPr>
              <a:t>3. Tracking</a:t>
            </a:r>
            <a:endParaRPr lang="en-US" sz="1700" dirty="0"/>
          </a:p>
        </p:txBody>
      </p:sp>
      <p:sp>
        <p:nvSpPr>
          <p:cNvPr id="20" name="Text 15"/>
          <p:cNvSpPr txBox="1"/>
          <p:nvPr/>
        </p:nvSpPr>
        <p:spPr>
          <a:xfrm>
            <a:off x="6469380" y="4023360"/>
            <a:ext cx="2091690" cy="1417320"/>
          </a:xfrm>
          <a:prstGeom prst="rect">
            <a:avLst/>
          </a:prstGeom>
          <a:noFill/>
          <a:ln/>
        </p:spPr>
        <p:txBody>
          <a:bodyPr wrap="square" lIns="0" tIns="0" rIns="0" bIns="0" rtlCol="0" anchor="t"/>
          <a:lstStyle/>
          <a:p>
            <a:pPr algn="l" indent="0" marL="0">
              <a:buNone/>
            </a:pPr>
            <a:r>
              <a:rPr lang="en-US" sz="1600" dirty="0">
                <a:solidFill>
                  <a:schemeClr val="tx1"/>
                </a:solidFill>
              </a:rPr>
              <a:t>Coastal tide gauges and radars track the arrival and movement of the waves.</a:t>
            </a:r>
            <a:endParaRPr lang="en-US" sz="1600" dirty="0"/>
          </a:p>
        </p:txBody>
      </p:sp>
      <p:sp>
        <p:nvSpPr>
          <p:cNvPr id="21" name="arrow 3"/>
          <p:cNvSpPr/>
          <p:nvPr/>
        </p:nvSpPr>
        <p:spPr>
          <a:xfrm>
            <a:off x="8798814" y="2619756"/>
            <a:ext cx="301752" cy="292608"/>
          </a:xfrm>
          <a:prstGeom prst="rightArrow">
            <a:avLst/>
          </a:prstGeom>
          <a:solidFill>
            <a:schemeClr val="accent3"/>
          </a:solidFill>
          <a:ln w="12700">
            <a:solidFill>
              <a:schemeClr val="accent3"/>
            </a:solidFill>
            <a:prstDash val="solid"/>
          </a:ln>
        </p:spPr>
      </p:sp>
      <p:sp>
        <p:nvSpPr>
          <p:cNvPr id="22" name="step 4 card"/>
          <p:cNvSpPr/>
          <p:nvPr/>
        </p:nvSpPr>
        <p:spPr>
          <a:xfrm>
            <a:off x="9155430" y="2057400"/>
            <a:ext cx="2457450" cy="3520440"/>
          </a:xfrm>
          <a:prstGeom prst="roundRect">
            <a:avLst>
              <a:gd name="adj" fmla="val 4465"/>
            </a:avLst>
          </a:prstGeom>
          <a:solidFill>
            <a:schemeClr val="bg2"/>
          </a:solidFill>
          <a:ln w="12700">
            <a:solidFill>
              <a:schemeClr val="bg2"/>
            </a:solidFill>
            <a:prstDash val="solid"/>
          </a:ln>
        </p:spPr>
      </p:sp>
      <p:sp>
        <p:nvSpPr>
          <p:cNvPr id="23" name="step 4 disc"/>
          <p:cNvSpPr/>
          <p:nvPr/>
        </p:nvSpPr>
        <p:spPr>
          <a:xfrm>
            <a:off x="9949815" y="2331720"/>
            <a:ext cx="868680" cy="868680"/>
          </a:xfrm>
          <a:prstGeom prst="ellipse">
            <a:avLst/>
          </a:prstGeom>
          <a:solidFill>
            <a:schemeClr val="accent2"/>
          </a:solidFill>
          <a:ln w="12700">
            <a:solidFill>
              <a:schemeClr val="accent2"/>
            </a:solidFill>
            <a:prstDash val="solid"/>
          </a:ln>
        </p:spPr>
      </p:sp>
      <p:pic>
        <p:nvPicPr>
          <p:cNvPr id="24" name="step 4 glyph" descr="preencoded.png">    </p:cNvPr>
          <p:cNvPicPr>
            <a:picLocks noChangeAspect="1"/>
          </p:cNvPicPr>
          <p:nvPr/>
        </p:nvPicPr>
        <p:blipFill>
          <a:blip r:embed="rId4"/>
          <a:stretch>
            <a:fillRect/>
          </a:stretch>
        </p:blipFill>
        <p:spPr>
          <a:xfrm>
            <a:off x="10140925" y="2522830"/>
            <a:ext cx="486461" cy="486461"/>
          </a:xfrm>
          <a:prstGeom prst="rect">
            <a:avLst/>
          </a:prstGeom>
        </p:spPr>
      </p:pic>
      <p:sp>
        <p:nvSpPr>
          <p:cNvPr id="25" name="Text 19"/>
          <p:cNvSpPr txBox="1"/>
          <p:nvPr/>
        </p:nvSpPr>
        <p:spPr>
          <a:xfrm>
            <a:off x="9292590" y="3291840"/>
            <a:ext cx="2183130" cy="685800"/>
          </a:xfrm>
          <a:prstGeom prst="rect">
            <a:avLst/>
          </a:prstGeom>
          <a:noFill/>
          <a:ln/>
        </p:spPr>
        <p:txBody>
          <a:bodyPr wrap="square" lIns="0" tIns="0" rIns="0" bIns="0" rtlCol="0" anchor="ctr"/>
          <a:lstStyle/>
          <a:p>
            <a:pPr algn="ctr" indent="0" marL="0">
              <a:buNone/>
            </a:pPr>
            <a:r>
              <a:rPr lang="en-US" sz="1700" b="1" dirty="0">
                <a:solidFill>
                  <a:schemeClr val="tx2"/>
                </a:solidFill>
              </a:rPr>
              <a:t>4. Warning</a:t>
            </a:r>
            <a:endParaRPr lang="en-US" sz="1700" dirty="0"/>
          </a:p>
        </p:txBody>
      </p:sp>
      <p:sp>
        <p:nvSpPr>
          <p:cNvPr id="26" name="Text 20"/>
          <p:cNvSpPr txBox="1"/>
          <p:nvPr/>
        </p:nvSpPr>
        <p:spPr>
          <a:xfrm>
            <a:off x="9338310" y="4023360"/>
            <a:ext cx="2091690" cy="1417320"/>
          </a:xfrm>
          <a:prstGeom prst="rect">
            <a:avLst/>
          </a:prstGeom>
          <a:noFill/>
          <a:ln/>
        </p:spPr>
        <p:txBody>
          <a:bodyPr wrap="square" lIns="0" tIns="0" rIns="0" bIns="0" rtlCol="0" anchor="t"/>
          <a:lstStyle/>
          <a:p>
            <a:pPr algn="l" indent="0" marL="0">
              <a:buNone/>
            </a:pPr>
            <a:r>
              <a:rPr lang="en-US" sz="1600" dirty="0">
                <a:solidFill>
                  <a:schemeClr val="tx1"/>
                </a:solidFill>
              </a:rPr>
              <a:t>Alerts go by satellite to agencies and to people through SMS, email and coastal display boards.</a:t>
            </a:r>
            <a:endParaRPr lang="en-US" sz="1600" dirty="0"/>
          </a:p>
        </p:txBody>
      </p:sp>
      <p:sp>
        <p:nvSpPr>
          <p:cNvPr id="27" name="footnote band"/>
          <p:cNvSpPr/>
          <p:nvPr/>
        </p:nvSpPr>
        <p:spPr>
          <a:xfrm>
            <a:off x="548640" y="5715000"/>
            <a:ext cx="11064240" cy="548640"/>
          </a:xfrm>
          <a:prstGeom prst="roundRect">
            <a:avLst>
              <a:gd name="adj" fmla="val 13333"/>
            </a:avLst>
          </a:prstGeom>
          <a:solidFill>
            <a:schemeClr val="tx2"/>
          </a:solidFill>
          <a:ln w="12700">
            <a:solidFill>
              <a:schemeClr val="tx2"/>
            </a:solidFill>
            <a:prstDash val="solid"/>
          </a:ln>
        </p:spPr>
      </p:sp>
      <p:sp>
        <p:nvSpPr>
          <p:cNvPr id="28" name="Text 22"/>
          <p:cNvSpPr txBox="1"/>
          <p:nvPr/>
        </p:nvSpPr>
        <p:spPr>
          <a:xfrm>
            <a:off x="777240" y="5715000"/>
            <a:ext cx="10607040" cy="548640"/>
          </a:xfrm>
          <a:prstGeom prst="rect">
            <a:avLst/>
          </a:prstGeom>
          <a:noFill/>
          <a:ln/>
        </p:spPr>
        <p:txBody>
          <a:bodyPr wrap="square" lIns="0" tIns="0" rIns="0" bIns="0" rtlCol="0" anchor="ctr"/>
          <a:lstStyle/>
          <a:p>
            <a:pPr indent="0" marL="0">
              <a:buNone/>
            </a:pPr>
            <a:r>
              <a:rPr lang="en-US" sz="1500" dirty="0">
                <a:solidFill>
                  <a:schemeClr val="bg1"/>
                </a:solidFill>
              </a:rPr>
              <a:t>Technology alone is not enough: </a:t>
            </a:r>
            <a:r>
              <a:rPr lang="en-US" sz="1500" b="1" dirty="0">
                <a:solidFill>
                  <a:schemeClr val="bg1"/>
                </a:solidFill>
              </a:rPr>
              <a:t>public awareness and training</a:t>
            </a:r>
            <a:r>
              <a:rPr lang="en-US" sz="1500" dirty="0">
                <a:solidFill>
                  <a:schemeClr val="bg1"/>
                </a:solidFill>
              </a:rPr>
              <a:t> help people respond correctly.</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India's Ocean Safety Shield</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NCRMP</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600" dirty="0">
                <a:solidFill>
                  <a:schemeClr val="tx1"/>
                </a:solidFill>
              </a:rPr>
              <a:t>National Cyclone Risk Mitigation Project: cyclone shelters, better warnings, and a Decision Support System.</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SSEWS</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600" dirty="0">
                <a:solidFill>
                  <a:schemeClr val="tx1"/>
                </a:solidFill>
              </a:rPr>
              <a:t>INCOIS and IMD forecast </a:t>
            </a:r>
            <a:r>
              <a:rPr lang="en-US" sz="1600" b="1" dirty="0">
                <a:solidFill>
                  <a:schemeClr val="tx1"/>
                </a:solidFill>
              </a:rPr>
              <a:t>storm surges</a:t>
            </a:r>
            <a:r>
              <a:rPr lang="en-US" sz="1600" dirty="0">
                <a:solidFill>
                  <a:schemeClr val="tx1"/>
                </a:solidFill>
              </a:rPr>
              <a:t> and coastal flooding caused by cyclones.</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GEMINI device</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600" dirty="0">
                <a:solidFill>
                  <a:schemeClr val="tx1"/>
                </a:solidFill>
              </a:rPr>
              <a:t>GAGAN satellite alerts sent to fishers' phones by Bluetooth, in </a:t>
            </a:r>
            <a:r>
              <a:rPr lang="en-US" sz="1600" b="1" dirty="0">
                <a:solidFill>
                  <a:schemeClr val="tx1"/>
                </a:solidFill>
              </a:rPr>
              <a:t>9 languages</a:t>
            </a:r>
            <a:r>
              <a:rPr lang="en-US" sz="1600" dirty="0">
                <a:solidFill>
                  <a:schemeClr val="tx1"/>
                </a:solidFill>
              </a:rPr>
              <a:t>. Supported under PMMSY.</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Naming cyclones</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600" dirty="0">
                <a:solidFill>
                  <a:schemeClr val="tx1"/>
                </a:solidFill>
              </a:rPr>
              <a:t>North Indian Ocean cyclones get names from a list of </a:t>
            </a:r>
            <a:r>
              <a:rPr lang="en-US" sz="1600" b="1" dirty="0">
                <a:solidFill>
                  <a:schemeClr val="tx1"/>
                </a:solidFill>
              </a:rPr>
              <a:t>169</a:t>
            </a:r>
            <a:r>
              <a:rPr lang="en-US" sz="1600" dirty="0">
                <a:solidFill>
                  <a:schemeClr val="tx1"/>
                </a:solidFill>
              </a:rPr>
              <a:t> given by 13 countries, e.g. Biparjoy (2023), Remal (2024).</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Tsunami buoys</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600" dirty="0">
                <a:solidFill>
                  <a:schemeClr val="tx1"/>
                </a:solidFill>
              </a:rPr>
              <a:t>ITEWC's real-time network of buoys detects, measures and monitors tsunamis.</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Folk wisdom</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600" dirty="0">
                <a:solidFill>
                  <a:schemeClr val="tx1"/>
                </a:solidFill>
              </a:rPr>
              <a:t>On Simeulue Island (2004), old stories helped people spot warning signs and escape in time.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Role-Play: Cyclone Alert!</a:t>
            </a:r>
            <a:endParaRPr lang="en-US" sz="3600" dirty="0"/>
          </a:p>
        </p:txBody>
      </p:sp>
      <p:sp>
        <p:nvSpPr>
          <p:cNvPr id="3" name="activity info card"/>
          <p:cNvSpPr/>
          <p:nvPr/>
        </p:nvSpPr>
        <p:spPr>
          <a:xfrm>
            <a:off x="548640" y="1371600"/>
            <a:ext cx="3657600" cy="4846320"/>
          </a:xfrm>
          <a:prstGeom prst="roundRect">
            <a:avLst>
              <a:gd name="adj" fmla="val 300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4" name="activity disc"/>
          <p:cNvSpPr/>
          <p:nvPr/>
        </p:nvSpPr>
        <p:spPr>
          <a:xfrm>
            <a:off x="868680" y="1691640"/>
            <a:ext cx="914400" cy="914400"/>
          </a:xfrm>
          <a:prstGeom prst="ellipse">
            <a:avLst/>
          </a:prstGeom>
          <a:solidFill>
            <a:schemeClr val="accent3"/>
          </a:solidFill>
          <a:ln w="12700">
            <a:solidFill>
              <a:schemeClr val="accent3"/>
            </a:solidFill>
            <a:prstDash val="solid"/>
          </a:ln>
        </p:spPr>
      </p:sp>
      <p:pic>
        <p:nvPicPr>
          <p:cNvPr id="5" name="activity glyph" descr="preencoded.png">    </p:cNvPr>
          <p:cNvPicPr>
            <a:picLocks noChangeAspect="1"/>
          </p:cNvPicPr>
          <p:nvPr/>
        </p:nvPicPr>
        <p:blipFill>
          <a:blip r:embed="rId1"/>
          <a:stretch>
            <a:fillRect/>
          </a:stretch>
        </p:blipFill>
        <p:spPr>
          <a:xfrm>
            <a:off x="1069848" y="1892808"/>
            <a:ext cx="512064" cy="512064"/>
          </a:xfrm>
          <a:prstGeom prst="rect">
            <a:avLst/>
          </a:prstGeom>
        </p:spPr>
      </p:pic>
      <p:sp>
        <p:nvSpPr>
          <p:cNvPr id="6" name="Text 3"/>
          <p:cNvSpPr txBox="1"/>
          <p:nvPr/>
        </p:nvSpPr>
        <p:spPr>
          <a:xfrm>
            <a:off x="1965960" y="1737360"/>
            <a:ext cx="210312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ROLE-PLAY</a:t>
            </a:r>
            <a:endParaRPr lang="en-US" sz="1300" dirty="0"/>
          </a:p>
        </p:txBody>
      </p:sp>
      <p:sp>
        <p:nvSpPr>
          <p:cNvPr id="7" name="Text 4"/>
          <p:cNvSpPr txBox="1"/>
          <p:nvPr/>
        </p:nvSpPr>
        <p:spPr>
          <a:xfrm>
            <a:off x="1965960" y="2103120"/>
            <a:ext cx="2103120" cy="640080"/>
          </a:xfrm>
          <a:prstGeom prst="rect">
            <a:avLst/>
          </a:prstGeom>
          <a:noFill/>
          <a:ln/>
        </p:spPr>
        <p:txBody>
          <a:bodyPr wrap="square" lIns="0" tIns="0" rIns="0" bIns="0" rtlCol="0" anchor="t"/>
          <a:lstStyle/>
          <a:p>
            <a:pPr indent="0" marL="0">
              <a:buNone/>
            </a:pPr>
            <a:r>
              <a:rPr lang="en-US" sz="1800" b="1" dirty="0">
                <a:solidFill>
                  <a:schemeClr val="bg1"/>
                </a:solidFill>
              </a:rPr>
              <a:t>From warning to safety</a:t>
            </a:r>
            <a:endParaRPr lang="en-US" sz="1800" dirty="0"/>
          </a:p>
        </p:txBody>
      </p:sp>
      <p:pic>
        <p:nvPicPr>
          <p:cNvPr id="8" name="Time icon" descr="preencoded.png">    </p:cNvPr>
          <p:cNvPicPr>
            <a:picLocks noChangeAspect="1"/>
          </p:cNvPicPr>
          <p:nvPr/>
        </p:nvPicPr>
        <p:blipFill>
          <a:blip r:embed="rId2"/>
          <a:stretch>
            <a:fillRect/>
          </a:stretch>
        </p:blipFill>
        <p:spPr>
          <a:xfrm>
            <a:off x="868680" y="3063240"/>
            <a:ext cx="347472" cy="347472"/>
          </a:xfrm>
          <a:prstGeom prst="rect">
            <a:avLst/>
          </a:prstGeom>
        </p:spPr>
      </p:pic>
      <p:sp>
        <p:nvSpPr>
          <p:cNvPr id="9" name="Text 5"/>
          <p:cNvSpPr txBox="1"/>
          <p:nvPr/>
        </p:nvSpPr>
        <p:spPr>
          <a:xfrm>
            <a:off x="1371600" y="301752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Time: </a:t>
            </a:r>
            <a:r>
              <a:rPr lang="en-US" sz="1400" dirty="0">
                <a:solidFill>
                  <a:schemeClr val="bg1"/>
                </a:solidFill>
              </a:rPr>
              <a:t>25 minutes</a:t>
            </a:r>
            <a:endParaRPr lang="en-US" sz="1400" dirty="0"/>
          </a:p>
        </p:txBody>
      </p:sp>
      <p:pic>
        <p:nvPicPr>
          <p:cNvPr id="10" name="Group icon" descr="preencoded.png">    </p:cNvPr>
          <p:cNvPicPr>
            <a:picLocks noChangeAspect="1"/>
          </p:cNvPicPr>
          <p:nvPr/>
        </p:nvPicPr>
        <p:blipFill>
          <a:blip r:embed="rId3"/>
          <a:stretch>
            <a:fillRect/>
          </a:stretch>
        </p:blipFill>
        <p:spPr>
          <a:xfrm>
            <a:off x="868680" y="3703320"/>
            <a:ext cx="347472" cy="347472"/>
          </a:xfrm>
          <a:prstGeom prst="rect">
            <a:avLst/>
          </a:prstGeom>
        </p:spPr>
      </p:pic>
      <p:sp>
        <p:nvSpPr>
          <p:cNvPr id="11" name="Text 6"/>
          <p:cNvSpPr txBox="1"/>
          <p:nvPr/>
        </p:nvSpPr>
        <p:spPr>
          <a:xfrm>
            <a:off x="1371600" y="365760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Group: </a:t>
            </a:r>
            <a:r>
              <a:rPr lang="en-US" sz="1400" dirty="0">
                <a:solidFill>
                  <a:schemeClr val="bg1"/>
                </a:solidFill>
              </a:rPr>
              <a:t>7 roles per group</a:t>
            </a:r>
            <a:endParaRPr lang="en-US" sz="1400" dirty="0"/>
          </a:p>
        </p:txBody>
      </p:sp>
      <p:pic>
        <p:nvPicPr>
          <p:cNvPr id="12" name="You need icon" descr="preencoded.png">    </p:cNvPr>
          <p:cNvPicPr>
            <a:picLocks noChangeAspect="1"/>
          </p:cNvPicPr>
          <p:nvPr/>
        </p:nvPicPr>
        <p:blipFill>
          <a:blip r:embed="rId4"/>
          <a:stretch>
            <a:fillRect/>
          </a:stretch>
        </p:blipFill>
        <p:spPr>
          <a:xfrm>
            <a:off x="868680" y="4343400"/>
            <a:ext cx="347472" cy="347472"/>
          </a:xfrm>
          <a:prstGeom prst="rect">
            <a:avLst/>
          </a:prstGeom>
        </p:spPr>
      </p:pic>
      <p:sp>
        <p:nvSpPr>
          <p:cNvPr id="13" name="Text 7"/>
          <p:cNvSpPr txBox="1"/>
          <p:nvPr/>
        </p:nvSpPr>
        <p:spPr>
          <a:xfrm>
            <a:off x="1371600" y="429768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You need: </a:t>
            </a:r>
            <a:r>
              <a:rPr lang="en-US" sz="1400" dirty="0">
                <a:solidFill>
                  <a:schemeClr val="bg1"/>
                </a:solidFill>
              </a:rPr>
              <a:t>Role cards, a chart-paper map of a coastal village, a whistle</a:t>
            </a:r>
            <a:endParaRPr lang="en-US" sz="1400" dirty="0"/>
          </a:p>
        </p:txBody>
      </p:sp>
      <p:sp>
        <p:nvSpPr>
          <p:cNvPr id="14" name="activity steps card"/>
          <p:cNvSpPr/>
          <p:nvPr/>
        </p:nvSpPr>
        <p:spPr>
          <a:xfrm>
            <a:off x="4526280" y="1371600"/>
            <a:ext cx="7086600" cy="4846320"/>
          </a:xfrm>
          <a:prstGeom prst="roundRect">
            <a:avLst>
              <a:gd name="adj" fmla="val 22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9"/>
          <p:cNvSpPr txBox="1"/>
          <p:nvPr/>
        </p:nvSpPr>
        <p:spPr>
          <a:xfrm>
            <a:off x="4846320" y="1600200"/>
            <a:ext cx="6400800" cy="457200"/>
          </a:xfrm>
          <a:prstGeom prst="rect">
            <a:avLst/>
          </a:prstGeom>
          <a:noFill/>
          <a:ln/>
        </p:spPr>
        <p:txBody>
          <a:bodyPr wrap="square" lIns="0" tIns="0" rIns="0" bIns="0" rtlCol="0" anchor="ctr"/>
          <a:lstStyle/>
          <a:p>
            <a:pPr indent="0" marL="0">
              <a:buNone/>
            </a:pPr>
            <a:r>
              <a:rPr lang="en-US" sz="2000" b="1" dirty="0">
                <a:solidFill>
                  <a:schemeClr val="accent1"/>
                </a:solidFill>
              </a:rPr>
              <a:t>How to play</a:t>
            </a:r>
            <a:endParaRPr lang="en-US" sz="2000" dirty="0"/>
          </a:p>
        </p:txBody>
      </p:sp>
      <p:sp>
        <p:nvSpPr>
          <p:cNvPr id="16" name="step 1 badge"/>
          <p:cNvSpPr/>
          <p:nvPr/>
        </p:nvSpPr>
        <p:spPr>
          <a:xfrm>
            <a:off x="4846320" y="2212848"/>
            <a:ext cx="384048" cy="384048"/>
          </a:xfrm>
          <a:prstGeom prst="ellipse">
            <a:avLst/>
          </a:prstGeom>
          <a:solidFill>
            <a:schemeClr val="accent1"/>
          </a:solidFill>
          <a:ln w="12700">
            <a:solidFill>
              <a:schemeClr val="accent1"/>
            </a:solidFill>
            <a:prstDash val="solid"/>
          </a:ln>
        </p:spPr>
      </p:sp>
      <p:sp>
        <p:nvSpPr>
          <p:cNvPr id="17" name="Text 11"/>
          <p:cNvSpPr txBox="1"/>
          <p:nvPr/>
        </p:nvSpPr>
        <p:spPr>
          <a:xfrm>
            <a:off x="484632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 12"/>
          <p:cNvSpPr txBox="1"/>
          <p:nvPr/>
        </p:nvSpPr>
        <p:spPr>
          <a:xfrm>
            <a:off x="5394960" y="2194560"/>
            <a:ext cx="5943600" cy="493776"/>
          </a:xfrm>
          <a:prstGeom prst="rect">
            <a:avLst/>
          </a:prstGeom>
          <a:noFill/>
          <a:ln/>
        </p:spPr>
        <p:txBody>
          <a:bodyPr wrap="square" lIns="0" tIns="0" rIns="0" bIns="0" rtlCol="0" anchor="t"/>
          <a:lstStyle/>
          <a:p>
            <a:pPr indent="0" marL="0">
              <a:buNone/>
            </a:pPr>
            <a:r>
              <a:rPr lang="en-US" sz="1400" dirty="0">
                <a:solidFill>
                  <a:schemeClr val="tx1"/>
                </a:solidFill>
              </a:rPr>
              <a:t>Give roles: </a:t>
            </a:r>
            <a:r>
              <a:rPr lang="en-US" sz="1400" b="1" dirty="0">
                <a:solidFill>
                  <a:schemeClr val="tx1"/>
                </a:solidFill>
              </a:rPr>
              <a:t>IMD scientist, District Collector, INCOIS officer, fisher with GEMINI, sarpanch, teacher, reporter</a:t>
            </a:r>
            <a:r>
              <a:rPr lang="en-US" sz="1400" dirty="0">
                <a:solidFill>
                  <a:schemeClr val="tx1"/>
                </a:solidFill>
              </a:rPr>
              <a:t>.</a:t>
            </a:r>
            <a:endParaRPr lang="en-US" sz="1600" dirty="0"/>
          </a:p>
        </p:txBody>
      </p:sp>
      <p:sp>
        <p:nvSpPr>
          <p:cNvPr id="19" name="step 2 badge"/>
          <p:cNvSpPr/>
          <p:nvPr/>
        </p:nvSpPr>
        <p:spPr>
          <a:xfrm>
            <a:off x="4846320" y="2752344"/>
            <a:ext cx="384048" cy="384048"/>
          </a:xfrm>
          <a:prstGeom prst="ellipse">
            <a:avLst/>
          </a:prstGeom>
          <a:solidFill>
            <a:schemeClr val="accent1"/>
          </a:solidFill>
          <a:ln w="12700">
            <a:solidFill>
              <a:schemeClr val="accent1"/>
            </a:solidFill>
            <a:prstDash val="solid"/>
          </a:ln>
        </p:spPr>
      </p:sp>
      <p:sp>
        <p:nvSpPr>
          <p:cNvPr id="20" name="Text 14"/>
          <p:cNvSpPr txBox="1"/>
          <p:nvPr/>
        </p:nvSpPr>
        <p:spPr>
          <a:xfrm>
            <a:off x="4846320" y="27523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5"/>
          <p:cNvSpPr txBox="1"/>
          <p:nvPr/>
        </p:nvSpPr>
        <p:spPr>
          <a:xfrm>
            <a:off x="5394960" y="2734056"/>
            <a:ext cx="5943600" cy="493776"/>
          </a:xfrm>
          <a:prstGeom prst="rect">
            <a:avLst/>
          </a:prstGeom>
          <a:noFill/>
          <a:ln/>
        </p:spPr>
        <p:txBody>
          <a:bodyPr wrap="square" lIns="0" tIns="0" rIns="0" bIns="0" rtlCol="0" anchor="t"/>
          <a:lstStyle/>
          <a:p>
            <a:pPr indent="0" marL="0">
              <a:buNone/>
            </a:pPr>
            <a:r>
              <a:rPr lang="en-US" sz="1400" dirty="0">
                <a:solidFill>
                  <a:schemeClr val="tx1"/>
                </a:solidFill>
              </a:rPr>
              <a:t>The scientist announces: 'A cyclone will hit in 48 hours.'</a:t>
            </a:r>
            <a:endParaRPr lang="en-US" sz="1600" dirty="0"/>
          </a:p>
        </p:txBody>
      </p:sp>
      <p:sp>
        <p:nvSpPr>
          <p:cNvPr id="22" name="step 3 badge"/>
          <p:cNvSpPr/>
          <p:nvPr/>
        </p:nvSpPr>
        <p:spPr>
          <a:xfrm>
            <a:off x="4846320" y="3291840"/>
            <a:ext cx="384048" cy="384048"/>
          </a:xfrm>
          <a:prstGeom prst="ellipse">
            <a:avLst/>
          </a:prstGeom>
          <a:solidFill>
            <a:schemeClr val="accent1"/>
          </a:solidFill>
          <a:ln w="12700">
            <a:solidFill>
              <a:schemeClr val="accent1"/>
            </a:solidFill>
            <a:prstDash val="solid"/>
          </a:ln>
        </p:spPr>
      </p:sp>
      <p:sp>
        <p:nvSpPr>
          <p:cNvPr id="23" name="Text 17"/>
          <p:cNvSpPr txBox="1"/>
          <p:nvPr/>
        </p:nvSpPr>
        <p:spPr>
          <a:xfrm>
            <a:off x="48463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18"/>
          <p:cNvSpPr txBox="1"/>
          <p:nvPr/>
        </p:nvSpPr>
        <p:spPr>
          <a:xfrm>
            <a:off x="5394960" y="3273552"/>
            <a:ext cx="5943600" cy="493776"/>
          </a:xfrm>
          <a:prstGeom prst="rect">
            <a:avLst/>
          </a:prstGeom>
          <a:noFill/>
          <a:ln/>
        </p:spPr>
        <p:txBody>
          <a:bodyPr wrap="square" lIns="0" tIns="0" rIns="0" bIns="0" rtlCol="0" anchor="t"/>
          <a:lstStyle/>
          <a:p>
            <a:pPr indent="0" marL="0">
              <a:buNone/>
            </a:pPr>
            <a:r>
              <a:rPr lang="en-US" sz="1400" dirty="0">
                <a:solidFill>
                  <a:schemeClr val="tx1"/>
                </a:solidFill>
              </a:rPr>
              <a:t>Each role says what they will do and who they must inform.</a:t>
            </a:r>
            <a:endParaRPr lang="en-US" sz="1600" dirty="0"/>
          </a:p>
        </p:txBody>
      </p:sp>
      <p:sp>
        <p:nvSpPr>
          <p:cNvPr id="25" name="step 4 badge"/>
          <p:cNvSpPr/>
          <p:nvPr/>
        </p:nvSpPr>
        <p:spPr>
          <a:xfrm>
            <a:off x="4846320" y="3831336"/>
            <a:ext cx="384048" cy="384048"/>
          </a:xfrm>
          <a:prstGeom prst="ellipse">
            <a:avLst/>
          </a:prstGeom>
          <a:solidFill>
            <a:schemeClr val="accent1"/>
          </a:solidFill>
          <a:ln w="12700">
            <a:solidFill>
              <a:schemeClr val="accent1"/>
            </a:solidFill>
            <a:prstDash val="solid"/>
          </a:ln>
        </p:spPr>
      </p:sp>
      <p:sp>
        <p:nvSpPr>
          <p:cNvPr id="26" name="Text 20"/>
          <p:cNvSpPr txBox="1"/>
          <p:nvPr/>
        </p:nvSpPr>
        <p:spPr>
          <a:xfrm>
            <a:off x="4846320" y="3831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5394960" y="3813048"/>
            <a:ext cx="5943600" cy="493776"/>
          </a:xfrm>
          <a:prstGeom prst="rect">
            <a:avLst/>
          </a:prstGeom>
          <a:noFill/>
          <a:ln/>
        </p:spPr>
        <p:txBody>
          <a:bodyPr wrap="square" lIns="0" tIns="0" rIns="0" bIns="0" rtlCol="0" anchor="t"/>
          <a:lstStyle/>
          <a:p>
            <a:pPr indent="0" marL="0">
              <a:buNone/>
            </a:pPr>
            <a:r>
              <a:rPr lang="en-US" sz="1400" dirty="0">
                <a:solidFill>
                  <a:schemeClr val="tx1"/>
                </a:solidFill>
              </a:rPr>
              <a:t>Move 'villagers' to the cyclone shelter on the map.</a:t>
            </a:r>
            <a:endParaRPr lang="en-US" sz="1600" dirty="0"/>
          </a:p>
        </p:txBody>
      </p:sp>
      <p:sp>
        <p:nvSpPr>
          <p:cNvPr id="28" name="step 5 badge"/>
          <p:cNvSpPr/>
          <p:nvPr/>
        </p:nvSpPr>
        <p:spPr>
          <a:xfrm>
            <a:off x="4846320" y="4370832"/>
            <a:ext cx="384048" cy="384048"/>
          </a:xfrm>
          <a:prstGeom prst="ellipse">
            <a:avLst/>
          </a:prstGeom>
          <a:solidFill>
            <a:schemeClr val="accent1"/>
          </a:solidFill>
          <a:ln w="12700">
            <a:solidFill>
              <a:schemeClr val="accent1"/>
            </a:solidFill>
            <a:prstDash val="solid"/>
          </a:ln>
        </p:spPr>
      </p:sp>
      <p:sp>
        <p:nvSpPr>
          <p:cNvPr id="29" name="Text 23"/>
          <p:cNvSpPr txBox="1"/>
          <p:nvPr/>
        </p:nvSpPr>
        <p:spPr>
          <a:xfrm>
            <a:off x="4846320" y="4370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4"/>
          <p:cNvSpPr txBox="1"/>
          <p:nvPr/>
        </p:nvSpPr>
        <p:spPr>
          <a:xfrm>
            <a:off x="5394960" y="4352544"/>
            <a:ext cx="5943600" cy="493776"/>
          </a:xfrm>
          <a:prstGeom prst="rect">
            <a:avLst/>
          </a:prstGeom>
          <a:noFill/>
          <a:ln/>
        </p:spPr>
        <p:txBody>
          <a:bodyPr wrap="square" lIns="0" tIns="0" rIns="0" bIns="0" rtlCol="0" anchor="t"/>
          <a:lstStyle/>
          <a:p>
            <a:pPr indent="0" marL="0">
              <a:buNone/>
            </a:pPr>
            <a:r>
              <a:rPr lang="en-US" sz="1400" dirty="0">
                <a:solidFill>
                  <a:schemeClr val="tx1"/>
                </a:solidFill>
              </a:rPr>
              <a:t>Debrief: Where could the chain break? How can we fix it?</a:t>
            </a:r>
            <a:endParaRPr lang="en-US" sz="1600" dirty="0"/>
          </a:p>
        </p:txBody>
      </p:sp>
      <p:sp>
        <p:nvSpPr>
          <p:cNvPr id="31" name="outcome band"/>
          <p:cNvSpPr/>
          <p:nvPr/>
        </p:nvSpPr>
        <p:spPr>
          <a:xfrm>
            <a:off x="4846320" y="5074920"/>
            <a:ext cx="6446520" cy="914400"/>
          </a:xfrm>
          <a:prstGeom prst="roundRect">
            <a:avLst>
              <a:gd name="adj" fmla="val 8000"/>
            </a:avLst>
          </a:prstGeom>
          <a:solidFill>
            <a:schemeClr val="bg2"/>
          </a:solidFill>
          <a:ln w="12700">
            <a:solidFill>
              <a:schemeClr val="bg2"/>
            </a:solidFill>
            <a:prstDash val="solid"/>
          </a:ln>
        </p:spPr>
      </p:sp>
      <p:sp>
        <p:nvSpPr>
          <p:cNvPr id="32" name="Text 26"/>
          <p:cNvSpPr txBox="1"/>
          <p:nvPr/>
        </p:nvSpPr>
        <p:spPr>
          <a:xfrm>
            <a:off x="5029200" y="5074920"/>
            <a:ext cx="6126480" cy="914400"/>
          </a:xfrm>
          <a:prstGeom prst="rect">
            <a:avLst/>
          </a:prstGeom>
          <a:noFill/>
          <a:ln/>
        </p:spPr>
        <p:txBody>
          <a:bodyPr wrap="square" lIns="0" tIns="0" rIns="0" bIns="0" rtlCol="0" anchor="ctr"/>
          <a:lstStyle/>
          <a:p>
            <a:pPr indent="0" marL="0">
              <a:buNone/>
            </a:pPr>
            <a:r>
              <a:rPr lang="en-US" sz="1400" b="1" dirty="0">
                <a:solidFill>
                  <a:schemeClr val="tx2"/>
                </a:solidFill>
              </a:rPr>
              <a:t>Learning link:</a:t>
            </a:r>
            <a:r>
              <a:rPr lang="en-US" sz="1400" dirty="0">
                <a:solidFill>
                  <a:schemeClr val="tx2"/>
                </a:solidFill>
              </a:rPr>
              <a:t> Warnings save lives only when information flows quickly and everyone knows their role.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4</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Marine Resources and the Blue Economy</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Oceans are vast storehouses of food, energy, minerals and livelihoods.</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Classifying Marine Resources</a:t>
            </a:r>
            <a:endParaRPr lang="en-US" sz="3600" dirty="0"/>
          </a:p>
        </p:txBody>
      </p:sp>
      <p:sp>
        <p:nvSpPr>
          <p:cNvPr id="3" name="root"/>
          <p:cNvSpPr/>
          <p:nvPr/>
        </p:nvSpPr>
        <p:spPr>
          <a:xfrm>
            <a:off x="4727448" y="1280160"/>
            <a:ext cx="2743200" cy="566928"/>
          </a:xfrm>
          <a:prstGeom prst="roundRect">
            <a:avLst>
              <a:gd name="adj" fmla="val 19355"/>
            </a:avLst>
          </a:prstGeom>
          <a:solidFill>
            <a:schemeClr val="tx2"/>
          </a:solidFill>
          <a:ln w="12700">
            <a:solidFill>
              <a:schemeClr val="tx2"/>
            </a:solidFill>
            <a:prstDash val="solid"/>
          </a:ln>
        </p:spPr>
      </p:sp>
      <p:sp>
        <p:nvSpPr>
          <p:cNvPr id="4" name="Text 2"/>
          <p:cNvSpPr txBox="1"/>
          <p:nvPr/>
        </p:nvSpPr>
        <p:spPr>
          <a:xfrm>
            <a:off x="4727448" y="1280160"/>
            <a:ext cx="2743200" cy="566928"/>
          </a:xfrm>
          <a:prstGeom prst="rect">
            <a:avLst/>
          </a:prstGeom>
          <a:noFill/>
          <a:ln/>
        </p:spPr>
        <p:txBody>
          <a:bodyPr wrap="square" lIns="0" tIns="0" rIns="0" bIns="0" rtlCol="0" anchor="ctr"/>
          <a:lstStyle/>
          <a:p>
            <a:pPr algn="ctr" indent="0" marL="0">
              <a:buNone/>
            </a:pPr>
            <a:r>
              <a:rPr lang="en-US" sz="1800" b="1" dirty="0">
                <a:solidFill>
                  <a:schemeClr val="bg1"/>
                </a:solidFill>
              </a:rPr>
              <a:t>Marine Resources</a:t>
            </a:r>
            <a:endParaRPr lang="en-US" sz="1800" dirty="0"/>
          </a:p>
        </p:txBody>
      </p:sp>
      <p:sp>
        <p:nvSpPr>
          <p:cNvPr id="5" name="bar"/>
          <p:cNvSpPr/>
          <p:nvPr/>
        </p:nvSpPr>
        <p:spPr>
          <a:xfrm>
            <a:off x="3017520" y="2011680"/>
            <a:ext cx="6172200" cy="0"/>
          </a:xfrm>
          <a:prstGeom prst="line">
            <a:avLst/>
          </a:prstGeom>
          <a:noFill/>
          <a:ln w="19050">
            <a:solidFill>
              <a:schemeClr val="tx2"/>
            </a:solidFill>
            <a:prstDash val="solid"/>
          </a:ln>
        </p:spPr>
      </p:sp>
      <p:sp>
        <p:nvSpPr>
          <p:cNvPr id="6" name="stem"/>
          <p:cNvSpPr/>
          <p:nvPr/>
        </p:nvSpPr>
        <p:spPr>
          <a:xfrm>
            <a:off x="6099048" y="1847088"/>
            <a:ext cx="0" cy="164592"/>
          </a:xfrm>
          <a:prstGeom prst="line">
            <a:avLst/>
          </a:prstGeom>
          <a:noFill/>
          <a:ln w="19050">
            <a:solidFill>
              <a:schemeClr val="tx2"/>
            </a:solidFill>
            <a:prstDash val="solid"/>
          </a:ln>
        </p:spPr>
      </p:sp>
      <p:sp>
        <p:nvSpPr>
          <p:cNvPr id="7" name="left drop"/>
          <p:cNvSpPr/>
          <p:nvPr/>
        </p:nvSpPr>
        <p:spPr>
          <a:xfrm>
            <a:off x="3017520" y="2011680"/>
            <a:ext cx="0" cy="137160"/>
          </a:xfrm>
          <a:prstGeom prst="line">
            <a:avLst/>
          </a:prstGeom>
          <a:noFill/>
          <a:ln w="19050">
            <a:solidFill>
              <a:schemeClr val="tx2"/>
            </a:solidFill>
            <a:prstDash val="solid"/>
          </a:ln>
        </p:spPr>
      </p:sp>
      <p:sp>
        <p:nvSpPr>
          <p:cNvPr id="8" name="right drop"/>
          <p:cNvSpPr/>
          <p:nvPr/>
        </p:nvSpPr>
        <p:spPr>
          <a:xfrm>
            <a:off x="9189720" y="2011680"/>
            <a:ext cx="0" cy="137160"/>
          </a:xfrm>
          <a:prstGeom prst="line">
            <a:avLst/>
          </a:prstGeom>
          <a:noFill/>
          <a:ln w="19050">
            <a:solidFill>
              <a:schemeClr val="tx2"/>
            </a:solidFill>
            <a:prstDash val="solid"/>
          </a:ln>
        </p:spPr>
      </p:sp>
      <p:sp>
        <p:nvSpPr>
          <p:cNvPr id="9" name="Living resources"/>
          <p:cNvSpPr/>
          <p:nvPr/>
        </p:nvSpPr>
        <p:spPr>
          <a:xfrm>
            <a:off x="548640" y="2148840"/>
            <a:ext cx="4937760" cy="566928"/>
          </a:xfrm>
          <a:prstGeom prst="roundRect">
            <a:avLst>
              <a:gd name="adj" fmla="val 19355"/>
            </a:avLst>
          </a:prstGeom>
          <a:solidFill>
            <a:schemeClr val="accent1"/>
          </a:solidFill>
          <a:ln w="12700">
            <a:solidFill>
              <a:schemeClr val="accent1"/>
            </a:solidFill>
            <a:prstDash val="solid"/>
          </a:ln>
        </p:spPr>
      </p:sp>
      <p:sp>
        <p:nvSpPr>
          <p:cNvPr id="10" name="Text 8"/>
          <p:cNvSpPr txBox="1"/>
          <p:nvPr/>
        </p:nvSpPr>
        <p:spPr>
          <a:xfrm>
            <a:off x="548640" y="2148840"/>
            <a:ext cx="4937760" cy="566928"/>
          </a:xfrm>
          <a:prstGeom prst="rect">
            <a:avLst/>
          </a:prstGeom>
          <a:noFill/>
          <a:ln/>
        </p:spPr>
        <p:txBody>
          <a:bodyPr wrap="square" lIns="0" tIns="0" rIns="0" bIns="0" rtlCol="0" anchor="ctr"/>
          <a:lstStyle/>
          <a:p>
            <a:pPr algn="ctr" indent="0" marL="0">
              <a:buNone/>
            </a:pPr>
            <a:r>
              <a:rPr lang="en-US" sz="1800" b="1" dirty="0">
                <a:solidFill>
                  <a:schemeClr val="bg1"/>
                </a:solidFill>
              </a:rPr>
              <a:t>Living resources</a:t>
            </a:r>
            <a:endParaRPr lang="en-US" sz="1800" dirty="0"/>
          </a:p>
        </p:txBody>
      </p:sp>
      <p:sp>
        <p:nvSpPr>
          <p:cNvPr id="11" name="Living resources item 1"/>
          <p:cNvSpPr/>
          <p:nvPr/>
        </p:nvSpPr>
        <p:spPr>
          <a:xfrm>
            <a:off x="868680" y="2880360"/>
            <a:ext cx="4617720" cy="548640"/>
          </a:xfrm>
          <a:prstGeom prst="roundRect">
            <a:avLst>
              <a:gd name="adj" fmla="val 13333"/>
            </a:avLst>
          </a:prstGeom>
          <a:solidFill>
            <a:schemeClr val="bg2"/>
          </a:solidFill>
          <a:ln w="12700">
            <a:solidFill>
              <a:schemeClr val="bg2"/>
            </a:solidFill>
            <a:prstDash val="solid"/>
          </a:ln>
        </p:spPr>
      </p:sp>
      <p:sp>
        <p:nvSpPr>
          <p:cNvPr id="12" name="twig"/>
          <p:cNvSpPr/>
          <p:nvPr/>
        </p:nvSpPr>
        <p:spPr>
          <a:xfrm>
            <a:off x="704088" y="3154680"/>
            <a:ext cx="164592" cy="0"/>
          </a:xfrm>
          <a:prstGeom prst="line">
            <a:avLst/>
          </a:prstGeom>
          <a:noFill/>
          <a:ln w="19050">
            <a:solidFill>
              <a:schemeClr val="tx2"/>
            </a:solidFill>
            <a:prstDash val="solid"/>
          </a:ln>
        </p:spPr>
      </p:sp>
      <p:sp>
        <p:nvSpPr>
          <p:cNvPr id="13" name="Text 11"/>
          <p:cNvSpPr txBox="1"/>
          <p:nvPr/>
        </p:nvSpPr>
        <p:spPr>
          <a:xfrm>
            <a:off x="1005840" y="2880360"/>
            <a:ext cx="4389120" cy="548640"/>
          </a:xfrm>
          <a:prstGeom prst="rect">
            <a:avLst/>
          </a:prstGeom>
          <a:noFill/>
          <a:ln/>
        </p:spPr>
        <p:txBody>
          <a:bodyPr wrap="square" lIns="0" tIns="0" rIns="0" bIns="0" rtlCol="0" anchor="ctr"/>
          <a:lstStyle/>
          <a:p>
            <a:pPr indent="0" marL="0">
              <a:buNone/>
            </a:pPr>
            <a:r>
              <a:rPr lang="en-US" sz="1400" b="1" dirty="0">
                <a:solidFill>
                  <a:schemeClr val="tx1"/>
                </a:solidFill>
              </a:rPr>
              <a:t>Coastal (neritic) fish:</a:t>
            </a:r>
            <a:r>
              <a:rPr lang="en-US" sz="1400" dirty="0">
                <a:solidFill>
                  <a:schemeClr val="tx1"/>
                </a:solidFill>
              </a:rPr>
              <a:t> live on the continental shelf, 0–200 m deep</a:t>
            </a:r>
            <a:endParaRPr lang="en-US" sz="1600" dirty="0"/>
          </a:p>
        </p:txBody>
      </p:sp>
      <p:sp>
        <p:nvSpPr>
          <p:cNvPr id="14" name="Living resources item 2"/>
          <p:cNvSpPr/>
          <p:nvPr/>
        </p:nvSpPr>
        <p:spPr>
          <a:xfrm>
            <a:off x="868680" y="3538728"/>
            <a:ext cx="4617720" cy="548640"/>
          </a:xfrm>
          <a:prstGeom prst="roundRect">
            <a:avLst>
              <a:gd name="adj" fmla="val 13333"/>
            </a:avLst>
          </a:prstGeom>
          <a:solidFill>
            <a:schemeClr val="bg2"/>
          </a:solidFill>
          <a:ln w="12700">
            <a:solidFill>
              <a:schemeClr val="bg2"/>
            </a:solidFill>
            <a:prstDash val="solid"/>
          </a:ln>
        </p:spPr>
      </p:sp>
      <p:sp>
        <p:nvSpPr>
          <p:cNvPr id="15" name="twig"/>
          <p:cNvSpPr/>
          <p:nvPr/>
        </p:nvSpPr>
        <p:spPr>
          <a:xfrm>
            <a:off x="704088" y="3813048"/>
            <a:ext cx="164592" cy="0"/>
          </a:xfrm>
          <a:prstGeom prst="line">
            <a:avLst/>
          </a:prstGeom>
          <a:noFill/>
          <a:ln w="19050">
            <a:solidFill>
              <a:schemeClr val="tx2"/>
            </a:solidFill>
            <a:prstDash val="solid"/>
          </a:ln>
        </p:spPr>
      </p:sp>
      <p:sp>
        <p:nvSpPr>
          <p:cNvPr id="16" name="Text 14"/>
          <p:cNvSpPr txBox="1"/>
          <p:nvPr/>
        </p:nvSpPr>
        <p:spPr>
          <a:xfrm>
            <a:off x="1005840" y="3538728"/>
            <a:ext cx="4389120" cy="548640"/>
          </a:xfrm>
          <a:prstGeom prst="rect">
            <a:avLst/>
          </a:prstGeom>
          <a:noFill/>
          <a:ln/>
        </p:spPr>
        <p:txBody>
          <a:bodyPr wrap="square" lIns="0" tIns="0" rIns="0" bIns="0" rtlCol="0" anchor="ctr"/>
          <a:lstStyle/>
          <a:p>
            <a:pPr indent="0" marL="0">
              <a:buNone/>
            </a:pPr>
            <a:r>
              <a:rPr lang="en-US" sz="1400" b="1" dirty="0">
                <a:solidFill>
                  <a:schemeClr val="tx1"/>
                </a:solidFill>
              </a:rPr>
              <a:t>Oceanic fish:</a:t>
            </a:r>
            <a:r>
              <a:rPr lang="en-US" sz="1400" dirty="0">
                <a:solidFill>
                  <a:schemeClr val="tx1"/>
                </a:solidFill>
              </a:rPr>
              <a:t> live beyond the shelf, deeper than 200 m</a:t>
            </a:r>
            <a:endParaRPr lang="en-US" sz="1600" dirty="0"/>
          </a:p>
        </p:txBody>
      </p:sp>
      <p:sp>
        <p:nvSpPr>
          <p:cNvPr id="17" name="Living resources item 3"/>
          <p:cNvSpPr/>
          <p:nvPr/>
        </p:nvSpPr>
        <p:spPr>
          <a:xfrm>
            <a:off x="868680" y="4197096"/>
            <a:ext cx="4617720" cy="548640"/>
          </a:xfrm>
          <a:prstGeom prst="roundRect">
            <a:avLst>
              <a:gd name="adj" fmla="val 13333"/>
            </a:avLst>
          </a:prstGeom>
          <a:solidFill>
            <a:schemeClr val="bg2"/>
          </a:solidFill>
          <a:ln w="12700">
            <a:solidFill>
              <a:schemeClr val="bg2"/>
            </a:solidFill>
            <a:prstDash val="solid"/>
          </a:ln>
        </p:spPr>
      </p:sp>
      <p:sp>
        <p:nvSpPr>
          <p:cNvPr id="18" name="twig"/>
          <p:cNvSpPr/>
          <p:nvPr/>
        </p:nvSpPr>
        <p:spPr>
          <a:xfrm>
            <a:off x="704088" y="4471416"/>
            <a:ext cx="164592" cy="0"/>
          </a:xfrm>
          <a:prstGeom prst="line">
            <a:avLst/>
          </a:prstGeom>
          <a:noFill/>
          <a:ln w="19050">
            <a:solidFill>
              <a:schemeClr val="tx2"/>
            </a:solidFill>
            <a:prstDash val="solid"/>
          </a:ln>
        </p:spPr>
      </p:sp>
      <p:sp>
        <p:nvSpPr>
          <p:cNvPr id="19" name="Text 17"/>
          <p:cNvSpPr txBox="1"/>
          <p:nvPr/>
        </p:nvSpPr>
        <p:spPr>
          <a:xfrm>
            <a:off x="1005840" y="4197096"/>
            <a:ext cx="4389120" cy="548640"/>
          </a:xfrm>
          <a:prstGeom prst="rect">
            <a:avLst/>
          </a:prstGeom>
          <a:noFill/>
          <a:ln/>
        </p:spPr>
        <p:txBody>
          <a:bodyPr wrap="square" lIns="0" tIns="0" rIns="0" bIns="0" rtlCol="0" anchor="ctr"/>
          <a:lstStyle/>
          <a:p>
            <a:pPr indent="0" marL="0">
              <a:buNone/>
            </a:pPr>
            <a:r>
              <a:rPr lang="en-US" sz="1400" b="1" dirty="0">
                <a:solidFill>
                  <a:schemeClr val="tx1"/>
                </a:solidFill>
              </a:rPr>
              <a:t>Bioactive natural products</a:t>
            </a:r>
            <a:r>
              <a:rPr lang="en-US" sz="1400" dirty="0">
                <a:solidFill>
                  <a:schemeClr val="tx1"/>
                </a:solidFill>
              </a:rPr>
              <a:t> (useful in medicines)</a:t>
            </a:r>
            <a:endParaRPr lang="en-US" sz="1600" dirty="0"/>
          </a:p>
        </p:txBody>
      </p:sp>
      <p:sp>
        <p:nvSpPr>
          <p:cNvPr id="20" name="Living resources item 4"/>
          <p:cNvSpPr/>
          <p:nvPr/>
        </p:nvSpPr>
        <p:spPr>
          <a:xfrm>
            <a:off x="868680" y="4855464"/>
            <a:ext cx="4617720" cy="548640"/>
          </a:xfrm>
          <a:prstGeom prst="roundRect">
            <a:avLst>
              <a:gd name="adj" fmla="val 13333"/>
            </a:avLst>
          </a:prstGeom>
          <a:solidFill>
            <a:schemeClr val="bg2"/>
          </a:solidFill>
          <a:ln w="12700">
            <a:solidFill>
              <a:schemeClr val="bg2"/>
            </a:solidFill>
            <a:prstDash val="solid"/>
          </a:ln>
        </p:spPr>
      </p:sp>
      <p:sp>
        <p:nvSpPr>
          <p:cNvPr id="21" name="twig"/>
          <p:cNvSpPr/>
          <p:nvPr/>
        </p:nvSpPr>
        <p:spPr>
          <a:xfrm>
            <a:off x="704088" y="5129784"/>
            <a:ext cx="164592" cy="0"/>
          </a:xfrm>
          <a:prstGeom prst="line">
            <a:avLst/>
          </a:prstGeom>
          <a:noFill/>
          <a:ln w="19050">
            <a:solidFill>
              <a:schemeClr val="tx2"/>
            </a:solidFill>
            <a:prstDash val="solid"/>
          </a:ln>
        </p:spPr>
      </p:sp>
      <p:sp>
        <p:nvSpPr>
          <p:cNvPr id="22" name="Text 20"/>
          <p:cNvSpPr txBox="1"/>
          <p:nvPr/>
        </p:nvSpPr>
        <p:spPr>
          <a:xfrm>
            <a:off x="1005840" y="4855464"/>
            <a:ext cx="4389120" cy="548640"/>
          </a:xfrm>
          <a:prstGeom prst="rect">
            <a:avLst/>
          </a:prstGeom>
          <a:noFill/>
          <a:ln/>
        </p:spPr>
        <p:txBody>
          <a:bodyPr wrap="square" lIns="0" tIns="0" rIns="0" bIns="0" rtlCol="0" anchor="ctr"/>
          <a:lstStyle/>
          <a:p>
            <a:pPr indent="0" marL="0">
              <a:buNone/>
            </a:pPr>
            <a:r>
              <a:rPr lang="en-US" sz="1400" b="1" dirty="0">
                <a:solidFill>
                  <a:schemeClr val="tx1"/>
                </a:solidFill>
              </a:rPr>
              <a:t>Marine bio-organisms</a:t>
            </a:r>
            <a:endParaRPr lang="en-US" sz="1600" dirty="0"/>
          </a:p>
        </p:txBody>
      </p:sp>
      <p:sp>
        <p:nvSpPr>
          <p:cNvPr id="23" name="Living resources item 5"/>
          <p:cNvSpPr/>
          <p:nvPr/>
        </p:nvSpPr>
        <p:spPr>
          <a:xfrm>
            <a:off x="868680" y="5513832"/>
            <a:ext cx="4617720" cy="548640"/>
          </a:xfrm>
          <a:prstGeom prst="roundRect">
            <a:avLst>
              <a:gd name="adj" fmla="val 13333"/>
            </a:avLst>
          </a:prstGeom>
          <a:solidFill>
            <a:schemeClr val="bg2"/>
          </a:solidFill>
          <a:ln w="12700">
            <a:solidFill>
              <a:schemeClr val="bg2"/>
            </a:solidFill>
            <a:prstDash val="solid"/>
          </a:ln>
        </p:spPr>
      </p:sp>
      <p:sp>
        <p:nvSpPr>
          <p:cNvPr id="24" name="twig"/>
          <p:cNvSpPr/>
          <p:nvPr/>
        </p:nvSpPr>
        <p:spPr>
          <a:xfrm>
            <a:off x="704088" y="5788152"/>
            <a:ext cx="164592" cy="0"/>
          </a:xfrm>
          <a:prstGeom prst="line">
            <a:avLst/>
          </a:prstGeom>
          <a:noFill/>
          <a:ln w="19050">
            <a:solidFill>
              <a:schemeClr val="tx2"/>
            </a:solidFill>
            <a:prstDash val="solid"/>
          </a:ln>
        </p:spPr>
      </p:sp>
      <p:sp>
        <p:nvSpPr>
          <p:cNvPr id="25" name="Text 23"/>
          <p:cNvSpPr txBox="1"/>
          <p:nvPr/>
        </p:nvSpPr>
        <p:spPr>
          <a:xfrm>
            <a:off x="1005840" y="5513832"/>
            <a:ext cx="4389120" cy="548640"/>
          </a:xfrm>
          <a:prstGeom prst="rect">
            <a:avLst/>
          </a:prstGeom>
          <a:noFill/>
          <a:ln/>
        </p:spPr>
        <p:txBody>
          <a:bodyPr wrap="square" lIns="0" tIns="0" rIns="0" bIns="0" rtlCol="0" anchor="ctr"/>
          <a:lstStyle/>
          <a:p>
            <a:pPr indent="0" marL="0">
              <a:buNone/>
            </a:pPr>
            <a:r>
              <a:rPr lang="en-US" sz="1400" b="1" dirty="0">
                <a:solidFill>
                  <a:schemeClr val="tx1"/>
                </a:solidFill>
              </a:rPr>
              <a:t>Submerged aquatic vegetation (SAV)</a:t>
            </a:r>
            <a:endParaRPr lang="en-US" sz="1600" dirty="0"/>
          </a:p>
        </p:txBody>
      </p:sp>
      <p:sp>
        <p:nvSpPr>
          <p:cNvPr id="26" name="spine"/>
          <p:cNvSpPr/>
          <p:nvPr/>
        </p:nvSpPr>
        <p:spPr>
          <a:xfrm>
            <a:off x="704088" y="2715768"/>
            <a:ext cx="0" cy="3072384"/>
          </a:xfrm>
          <a:prstGeom prst="line">
            <a:avLst/>
          </a:prstGeom>
          <a:noFill/>
          <a:ln w="19050">
            <a:solidFill>
              <a:schemeClr val="tx2"/>
            </a:solidFill>
            <a:prstDash val="solid"/>
          </a:ln>
        </p:spPr>
      </p:sp>
      <p:sp>
        <p:nvSpPr>
          <p:cNvPr id="27" name="Non-living resources"/>
          <p:cNvSpPr/>
          <p:nvPr/>
        </p:nvSpPr>
        <p:spPr>
          <a:xfrm>
            <a:off x="6675120" y="2148840"/>
            <a:ext cx="4965192" cy="566928"/>
          </a:xfrm>
          <a:prstGeom prst="roundRect">
            <a:avLst>
              <a:gd name="adj" fmla="val 19355"/>
            </a:avLst>
          </a:prstGeom>
          <a:solidFill>
            <a:schemeClr val="accent2"/>
          </a:solidFill>
          <a:ln w="12700">
            <a:solidFill>
              <a:schemeClr val="accent2"/>
            </a:solidFill>
            <a:prstDash val="solid"/>
          </a:ln>
        </p:spPr>
      </p:sp>
      <p:sp>
        <p:nvSpPr>
          <p:cNvPr id="28" name="Text 26"/>
          <p:cNvSpPr txBox="1"/>
          <p:nvPr/>
        </p:nvSpPr>
        <p:spPr>
          <a:xfrm>
            <a:off x="6675120" y="2148840"/>
            <a:ext cx="4965192" cy="566928"/>
          </a:xfrm>
          <a:prstGeom prst="rect">
            <a:avLst/>
          </a:prstGeom>
          <a:noFill/>
          <a:ln/>
        </p:spPr>
        <p:txBody>
          <a:bodyPr wrap="square" lIns="0" tIns="0" rIns="0" bIns="0" rtlCol="0" anchor="ctr"/>
          <a:lstStyle/>
          <a:p>
            <a:pPr algn="ctr" indent="0" marL="0">
              <a:buNone/>
            </a:pPr>
            <a:r>
              <a:rPr lang="en-US" sz="1800" b="1" dirty="0">
                <a:solidFill>
                  <a:schemeClr val="bg1"/>
                </a:solidFill>
              </a:rPr>
              <a:t>Non-living resources</a:t>
            </a:r>
            <a:endParaRPr lang="en-US" sz="1800" dirty="0"/>
          </a:p>
        </p:txBody>
      </p:sp>
      <p:sp>
        <p:nvSpPr>
          <p:cNvPr id="29" name="Non-living resources item 1"/>
          <p:cNvSpPr/>
          <p:nvPr/>
        </p:nvSpPr>
        <p:spPr>
          <a:xfrm>
            <a:off x="6995160" y="2880360"/>
            <a:ext cx="4645152" cy="548640"/>
          </a:xfrm>
          <a:prstGeom prst="roundRect">
            <a:avLst>
              <a:gd name="adj" fmla="val 13333"/>
            </a:avLst>
          </a:prstGeom>
          <a:solidFill>
            <a:schemeClr val="bg2"/>
          </a:solidFill>
          <a:ln w="12700">
            <a:solidFill>
              <a:schemeClr val="bg2"/>
            </a:solidFill>
            <a:prstDash val="solid"/>
          </a:ln>
        </p:spPr>
      </p:sp>
      <p:sp>
        <p:nvSpPr>
          <p:cNvPr id="30" name="twig"/>
          <p:cNvSpPr/>
          <p:nvPr/>
        </p:nvSpPr>
        <p:spPr>
          <a:xfrm>
            <a:off x="6830568" y="3154680"/>
            <a:ext cx="164592" cy="0"/>
          </a:xfrm>
          <a:prstGeom prst="line">
            <a:avLst/>
          </a:prstGeom>
          <a:noFill/>
          <a:ln w="19050">
            <a:solidFill>
              <a:schemeClr val="tx2"/>
            </a:solidFill>
            <a:prstDash val="solid"/>
          </a:ln>
        </p:spPr>
      </p:sp>
      <p:sp>
        <p:nvSpPr>
          <p:cNvPr id="31" name="Text 29"/>
          <p:cNvSpPr txBox="1"/>
          <p:nvPr/>
        </p:nvSpPr>
        <p:spPr>
          <a:xfrm>
            <a:off x="7132320" y="2880360"/>
            <a:ext cx="4416552" cy="548640"/>
          </a:xfrm>
          <a:prstGeom prst="rect">
            <a:avLst/>
          </a:prstGeom>
          <a:noFill/>
          <a:ln/>
        </p:spPr>
        <p:txBody>
          <a:bodyPr wrap="square" lIns="0" tIns="0" rIns="0" bIns="0" rtlCol="0" anchor="ctr"/>
          <a:lstStyle/>
          <a:p>
            <a:pPr indent="0" marL="0">
              <a:buNone/>
            </a:pPr>
            <a:r>
              <a:rPr lang="en-US" sz="1400" b="1" dirty="0">
                <a:solidFill>
                  <a:schemeClr val="tx1"/>
                </a:solidFill>
              </a:rPr>
              <a:t>Minerals:</a:t>
            </a:r>
            <a:r>
              <a:rPr lang="en-US" sz="1400" dirty="0">
                <a:solidFill>
                  <a:schemeClr val="tx1"/>
                </a:solidFill>
              </a:rPr>
              <a:t> sand, gravel, deep-sea minerals</a:t>
            </a:r>
            <a:endParaRPr lang="en-US" sz="1600" dirty="0"/>
          </a:p>
        </p:txBody>
      </p:sp>
      <p:sp>
        <p:nvSpPr>
          <p:cNvPr id="32" name="Non-living resources item 2"/>
          <p:cNvSpPr/>
          <p:nvPr/>
        </p:nvSpPr>
        <p:spPr>
          <a:xfrm>
            <a:off x="6995160" y="3538728"/>
            <a:ext cx="4645152" cy="548640"/>
          </a:xfrm>
          <a:prstGeom prst="roundRect">
            <a:avLst>
              <a:gd name="adj" fmla="val 13333"/>
            </a:avLst>
          </a:prstGeom>
          <a:solidFill>
            <a:schemeClr val="bg2"/>
          </a:solidFill>
          <a:ln w="12700">
            <a:solidFill>
              <a:schemeClr val="bg2"/>
            </a:solidFill>
            <a:prstDash val="solid"/>
          </a:ln>
        </p:spPr>
      </p:sp>
      <p:sp>
        <p:nvSpPr>
          <p:cNvPr id="33" name="twig"/>
          <p:cNvSpPr/>
          <p:nvPr/>
        </p:nvSpPr>
        <p:spPr>
          <a:xfrm>
            <a:off x="6830568" y="3813048"/>
            <a:ext cx="164592" cy="0"/>
          </a:xfrm>
          <a:prstGeom prst="line">
            <a:avLst/>
          </a:prstGeom>
          <a:noFill/>
          <a:ln w="19050">
            <a:solidFill>
              <a:schemeClr val="tx2"/>
            </a:solidFill>
            <a:prstDash val="solid"/>
          </a:ln>
        </p:spPr>
      </p:sp>
      <p:sp>
        <p:nvSpPr>
          <p:cNvPr id="34" name="Text 32"/>
          <p:cNvSpPr txBox="1"/>
          <p:nvPr/>
        </p:nvSpPr>
        <p:spPr>
          <a:xfrm>
            <a:off x="7132320" y="3538728"/>
            <a:ext cx="4416552" cy="548640"/>
          </a:xfrm>
          <a:prstGeom prst="rect">
            <a:avLst/>
          </a:prstGeom>
          <a:noFill/>
          <a:ln/>
        </p:spPr>
        <p:txBody>
          <a:bodyPr wrap="square" lIns="0" tIns="0" rIns="0" bIns="0" rtlCol="0" anchor="ctr"/>
          <a:lstStyle/>
          <a:p>
            <a:pPr indent="0" marL="0">
              <a:buNone/>
            </a:pPr>
            <a:r>
              <a:rPr lang="en-US" sz="1400" b="1" dirty="0">
                <a:solidFill>
                  <a:schemeClr val="tx1"/>
                </a:solidFill>
              </a:rPr>
              <a:t>Conventional energy:</a:t>
            </a:r>
            <a:r>
              <a:rPr lang="en-US" sz="1400" dirty="0">
                <a:solidFill>
                  <a:schemeClr val="tx1"/>
                </a:solidFill>
              </a:rPr>
              <a:t> oil and natural gas</a:t>
            </a:r>
            <a:endParaRPr lang="en-US" sz="1600" dirty="0"/>
          </a:p>
        </p:txBody>
      </p:sp>
      <p:sp>
        <p:nvSpPr>
          <p:cNvPr id="35" name="Non-living resources item 3"/>
          <p:cNvSpPr/>
          <p:nvPr/>
        </p:nvSpPr>
        <p:spPr>
          <a:xfrm>
            <a:off x="6995160" y="4197096"/>
            <a:ext cx="4645152" cy="548640"/>
          </a:xfrm>
          <a:prstGeom prst="roundRect">
            <a:avLst>
              <a:gd name="adj" fmla="val 13333"/>
            </a:avLst>
          </a:prstGeom>
          <a:solidFill>
            <a:schemeClr val="bg2"/>
          </a:solidFill>
          <a:ln w="12700">
            <a:solidFill>
              <a:schemeClr val="bg2"/>
            </a:solidFill>
            <a:prstDash val="solid"/>
          </a:ln>
        </p:spPr>
      </p:sp>
      <p:sp>
        <p:nvSpPr>
          <p:cNvPr id="36" name="twig"/>
          <p:cNvSpPr/>
          <p:nvPr/>
        </p:nvSpPr>
        <p:spPr>
          <a:xfrm>
            <a:off x="6830568" y="4471416"/>
            <a:ext cx="164592" cy="0"/>
          </a:xfrm>
          <a:prstGeom prst="line">
            <a:avLst/>
          </a:prstGeom>
          <a:noFill/>
          <a:ln w="19050">
            <a:solidFill>
              <a:schemeClr val="tx2"/>
            </a:solidFill>
            <a:prstDash val="solid"/>
          </a:ln>
        </p:spPr>
      </p:sp>
      <p:sp>
        <p:nvSpPr>
          <p:cNvPr id="37" name="Text 35"/>
          <p:cNvSpPr txBox="1"/>
          <p:nvPr/>
        </p:nvSpPr>
        <p:spPr>
          <a:xfrm>
            <a:off x="7132320" y="4197096"/>
            <a:ext cx="4416552" cy="548640"/>
          </a:xfrm>
          <a:prstGeom prst="rect">
            <a:avLst/>
          </a:prstGeom>
          <a:noFill/>
          <a:ln/>
        </p:spPr>
        <p:txBody>
          <a:bodyPr wrap="square" lIns="0" tIns="0" rIns="0" bIns="0" rtlCol="0" anchor="ctr"/>
          <a:lstStyle/>
          <a:p>
            <a:pPr indent="0" marL="0">
              <a:buNone/>
            </a:pPr>
            <a:r>
              <a:rPr lang="en-US" sz="1400" b="1" dirty="0">
                <a:solidFill>
                  <a:schemeClr val="tx1"/>
                </a:solidFill>
              </a:rPr>
              <a:t>Non-conventional:</a:t>
            </a:r>
            <a:r>
              <a:rPr lang="en-US" sz="1400" dirty="0">
                <a:solidFill>
                  <a:schemeClr val="tx1"/>
                </a:solidFill>
              </a:rPr>
              <a:t> gas hydrates, biofuels, offshore wind</a:t>
            </a:r>
            <a:endParaRPr lang="en-US" sz="1600" dirty="0"/>
          </a:p>
        </p:txBody>
      </p:sp>
      <p:sp>
        <p:nvSpPr>
          <p:cNvPr id="38" name="Non-living resources item 4"/>
          <p:cNvSpPr/>
          <p:nvPr/>
        </p:nvSpPr>
        <p:spPr>
          <a:xfrm>
            <a:off x="6995160" y="4855464"/>
            <a:ext cx="4645152" cy="548640"/>
          </a:xfrm>
          <a:prstGeom prst="roundRect">
            <a:avLst>
              <a:gd name="adj" fmla="val 13333"/>
            </a:avLst>
          </a:prstGeom>
          <a:solidFill>
            <a:schemeClr val="bg2"/>
          </a:solidFill>
          <a:ln w="12700">
            <a:solidFill>
              <a:schemeClr val="bg2"/>
            </a:solidFill>
            <a:prstDash val="solid"/>
          </a:ln>
        </p:spPr>
      </p:sp>
      <p:sp>
        <p:nvSpPr>
          <p:cNvPr id="39" name="twig"/>
          <p:cNvSpPr/>
          <p:nvPr/>
        </p:nvSpPr>
        <p:spPr>
          <a:xfrm>
            <a:off x="6830568" y="5129784"/>
            <a:ext cx="164592" cy="0"/>
          </a:xfrm>
          <a:prstGeom prst="line">
            <a:avLst/>
          </a:prstGeom>
          <a:noFill/>
          <a:ln w="19050">
            <a:solidFill>
              <a:schemeClr val="tx2"/>
            </a:solidFill>
            <a:prstDash val="solid"/>
          </a:ln>
        </p:spPr>
      </p:sp>
      <p:sp>
        <p:nvSpPr>
          <p:cNvPr id="40" name="Text 38"/>
          <p:cNvSpPr txBox="1"/>
          <p:nvPr/>
        </p:nvSpPr>
        <p:spPr>
          <a:xfrm>
            <a:off x="7132320" y="4855464"/>
            <a:ext cx="4416552" cy="548640"/>
          </a:xfrm>
          <a:prstGeom prst="rect">
            <a:avLst/>
          </a:prstGeom>
          <a:noFill/>
          <a:ln/>
        </p:spPr>
        <p:txBody>
          <a:bodyPr wrap="square" lIns="0" tIns="0" rIns="0" bIns="0" rtlCol="0" anchor="ctr"/>
          <a:lstStyle/>
          <a:p>
            <a:pPr indent="0" marL="0">
              <a:buNone/>
            </a:pPr>
            <a:r>
              <a:rPr lang="en-US" sz="1400" b="1" dirty="0">
                <a:solidFill>
                  <a:schemeClr val="tx1"/>
                </a:solidFill>
              </a:rPr>
              <a:t>Ocean energy:</a:t>
            </a:r>
            <a:r>
              <a:rPr lang="en-US" sz="1400" dirty="0">
                <a:solidFill>
                  <a:schemeClr val="tx1"/>
                </a:solidFill>
              </a:rPr>
              <a:t> tidal, wave and current energy; OTEC</a:t>
            </a:r>
            <a:endParaRPr lang="en-US" sz="1600" dirty="0"/>
          </a:p>
        </p:txBody>
      </p:sp>
      <p:sp>
        <p:nvSpPr>
          <p:cNvPr id="41" name="spine"/>
          <p:cNvSpPr/>
          <p:nvPr/>
        </p:nvSpPr>
        <p:spPr>
          <a:xfrm>
            <a:off x="6830568" y="2715768"/>
            <a:ext cx="0" cy="2414016"/>
          </a:xfrm>
          <a:prstGeom prst="line">
            <a:avLst/>
          </a:prstGeom>
          <a:noFill/>
          <a:ln w="19050">
            <a:solidFill>
              <a:schemeClr val="tx2"/>
            </a:solidFill>
            <a:prstDash val="solid"/>
          </a:ln>
        </p:spPr>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Why Marine Resources Matter</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Food and livelihood</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600" dirty="0">
                <a:solidFill>
                  <a:schemeClr val="tx1"/>
                </a:solidFill>
              </a:rPr>
              <a:t>Fish are a major source of protein; fishing and aquaculture support millions.</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Energy</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600" dirty="0">
                <a:solidFill>
                  <a:schemeClr val="tx1"/>
                </a:solidFill>
              </a:rPr>
              <a:t>Offshore oil and gas, and renewable </a:t>
            </a:r>
            <a:r>
              <a:rPr lang="en-US" sz="1600" b="1" dirty="0">
                <a:solidFill>
                  <a:schemeClr val="tx1"/>
                </a:solidFill>
              </a:rPr>
              <a:t>'blue energy'</a:t>
            </a:r>
            <a:r>
              <a:rPr lang="en-US" sz="1600" dirty="0">
                <a:solidFill>
                  <a:schemeClr val="tx1"/>
                </a:solidFill>
              </a:rPr>
              <a:t> from tides and waves.</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Trade and tourism</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600" dirty="0">
                <a:solidFill>
                  <a:schemeClr val="tx1"/>
                </a:solidFill>
              </a:rPr>
              <a:t>About </a:t>
            </a:r>
            <a:r>
              <a:rPr lang="en-US" sz="1600" b="1" dirty="0">
                <a:solidFill>
                  <a:schemeClr val="tx1"/>
                </a:solidFill>
              </a:rPr>
              <a:t>90% of global trade</a:t>
            </a:r>
            <a:r>
              <a:rPr lang="en-US" sz="1600" dirty="0">
                <a:solidFill>
                  <a:schemeClr val="tx1"/>
                </a:solidFill>
              </a:rPr>
              <a:t> by volume travels by sea.</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Minerals</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600" dirty="0">
                <a:solidFill>
                  <a:schemeClr val="tx1"/>
                </a:solidFill>
              </a:rPr>
              <a:t>Sand, gravel and deep-sea minerals.</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Culture</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600" dirty="0">
                <a:solidFill>
                  <a:schemeClr val="tx1"/>
                </a:solidFill>
              </a:rPr>
              <a:t>Śhaṅkha (conch) and kapardikā (cowrie shells, once used as money) link the sea with prosperity.</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Blue Economy</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600" dirty="0">
                <a:solidFill>
                  <a:schemeClr val="tx1"/>
                </a:solidFill>
              </a:rPr>
              <a:t>Sustainable use of ocean resources for growth and jobs </a:t>
            </a:r>
            <a:r>
              <a:rPr lang="en-US" sz="1600" b="1" dirty="0">
                <a:solidFill>
                  <a:schemeClr val="tx1"/>
                </a:solidFill>
              </a:rPr>
              <a:t>while keeping oceans healthy</a:t>
            </a:r>
            <a:r>
              <a:rPr lang="en-US" sz="1600" dirty="0">
                <a:solidFill>
                  <a:schemeClr val="tx1"/>
                </a:solidFill>
              </a:rPr>
              <a:t>. Linked to </a:t>
            </a:r>
            <a:r>
              <a:rPr lang="en-US" sz="1600" b="1" dirty="0">
                <a:solidFill>
                  <a:schemeClr val="tx1"/>
                </a:solidFill>
              </a:rPr>
              <a:t>SDG 14: Life Below Water</a:t>
            </a:r>
            <a:r>
              <a:rPr lang="en-US" sz="1600" dirty="0">
                <a:solidFill>
                  <a:schemeClr val="tx1"/>
                </a:solidFill>
              </a:rPr>
              <a: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5</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Maritime Zones: Rules of the Sea</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Who owns the ocean? Who can fish, sail or drill where?</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Maritime Zones at a Glance</a:t>
            </a:r>
            <a:endParaRPr lang="en-US" sz="3600" dirty="0"/>
          </a:p>
        </p:txBody>
      </p:sp>
      <p:sp>
        <p:nvSpPr>
          <p:cNvPr id="3" name="land"/>
          <p:cNvSpPr/>
          <p:nvPr/>
        </p:nvSpPr>
        <p:spPr>
          <a:xfrm>
            <a:off x="548640" y="1645920"/>
            <a:ext cx="914400" cy="1280160"/>
          </a:xfrm>
          <a:prstGeom prst="rect">
            <a:avLst/>
          </a:prstGeom>
          <a:solidFill>
            <a:schemeClr val="accent5"/>
          </a:solidFill>
          <a:ln w="12700">
            <a:solidFill>
              <a:schemeClr val="accent5"/>
            </a:solidFill>
            <a:prstDash val="solid"/>
          </a:ln>
        </p:spPr>
      </p:sp>
      <p:sp>
        <p:nvSpPr>
          <p:cNvPr id="4" name="Text 2"/>
          <p:cNvSpPr txBox="1"/>
          <p:nvPr/>
        </p:nvSpPr>
        <p:spPr>
          <a:xfrm>
            <a:off x="548640" y="2194560"/>
            <a:ext cx="914400" cy="365760"/>
          </a:xfrm>
          <a:prstGeom prst="rect">
            <a:avLst/>
          </a:prstGeom>
          <a:noFill/>
          <a:ln/>
        </p:spPr>
        <p:txBody>
          <a:bodyPr wrap="square" lIns="0" tIns="0" rIns="0" bIns="0" rtlCol="0" anchor="ctr"/>
          <a:lstStyle/>
          <a:p>
            <a:pPr algn="ctr" indent="0" marL="0">
              <a:buNone/>
            </a:pPr>
            <a:r>
              <a:rPr lang="en-US" sz="1400" b="1" dirty="0">
                <a:solidFill>
                  <a:schemeClr val="bg1"/>
                </a:solidFill>
              </a:rPr>
              <a:t>Land</a:t>
            </a:r>
            <a:endParaRPr lang="en-US" sz="1400" dirty="0"/>
          </a:p>
        </p:txBody>
      </p:sp>
      <p:sp>
        <p:nvSpPr>
          <p:cNvPr id="5" name="Internal waters"/>
          <p:cNvSpPr/>
          <p:nvPr/>
        </p:nvSpPr>
        <p:spPr>
          <a:xfrm>
            <a:off x="1463040" y="1874520"/>
            <a:ext cx="822960" cy="1051560"/>
          </a:xfrm>
          <a:prstGeom prst="rect">
            <a:avLst/>
          </a:prstGeom>
          <a:solidFill>
            <a:schemeClr val="bg2"/>
          </a:solidFill>
          <a:ln w="12700">
            <a:solidFill>
              <a:schemeClr val="bg1"/>
            </a:solidFill>
            <a:prstDash val="solid"/>
          </a:ln>
        </p:spPr>
      </p:sp>
      <p:sp>
        <p:nvSpPr>
          <p:cNvPr id="6" name="Text 4"/>
          <p:cNvSpPr txBox="1"/>
          <p:nvPr/>
        </p:nvSpPr>
        <p:spPr>
          <a:xfrm>
            <a:off x="1508760" y="1874520"/>
            <a:ext cx="731520" cy="1051560"/>
          </a:xfrm>
          <a:prstGeom prst="rect">
            <a:avLst/>
          </a:prstGeom>
          <a:noFill/>
          <a:ln/>
        </p:spPr>
        <p:txBody>
          <a:bodyPr wrap="square" lIns="0" tIns="0" rIns="0" bIns="0" rtlCol="0" anchor="ctr"/>
          <a:lstStyle/>
          <a:p>
            <a:pPr algn="ctr" indent="0" marL="0">
              <a:buNone/>
            </a:pPr>
            <a:r>
              <a:rPr lang="en-US" sz="1500" b="1" dirty="0">
                <a:solidFill>
                  <a:schemeClr val="tx2"/>
                </a:solidFill>
              </a:rPr>
              <a:t>Internal waters</a:t>
            </a:r>
            <a:endParaRPr lang="en-US" sz="1500" dirty="0"/>
          </a:p>
        </p:txBody>
      </p:sp>
      <p:sp>
        <p:nvSpPr>
          <p:cNvPr id="7" name="Territorial sea"/>
          <p:cNvSpPr/>
          <p:nvPr/>
        </p:nvSpPr>
        <p:spPr>
          <a:xfrm>
            <a:off x="2286000" y="1874520"/>
            <a:ext cx="1920240" cy="1051560"/>
          </a:xfrm>
          <a:prstGeom prst="rect">
            <a:avLst/>
          </a:prstGeom>
          <a:solidFill>
            <a:schemeClr val="accent4">
              <a:alpha val="35000"/>
            </a:schemeClr>
          </a:solidFill>
          <a:ln w="12700">
            <a:solidFill>
              <a:schemeClr val="bg1"/>
            </a:solidFill>
            <a:prstDash val="solid"/>
          </a:ln>
        </p:spPr>
      </p:sp>
      <p:sp>
        <p:nvSpPr>
          <p:cNvPr id="8" name="Text 6"/>
          <p:cNvSpPr txBox="1"/>
          <p:nvPr/>
        </p:nvSpPr>
        <p:spPr>
          <a:xfrm>
            <a:off x="2331720" y="1874520"/>
            <a:ext cx="1828800" cy="1051560"/>
          </a:xfrm>
          <a:prstGeom prst="rect">
            <a:avLst/>
          </a:prstGeom>
          <a:noFill/>
          <a:ln/>
        </p:spPr>
        <p:txBody>
          <a:bodyPr wrap="square" lIns="0" tIns="0" rIns="0" bIns="0" rtlCol="0" anchor="ctr"/>
          <a:lstStyle/>
          <a:p>
            <a:pPr algn="ctr" indent="0" marL="0">
              <a:buNone/>
            </a:pPr>
            <a:r>
              <a:rPr lang="en-US" sz="1500" b="1" dirty="0">
                <a:solidFill>
                  <a:schemeClr val="tx2"/>
                </a:solidFill>
              </a:rPr>
              <a:t>Territorial sea</a:t>
            </a:r>
            <a:endParaRPr lang="en-US" sz="1500" dirty="0"/>
          </a:p>
        </p:txBody>
      </p:sp>
      <p:sp>
        <p:nvSpPr>
          <p:cNvPr id="9" name="Contiguous zone"/>
          <p:cNvSpPr/>
          <p:nvPr/>
        </p:nvSpPr>
        <p:spPr>
          <a:xfrm>
            <a:off x="4206240" y="1874520"/>
            <a:ext cx="1828800" cy="1051560"/>
          </a:xfrm>
          <a:prstGeom prst="rect">
            <a:avLst/>
          </a:prstGeom>
          <a:solidFill>
            <a:schemeClr val="accent4">
              <a:alpha val="60000"/>
            </a:schemeClr>
          </a:solidFill>
          <a:ln w="12700">
            <a:solidFill>
              <a:schemeClr val="bg1"/>
            </a:solidFill>
            <a:prstDash val="solid"/>
          </a:ln>
        </p:spPr>
      </p:sp>
      <p:sp>
        <p:nvSpPr>
          <p:cNvPr id="10" name="Text 8"/>
          <p:cNvSpPr txBox="1"/>
          <p:nvPr/>
        </p:nvSpPr>
        <p:spPr>
          <a:xfrm>
            <a:off x="4251960" y="1874520"/>
            <a:ext cx="1737360" cy="1051560"/>
          </a:xfrm>
          <a:prstGeom prst="rect">
            <a:avLst/>
          </a:prstGeom>
          <a:noFill/>
          <a:ln/>
        </p:spPr>
        <p:txBody>
          <a:bodyPr wrap="square" lIns="0" tIns="0" rIns="0" bIns="0" rtlCol="0" anchor="ctr"/>
          <a:lstStyle/>
          <a:p>
            <a:pPr algn="ctr" indent="0" marL="0">
              <a:buNone/>
            </a:pPr>
            <a:r>
              <a:rPr lang="en-US" sz="1500" b="1" dirty="0">
                <a:solidFill>
                  <a:schemeClr val="tx2"/>
                </a:solidFill>
              </a:rPr>
              <a:t>Contiguous zone</a:t>
            </a:r>
            <a:endParaRPr lang="en-US" sz="1500" dirty="0"/>
          </a:p>
        </p:txBody>
      </p:sp>
      <p:sp>
        <p:nvSpPr>
          <p:cNvPr id="11" name="Exclusive Economic Zone (EEZ)"/>
          <p:cNvSpPr/>
          <p:nvPr/>
        </p:nvSpPr>
        <p:spPr>
          <a:xfrm>
            <a:off x="6035040" y="1874520"/>
            <a:ext cx="3474720" cy="1051560"/>
          </a:xfrm>
          <a:prstGeom prst="rect">
            <a:avLst/>
          </a:prstGeom>
          <a:solidFill>
            <a:schemeClr val="accent4"/>
          </a:solidFill>
          <a:ln w="12700">
            <a:solidFill>
              <a:schemeClr val="bg1"/>
            </a:solidFill>
            <a:prstDash val="solid"/>
          </a:ln>
        </p:spPr>
      </p:sp>
      <p:sp>
        <p:nvSpPr>
          <p:cNvPr id="12" name="Text 10"/>
          <p:cNvSpPr txBox="1"/>
          <p:nvPr/>
        </p:nvSpPr>
        <p:spPr>
          <a:xfrm>
            <a:off x="6080760" y="1874520"/>
            <a:ext cx="3383280" cy="1051560"/>
          </a:xfrm>
          <a:prstGeom prst="rect">
            <a:avLst/>
          </a:prstGeom>
          <a:noFill/>
          <a:ln/>
        </p:spPr>
        <p:txBody>
          <a:bodyPr wrap="square" lIns="0" tIns="0" rIns="0" bIns="0" rtlCol="0" anchor="ctr"/>
          <a:lstStyle/>
          <a:p>
            <a:pPr algn="ctr" indent="0" marL="0">
              <a:buNone/>
            </a:pPr>
            <a:r>
              <a:rPr lang="en-US" sz="1400" b="1" dirty="0">
                <a:solidFill>
                  <a:schemeClr val="bg1"/>
                </a:solidFill>
              </a:rPr>
              <a:t>Exclusive Economic Zone (EEZ)</a:t>
            </a:r>
            <a:endParaRPr lang="en-US" sz="1400" dirty="0"/>
          </a:p>
        </p:txBody>
      </p:sp>
      <p:sp>
        <p:nvSpPr>
          <p:cNvPr id="13" name="High seas"/>
          <p:cNvSpPr/>
          <p:nvPr/>
        </p:nvSpPr>
        <p:spPr>
          <a:xfrm>
            <a:off x="9509760" y="1874520"/>
            <a:ext cx="2130552" cy="1051560"/>
          </a:xfrm>
          <a:prstGeom prst="rect">
            <a:avLst/>
          </a:prstGeom>
          <a:solidFill>
            <a:schemeClr val="tx2"/>
          </a:solidFill>
          <a:ln w="12700">
            <a:solidFill>
              <a:schemeClr val="bg1"/>
            </a:solidFill>
            <a:prstDash val="solid"/>
          </a:ln>
        </p:spPr>
      </p:sp>
      <p:sp>
        <p:nvSpPr>
          <p:cNvPr id="14" name="Text 12"/>
          <p:cNvSpPr txBox="1"/>
          <p:nvPr/>
        </p:nvSpPr>
        <p:spPr>
          <a:xfrm>
            <a:off x="9555480" y="1874520"/>
            <a:ext cx="2039112" cy="1051560"/>
          </a:xfrm>
          <a:prstGeom prst="rect">
            <a:avLst/>
          </a:prstGeom>
          <a:noFill/>
          <a:ln/>
        </p:spPr>
        <p:txBody>
          <a:bodyPr wrap="square" lIns="0" tIns="0" rIns="0" bIns="0" rtlCol="0" anchor="ctr"/>
          <a:lstStyle/>
          <a:p>
            <a:pPr algn="ctr" indent="0" marL="0">
              <a:buNone/>
            </a:pPr>
            <a:r>
              <a:rPr lang="en-US" sz="1500" b="1" dirty="0">
                <a:solidFill>
                  <a:schemeClr val="bg1"/>
                </a:solidFill>
              </a:rPr>
              <a:t>High seas</a:t>
            </a:r>
            <a:endParaRPr lang="en-US" sz="1500" dirty="0"/>
          </a:p>
        </p:txBody>
      </p:sp>
      <p:sp>
        <p:nvSpPr>
          <p:cNvPr id="15" name="baseline"/>
          <p:cNvSpPr/>
          <p:nvPr/>
        </p:nvSpPr>
        <p:spPr>
          <a:xfrm>
            <a:off x="2286000" y="1554480"/>
            <a:ext cx="0" cy="1508760"/>
          </a:xfrm>
          <a:prstGeom prst="line">
            <a:avLst/>
          </a:prstGeom>
          <a:noFill/>
          <a:ln w="38100">
            <a:solidFill>
              <a:schemeClr val="accent2"/>
            </a:solidFill>
            <a:prstDash val="solid"/>
          </a:ln>
        </p:spPr>
      </p:sp>
      <p:sp>
        <p:nvSpPr>
          <p:cNvPr id="16" name="Text 14"/>
          <p:cNvSpPr txBox="1"/>
          <p:nvPr/>
        </p:nvSpPr>
        <p:spPr>
          <a:xfrm>
            <a:off x="1691640" y="3081528"/>
            <a:ext cx="1188720" cy="274320"/>
          </a:xfrm>
          <a:prstGeom prst="rect">
            <a:avLst/>
          </a:prstGeom>
          <a:noFill/>
          <a:ln/>
        </p:spPr>
        <p:txBody>
          <a:bodyPr wrap="square" lIns="0" tIns="0" rIns="0" bIns="0" rtlCol="0" anchor="t"/>
          <a:lstStyle/>
          <a:p>
            <a:pPr algn="ctr" indent="0" marL="0">
              <a:buNone/>
            </a:pPr>
            <a:r>
              <a:rPr lang="en-US" sz="1300" b="1" dirty="0">
                <a:solidFill>
                  <a:schemeClr val="accent2"/>
                </a:solidFill>
              </a:rPr>
              <a:t>Baseline</a:t>
            </a:r>
            <a:endParaRPr lang="en-US" sz="1300" dirty="0"/>
          </a:p>
        </p:txBody>
      </p:sp>
      <p:sp>
        <p:nvSpPr>
          <p:cNvPr id="17" name="tick 0"/>
          <p:cNvSpPr/>
          <p:nvPr/>
        </p:nvSpPr>
        <p:spPr>
          <a:xfrm>
            <a:off x="2286000" y="1691640"/>
            <a:ext cx="0" cy="182880"/>
          </a:xfrm>
          <a:prstGeom prst="line">
            <a:avLst/>
          </a:prstGeom>
          <a:noFill/>
          <a:ln w="19050">
            <a:solidFill>
              <a:schemeClr val="tx2"/>
            </a:solidFill>
            <a:prstDash val="solid"/>
          </a:ln>
        </p:spPr>
      </p:sp>
      <p:sp>
        <p:nvSpPr>
          <p:cNvPr id="18" name="Text 16"/>
          <p:cNvSpPr txBox="1"/>
          <p:nvPr/>
        </p:nvSpPr>
        <p:spPr>
          <a:xfrm>
            <a:off x="1737360" y="1371600"/>
            <a:ext cx="1097280" cy="274320"/>
          </a:xfrm>
          <a:prstGeom prst="rect">
            <a:avLst/>
          </a:prstGeom>
          <a:noFill/>
          <a:ln/>
        </p:spPr>
        <p:txBody>
          <a:bodyPr wrap="square" lIns="0" tIns="0" rIns="0" bIns="0" rtlCol="0" anchor="ctr"/>
          <a:lstStyle/>
          <a:p>
            <a:pPr algn="ctr" indent="0" marL="0">
              <a:buNone/>
            </a:pPr>
            <a:r>
              <a:rPr lang="en-US" sz="1400" b="1" dirty="0">
                <a:solidFill>
                  <a:schemeClr val="tx2"/>
                </a:solidFill>
              </a:rPr>
              <a:t>0</a:t>
            </a:r>
            <a:endParaRPr lang="en-US" sz="1400" dirty="0"/>
          </a:p>
        </p:txBody>
      </p:sp>
      <p:sp>
        <p:nvSpPr>
          <p:cNvPr id="19" name="tick 12 NM"/>
          <p:cNvSpPr/>
          <p:nvPr/>
        </p:nvSpPr>
        <p:spPr>
          <a:xfrm>
            <a:off x="4206240" y="1691640"/>
            <a:ext cx="0" cy="182880"/>
          </a:xfrm>
          <a:prstGeom prst="line">
            <a:avLst/>
          </a:prstGeom>
          <a:noFill/>
          <a:ln w="19050">
            <a:solidFill>
              <a:schemeClr val="tx2"/>
            </a:solidFill>
            <a:prstDash val="solid"/>
          </a:ln>
        </p:spPr>
      </p:sp>
      <p:sp>
        <p:nvSpPr>
          <p:cNvPr id="20" name="Text 18"/>
          <p:cNvSpPr txBox="1"/>
          <p:nvPr/>
        </p:nvSpPr>
        <p:spPr>
          <a:xfrm>
            <a:off x="3657600" y="1371600"/>
            <a:ext cx="1097280" cy="274320"/>
          </a:xfrm>
          <a:prstGeom prst="rect">
            <a:avLst/>
          </a:prstGeom>
          <a:noFill/>
          <a:ln/>
        </p:spPr>
        <p:txBody>
          <a:bodyPr wrap="square" lIns="0" tIns="0" rIns="0" bIns="0" rtlCol="0" anchor="ctr"/>
          <a:lstStyle/>
          <a:p>
            <a:pPr algn="ctr" indent="0" marL="0">
              <a:buNone/>
            </a:pPr>
            <a:r>
              <a:rPr lang="en-US" sz="1400" b="1" dirty="0">
                <a:solidFill>
                  <a:schemeClr val="tx2"/>
                </a:solidFill>
              </a:rPr>
              <a:t>12 NM</a:t>
            </a:r>
            <a:endParaRPr lang="en-US" sz="1400" dirty="0"/>
          </a:p>
        </p:txBody>
      </p:sp>
      <p:sp>
        <p:nvSpPr>
          <p:cNvPr id="21" name="tick 24 NM"/>
          <p:cNvSpPr/>
          <p:nvPr/>
        </p:nvSpPr>
        <p:spPr>
          <a:xfrm>
            <a:off x="6035040" y="1691640"/>
            <a:ext cx="0" cy="182880"/>
          </a:xfrm>
          <a:prstGeom prst="line">
            <a:avLst/>
          </a:prstGeom>
          <a:noFill/>
          <a:ln w="19050">
            <a:solidFill>
              <a:schemeClr val="tx2"/>
            </a:solidFill>
            <a:prstDash val="solid"/>
          </a:ln>
        </p:spPr>
      </p:sp>
      <p:sp>
        <p:nvSpPr>
          <p:cNvPr id="22" name="Text 20"/>
          <p:cNvSpPr txBox="1"/>
          <p:nvPr/>
        </p:nvSpPr>
        <p:spPr>
          <a:xfrm>
            <a:off x="5486400" y="1371600"/>
            <a:ext cx="1097280" cy="274320"/>
          </a:xfrm>
          <a:prstGeom prst="rect">
            <a:avLst/>
          </a:prstGeom>
          <a:noFill/>
          <a:ln/>
        </p:spPr>
        <p:txBody>
          <a:bodyPr wrap="square" lIns="0" tIns="0" rIns="0" bIns="0" rtlCol="0" anchor="ctr"/>
          <a:lstStyle/>
          <a:p>
            <a:pPr algn="ctr" indent="0" marL="0">
              <a:buNone/>
            </a:pPr>
            <a:r>
              <a:rPr lang="en-US" sz="1400" b="1" dirty="0">
                <a:solidFill>
                  <a:schemeClr val="tx2"/>
                </a:solidFill>
              </a:rPr>
              <a:t>24 NM</a:t>
            </a:r>
            <a:endParaRPr lang="en-US" sz="1400" dirty="0"/>
          </a:p>
        </p:txBody>
      </p:sp>
      <p:sp>
        <p:nvSpPr>
          <p:cNvPr id="23" name="tick 200 NM"/>
          <p:cNvSpPr/>
          <p:nvPr/>
        </p:nvSpPr>
        <p:spPr>
          <a:xfrm>
            <a:off x="9509760" y="1691640"/>
            <a:ext cx="0" cy="182880"/>
          </a:xfrm>
          <a:prstGeom prst="line">
            <a:avLst/>
          </a:prstGeom>
          <a:noFill/>
          <a:ln w="19050">
            <a:solidFill>
              <a:schemeClr val="tx2"/>
            </a:solidFill>
            <a:prstDash val="solid"/>
          </a:ln>
        </p:spPr>
      </p:sp>
      <p:sp>
        <p:nvSpPr>
          <p:cNvPr id="24" name="Text 22"/>
          <p:cNvSpPr txBox="1"/>
          <p:nvPr/>
        </p:nvSpPr>
        <p:spPr>
          <a:xfrm>
            <a:off x="8961120" y="1371600"/>
            <a:ext cx="1097280" cy="274320"/>
          </a:xfrm>
          <a:prstGeom prst="rect">
            <a:avLst/>
          </a:prstGeom>
          <a:noFill/>
          <a:ln/>
        </p:spPr>
        <p:txBody>
          <a:bodyPr wrap="square" lIns="0" tIns="0" rIns="0" bIns="0" rtlCol="0" anchor="ctr"/>
          <a:lstStyle/>
          <a:p>
            <a:pPr algn="ctr" indent="0" marL="0">
              <a:buNone/>
            </a:pPr>
            <a:r>
              <a:rPr lang="en-US" sz="1400" b="1" dirty="0">
                <a:solidFill>
                  <a:schemeClr val="tx2"/>
                </a:solidFill>
              </a:rPr>
              <a:t>200 NM</a:t>
            </a:r>
            <a:endParaRPr lang="en-US" sz="1400" dirty="0"/>
          </a:p>
        </p:txBody>
      </p:sp>
      <p:sp>
        <p:nvSpPr>
          <p:cNvPr id="25" name="Text 23"/>
          <p:cNvSpPr txBox="1"/>
          <p:nvPr/>
        </p:nvSpPr>
        <p:spPr>
          <a:xfrm>
            <a:off x="5486400" y="1207008"/>
            <a:ext cx="6126480" cy="274320"/>
          </a:xfrm>
          <a:prstGeom prst="rect">
            <a:avLst/>
          </a:prstGeom>
          <a:noFill/>
          <a:ln/>
        </p:spPr>
        <p:txBody>
          <a:bodyPr wrap="square" lIns="0" tIns="0" rIns="0" bIns="0" rtlCol="0" anchor="t"/>
          <a:lstStyle/>
          <a:p>
            <a:pPr algn="r" indent="0" marL="0">
              <a:buNone/>
            </a:pPr>
            <a:r>
              <a:rPr lang="en-US" sz="1200" i="1" dirty="0">
                <a:solidFill>
                  <a:schemeClr val="tx2"/>
                </a:solidFill>
              </a:rPr>
              <a:t>Distances measured from the baseline (indicative, not to scale)</a:t>
            </a:r>
            <a:endParaRPr lang="en-US" sz="1200" dirty="0"/>
          </a:p>
        </p:txBody>
      </p:sp>
      <p:sp>
        <p:nvSpPr>
          <p:cNvPr id="26" name="Territorial sea (12 NM) card"/>
          <p:cNvSpPr/>
          <p:nvPr/>
        </p:nvSpPr>
        <p:spPr>
          <a:xfrm>
            <a:off x="548640" y="3429000"/>
            <a:ext cx="2560320" cy="2788920"/>
          </a:xfrm>
          <a:prstGeom prst="roundRect">
            <a:avLst>
              <a:gd name="adj" fmla="val 4286"/>
            </a:avLst>
          </a:prstGeom>
          <a:solidFill>
            <a:schemeClr val="bg2"/>
          </a:solidFill>
          <a:ln w="12700">
            <a:solidFill>
              <a:schemeClr val="bg2"/>
            </a:solidFill>
            <a:prstDash val="solid"/>
          </a:ln>
        </p:spPr>
      </p:sp>
      <p:sp>
        <p:nvSpPr>
          <p:cNvPr id="27" name="Text 25"/>
          <p:cNvSpPr txBox="1"/>
          <p:nvPr/>
        </p:nvSpPr>
        <p:spPr>
          <a:xfrm>
            <a:off x="731520" y="3566160"/>
            <a:ext cx="2194560" cy="251460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Territorial sea (12 NM)</a:t>
            </a:r>
            <a:endParaRPr lang="en-US" sz="1600" dirty="0"/>
          </a:p>
          <a:p>
            <a:pPr indent="0" marL="0">
              <a:spcAft>
                <a:spcPts val="400"/>
              </a:spcAft>
              <a:buNone/>
            </a:pPr>
            <a:r>
              <a:rPr lang="en-US" sz="1400" dirty="0">
                <a:solidFill>
                  <a:schemeClr val="tx1"/>
                </a:solidFill>
              </a:rPr>
              <a:t>Near-complete control: laws on customs, immigration and pollution. Foreign ships get the right of innocent passage.</a:t>
            </a:r>
            <a:endParaRPr lang="en-US" sz="1600" dirty="0"/>
          </a:p>
        </p:txBody>
      </p:sp>
      <p:sp>
        <p:nvSpPr>
          <p:cNvPr id="28" name="Contiguous zone (24 NM) card"/>
          <p:cNvSpPr/>
          <p:nvPr/>
        </p:nvSpPr>
        <p:spPr>
          <a:xfrm>
            <a:off x="3383280" y="3429000"/>
            <a:ext cx="2560320" cy="2788920"/>
          </a:xfrm>
          <a:prstGeom prst="roundRect">
            <a:avLst>
              <a:gd name="adj" fmla="val 4286"/>
            </a:avLst>
          </a:prstGeom>
          <a:solidFill>
            <a:schemeClr val="bg2"/>
          </a:solidFill>
          <a:ln w="12700">
            <a:solidFill>
              <a:schemeClr val="bg2"/>
            </a:solidFill>
            <a:prstDash val="solid"/>
          </a:ln>
        </p:spPr>
      </p:sp>
      <p:sp>
        <p:nvSpPr>
          <p:cNvPr id="29" name="Text 27"/>
          <p:cNvSpPr txBox="1"/>
          <p:nvPr/>
        </p:nvSpPr>
        <p:spPr>
          <a:xfrm>
            <a:off x="3566160" y="3566160"/>
            <a:ext cx="2194560" cy="251460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Contiguous zone (24 NM)</a:t>
            </a:r>
            <a:endParaRPr lang="en-US" sz="1600" dirty="0"/>
          </a:p>
          <a:p>
            <a:pPr indent="0" marL="0">
              <a:spcAft>
                <a:spcPts val="400"/>
              </a:spcAft>
              <a:buNone/>
            </a:pPr>
            <a:r>
              <a:rPr lang="en-US" sz="1400" dirty="0">
                <a:solidFill>
                  <a:schemeClr val="tx1"/>
                </a:solidFill>
              </a:rPr>
              <a:t>Limited control over customs, fiscal matters and illegal immigration.</a:t>
            </a:r>
            <a:endParaRPr lang="en-US" sz="1600" dirty="0"/>
          </a:p>
        </p:txBody>
      </p:sp>
      <p:sp>
        <p:nvSpPr>
          <p:cNvPr id="30" name="EEZ (200 NM, UNCLOS) card"/>
          <p:cNvSpPr/>
          <p:nvPr/>
        </p:nvSpPr>
        <p:spPr>
          <a:xfrm>
            <a:off x="6217920" y="3429000"/>
            <a:ext cx="2560320" cy="2788920"/>
          </a:xfrm>
          <a:prstGeom prst="roundRect">
            <a:avLst>
              <a:gd name="adj" fmla="val 4286"/>
            </a:avLst>
          </a:prstGeom>
          <a:solidFill>
            <a:schemeClr val="bg2"/>
          </a:solidFill>
          <a:ln w="12700">
            <a:solidFill>
              <a:schemeClr val="bg2"/>
            </a:solidFill>
            <a:prstDash val="solid"/>
          </a:ln>
        </p:spPr>
      </p:sp>
      <p:sp>
        <p:nvSpPr>
          <p:cNvPr id="31" name="Text 29"/>
          <p:cNvSpPr txBox="1"/>
          <p:nvPr/>
        </p:nvSpPr>
        <p:spPr>
          <a:xfrm>
            <a:off x="6400800" y="3566160"/>
            <a:ext cx="2194560" cy="251460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EEZ (200 NM, UNCLOS)</a:t>
            </a:r>
            <a:endParaRPr lang="en-US" sz="1600" dirty="0"/>
          </a:p>
          <a:p>
            <a:pPr indent="0" marL="0">
              <a:spcAft>
                <a:spcPts val="400"/>
              </a:spcAft>
              <a:buNone/>
            </a:pPr>
            <a:r>
              <a:rPr lang="en-US" sz="1400" dirty="0">
                <a:solidFill>
                  <a:schemeClr val="tx1"/>
                </a:solidFill>
              </a:rPr>
              <a:t>Special rights to use resources such as fish, oil and gas. Other ships may still pass peacefully; the waters are not fully owned.</a:t>
            </a:r>
            <a:endParaRPr lang="en-US" sz="1600" dirty="0"/>
          </a:p>
        </p:txBody>
      </p:sp>
      <p:sp>
        <p:nvSpPr>
          <p:cNvPr id="32" name="High seas card"/>
          <p:cNvSpPr/>
          <p:nvPr/>
        </p:nvSpPr>
        <p:spPr>
          <a:xfrm>
            <a:off x="9052560" y="3429000"/>
            <a:ext cx="2560320" cy="2788920"/>
          </a:xfrm>
          <a:prstGeom prst="roundRect">
            <a:avLst>
              <a:gd name="adj" fmla="val 4286"/>
            </a:avLst>
          </a:prstGeom>
          <a:solidFill>
            <a:schemeClr val="bg2"/>
          </a:solidFill>
          <a:ln w="12700">
            <a:solidFill>
              <a:schemeClr val="bg2"/>
            </a:solidFill>
            <a:prstDash val="solid"/>
          </a:ln>
        </p:spPr>
      </p:sp>
      <p:sp>
        <p:nvSpPr>
          <p:cNvPr id="33" name="Text 31"/>
          <p:cNvSpPr txBox="1"/>
          <p:nvPr/>
        </p:nvSpPr>
        <p:spPr>
          <a:xfrm>
            <a:off x="9235440" y="3566160"/>
            <a:ext cx="2194560" cy="251460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High seas</a:t>
            </a:r>
            <a:endParaRPr lang="en-US" sz="1600" dirty="0"/>
          </a:p>
          <a:p>
            <a:pPr indent="0" marL="0">
              <a:spcAft>
                <a:spcPts val="400"/>
              </a:spcAft>
              <a:buNone/>
            </a:pPr>
            <a:r>
              <a:rPr lang="en-US" sz="1400" dirty="0">
                <a:solidFill>
                  <a:schemeClr val="tx1"/>
                </a:solidFill>
              </a:rPr>
              <a:t>About 64% of the oceans. Belong to no country (global commons). The law of the flag state applies to ships.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Rules of the Road at Sea</a:t>
            </a:r>
            <a:endParaRPr lang="en-US" sz="3600" dirty="0"/>
          </a:p>
        </p:txBody>
      </p:sp>
      <p:sp>
        <p:nvSpPr>
          <p:cNvPr id="3" name="Text 1"/>
          <p:cNvSpPr txBox="1"/>
          <p:nvPr/>
        </p:nvSpPr>
        <p:spPr>
          <a:xfrm>
            <a:off x="548640" y="1280160"/>
            <a:ext cx="11064240" cy="640080"/>
          </a:xfrm>
          <a:prstGeom prst="rect">
            <a:avLst/>
          </a:prstGeom>
          <a:noFill/>
          <a:ln/>
        </p:spPr>
        <p:txBody>
          <a:bodyPr wrap="square" lIns="0" tIns="0" rIns="0" bIns="0" rtlCol="0" anchor="ctr"/>
          <a:lstStyle/>
          <a:p>
            <a:pPr indent="0" marL="0">
              <a:buNone/>
            </a:pPr>
            <a:r>
              <a:rPr lang="en-US" sz="1700" dirty="0">
                <a:solidFill>
                  <a:schemeClr val="tx1"/>
                </a:solidFill>
              </a:rPr>
              <a:t>Just like traffic rules on land, ships follow international rules to stay </a:t>
            </a:r>
            <a:r>
              <a:rPr lang="en-US" sz="1700" b="1" dirty="0">
                <a:solidFill>
                  <a:schemeClr val="tx1"/>
                </a:solidFill>
              </a:rPr>
              <a:t>safe, fair and peaceful</a:t>
            </a:r>
            <a:r>
              <a:rPr lang="en-US" sz="1700" dirty="0">
                <a:solidFill>
                  <a:schemeClr val="tx1"/>
                </a:solidFill>
              </a:rPr>
              <a:t>.</a:t>
            </a:r>
            <a:endParaRPr lang="en-US" sz="1600" dirty="0"/>
          </a:p>
        </p:txBody>
      </p:sp>
      <p:sp>
        <p:nvSpPr>
          <p:cNvPr id="4" name="card 1"/>
          <p:cNvSpPr/>
          <p:nvPr/>
        </p:nvSpPr>
        <p:spPr>
          <a:xfrm>
            <a:off x="548640" y="2057400"/>
            <a:ext cx="5394960" cy="1943100"/>
          </a:xfrm>
          <a:prstGeom prst="roundRect">
            <a:avLst>
              <a:gd name="adj" fmla="val 5647"/>
            </a:avLst>
          </a:prstGeom>
          <a:solidFill>
            <a:schemeClr val="bg2"/>
          </a:solidFill>
          <a:ln w="12700">
            <a:solidFill>
              <a:schemeClr val="bg2"/>
            </a:solidFill>
            <a:prstDash val="solid"/>
          </a:ln>
        </p:spPr>
      </p:sp>
      <p:sp>
        <p:nvSpPr>
          <p:cNvPr id="5" name="card 1 disc"/>
          <p:cNvSpPr/>
          <p:nvPr/>
        </p:nvSpPr>
        <p:spPr>
          <a:xfrm>
            <a:off x="777240" y="2286000"/>
            <a:ext cx="566928" cy="566928"/>
          </a:xfrm>
          <a:prstGeom prst="ellipse">
            <a:avLst/>
          </a:prstGeom>
          <a:solidFill>
            <a:schemeClr val="accent1"/>
          </a:solidFill>
          <a:ln w="12700">
            <a:solidFill>
              <a:schemeClr val="accent1"/>
            </a:solidFill>
            <a:prstDash val="solid"/>
          </a:ln>
        </p:spPr>
      </p:sp>
      <p:pic>
        <p:nvPicPr>
          <p:cNvPr id="6" name="card 1 glyph" descr="preencoded.png">    </p:cNvPr>
          <p:cNvPicPr>
            <a:picLocks noChangeAspect="1"/>
          </p:cNvPicPr>
          <p:nvPr/>
        </p:nvPicPr>
        <p:blipFill>
          <a:blip r:embed="rId1"/>
          <a:stretch>
            <a:fillRect/>
          </a:stretch>
        </p:blipFill>
        <p:spPr>
          <a:xfrm>
            <a:off x="901964" y="2410724"/>
            <a:ext cx="317480" cy="317480"/>
          </a:xfrm>
          <a:prstGeom prst="rect">
            <a:avLst/>
          </a:prstGeom>
        </p:spPr>
      </p:pic>
      <p:sp>
        <p:nvSpPr>
          <p:cNvPr id="7" name="Text 4"/>
          <p:cNvSpPr txBox="1"/>
          <p:nvPr/>
        </p:nvSpPr>
        <p:spPr>
          <a:xfrm>
            <a:off x="1481328" y="228600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UNCLOS</a:t>
            </a:r>
            <a:endParaRPr lang="en-US" sz="1800" dirty="0"/>
          </a:p>
        </p:txBody>
      </p:sp>
      <p:sp>
        <p:nvSpPr>
          <p:cNvPr id="8" name="Text 5"/>
          <p:cNvSpPr txBox="1"/>
          <p:nvPr/>
        </p:nvSpPr>
        <p:spPr>
          <a:xfrm>
            <a:off x="777240" y="2962656"/>
            <a:ext cx="4937760" cy="900684"/>
          </a:xfrm>
          <a:prstGeom prst="rect">
            <a:avLst/>
          </a:prstGeom>
          <a:noFill/>
          <a:ln/>
        </p:spPr>
        <p:txBody>
          <a:bodyPr wrap="square" lIns="0" tIns="0" rIns="0" bIns="0" rtlCol="0" anchor="t"/>
          <a:lstStyle/>
          <a:p>
            <a:pPr indent="0" marL="0">
              <a:buNone/>
            </a:pPr>
            <a:r>
              <a:rPr lang="en-US" sz="1700" dirty="0">
                <a:solidFill>
                  <a:schemeClr val="tx1"/>
                </a:solidFill>
              </a:rPr>
              <a:t>UN Convention on the Law of the Sea: defines maritime zones such as the EEZ and helps settle disputes between countries.</a:t>
            </a:r>
            <a:endParaRPr lang="en-US" sz="1600" dirty="0"/>
          </a:p>
        </p:txBody>
      </p:sp>
      <p:sp>
        <p:nvSpPr>
          <p:cNvPr id="9" name="card 2"/>
          <p:cNvSpPr/>
          <p:nvPr/>
        </p:nvSpPr>
        <p:spPr>
          <a:xfrm>
            <a:off x="6217920" y="2057400"/>
            <a:ext cx="5394960" cy="1943100"/>
          </a:xfrm>
          <a:prstGeom prst="roundRect">
            <a:avLst>
              <a:gd name="adj" fmla="val 5647"/>
            </a:avLst>
          </a:prstGeom>
          <a:solidFill>
            <a:schemeClr val="bg2"/>
          </a:solidFill>
          <a:ln w="12700">
            <a:solidFill>
              <a:schemeClr val="bg2"/>
            </a:solidFill>
            <a:prstDash val="solid"/>
          </a:ln>
        </p:spPr>
      </p:sp>
      <p:sp>
        <p:nvSpPr>
          <p:cNvPr id="10" name="card 2 disc"/>
          <p:cNvSpPr/>
          <p:nvPr/>
        </p:nvSpPr>
        <p:spPr>
          <a:xfrm>
            <a:off x="6446520" y="2286000"/>
            <a:ext cx="566928" cy="566928"/>
          </a:xfrm>
          <a:prstGeom prst="ellipse">
            <a:avLst/>
          </a:prstGeom>
          <a:solidFill>
            <a:schemeClr val="accent2"/>
          </a:solidFill>
          <a:ln w="12700">
            <a:solidFill>
              <a:schemeClr val="accent2"/>
            </a:solidFill>
            <a:prstDash val="solid"/>
          </a:ln>
        </p:spPr>
      </p:sp>
      <p:pic>
        <p:nvPicPr>
          <p:cNvPr id="11" name="card 2 glyph" descr="preencoded.png">    </p:cNvPr>
          <p:cNvPicPr>
            <a:picLocks noChangeAspect="1"/>
          </p:cNvPicPr>
          <p:nvPr/>
        </p:nvPicPr>
        <p:blipFill>
          <a:blip r:embed="rId2"/>
          <a:stretch>
            <a:fillRect/>
          </a:stretch>
        </p:blipFill>
        <p:spPr>
          <a:xfrm>
            <a:off x="6571244" y="2410724"/>
            <a:ext cx="317480" cy="317480"/>
          </a:xfrm>
          <a:prstGeom prst="rect">
            <a:avLst/>
          </a:prstGeom>
        </p:spPr>
      </p:pic>
      <p:sp>
        <p:nvSpPr>
          <p:cNvPr id="12" name="Text 8"/>
          <p:cNvSpPr txBox="1"/>
          <p:nvPr/>
        </p:nvSpPr>
        <p:spPr>
          <a:xfrm>
            <a:off x="7150608" y="228600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COLREGs</a:t>
            </a:r>
            <a:endParaRPr lang="en-US" sz="1800" dirty="0"/>
          </a:p>
        </p:txBody>
      </p:sp>
      <p:sp>
        <p:nvSpPr>
          <p:cNvPr id="13" name="Text 9"/>
          <p:cNvSpPr txBox="1"/>
          <p:nvPr/>
        </p:nvSpPr>
        <p:spPr>
          <a:xfrm>
            <a:off x="6446520" y="2962656"/>
            <a:ext cx="4937760" cy="900684"/>
          </a:xfrm>
          <a:prstGeom prst="rect">
            <a:avLst/>
          </a:prstGeom>
          <a:noFill/>
          <a:ln/>
        </p:spPr>
        <p:txBody>
          <a:bodyPr wrap="square" lIns="0" tIns="0" rIns="0" bIns="0" rtlCol="0" anchor="t"/>
          <a:lstStyle/>
          <a:p>
            <a:pPr indent="0" marL="0">
              <a:buNone/>
            </a:pPr>
            <a:r>
              <a:rPr lang="en-US" sz="1700" dirty="0">
                <a:solidFill>
                  <a:schemeClr val="tx1"/>
                </a:solidFill>
              </a:rPr>
              <a:t>Rules to prevent collisions: keep a proper lookout, safe speed, give-way and stand-on vessels, lights and sound signals.</a:t>
            </a:r>
            <a:endParaRPr lang="en-US" sz="1600" dirty="0"/>
          </a:p>
        </p:txBody>
      </p:sp>
      <p:sp>
        <p:nvSpPr>
          <p:cNvPr id="14" name="card 3"/>
          <p:cNvSpPr/>
          <p:nvPr/>
        </p:nvSpPr>
        <p:spPr>
          <a:xfrm>
            <a:off x="548640" y="4274820"/>
            <a:ext cx="5394960" cy="1943100"/>
          </a:xfrm>
          <a:prstGeom prst="roundRect">
            <a:avLst>
              <a:gd name="adj" fmla="val 5647"/>
            </a:avLst>
          </a:prstGeom>
          <a:solidFill>
            <a:schemeClr val="bg2"/>
          </a:solidFill>
          <a:ln w="12700">
            <a:solidFill>
              <a:schemeClr val="bg2"/>
            </a:solidFill>
            <a:prstDash val="solid"/>
          </a:ln>
        </p:spPr>
      </p:sp>
      <p:sp>
        <p:nvSpPr>
          <p:cNvPr id="15" name="card 3 disc"/>
          <p:cNvSpPr/>
          <p:nvPr/>
        </p:nvSpPr>
        <p:spPr>
          <a:xfrm>
            <a:off x="777240" y="4503420"/>
            <a:ext cx="566928" cy="566928"/>
          </a:xfrm>
          <a:prstGeom prst="ellipse">
            <a:avLst/>
          </a:prstGeom>
          <a:solidFill>
            <a:schemeClr val="accent4"/>
          </a:solidFill>
          <a:ln w="12700">
            <a:solidFill>
              <a:schemeClr val="accent4"/>
            </a:solidFill>
            <a:prstDash val="solid"/>
          </a:ln>
        </p:spPr>
      </p:sp>
      <p:pic>
        <p:nvPicPr>
          <p:cNvPr id="16" name="card 3 glyph" descr="preencoded.png">    </p:cNvPr>
          <p:cNvPicPr>
            <a:picLocks noChangeAspect="1"/>
          </p:cNvPicPr>
          <p:nvPr/>
        </p:nvPicPr>
        <p:blipFill>
          <a:blip r:embed="rId3"/>
          <a:stretch>
            <a:fillRect/>
          </a:stretch>
        </p:blipFill>
        <p:spPr>
          <a:xfrm>
            <a:off x="901964" y="4628144"/>
            <a:ext cx="317480" cy="317480"/>
          </a:xfrm>
          <a:prstGeom prst="rect">
            <a:avLst/>
          </a:prstGeom>
        </p:spPr>
      </p:pic>
      <p:sp>
        <p:nvSpPr>
          <p:cNvPr id="17" name="Text 12"/>
          <p:cNvSpPr txBox="1"/>
          <p:nvPr/>
        </p:nvSpPr>
        <p:spPr>
          <a:xfrm>
            <a:off x="1481328" y="450342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MARPOL</a:t>
            </a:r>
            <a:endParaRPr lang="en-US" sz="1800" dirty="0"/>
          </a:p>
        </p:txBody>
      </p:sp>
      <p:sp>
        <p:nvSpPr>
          <p:cNvPr id="18" name="Text 13"/>
          <p:cNvSpPr txBox="1"/>
          <p:nvPr/>
        </p:nvSpPr>
        <p:spPr>
          <a:xfrm>
            <a:off x="777240" y="5180076"/>
            <a:ext cx="4937760" cy="900684"/>
          </a:xfrm>
          <a:prstGeom prst="rect">
            <a:avLst/>
          </a:prstGeom>
          <a:noFill/>
          <a:ln/>
        </p:spPr>
        <p:txBody>
          <a:bodyPr wrap="square" lIns="0" tIns="0" rIns="0" bIns="0" rtlCol="0" anchor="t"/>
          <a:lstStyle/>
          <a:p>
            <a:pPr indent="0" marL="0">
              <a:buNone/>
            </a:pPr>
            <a:r>
              <a:rPr lang="en-US" sz="1700" dirty="0">
                <a:solidFill>
                  <a:schemeClr val="tx1"/>
                </a:solidFill>
              </a:rPr>
              <a:t>International convention to prevent pollution from ships.</a:t>
            </a:r>
            <a:endParaRPr lang="en-US" sz="1600" dirty="0"/>
          </a:p>
        </p:txBody>
      </p:sp>
      <p:sp>
        <p:nvSpPr>
          <p:cNvPr id="19" name="card 4"/>
          <p:cNvSpPr/>
          <p:nvPr/>
        </p:nvSpPr>
        <p:spPr>
          <a:xfrm>
            <a:off x="6217920" y="4274820"/>
            <a:ext cx="5394960" cy="1943100"/>
          </a:xfrm>
          <a:prstGeom prst="roundRect">
            <a:avLst>
              <a:gd name="adj" fmla="val 5647"/>
            </a:avLst>
          </a:prstGeom>
          <a:solidFill>
            <a:schemeClr val="bg2"/>
          </a:solidFill>
          <a:ln w="12700">
            <a:solidFill>
              <a:schemeClr val="bg2"/>
            </a:solidFill>
            <a:prstDash val="solid"/>
          </a:ln>
        </p:spPr>
      </p:sp>
      <p:sp>
        <p:nvSpPr>
          <p:cNvPr id="20" name="card 4 disc"/>
          <p:cNvSpPr/>
          <p:nvPr/>
        </p:nvSpPr>
        <p:spPr>
          <a:xfrm>
            <a:off x="6446520" y="4503420"/>
            <a:ext cx="566928" cy="566928"/>
          </a:xfrm>
          <a:prstGeom prst="ellipse">
            <a:avLst/>
          </a:prstGeom>
          <a:solidFill>
            <a:schemeClr val="accent5"/>
          </a:solidFill>
          <a:ln w="12700">
            <a:solidFill>
              <a:schemeClr val="accent5"/>
            </a:solidFill>
            <a:prstDash val="solid"/>
          </a:ln>
        </p:spPr>
      </p:sp>
      <p:pic>
        <p:nvPicPr>
          <p:cNvPr id="21" name="card 4 glyph" descr="preencoded.png">    </p:cNvPr>
          <p:cNvPicPr>
            <a:picLocks noChangeAspect="1"/>
          </p:cNvPicPr>
          <p:nvPr/>
        </p:nvPicPr>
        <p:blipFill>
          <a:blip r:embed="rId4"/>
          <a:stretch>
            <a:fillRect/>
          </a:stretch>
        </p:blipFill>
        <p:spPr>
          <a:xfrm>
            <a:off x="6571244" y="4628144"/>
            <a:ext cx="317480" cy="317480"/>
          </a:xfrm>
          <a:prstGeom prst="rect">
            <a:avLst/>
          </a:prstGeom>
        </p:spPr>
      </p:pic>
      <p:sp>
        <p:nvSpPr>
          <p:cNvPr id="22" name="Text 16"/>
          <p:cNvSpPr txBox="1"/>
          <p:nvPr/>
        </p:nvSpPr>
        <p:spPr>
          <a:xfrm>
            <a:off x="7150608" y="450342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Innocent passage</a:t>
            </a:r>
            <a:endParaRPr lang="en-US" sz="1800" dirty="0"/>
          </a:p>
        </p:txBody>
      </p:sp>
      <p:sp>
        <p:nvSpPr>
          <p:cNvPr id="23" name="Text 17"/>
          <p:cNvSpPr txBox="1"/>
          <p:nvPr/>
        </p:nvSpPr>
        <p:spPr>
          <a:xfrm>
            <a:off x="6446520" y="5180076"/>
            <a:ext cx="4937760" cy="900684"/>
          </a:xfrm>
          <a:prstGeom prst="rect">
            <a:avLst/>
          </a:prstGeom>
          <a:noFill/>
          <a:ln/>
        </p:spPr>
        <p:txBody>
          <a:bodyPr wrap="square" lIns="0" tIns="0" rIns="0" bIns="0" rtlCol="0" anchor="t"/>
          <a:lstStyle/>
          <a:p>
            <a:pPr indent="0" marL="0">
              <a:buNone/>
            </a:pPr>
            <a:r>
              <a:rPr lang="en-US" sz="1700" dirty="0">
                <a:solidFill>
                  <a:schemeClr val="tx1"/>
                </a:solidFill>
              </a:rPr>
              <a:t>Foreign ships may cross territorial waters without stopping, if they do not threaten peace. </a:t>
            </a:r>
            <a:r>
              <a:rPr lang="en-US" sz="1700" b="1" dirty="0">
                <a:solidFill>
                  <a:schemeClr val="tx1"/>
                </a:solidFill>
              </a:rPr>
              <a:t>No fishing or military activity.</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Quick Quiz</a:t>
            </a:r>
            <a:endParaRPr lang="en-US" sz="3600" dirty="0"/>
          </a:p>
        </p:txBody>
      </p:sp>
      <p:sp>
        <p:nvSpPr>
          <p:cNvPr id="3" name="quiz q1"/>
          <p:cNvSpPr/>
          <p:nvPr/>
        </p:nvSpPr>
        <p:spPr>
          <a:xfrm>
            <a:off x="548640" y="137160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quiz q1 badge"/>
          <p:cNvSpPr/>
          <p:nvPr/>
        </p:nvSpPr>
        <p:spPr>
          <a:xfrm>
            <a:off x="731520" y="155448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Q1</a:t>
            </a:r>
            <a:endParaRPr lang="en-US" sz="1300" dirty="0"/>
          </a:p>
        </p:txBody>
      </p:sp>
      <p:sp>
        <p:nvSpPr>
          <p:cNvPr id="6" name="Text 4"/>
          <p:cNvSpPr txBox="1"/>
          <p:nvPr/>
        </p:nvSpPr>
        <p:spPr>
          <a:xfrm>
            <a:off x="1325880" y="150876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The deepest place on Earth is the…</a:t>
            </a:r>
            <a:endParaRPr lang="en-US" sz="1600" dirty="0"/>
          </a:p>
        </p:txBody>
      </p:sp>
      <p:sp>
        <p:nvSpPr>
          <p:cNvPr id="7" name="Text 5"/>
          <p:cNvSpPr txBox="1"/>
          <p:nvPr/>
        </p:nvSpPr>
        <p:spPr>
          <a:xfrm>
            <a:off x="1325880" y="224028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Mid-Ocean Ridge</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Mariana Trench</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Gulf of Khambhat</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Abyssal plain</a:t>
            </a:r>
            <a:endParaRPr lang="en-US" sz="1700" dirty="0"/>
          </a:p>
        </p:txBody>
      </p:sp>
      <p:sp>
        <p:nvSpPr>
          <p:cNvPr id="8" name="quiz q2"/>
          <p:cNvSpPr/>
          <p:nvPr/>
        </p:nvSpPr>
        <p:spPr>
          <a:xfrm>
            <a:off x="6217920" y="137160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9" name="quiz q2 badge"/>
          <p:cNvSpPr/>
          <p:nvPr/>
        </p:nvSpPr>
        <p:spPr>
          <a:xfrm>
            <a:off x="6400800" y="155448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6400800" y="15544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Q2</a:t>
            </a:r>
            <a:endParaRPr lang="en-US" sz="1300" dirty="0"/>
          </a:p>
        </p:txBody>
      </p:sp>
      <p:sp>
        <p:nvSpPr>
          <p:cNvPr id="11" name="Text 9"/>
          <p:cNvSpPr txBox="1"/>
          <p:nvPr/>
        </p:nvSpPr>
        <p:spPr>
          <a:xfrm>
            <a:off x="6995160" y="150876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Spring tides occur when…</a:t>
            </a:r>
            <a:endParaRPr lang="en-US" sz="1600" dirty="0"/>
          </a:p>
        </p:txBody>
      </p:sp>
      <p:sp>
        <p:nvSpPr>
          <p:cNvPr id="12" name="Text 10"/>
          <p:cNvSpPr txBox="1"/>
          <p:nvPr/>
        </p:nvSpPr>
        <p:spPr>
          <a:xfrm>
            <a:off x="6995160" y="2240280"/>
            <a:ext cx="4434840" cy="1325880"/>
          </a:xfrm>
          <a:prstGeom prst="rect">
            <a:avLst/>
          </a:prstGeom>
          <a:noFill/>
          <a:ln/>
        </p:spPr>
        <p:txBody>
          <a:bodyPr wrap="square" lIns="0" tIns="0" rIns="0" bIns="0" rtlCol="0" anchor="t"/>
          <a:lstStyle/>
          <a:p>
            <a:pPr indent="0" marL="0">
              <a:spcAft>
                <a:spcPts val="300"/>
              </a:spcAft>
              <a:buNone/>
            </a:pPr>
            <a:r>
              <a:rPr lang="en-US" sz="1400" b="1" dirty="0">
                <a:solidFill>
                  <a:schemeClr val="accent1"/>
                </a:solidFill>
              </a:rPr>
              <a:t>A)  </a:t>
            </a:r>
            <a:r>
              <a:rPr lang="en-US" sz="1400" dirty="0">
                <a:solidFill>
                  <a:schemeClr val="tx1"/>
                </a:solidFill>
              </a:rPr>
              <a:t>the Moon is in its first quarter</a:t>
            </a:r>
            <a:endParaRPr lang="en-US" sz="1400" dirty="0"/>
          </a:p>
          <a:p>
            <a:pPr indent="0" marL="0">
              <a:spcAft>
                <a:spcPts val="300"/>
              </a:spcAft>
              <a:buNone/>
            </a:pPr>
            <a:r>
              <a:rPr lang="en-US" sz="1400" b="1" dirty="0">
                <a:solidFill>
                  <a:schemeClr val="accent1"/>
                </a:solidFill>
              </a:rPr>
              <a:t>B)  </a:t>
            </a:r>
            <a:r>
              <a:rPr lang="en-US" sz="1400" dirty="0">
                <a:solidFill>
                  <a:schemeClr val="tx1"/>
                </a:solidFill>
              </a:rPr>
              <a:t>the Sun, Earth and Moon are in a straight line</a:t>
            </a:r>
            <a:endParaRPr lang="en-US" sz="1400" dirty="0"/>
          </a:p>
          <a:p>
            <a:pPr indent="0" marL="0">
              <a:spcAft>
                <a:spcPts val="300"/>
              </a:spcAft>
              <a:buNone/>
            </a:pPr>
            <a:r>
              <a:rPr lang="en-US" sz="1400" b="1" dirty="0">
                <a:solidFill>
                  <a:schemeClr val="accent1"/>
                </a:solidFill>
              </a:rPr>
              <a:t>C)  </a:t>
            </a:r>
            <a:r>
              <a:rPr lang="en-US" sz="1400" dirty="0">
                <a:solidFill>
                  <a:schemeClr val="tx1"/>
                </a:solidFill>
              </a:rPr>
              <a:t>the Sun and Moon pull at right angles</a:t>
            </a:r>
            <a:endParaRPr lang="en-US" sz="1400" dirty="0"/>
          </a:p>
          <a:p>
            <a:pPr indent="0" marL="0">
              <a:spcAft>
                <a:spcPts val="300"/>
              </a:spcAft>
              <a:buNone/>
            </a:pPr>
            <a:r>
              <a:rPr lang="en-US" sz="1400" b="1" dirty="0">
                <a:solidFill>
                  <a:schemeClr val="accent1"/>
                </a:solidFill>
              </a:rPr>
              <a:t>D)  </a:t>
            </a:r>
            <a:r>
              <a:rPr lang="en-US" sz="1400" dirty="0">
                <a:solidFill>
                  <a:schemeClr val="tx1"/>
                </a:solidFill>
              </a:rPr>
              <a:t>there is a cyclone</a:t>
            </a:r>
            <a:endParaRPr lang="en-US" sz="1400" dirty="0"/>
          </a:p>
        </p:txBody>
      </p:sp>
      <p:sp>
        <p:nvSpPr>
          <p:cNvPr id="13" name="quiz q3"/>
          <p:cNvSpPr/>
          <p:nvPr/>
        </p:nvSpPr>
        <p:spPr>
          <a:xfrm>
            <a:off x="548640" y="393192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4" name="quiz q3 badge"/>
          <p:cNvSpPr/>
          <p:nvPr/>
        </p:nvSpPr>
        <p:spPr>
          <a:xfrm>
            <a:off x="731520" y="4114800"/>
            <a:ext cx="457200" cy="457200"/>
          </a:xfrm>
          <a:prstGeom prst="ellipse">
            <a:avLst/>
          </a:prstGeom>
          <a:solidFill>
            <a:schemeClr val="accent1"/>
          </a:solidFill>
          <a:ln w="12700">
            <a:solidFill>
              <a:schemeClr val="accent1"/>
            </a:solidFill>
            <a:prstDash val="solid"/>
          </a:ln>
        </p:spPr>
      </p:sp>
      <p:sp>
        <p:nvSpPr>
          <p:cNvPr id="15" name="Text 13"/>
          <p:cNvSpPr txBox="1"/>
          <p:nvPr/>
        </p:nvSpPr>
        <p:spPr>
          <a:xfrm>
            <a:off x="731520" y="41148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Q3</a:t>
            </a:r>
            <a:endParaRPr lang="en-US" sz="1300" dirty="0"/>
          </a:p>
        </p:txBody>
      </p:sp>
      <p:sp>
        <p:nvSpPr>
          <p:cNvPr id="16" name="Text 14"/>
          <p:cNvSpPr txBox="1"/>
          <p:nvPr/>
        </p:nvSpPr>
        <p:spPr>
          <a:xfrm>
            <a:off x="1325880" y="406908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A country's EEZ extends up to…</a:t>
            </a:r>
            <a:endParaRPr lang="en-US" sz="1600" dirty="0"/>
          </a:p>
        </p:txBody>
      </p:sp>
      <p:sp>
        <p:nvSpPr>
          <p:cNvPr id="17" name="Text 15"/>
          <p:cNvSpPr txBox="1"/>
          <p:nvPr/>
        </p:nvSpPr>
        <p:spPr>
          <a:xfrm>
            <a:off x="1325880" y="480060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12 nautical miles</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24 nautical miles</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200 nautical miles</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64 nautical miles</a:t>
            </a:r>
            <a:endParaRPr lang="en-US" sz="1700" dirty="0"/>
          </a:p>
        </p:txBody>
      </p:sp>
      <p:sp>
        <p:nvSpPr>
          <p:cNvPr id="18" name="quiz q4"/>
          <p:cNvSpPr/>
          <p:nvPr/>
        </p:nvSpPr>
        <p:spPr>
          <a:xfrm>
            <a:off x="6217920" y="393192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9" name="quiz q4 badge"/>
          <p:cNvSpPr/>
          <p:nvPr/>
        </p:nvSpPr>
        <p:spPr>
          <a:xfrm>
            <a:off x="6400800" y="4114800"/>
            <a:ext cx="457200" cy="457200"/>
          </a:xfrm>
          <a:prstGeom prst="ellipse">
            <a:avLst/>
          </a:prstGeom>
          <a:solidFill>
            <a:schemeClr val="accent1"/>
          </a:solidFill>
          <a:ln w="12700">
            <a:solidFill>
              <a:schemeClr val="accent1"/>
            </a:solidFill>
            <a:prstDash val="solid"/>
          </a:ln>
        </p:spPr>
      </p:sp>
      <p:sp>
        <p:nvSpPr>
          <p:cNvPr id="20" name="Text 18"/>
          <p:cNvSpPr txBox="1"/>
          <p:nvPr/>
        </p:nvSpPr>
        <p:spPr>
          <a:xfrm>
            <a:off x="6400800" y="41148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Q4</a:t>
            </a:r>
            <a:endParaRPr lang="en-US" sz="1300" dirty="0"/>
          </a:p>
        </p:txBody>
      </p:sp>
      <p:sp>
        <p:nvSpPr>
          <p:cNvPr id="21" name="Text 19"/>
          <p:cNvSpPr txBox="1"/>
          <p:nvPr/>
        </p:nvSpPr>
        <p:spPr>
          <a:xfrm>
            <a:off x="6995160" y="406908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The GEMINI device helps fishers by…</a:t>
            </a:r>
            <a:endParaRPr lang="en-US" sz="1600" dirty="0"/>
          </a:p>
        </p:txBody>
      </p:sp>
      <p:sp>
        <p:nvSpPr>
          <p:cNvPr id="22" name="Text 20"/>
          <p:cNvSpPr txBox="1"/>
          <p:nvPr/>
        </p:nvSpPr>
        <p:spPr>
          <a:xfrm>
            <a:off x="6995160" y="4800600"/>
            <a:ext cx="4434840" cy="1325880"/>
          </a:xfrm>
          <a:prstGeom prst="rect">
            <a:avLst/>
          </a:prstGeom>
          <a:noFill/>
          <a:ln/>
        </p:spPr>
        <p:txBody>
          <a:bodyPr wrap="square" lIns="0" tIns="0" rIns="0" bIns="0" rtlCol="0" anchor="t"/>
          <a:lstStyle/>
          <a:p>
            <a:pPr indent="0" marL="0">
              <a:spcAft>
                <a:spcPts val="300"/>
              </a:spcAft>
              <a:buNone/>
            </a:pPr>
            <a:r>
              <a:rPr lang="en-US" sz="1600" b="1" dirty="0">
                <a:solidFill>
                  <a:schemeClr val="accent1"/>
                </a:solidFill>
              </a:rPr>
              <a:t>A)  </a:t>
            </a:r>
            <a:r>
              <a:rPr lang="en-US" sz="1600" dirty="0">
                <a:solidFill>
                  <a:schemeClr val="tx1"/>
                </a:solidFill>
              </a:rPr>
              <a:t>catching fish automatically</a:t>
            </a:r>
            <a:endParaRPr lang="en-US" sz="1600" dirty="0"/>
          </a:p>
          <a:p>
            <a:pPr indent="0" marL="0">
              <a:spcAft>
                <a:spcPts val="300"/>
              </a:spcAft>
              <a:buNone/>
            </a:pPr>
            <a:r>
              <a:rPr lang="en-US" sz="1600" b="1" dirty="0">
                <a:solidFill>
                  <a:schemeClr val="accent1"/>
                </a:solidFill>
              </a:rPr>
              <a:t>B)  </a:t>
            </a:r>
            <a:r>
              <a:rPr lang="en-US" sz="1600" dirty="0">
                <a:solidFill>
                  <a:schemeClr val="tx1"/>
                </a:solidFill>
              </a:rPr>
              <a:t>sending satellite alerts to their phones</a:t>
            </a:r>
            <a:endParaRPr lang="en-US" sz="1600" dirty="0"/>
          </a:p>
          <a:p>
            <a:pPr indent="0" marL="0">
              <a:spcAft>
                <a:spcPts val="300"/>
              </a:spcAft>
              <a:buNone/>
            </a:pPr>
            <a:r>
              <a:rPr lang="en-US" sz="1600" b="1" dirty="0">
                <a:solidFill>
                  <a:schemeClr val="accent1"/>
                </a:solidFill>
              </a:rPr>
              <a:t>C)  </a:t>
            </a:r>
            <a:r>
              <a:rPr lang="en-US" sz="1600" dirty="0">
                <a:solidFill>
                  <a:schemeClr val="tx1"/>
                </a:solidFill>
              </a:rPr>
              <a:t>measuring water salinity</a:t>
            </a:r>
            <a:endParaRPr lang="en-US" sz="1600" dirty="0"/>
          </a:p>
          <a:p>
            <a:pPr indent="0" marL="0">
              <a:spcAft>
                <a:spcPts val="300"/>
              </a:spcAft>
              <a:buNone/>
            </a:pPr>
            <a:r>
              <a:rPr lang="en-US" sz="1600" b="1" dirty="0">
                <a:solidFill>
                  <a:schemeClr val="accent1"/>
                </a:solidFill>
              </a:rPr>
              <a:t>D)  </a:t>
            </a:r>
            <a:r>
              <a:rPr lang="en-US" sz="1600" dirty="0">
                <a:solidFill>
                  <a:schemeClr val="tx1"/>
                </a:solidFill>
              </a:rPr>
              <a:t>printing sea maps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Quick Quiz: Answers</a:t>
            </a:r>
            <a:endParaRPr lang="en-US" sz="3600" dirty="0"/>
          </a:p>
        </p:txBody>
      </p:sp>
      <p:sp>
        <p:nvSpPr>
          <p:cNvPr id="3" name="answer 1"/>
          <p:cNvSpPr/>
          <p:nvPr/>
        </p:nvSpPr>
        <p:spPr>
          <a:xfrm>
            <a:off x="548640" y="1371600"/>
            <a:ext cx="11064240" cy="1074420"/>
          </a:xfrm>
          <a:prstGeom prst="roundRect">
            <a:avLst>
              <a:gd name="adj" fmla="val 10213"/>
            </a:avLst>
          </a:prstGeom>
          <a:solidFill>
            <a:schemeClr val="bg2"/>
          </a:solidFill>
          <a:ln w="12700">
            <a:solidFill>
              <a:schemeClr val="bg2"/>
            </a:solidFill>
            <a:prstDash val="solid"/>
          </a:ln>
        </p:spPr>
      </p:sp>
      <p:sp>
        <p:nvSpPr>
          <p:cNvPr id="4" name="answer 1 badge"/>
          <p:cNvSpPr/>
          <p:nvPr/>
        </p:nvSpPr>
        <p:spPr>
          <a:xfrm>
            <a:off x="731520" y="1680210"/>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731520" y="168021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6" name="Text 4"/>
          <p:cNvSpPr txBox="1"/>
          <p:nvPr/>
        </p:nvSpPr>
        <p:spPr>
          <a:xfrm>
            <a:off x="1371600" y="137160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Q1. Mariana Trench</a:t>
            </a:r>
            <a:endParaRPr lang="en-US" sz="1600" dirty="0"/>
          </a:p>
          <a:p>
            <a:pPr indent="0" marL="0">
              <a:buNone/>
            </a:pPr>
            <a:r>
              <a:rPr lang="en-US" sz="1400" dirty="0">
                <a:solidFill>
                  <a:schemeClr val="tx1"/>
                </a:solidFill>
              </a:rPr>
              <a:t>The Mariana Trench in the Pacific Ocean is the deepest place on Earth.</a:t>
            </a:r>
            <a:endParaRPr lang="en-US" sz="1600" dirty="0"/>
          </a:p>
        </p:txBody>
      </p:sp>
      <p:sp>
        <p:nvSpPr>
          <p:cNvPr id="7" name="answer 2"/>
          <p:cNvSpPr/>
          <p:nvPr/>
        </p:nvSpPr>
        <p:spPr>
          <a:xfrm>
            <a:off x="548640" y="2583180"/>
            <a:ext cx="11064240" cy="1074420"/>
          </a:xfrm>
          <a:prstGeom prst="roundRect">
            <a:avLst>
              <a:gd name="adj" fmla="val 10213"/>
            </a:avLst>
          </a:prstGeom>
          <a:solidFill>
            <a:schemeClr val="bg2"/>
          </a:solidFill>
          <a:ln w="12700">
            <a:solidFill>
              <a:schemeClr val="bg2"/>
            </a:solidFill>
            <a:prstDash val="solid"/>
          </a:ln>
        </p:spPr>
      </p:sp>
      <p:sp>
        <p:nvSpPr>
          <p:cNvPr id="8" name="answer 2 badge"/>
          <p:cNvSpPr/>
          <p:nvPr/>
        </p:nvSpPr>
        <p:spPr>
          <a:xfrm>
            <a:off x="731520" y="2891790"/>
            <a:ext cx="457200" cy="457200"/>
          </a:xfrm>
          <a:prstGeom prst="ellipse">
            <a:avLst/>
          </a:prstGeom>
          <a:solidFill>
            <a:schemeClr val="accent2"/>
          </a:solidFill>
          <a:ln w="12700">
            <a:solidFill>
              <a:schemeClr val="accent2"/>
            </a:solidFill>
            <a:prstDash val="solid"/>
          </a:ln>
        </p:spPr>
      </p:sp>
      <p:sp>
        <p:nvSpPr>
          <p:cNvPr id="9" name="Text 7"/>
          <p:cNvSpPr txBox="1"/>
          <p:nvPr/>
        </p:nvSpPr>
        <p:spPr>
          <a:xfrm>
            <a:off x="731520" y="289179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0" name="Text 8"/>
          <p:cNvSpPr txBox="1"/>
          <p:nvPr/>
        </p:nvSpPr>
        <p:spPr>
          <a:xfrm>
            <a:off x="1371600" y="258318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Q2. The Sun, Earth and Moon are in a straight line</a:t>
            </a:r>
            <a:endParaRPr lang="en-US" sz="1600" dirty="0"/>
          </a:p>
          <a:p>
            <a:pPr indent="0" marL="0">
              <a:buNone/>
            </a:pPr>
            <a:r>
              <a:rPr lang="en-US" sz="1400" dirty="0">
                <a:solidFill>
                  <a:schemeClr val="tx1"/>
                </a:solidFill>
              </a:rPr>
              <a:t>On full moon and new moon days, the pulls of the Sun and Moon add up.</a:t>
            </a:r>
            <a:endParaRPr lang="en-US" sz="1600" dirty="0"/>
          </a:p>
        </p:txBody>
      </p:sp>
      <p:sp>
        <p:nvSpPr>
          <p:cNvPr id="11" name="answer 3"/>
          <p:cNvSpPr/>
          <p:nvPr/>
        </p:nvSpPr>
        <p:spPr>
          <a:xfrm>
            <a:off x="548640" y="3794760"/>
            <a:ext cx="11064240" cy="1074420"/>
          </a:xfrm>
          <a:prstGeom prst="roundRect">
            <a:avLst>
              <a:gd name="adj" fmla="val 10213"/>
            </a:avLst>
          </a:prstGeom>
          <a:solidFill>
            <a:schemeClr val="bg2"/>
          </a:solidFill>
          <a:ln w="12700">
            <a:solidFill>
              <a:schemeClr val="bg2"/>
            </a:solidFill>
            <a:prstDash val="solid"/>
          </a:ln>
        </p:spPr>
      </p:sp>
      <p:sp>
        <p:nvSpPr>
          <p:cNvPr id="12" name="answer 3 badge"/>
          <p:cNvSpPr/>
          <p:nvPr/>
        </p:nvSpPr>
        <p:spPr>
          <a:xfrm>
            <a:off x="731520" y="4103370"/>
            <a:ext cx="457200" cy="457200"/>
          </a:xfrm>
          <a:prstGeom prst="ellipse">
            <a:avLst/>
          </a:prstGeom>
          <a:solidFill>
            <a:schemeClr val="accent2"/>
          </a:solidFill>
          <a:ln w="12700">
            <a:solidFill>
              <a:schemeClr val="accent2"/>
            </a:solidFill>
            <a:prstDash val="solid"/>
          </a:ln>
        </p:spPr>
      </p:sp>
      <p:sp>
        <p:nvSpPr>
          <p:cNvPr id="13" name="Text 11"/>
          <p:cNvSpPr txBox="1"/>
          <p:nvPr/>
        </p:nvSpPr>
        <p:spPr>
          <a:xfrm>
            <a:off x="731520" y="410337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Text 12"/>
          <p:cNvSpPr txBox="1"/>
          <p:nvPr/>
        </p:nvSpPr>
        <p:spPr>
          <a:xfrm>
            <a:off x="1371600" y="379476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Q3. 200 nautical miles</a:t>
            </a:r>
            <a:endParaRPr lang="en-US" sz="1600" dirty="0"/>
          </a:p>
          <a:p>
            <a:pPr indent="0" marL="0">
              <a:buNone/>
            </a:pPr>
            <a:r>
              <a:rPr lang="en-US" sz="1400" dirty="0">
                <a:solidFill>
                  <a:schemeClr val="tx1"/>
                </a:solidFill>
              </a:rPr>
              <a:t>Under UNCLOS, the EEZ extends up to 200 NM from the baseline.</a:t>
            </a:r>
            <a:endParaRPr lang="en-US" sz="1600" dirty="0"/>
          </a:p>
        </p:txBody>
      </p:sp>
      <p:sp>
        <p:nvSpPr>
          <p:cNvPr id="15" name="answer 4"/>
          <p:cNvSpPr/>
          <p:nvPr/>
        </p:nvSpPr>
        <p:spPr>
          <a:xfrm>
            <a:off x="548640" y="5006340"/>
            <a:ext cx="11064240" cy="1074420"/>
          </a:xfrm>
          <a:prstGeom prst="roundRect">
            <a:avLst>
              <a:gd name="adj" fmla="val 10213"/>
            </a:avLst>
          </a:prstGeom>
          <a:solidFill>
            <a:schemeClr val="bg2"/>
          </a:solidFill>
          <a:ln w="12700">
            <a:solidFill>
              <a:schemeClr val="bg2"/>
            </a:solidFill>
            <a:prstDash val="solid"/>
          </a:ln>
        </p:spPr>
      </p:sp>
      <p:sp>
        <p:nvSpPr>
          <p:cNvPr id="16" name="answer 4 badge"/>
          <p:cNvSpPr/>
          <p:nvPr/>
        </p:nvSpPr>
        <p:spPr>
          <a:xfrm>
            <a:off x="731520" y="5314950"/>
            <a:ext cx="457200" cy="457200"/>
          </a:xfrm>
          <a:prstGeom prst="ellipse">
            <a:avLst/>
          </a:prstGeom>
          <a:solidFill>
            <a:schemeClr val="accent2"/>
          </a:solidFill>
          <a:ln w="12700">
            <a:solidFill>
              <a:schemeClr val="accent2"/>
            </a:solidFill>
            <a:prstDash val="solid"/>
          </a:ln>
        </p:spPr>
      </p:sp>
      <p:sp>
        <p:nvSpPr>
          <p:cNvPr id="17" name="Text 15"/>
          <p:cNvSpPr txBox="1"/>
          <p:nvPr/>
        </p:nvSpPr>
        <p:spPr>
          <a:xfrm>
            <a:off x="731520" y="531495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8" name="Text 16"/>
          <p:cNvSpPr txBox="1"/>
          <p:nvPr/>
        </p:nvSpPr>
        <p:spPr>
          <a:xfrm>
            <a:off x="1371600" y="500634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Q4. Sending satellite alerts to their phones</a:t>
            </a:r>
            <a:endParaRPr lang="en-US" sz="1600" dirty="0"/>
          </a:p>
          <a:p>
            <a:pPr indent="0" marL="0">
              <a:buNone/>
            </a:pPr>
            <a:r>
              <a:rPr lang="en-US" sz="1400" dirty="0">
                <a:solidFill>
                  <a:schemeClr val="tx1"/>
                </a:solidFill>
              </a:rPr>
              <a:t>It receives GAGAN satellite data and sends alerts to mobile phones by Bluetooth.</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Myth or Fact?</a:t>
            </a:r>
            <a:endParaRPr lang="en-US" sz="3600" dirty="0"/>
          </a:p>
        </p:txBody>
      </p:sp>
      <p:sp>
        <p:nvSpPr>
          <p:cNvPr id="3" name="statement 1"/>
          <p:cNvSpPr/>
          <p:nvPr/>
        </p:nvSpPr>
        <p:spPr>
          <a:xfrm>
            <a:off x="548640" y="1371600"/>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Text 2"/>
          <p:cNvSpPr txBox="1"/>
          <p:nvPr/>
        </p:nvSpPr>
        <p:spPr>
          <a:xfrm>
            <a:off x="822960" y="1371600"/>
            <a:ext cx="8595360" cy="832104"/>
          </a:xfrm>
          <a:prstGeom prst="rect">
            <a:avLst/>
          </a:prstGeom>
          <a:noFill/>
          <a:ln/>
        </p:spPr>
        <p:txBody>
          <a:bodyPr wrap="square" lIns="0" tIns="0" rIns="0" bIns="0" rtlCol="0" anchor="ctr"/>
          <a:lstStyle/>
          <a:p>
            <a:pPr indent="0" marL="0">
              <a:buNone/>
            </a:pPr>
            <a:r>
              <a:rPr lang="en-US" sz="1700" dirty="0">
                <a:solidFill>
                  <a:schemeClr val="tx1"/>
                </a:solidFill>
              </a:rPr>
              <a:t>1.  Waves are mainly caused by winds blowing across the water.</a:t>
            </a:r>
            <a:endParaRPr lang="en-US" sz="1700" dirty="0"/>
          </a:p>
        </p:txBody>
      </p:sp>
      <p:sp>
        <p:nvSpPr>
          <p:cNvPr id="5" name="vote 1"/>
          <p:cNvSpPr/>
          <p:nvPr/>
        </p:nvSpPr>
        <p:spPr>
          <a:xfrm>
            <a:off x="9646920" y="1559052"/>
            <a:ext cx="1737360" cy="457200"/>
          </a:xfrm>
          <a:prstGeom prst="roundRect">
            <a:avLst>
              <a:gd name="adj" fmla="val 50000"/>
            </a:avLst>
          </a:prstGeom>
          <a:solidFill>
            <a:schemeClr val="bg2"/>
          </a:solidFill>
          <a:ln w="12700">
            <a:solidFill>
              <a:schemeClr val="bg2"/>
            </a:solidFill>
            <a:prstDash val="solid"/>
          </a:ln>
        </p:spPr>
      </p:sp>
      <p:sp>
        <p:nvSpPr>
          <p:cNvPr id="6" name="Text 4"/>
          <p:cNvSpPr txBox="1"/>
          <p:nvPr/>
        </p:nvSpPr>
        <p:spPr>
          <a:xfrm>
            <a:off x="9646920" y="1559052"/>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7" name="statement 2"/>
          <p:cNvSpPr/>
          <p:nvPr/>
        </p:nvSpPr>
        <p:spPr>
          <a:xfrm>
            <a:off x="548640" y="2340864"/>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8" name="Text 6"/>
          <p:cNvSpPr txBox="1"/>
          <p:nvPr/>
        </p:nvSpPr>
        <p:spPr>
          <a:xfrm>
            <a:off x="822960" y="2340864"/>
            <a:ext cx="8595360" cy="832104"/>
          </a:xfrm>
          <a:prstGeom prst="rect">
            <a:avLst/>
          </a:prstGeom>
          <a:noFill/>
          <a:ln/>
        </p:spPr>
        <p:txBody>
          <a:bodyPr wrap="square" lIns="0" tIns="0" rIns="0" bIns="0" rtlCol="0" anchor="ctr"/>
          <a:lstStyle/>
          <a:p>
            <a:pPr indent="0" marL="0">
              <a:buNone/>
            </a:pPr>
            <a:r>
              <a:rPr lang="en-US" sz="1700" dirty="0">
                <a:solidFill>
                  <a:schemeClr val="tx1"/>
                </a:solidFill>
              </a:rPr>
              <a:t>2.  A country fully owns the waters of its EEZ.</a:t>
            </a:r>
            <a:endParaRPr lang="en-US" sz="1700" dirty="0"/>
          </a:p>
        </p:txBody>
      </p:sp>
      <p:sp>
        <p:nvSpPr>
          <p:cNvPr id="9" name="vote 2"/>
          <p:cNvSpPr/>
          <p:nvPr/>
        </p:nvSpPr>
        <p:spPr>
          <a:xfrm>
            <a:off x="9646920" y="2528316"/>
            <a:ext cx="1737360" cy="457200"/>
          </a:xfrm>
          <a:prstGeom prst="roundRect">
            <a:avLst>
              <a:gd name="adj" fmla="val 50000"/>
            </a:avLst>
          </a:prstGeom>
          <a:solidFill>
            <a:schemeClr val="bg2"/>
          </a:solidFill>
          <a:ln w="12700">
            <a:solidFill>
              <a:schemeClr val="bg2"/>
            </a:solidFill>
            <a:prstDash val="solid"/>
          </a:ln>
        </p:spPr>
      </p:sp>
      <p:sp>
        <p:nvSpPr>
          <p:cNvPr id="10" name="Text 8"/>
          <p:cNvSpPr txBox="1"/>
          <p:nvPr/>
        </p:nvSpPr>
        <p:spPr>
          <a:xfrm>
            <a:off x="9646920" y="2528316"/>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11" name="statement 3"/>
          <p:cNvSpPr/>
          <p:nvPr/>
        </p:nvSpPr>
        <p:spPr>
          <a:xfrm>
            <a:off x="548640" y="3310128"/>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2" name="Text 10"/>
          <p:cNvSpPr txBox="1"/>
          <p:nvPr/>
        </p:nvSpPr>
        <p:spPr>
          <a:xfrm>
            <a:off x="822960" y="3310128"/>
            <a:ext cx="8595360" cy="832104"/>
          </a:xfrm>
          <a:prstGeom prst="rect">
            <a:avLst/>
          </a:prstGeom>
          <a:noFill/>
          <a:ln/>
        </p:spPr>
        <p:txBody>
          <a:bodyPr wrap="square" lIns="0" tIns="0" rIns="0" bIns="0" rtlCol="0" anchor="ctr"/>
          <a:lstStyle/>
          <a:p>
            <a:pPr indent="0" marL="0">
              <a:buNone/>
            </a:pPr>
            <a:r>
              <a:rPr lang="en-US" sz="1700" dirty="0">
                <a:solidFill>
                  <a:schemeClr val="tx1"/>
                </a:solidFill>
              </a:rPr>
              <a:t>3.  Seamounts always rise above the sea surface.</a:t>
            </a:r>
            <a:endParaRPr lang="en-US" sz="1700" dirty="0"/>
          </a:p>
        </p:txBody>
      </p:sp>
      <p:sp>
        <p:nvSpPr>
          <p:cNvPr id="13" name="vote 3"/>
          <p:cNvSpPr/>
          <p:nvPr/>
        </p:nvSpPr>
        <p:spPr>
          <a:xfrm>
            <a:off x="9646920" y="3497580"/>
            <a:ext cx="1737360" cy="457200"/>
          </a:xfrm>
          <a:prstGeom prst="roundRect">
            <a:avLst>
              <a:gd name="adj" fmla="val 50000"/>
            </a:avLst>
          </a:prstGeom>
          <a:solidFill>
            <a:schemeClr val="bg2"/>
          </a:solidFill>
          <a:ln w="12700">
            <a:solidFill>
              <a:schemeClr val="bg2"/>
            </a:solidFill>
            <a:prstDash val="solid"/>
          </a:ln>
        </p:spPr>
      </p:sp>
      <p:sp>
        <p:nvSpPr>
          <p:cNvPr id="14" name="Text 12"/>
          <p:cNvSpPr txBox="1"/>
          <p:nvPr/>
        </p:nvSpPr>
        <p:spPr>
          <a:xfrm>
            <a:off x="9646920" y="3497580"/>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15" name="statement 4"/>
          <p:cNvSpPr/>
          <p:nvPr/>
        </p:nvSpPr>
        <p:spPr>
          <a:xfrm>
            <a:off x="548640" y="4279392"/>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6" name="Text 14"/>
          <p:cNvSpPr txBox="1"/>
          <p:nvPr/>
        </p:nvSpPr>
        <p:spPr>
          <a:xfrm>
            <a:off x="822960" y="4279392"/>
            <a:ext cx="8595360" cy="832104"/>
          </a:xfrm>
          <a:prstGeom prst="rect">
            <a:avLst/>
          </a:prstGeom>
          <a:noFill/>
          <a:ln/>
        </p:spPr>
        <p:txBody>
          <a:bodyPr wrap="square" lIns="0" tIns="0" rIns="0" bIns="0" rtlCol="0" anchor="ctr"/>
          <a:lstStyle/>
          <a:p>
            <a:pPr indent="0" marL="0">
              <a:buNone/>
            </a:pPr>
            <a:r>
              <a:rPr lang="en-US" sz="1700" dirty="0">
                <a:solidFill>
                  <a:schemeClr val="tx1"/>
                </a:solidFill>
              </a:rPr>
              <a:t>4.  The Gulf Stream is a cold current.</a:t>
            </a:r>
            <a:endParaRPr lang="en-US" sz="1700" dirty="0"/>
          </a:p>
        </p:txBody>
      </p:sp>
      <p:sp>
        <p:nvSpPr>
          <p:cNvPr id="17" name="vote 4"/>
          <p:cNvSpPr/>
          <p:nvPr/>
        </p:nvSpPr>
        <p:spPr>
          <a:xfrm>
            <a:off x="9646920" y="4466844"/>
            <a:ext cx="1737360" cy="457200"/>
          </a:xfrm>
          <a:prstGeom prst="roundRect">
            <a:avLst>
              <a:gd name="adj" fmla="val 50000"/>
            </a:avLst>
          </a:prstGeom>
          <a:solidFill>
            <a:schemeClr val="bg2"/>
          </a:solidFill>
          <a:ln w="12700">
            <a:solidFill>
              <a:schemeClr val="bg2"/>
            </a:solidFill>
            <a:prstDash val="solid"/>
          </a:ln>
        </p:spPr>
      </p:sp>
      <p:sp>
        <p:nvSpPr>
          <p:cNvPr id="18" name="Text 16"/>
          <p:cNvSpPr txBox="1"/>
          <p:nvPr/>
        </p:nvSpPr>
        <p:spPr>
          <a:xfrm>
            <a:off x="9646920" y="4466844"/>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19" name="statement 5"/>
          <p:cNvSpPr/>
          <p:nvPr/>
        </p:nvSpPr>
        <p:spPr>
          <a:xfrm>
            <a:off x="548640" y="5248656"/>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0" name="Text 18"/>
          <p:cNvSpPr txBox="1"/>
          <p:nvPr/>
        </p:nvSpPr>
        <p:spPr>
          <a:xfrm>
            <a:off x="822960" y="5248656"/>
            <a:ext cx="8595360" cy="832104"/>
          </a:xfrm>
          <a:prstGeom prst="rect">
            <a:avLst/>
          </a:prstGeom>
          <a:noFill/>
          <a:ln/>
        </p:spPr>
        <p:txBody>
          <a:bodyPr wrap="square" lIns="0" tIns="0" rIns="0" bIns="0" rtlCol="0" anchor="ctr"/>
          <a:lstStyle/>
          <a:p>
            <a:pPr indent="0" marL="0">
              <a:buNone/>
            </a:pPr>
            <a:r>
              <a:rPr lang="en-US" sz="1700" dirty="0">
                <a:solidFill>
                  <a:schemeClr val="tx1"/>
                </a:solidFill>
              </a:rPr>
              <a:t>5.  Under innocent passage, foreign ships may fish in India's territorial sea.</a:t>
            </a:r>
            <a:endParaRPr lang="en-US" sz="1700" dirty="0"/>
          </a:p>
        </p:txBody>
      </p:sp>
      <p:sp>
        <p:nvSpPr>
          <p:cNvPr id="21" name="vote 5"/>
          <p:cNvSpPr/>
          <p:nvPr/>
        </p:nvSpPr>
        <p:spPr>
          <a:xfrm>
            <a:off x="9646920" y="5436108"/>
            <a:ext cx="1737360" cy="457200"/>
          </a:xfrm>
          <a:prstGeom prst="roundRect">
            <a:avLst>
              <a:gd name="adj" fmla="val 50000"/>
            </a:avLst>
          </a:prstGeom>
          <a:solidFill>
            <a:schemeClr val="bg2"/>
          </a:solidFill>
          <a:ln w="12700">
            <a:solidFill>
              <a:schemeClr val="bg2"/>
            </a:solidFill>
            <a:prstDash val="solid"/>
          </a:ln>
        </p:spPr>
      </p:sp>
      <p:sp>
        <p:nvSpPr>
          <p:cNvPr id="22" name="Text 20"/>
          <p:cNvSpPr txBox="1"/>
          <p:nvPr/>
        </p:nvSpPr>
        <p:spPr>
          <a:xfrm>
            <a:off x="9646920" y="5436108"/>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Before We Move On</a:t>
            </a:r>
            <a:endParaRPr lang="en-US" sz="3600" dirty="0"/>
          </a:p>
        </p:txBody>
      </p:sp>
      <p:sp>
        <p:nvSpPr>
          <p:cNvPr id="3" name="mind map centre"/>
          <p:cNvSpPr/>
          <p:nvPr/>
        </p:nvSpPr>
        <p:spPr>
          <a:xfrm>
            <a:off x="4861408" y="3063240"/>
            <a:ext cx="2468880" cy="1463040"/>
          </a:xfrm>
          <a:prstGeom prst="ellipse">
            <a:avLst/>
          </a:prstGeom>
          <a:solidFill>
            <a:schemeClr val="tx2"/>
          </a:solidFill>
          <a:ln w="12700">
            <a:solidFill>
              <a:schemeClr val="tx2"/>
            </a:solidFill>
            <a:prstDash val="solid"/>
          </a:ln>
        </p:spPr>
      </p:sp>
      <p:sp>
        <p:nvSpPr>
          <p:cNvPr id="4" name="Text 2"/>
          <p:cNvSpPr txBox="1"/>
          <p:nvPr/>
        </p:nvSpPr>
        <p:spPr>
          <a:xfrm>
            <a:off x="4952848" y="3063240"/>
            <a:ext cx="2286000" cy="14630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Oceans and Life</a:t>
            </a:r>
            <a:endParaRPr lang="en-US" sz="1800" dirty="0"/>
          </a:p>
        </p:txBody>
      </p:sp>
      <p:sp>
        <p:nvSpPr>
          <p:cNvPr id="5" name="branch 1 line"/>
          <p:cNvSpPr/>
          <p:nvPr/>
        </p:nvSpPr>
        <p:spPr>
          <a:xfrm>
            <a:off x="4114800" y="2103120"/>
            <a:ext cx="792328" cy="1691640"/>
          </a:xfrm>
          <a:prstGeom prst="line">
            <a:avLst/>
          </a:prstGeom>
          <a:noFill/>
          <a:ln w="25400">
            <a:solidFill>
              <a:srgbClr val="F5B700"/>
            </a:solidFill>
            <a:prstDash val="solid"/>
          </a:ln>
        </p:spPr>
      </p:sp>
      <p:sp>
        <p:nvSpPr>
          <p:cNvPr id="6" name="branch 1"/>
          <p:cNvSpPr/>
          <p:nvPr/>
        </p:nvSpPr>
        <p:spPr>
          <a:xfrm>
            <a:off x="548640" y="1371600"/>
            <a:ext cx="3566160" cy="1463040"/>
          </a:xfrm>
          <a:prstGeom prst="roundRect">
            <a:avLst>
              <a:gd name="adj" fmla="val 7500"/>
            </a:avLst>
          </a:prstGeom>
          <a:solidFill>
            <a:schemeClr val="bg2"/>
          </a:solidFill>
          <a:ln w="12700">
            <a:solidFill>
              <a:schemeClr val="bg2"/>
            </a:solidFill>
            <a:prstDash val="solid"/>
          </a:ln>
        </p:spPr>
      </p:sp>
      <p:sp>
        <p:nvSpPr>
          <p:cNvPr id="7" name="Text 5"/>
          <p:cNvSpPr txBox="1"/>
          <p:nvPr/>
        </p:nvSpPr>
        <p:spPr>
          <a:xfrm>
            <a:off x="731520" y="148132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Ocean relief</a:t>
            </a:r>
            <a:endParaRPr lang="en-US" sz="1600" dirty="0"/>
          </a:p>
          <a:p>
            <a:pPr indent="0" marL="0">
              <a:buNone/>
            </a:pPr>
            <a:r>
              <a:rPr lang="en-US" sz="1600" dirty="0">
                <a:solidFill>
                  <a:schemeClr val="tx1"/>
                </a:solidFill>
              </a:rPr>
              <a:t>Shelf, slope, abyssal plain, ridge, trench, seamount, guyot</a:t>
            </a:r>
            <a:endParaRPr lang="en-US" sz="1600" dirty="0"/>
          </a:p>
        </p:txBody>
      </p:sp>
      <p:sp>
        <p:nvSpPr>
          <p:cNvPr id="8" name="branch 2 line"/>
          <p:cNvSpPr/>
          <p:nvPr/>
        </p:nvSpPr>
        <p:spPr>
          <a:xfrm>
            <a:off x="4114800" y="3794760"/>
            <a:ext cx="792328" cy="914"/>
          </a:xfrm>
          <a:prstGeom prst="line">
            <a:avLst/>
          </a:prstGeom>
          <a:noFill/>
          <a:ln w="25400">
            <a:solidFill>
              <a:srgbClr val="F5B700"/>
            </a:solidFill>
            <a:prstDash val="solid"/>
          </a:ln>
        </p:spPr>
      </p:sp>
      <p:sp>
        <p:nvSpPr>
          <p:cNvPr id="9" name="branch 2"/>
          <p:cNvSpPr/>
          <p:nvPr/>
        </p:nvSpPr>
        <p:spPr>
          <a:xfrm>
            <a:off x="548640" y="3063240"/>
            <a:ext cx="3566160" cy="1463040"/>
          </a:xfrm>
          <a:prstGeom prst="roundRect">
            <a:avLst>
              <a:gd name="adj" fmla="val 7500"/>
            </a:avLst>
          </a:prstGeom>
          <a:solidFill>
            <a:schemeClr val="bg2"/>
          </a:solidFill>
          <a:ln w="12700">
            <a:solidFill>
              <a:schemeClr val="bg2"/>
            </a:solidFill>
            <a:prstDash val="solid"/>
          </a:ln>
        </p:spPr>
      </p:sp>
      <p:sp>
        <p:nvSpPr>
          <p:cNvPr id="10" name="Text 8"/>
          <p:cNvSpPr txBox="1"/>
          <p:nvPr/>
        </p:nvSpPr>
        <p:spPr>
          <a:xfrm>
            <a:off x="731520" y="317296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Waves, tides, currents</a:t>
            </a:r>
            <a:endParaRPr lang="en-US" sz="1600" dirty="0"/>
          </a:p>
          <a:p>
            <a:pPr indent="0" marL="0">
              <a:buNone/>
            </a:pPr>
            <a:r>
              <a:rPr lang="en-US" sz="1600" dirty="0">
                <a:solidFill>
                  <a:schemeClr val="tx1"/>
                </a:solidFill>
              </a:rPr>
              <a:t>Shape coasts, aid ships and fishing, and influence climate</a:t>
            </a:r>
            <a:endParaRPr lang="en-US" sz="1600" dirty="0"/>
          </a:p>
        </p:txBody>
      </p:sp>
      <p:sp>
        <p:nvSpPr>
          <p:cNvPr id="11" name="branch 3 line"/>
          <p:cNvSpPr/>
          <p:nvPr/>
        </p:nvSpPr>
        <p:spPr>
          <a:xfrm flipV="1">
            <a:off x="4114800" y="3794760"/>
            <a:ext cx="792328" cy="1691640"/>
          </a:xfrm>
          <a:prstGeom prst="line">
            <a:avLst/>
          </a:prstGeom>
          <a:noFill/>
          <a:ln w="25400">
            <a:solidFill>
              <a:srgbClr val="F5B700"/>
            </a:solidFill>
            <a:prstDash val="solid"/>
          </a:ln>
        </p:spPr>
      </p:sp>
      <p:sp>
        <p:nvSpPr>
          <p:cNvPr id="12" name="branch 3"/>
          <p:cNvSpPr/>
          <p:nvPr/>
        </p:nvSpPr>
        <p:spPr>
          <a:xfrm>
            <a:off x="548640" y="4754880"/>
            <a:ext cx="3566160" cy="1463040"/>
          </a:xfrm>
          <a:prstGeom prst="roundRect">
            <a:avLst>
              <a:gd name="adj" fmla="val 7500"/>
            </a:avLst>
          </a:prstGeom>
          <a:solidFill>
            <a:schemeClr val="bg2"/>
          </a:solidFill>
          <a:ln w="12700">
            <a:solidFill>
              <a:schemeClr val="bg2"/>
            </a:solidFill>
            <a:prstDash val="solid"/>
          </a:ln>
        </p:spPr>
      </p:sp>
      <p:sp>
        <p:nvSpPr>
          <p:cNvPr id="13" name="Text 11"/>
          <p:cNvSpPr txBox="1"/>
          <p:nvPr/>
        </p:nvSpPr>
        <p:spPr>
          <a:xfrm>
            <a:off x="731520" y="486460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Early warning</a:t>
            </a:r>
            <a:endParaRPr lang="en-US" sz="1600" dirty="0"/>
          </a:p>
          <a:p>
            <a:pPr indent="0" marL="0">
              <a:buNone/>
            </a:pPr>
            <a:r>
              <a:rPr lang="en-US" sz="1600" dirty="0">
                <a:solidFill>
                  <a:schemeClr val="tx1"/>
                </a:solidFill>
              </a:rPr>
              <a:t>ITEWC, INCOIS, IMD, NCRMP, GEMINI and public awareness</a:t>
            </a:r>
            <a:endParaRPr lang="en-US" sz="1600" dirty="0"/>
          </a:p>
        </p:txBody>
      </p:sp>
      <p:sp>
        <p:nvSpPr>
          <p:cNvPr id="14" name="branch 4 line"/>
          <p:cNvSpPr/>
          <p:nvPr/>
        </p:nvSpPr>
        <p:spPr>
          <a:xfrm flipV="1">
            <a:off x="7284568" y="2103120"/>
            <a:ext cx="789584" cy="1691640"/>
          </a:xfrm>
          <a:prstGeom prst="line">
            <a:avLst/>
          </a:prstGeom>
          <a:noFill/>
          <a:ln w="25400">
            <a:solidFill>
              <a:srgbClr val="F5B700"/>
            </a:solidFill>
            <a:prstDash val="solid"/>
          </a:ln>
        </p:spPr>
      </p:sp>
      <p:sp>
        <p:nvSpPr>
          <p:cNvPr id="15" name="branch 4"/>
          <p:cNvSpPr/>
          <p:nvPr/>
        </p:nvSpPr>
        <p:spPr>
          <a:xfrm>
            <a:off x="8074152" y="1371600"/>
            <a:ext cx="3566160" cy="1463040"/>
          </a:xfrm>
          <a:prstGeom prst="roundRect">
            <a:avLst>
              <a:gd name="adj" fmla="val 7500"/>
            </a:avLst>
          </a:prstGeom>
          <a:solidFill>
            <a:schemeClr val="bg2"/>
          </a:solidFill>
          <a:ln w="12700">
            <a:solidFill>
              <a:schemeClr val="bg2"/>
            </a:solidFill>
            <a:prstDash val="solid"/>
          </a:ln>
        </p:spPr>
      </p:sp>
      <p:sp>
        <p:nvSpPr>
          <p:cNvPr id="16" name="Text 14"/>
          <p:cNvSpPr txBox="1"/>
          <p:nvPr/>
        </p:nvSpPr>
        <p:spPr>
          <a:xfrm>
            <a:off x="8257032" y="148132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Marine resources</a:t>
            </a:r>
            <a:endParaRPr lang="en-US" sz="1600" dirty="0"/>
          </a:p>
          <a:p>
            <a:pPr indent="0" marL="0">
              <a:buNone/>
            </a:pPr>
            <a:r>
              <a:rPr lang="en-US" sz="1600" dirty="0">
                <a:solidFill>
                  <a:schemeClr val="tx1"/>
                </a:solidFill>
              </a:rPr>
              <a:t>Living and non-living; food, energy, trade, minerals</a:t>
            </a:r>
            <a:endParaRPr lang="en-US" sz="1600" dirty="0"/>
          </a:p>
        </p:txBody>
      </p:sp>
      <p:sp>
        <p:nvSpPr>
          <p:cNvPr id="17" name="branch 5 line"/>
          <p:cNvSpPr/>
          <p:nvPr/>
        </p:nvSpPr>
        <p:spPr>
          <a:xfrm>
            <a:off x="7284568" y="3794760"/>
            <a:ext cx="789584" cy="914"/>
          </a:xfrm>
          <a:prstGeom prst="line">
            <a:avLst/>
          </a:prstGeom>
          <a:noFill/>
          <a:ln w="25400">
            <a:solidFill>
              <a:srgbClr val="F5B700"/>
            </a:solidFill>
            <a:prstDash val="solid"/>
          </a:ln>
        </p:spPr>
      </p:sp>
      <p:sp>
        <p:nvSpPr>
          <p:cNvPr id="18" name="branch 5"/>
          <p:cNvSpPr/>
          <p:nvPr/>
        </p:nvSpPr>
        <p:spPr>
          <a:xfrm>
            <a:off x="8074152" y="3063240"/>
            <a:ext cx="3566160" cy="1463040"/>
          </a:xfrm>
          <a:prstGeom prst="roundRect">
            <a:avLst>
              <a:gd name="adj" fmla="val 7500"/>
            </a:avLst>
          </a:prstGeom>
          <a:solidFill>
            <a:schemeClr val="bg2"/>
          </a:solidFill>
          <a:ln w="12700">
            <a:solidFill>
              <a:schemeClr val="bg2"/>
            </a:solidFill>
            <a:prstDash val="solid"/>
          </a:ln>
        </p:spPr>
      </p:sp>
      <p:sp>
        <p:nvSpPr>
          <p:cNvPr id="19" name="Text 17"/>
          <p:cNvSpPr txBox="1"/>
          <p:nvPr/>
        </p:nvSpPr>
        <p:spPr>
          <a:xfrm>
            <a:off x="8257032" y="317296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Blue Economy</a:t>
            </a:r>
            <a:endParaRPr lang="en-US" sz="1600" dirty="0"/>
          </a:p>
          <a:p>
            <a:pPr indent="0" marL="0">
              <a:buNone/>
            </a:pPr>
            <a:r>
              <a:rPr lang="en-US" sz="1600" dirty="0">
                <a:solidFill>
                  <a:schemeClr val="tx1"/>
                </a:solidFill>
              </a:rPr>
              <a:t>Grow the economy while keeping oceans healthy (SDG 14)</a:t>
            </a:r>
            <a:endParaRPr lang="en-US" sz="1600" dirty="0"/>
          </a:p>
        </p:txBody>
      </p:sp>
      <p:sp>
        <p:nvSpPr>
          <p:cNvPr id="20" name="branch 6 line"/>
          <p:cNvSpPr/>
          <p:nvPr/>
        </p:nvSpPr>
        <p:spPr>
          <a:xfrm>
            <a:off x="7284568" y="3794760"/>
            <a:ext cx="789584" cy="1691640"/>
          </a:xfrm>
          <a:prstGeom prst="line">
            <a:avLst/>
          </a:prstGeom>
          <a:noFill/>
          <a:ln w="25400">
            <a:solidFill>
              <a:srgbClr val="F5B700"/>
            </a:solidFill>
            <a:prstDash val="solid"/>
          </a:ln>
        </p:spPr>
      </p:sp>
      <p:sp>
        <p:nvSpPr>
          <p:cNvPr id="21" name="branch 6"/>
          <p:cNvSpPr/>
          <p:nvPr/>
        </p:nvSpPr>
        <p:spPr>
          <a:xfrm>
            <a:off x="8074152" y="4754880"/>
            <a:ext cx="3566160" cy="1463040"/>
          </a:xfrm>
          <a:prstGeom prst="roundRect">
            <a:avLst>
              <a:gd name="adj" fmla="val 7500"/>
            </a:avLst>
          </a:prstGeom>
          <a:solidFill>
            <a:schemeClr val="bg2"/>
          </a:solidFill>
          <a:ln w="12700">
            <a:solidFill>
              <a:schemeClr val="bg2"/>
            </a:solidFill>
            <a:prstDash val="solid"/>
          </a:ln>
        </p:spPr>
      </p:sp>
      <p:sp>
        <p:nvSpPr>
          <p:cNvPr id="22" name="Text 20"/>
          <p:cNvSpPr txBox="1"/>
          <p:nvPr/>
        </p:nvSpPr>
        <p:spPr>
          <a:xfrm>
            <a:off x="8257032" y="486460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Maritime zones and laws</a:t>
            </a:r>
            <a:endParaRPr lang="en-US" sz="1600" dirty="0"/>
          </a:p>
          <a:p>
            <a:pPr indent="0" marL="0">
              <a:buNone/>
            </a:pPr>
            <a:r>
              <a:rPr lang="en-US" sz="1600" dirty="0">
                <a:solidFill>
                  <a:schemeClr val="tx1"/>
                </a:solidFill>
              </a:rPr>
              <a:t>12, 24, 200 NM; high seas; UNCLOS, COLREGs, MARPOL</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ctr"/>
          <a:lstStyle/>
          <a:p>
            <a:pPr algn="l" indent="0" marL="0">
              <a:buNone/>
            </a:pPr>
            <a:r>
              <a:rPr lang="en-US" sz="3600" b="1" dirty="0">
                <a:solidFill>
                  <a:schemeClr val="bg1"/>
                </a:solidFill>
              </a:rPr>
              <a:t>Exit Ticket and Homework</a:t>
            </a:r>
            <a:endParaRPr lang="en-US" sz="3600" dirty="0"/>
          </a:p>
        </p:txBody>
      </p:sp>
      <p:sp>
        <p:nvSpPr>
          <p:cNvPr id="3" name="exit 3"/>
          <p:cNvSpPr/>
          <p:nvPr/>
        </p:nvSpPr>
        <p:spPr>
          <a:xfrm>
            <a:off x="731520" y="1508760"/>
            <a:ext cx="2103120" cy="2743200"/>
          </a:xfrm>
          <a:prstGeom prst="roundRect">
            <a:avLst>
              <a:gd name="adj" fmla="val 5217"/>
            </a:avLst>
          </a:prstGeom>
          <a:solidFill>
            <a:schemeClr val="bg1"/>
          </a:solidFill>
          <a:ln w="12700">
            <a:solidFill>
              <a:schemeClr val="bg1"/>
            </a:solidFill>
            <a:prstDash val="solid"/>
          </a:ln>
        </p:spPr>
      </p:sp>
      <p:sp>
        <p:nvSpPr>
          <p:cNvPr id="4" name="Text 2"/>
          <p:cNvSpPr txBox="1"/>
          <p:nvPr/>
        </p:nvSpPr>
        <p:spPr>
          <a:xfrm>
            <a:off x="73152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3</a:t>
            </a:r>
            <a:endParaRPr lang="en-US" sz="5400" dirty="0"/>
          </a:p>
        </p:txBody>
      </p:sp>
      <p:sp>
        <p:nvSpPr>
          <p:cNvPr id="5" name="Text 3"/>
          <p:cNvSpPr txBox="1"/>
          <p:nvPr/>
        </p:nvSpPr>
        <p:spPr>
          <a:xfrm>
            <a:off x="86868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things I learnt</a:t>
            </a:r>
            <a:endParaRPr lang="en-US" sz="1800" dirty="0"/>
          </a:p>
        </p:txBody>
      </p:sp>
      <p:sp>
        <p:nvSpPr>
          <p:cNvPr id="6" name="Text 4"/>
          <p:cNvSpPr txBox="1"/>
          <p:nvPr/>
        </p:nvSpPr>
        <p:spPr>
          <a:xfrm>
            <a:off x="86868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Three key ideas from this chapter</a:t>
            </a:r>
            <a:endParaRPr lang="en-US" sz="1500" dirty="0"/>
          </a:p>
        </p:txBody>
      </p:sp>
      <p:sp>
        <p:nvSpPr>
          <p:cNvPr id="7" name="exit 2"/>
          <p:cNvSpPr/>
          <p:nvPr/>
        </p:nvSpPr>
        <p:spPr>
          <a:xfrm>
            <a:off x="3063240" y="1508760"/>
            <a:ext cx="2103120" cy="2743200"/>
          </a:xfrm>
          <a:prstGeom prst="roundRect">
            <a:avLst>
              <a:gd name="adj" fmla="val 5217"/>
            </a:avLst>
          </a:prstGeom>
          <a:solidFill>
            <a:schemeClr val="bg1"/>
          </a:solidFill>
          <a:ln w="12700">
            <a:solidFill>
              <a:schemeClr val="bg1"/>
            </a:solidFill>
            <a:prstDash val="solid"/>
          </a:ln>
        </p:spPr>
      </p:sp>
      <p:sp>
        <p:nvSpPr>
          <p:cNvPr id="8" name="Text 6"/>
          <p:cNvSpPr txBox="1"/>
          <p:nvPr/>
        </p:nvSpPr>
        <p:spPr>
          <a:xfrm>
            <a:off x="306324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2</a:t>
            </a:r>
            <a:endParaRPr lang="en-US" sz="5400" dirty="0"/>
          </a:p>
        </p:txBody>
      </p:sp>
      <p:sp>
        <p:nvSpPr>
          <p:cNvPr id="9" name="Text 7"/>
          <p:cNvSpPr txBox="1"/>
          <p:nvPr/>
        </p:nvSpPr>
        <p:spPr>
          <a:xfrm>
            <a:off x="320040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connections</a:t>
            </a:r>
            <a:endParaRPr lang="en-US" sz="1800" dirty="0"/>
          </a:p>
        </p:txBody>
      </p:sp>
      <p:sp>
        <p:nvSpPr>
          <p:cNvPr id="10" name="Text 8"/>
          <p:cNvSpPr txBox="1"/>
          <p:nvPr/>
        </p:nvSpPr>
        <p:spPr>
          <a:xfrm>
            <a:off x="320040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Two ways this topic connects to my life or my state</a:t>
            </a:r>
            <a:endParaRPr lang="en-US" sz="1500" dirty="0"/>
          </a:p>
        </p:txBody>
      </p:sp>
      <p:sp>
        <p:nvSpPr>
          <p:cNvPr id="11" name="exit 1"/>
          <p:cNvSpPr/>
          <p:nvPr/>
        </p:nvSpPr>
        <p:spPr>
          <a:xfrm>
            <a:off x="5394960" y="1508760"/>
            <a:ext cx="2103120" cy="2743200"/>
          </a:xfrm>
          <a:prstGeom prst="roundRect">
            <a:avLst>
              <a:gd name="adj" fmla="val 5217"/>
            </a:avLst>
          </a:prstGeom>
          <a:solidFill>
            <a:schemeClr val="bg1"/>
          </a:solidFill>
          <a:ln w="12700">
            <a:solidFill>
              <a:schemeClr val="bg1"/>
            </a:solidFill>
            <a:prstDash val="solid"/>
          </a:ln>
        </p:spPr>
      </p:sp>
      <p:sp>
        <p:nvSpPr>
          <p:cNvPr id="12" name="Text 10"/>
          <p:cNvSpPr txBox="1"/>
          <p:nvPr/>
        </p:nvSpPr>
        <p:spPr>
          <a:xfrm>
            <a:off x="539496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1</a:t>
            </a:r>
            <a:endParaRPr lang="en-US" sz="5400" dirty="0"/>
          </a:p>
        </p:txBody>
      </p:sp>
      <p:sp>
        <p:nvSpPr>
          <p:cNvPr id="13" name="Text 11"/>
          <p:cNvSpPr txBox="1"/>
          <p:nvPr/>
        </p:nvSpPr>
        <p:spPr>
          <a:xfrm>
            <a:off x="553212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question</a:t>
            </a:r>
            <a:endParaRPr lang="en-US" sz="1800" dirty="0"/>
          </a:p>
        </p:txBody>
      </p:sp>
      <p:sp>
        <p:nvSpPr>
          <p:cNvPr id="14" name="Text 12"/>
          <p:cNvSpPr txBox="1"/>
          <p:nvPr/>
        </p:nvSpPr>
        <p:spPr>
          <a:xfrm>
            <a:off x="553212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One question I still have</a:t>
            </a:r>
            <a:endParaRPr lang="en-US" sz="1500" dirty="0"/>
          </a:p>
        </p:txBody>
      </p:sp>
      <p:sp>
        <p:nvSpPr>
          <p:cNvPr id="15" name="homework card"/>
          <p:cNvSpPr/>
          <p:nvPr/>
        </p:nvSpPr>
        <p:spPr>
          <a:xfrm>
            <a:off x="7863840" y="1508760"/>
            <a:ext cx="3749040" cy="4709160"/>
          </a:xfrm>
          <a:prstGeom prst="roundRect">
            <a:avLst>
              <a:gd name="adj" fmla="val 2927"/>
            </a:avLst>
          </a:prstGeom>
          <a:solidFill>
            <a:schemeClr val="accent1"/>
          </a:solidFill>
          <a:ln w="12700">
            <a:solidFill>
              <a:schemeClr val="accent1"/>
            </a:solidFill>
            <a:prstDash val="solid"/>
          </a:ln>
        </p:spPr>
      </p:sp>
      <p:pic>
        <p:nvPicPr>
          <p:cNvPr id="16" name="homework icon" descr="preencoded.png">    </p:cNvPr>
          <p:cNvPicPr>
            <a:picLocks noChangeAspect="1"/>
          </p:cNvPicPr>
          <p:nvPr/>
        </p:nvPicPr>
        <p:blipFill>
          <a:blip r:embed="rId1"/>
          <a:stretch>
            <a:fillRect/>
          </a:stretch>
        </p:blipFill>
        <p:spPr>
          <a:xfrm>
            <a:off x="8138160" y="1737360"/>
            <a:ext cx="502920" cy="502920"/>
          </a:xfrm>
          <a:prstGeom prst="rect">
            <a:avLst/>
          </a:prstGeom>
        </p:spPr>
      </p:pic>
      <p:sp>
        <p:nvSpPr>
          <p:cNvPr id="17" name="Text 14"/>
          <p:cNvSpPr txBox="1"/>
          <p:nvPr/>
        </p:nvSpPr>
        <p:spPr>
          <a:xfrm>
            <a:off x="8778240" y="1737360"/>
            <a:ext cx="2651760" cy="502920"/>
          </a:xfrm>
          <a:prstGeom prst="rect">
            <a:avLst/>
          </a:prstGeom>
          <a:noFill/>
          <a:ln/>
        </p:spPr>
        <p:txBody>
          <a:bodyPr wrap="square" lIns="0" tIns="0" rIns="0" bIns="0" rtlCol="0" anchor="ctr"/>
          <a:lstStyle/>
          <a:p>
            <a:pPr indent="0" marL="0">
              <a:buNone/>
            </a:pPr>
            <a:r>
              <a:rPr lang="en-US" sz="2000" b="1" dirty="0">
                <a:solidFill>
                  <a:schemeClr val="bg1"/>
                </a:solidFill>
              </a:rPr>
              <a:t>Homework / Project</a:t>
            </a:r>
            <a:endParaRPr lang="en-US" sz="2000" dirty="0"/>
          </a:p>
        </p:txBody>
      </p:sp>
      <p:sp>
        <p:nvSpPr>
          <p:cNvPr id="18" name="Text 15"/>
          <p:cNvSpPr txBox="1"/>
          <p:nvPr/>
        </p:nvSpPr>
        <p:spPr>
          <a:xfrm>
            <a:off x="8138160" y="2423160"/>
            <a:ext cx="3291840" cy="36576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chemeClr val="bg1"/>
                </a:solidFill>
              </a:rPr>
              <a:t>Make a </a:t>
            </a:r>
            <a:r>
              <a:rPr lang="en-US" sz="1500" b="1" dirty="0">
                <a:solidFill>
                  <a:schemeClr val="bg1"/>
                </a:solidFill>
              </a:rPr>
              <a:t>'Save Our Seas'</a:t>
            </a:r>
            <a:r>
              <a:rPr lang="en-US" sz="1500" dirty="0">
                <a:solidFill>
                  <a:schemeClr val="bg1"/>
                </a:solidFill>
              </a:rPr>
              <a:t> poster with a slogan and 2–3 lines explaining it.</a:t>
            </a:r>
            <a:endParaRPr lang="en-US" sz="1600" dirty="0"/>
          </a:p>
          <a:p>
            <a:pPr marL="228600" indent="-228600">
              <a:spcAft>
                <a:spcPts val="1000"/>
              </a:spcAft>
              <a:buSzPct val="100000"/>
              <a:buChar char="•"/>
            </a:pPr>
            <a:r>
              <a:rPr lang="en-US" sz="1500" dirty="0">
                <a:solidFill>
                  <a:schemeClr val="bg1"/>
                </a:solidFill>
              </a:rPr>
              <a:t>On an outline map of India, mark </a:t>
            </a:r>
            <a:r>
              <a:rPr lang="en-US" sz="1500" b="1" dirty="0">
                <a:solidFill>
                  <a:schemeClr val="bg1"/>
                </a:solidFill>
              </a:rPr>
              <a:t>five coastal states</a:t>
            </a:r>
            <a:r>
              <a:rPr lang="en-US" sz="1500" dirty="0">
                <a:solidFill>
                  <a:schemeClr val="bg1"/>
                </a:solidFill>
              </a:rPr>
              <a:t> that need tsunami warnings.</a:t>
            </a:r>
            <a:endParaRPr lang="en-US" sz="1600" dirty="0"/>
          </a:p>
          <a:p>
            <a:pPr marL="228600" indent="-228600">
              <a:spcAft>
                <a:spcPts val="1000"/>
              </a:spcAft>
              <a:buSzPct val="100000"/>
              <a:buChar char="•"/>
            </a:pPr>
            <a:r>
              <a:rPr lang="en-US" sz="1500" dirty="0">
                <a:solidFill>
                  <a:schemeClr val="bg1"/>
                </a:solidFill>
              </a:rPr>
              <a:t>Ask an elder about a </a:t>
            </a:r>
            <a:r>
              <a:rPr lang="en-US" sz="1500" b="1" dirty="0">
                <a:solidFill>
                  <a:schemeClr val="bg1"/>
                </a:solidFill>
              </a:rPr>
              <a:t>folk story</a:t>
            </a:r>
            <a:r>
              <a:rPr lang="en-US" sz="1500" dirty="0">
                <a:solidFill>
                  <a:schemeClr val="bg1"/>
                </a:solidFill>
              </a:rPr>
              <a:t> on floods, cyclones or the sea and share it in class.</a:t>
            </a:r>
            <a:endParaRPr lang="en-US" sz="1600" dirty="0"/>
          </a:p>
          <a:p>
            <a:pPr marL="228600" indent="-228600">
              <a:spcAft>
                <a:spcPts val="1000"/>
              </a:spcAft>
              <a:buSzPct val="100000"/>
              <a:buChar char="•"/>
            </a:pPr>
            <a:r>
              <a:rPr lang="en-US" sz="1500" dirty="0">
                <a:solidFill>
                  <a:schemeClr val="bg1"/>
                </a:solidFill>
              </a:rPr>
              <a:t>Write your family's </a:t>
            </a:r>
            <a:r>
              <a:rPr lang="en-US" sz="1500" b="1" dirty="0">
                <a:solidFill>
                  <a:schemeClr val="bg1"/>
                </a:solidFill>
              </a:rPr>
              <a:t>5-step safety plan</a:t>
            </a:r>
            <a:r>
              <a:rPr lang="en-US" sz="1500" dirty="0">
                <a:solidFill>
                  <a:schemeClr val="bg1"/>
                </a:solidFill>
              </a:rPr>
              <a:t> for a cyclone alert.</a:t>
            </a:r>
            <a:endParaRPr lang="en-US" sz="1600" dirty="0"/>
          </a:p>
        </p:txBody>
      </p:sp>
      <p:pic>
        <p:nvPicPr>
          <p:cNvPr id="19" name="quote mark" descr="preencoded.png">    </p:cNvPr>
          <p:cNvPicPr>
            <a:picLocks noChangeAspect="1"/>
          </p:cNvPicPr>
          <p:nvPr/>
        </p:nvPicPr>
        <p:blipFill>
          <a:blip r:embed="rId2"/>
          <a:stretch>
            <a:fillRect/>
          </a:stretch>
        </p:blipFill>
        <p:spPr>
          <a:xfrm>
            <a:off x="731520" y="4617720"/>
            <a:ext cx="502920" cy="502920"/>
          </a:xfrm>
          <a:prstGeom prst="rect">
            <a:avLst/>
          </a:prstGeom>
        </p:spPr>
      </p:pic>
      <p:sp>
        <p:nvSpPr>
          <p:cNvPr id="20" name="Text 16"/>
          <p:cNvSpPr txBox="1"/>
          <p:nvPr/>
        </p:nvSpPr>
        <p:spPr>
          <a:xfrm>
            <a:off x="1463040" y="4526280"/>
            <a:ext cx="6035040" cy="1691640"/>
          </a:xfrm>
          <a:prstGeom prst="rect">
            <a:avLst/>
          </a:prstGeom>
          <a:noFill/>
          <a:ln/>
        </p:spPr>
        <p:txBody>
          <a:bodyPr wrap="square" lIns="0" tIns="0" rIns="0" bIns="0" rtlCol="0" anchor="ctr"/>
          <a:lstStyle/>
          <a:p>
            <a:pPr indent="0" marL="0">
              <a:buNone/>
            </a:pPr>
            <a:r>
              <a:rPr lang="en-US" sz="2200" i="1" dirty="0">
                <a:solidFill>
                  <a:schemeClr val="bg1"/>
                </a:solidFill>
                <a:latin typeface="Cambria" pitchFamily="34" charset="0"/>
                <a:ea typeface="Cambria" pitchFamily="34" charset="-122"/>
                <a:cs typeface="Cambria" pitchFamily="34" charset="-120"/>
              </a:rPr>
              <a:t>Use the ocean's gifts wisely: healthy seas mean a healthy future.</a:t>
            </a:r>
            <a:endParaRPr lang="en-US" sz="22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F1F6"/>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Oceans and Life">
  <a:themeElements>
    <a:clrScheme name="Oceans and Life">
      <a:dk1>
        <a:srgbClr val="1F2328"/>
      </a:dk1>
      <a:lt1>
        <a:srgbClr val="FFFFFF"/>
      </a:lt1>
      <a:dk2>
        <a:srgbClr val="0B3954"/>
      </a:dk2>
      <a:lt2>
        <a:srgbClr val="E3F1F6"/>
      </a:lt2>
      <a:accent1>
        <a:srgbClr val="087E8B"/>
      </a:accent1>
      <a:accent2>
        <a:srgbClr val="C8553D"/>
      </a:accent2>
      <a:accent3>
        <a:srgbClr val="F5B700"/>
      </a:accent3>
      <a:accent4>
        <a:srgbClr val="3A7CA5"/>
      </a:accent4>
      <a:accent5>
        <a:srgbClr val="4E8D6E"/>
      </a:accent5>
      <a:accent6>
        <a:srgbClr val="6B4E8C"/>
      </a:accent6>
      <a:hlink>
        <a:srgbClr val="0563C1"/>
      </a:hlink>
      <a:folHlink>
        <a:srgbClr val="954F72"/>
      </a:folHlink>
    </a:clrScheme>
    <a:fontScheme name="Oceans and Lif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Oceans and Life</dc:title>
  <dc:subject>Understanding Society: India and Beyond, Grade 9 Part 2</dc:subject>
  <dc:creator>Social Science Department</dc:creator>
  <cp:lastModifiedBy>Social Science Department</cp:lastModifiedBy>
  <cp:revision>1</cp:revision>
  <dcterms:created xsi:type="dcterms:W3CDTF">2026-10-09T15:51:46Z</dcterms:created>
  <dcterms:modified xsi:type="dcterms:W3CDTF">2026-10-09T15:51:46Z</dcterms:modified>
</cp:coreProperties>
</file>