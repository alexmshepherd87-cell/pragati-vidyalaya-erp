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d61aa0-b560-4fd4-5730-a684dfafd502}">
          <p14:sldIdLst>
            <p14:sldId id="256"/>
            <p14:sldId id="257"/>
            <p14:sldId id="258"/>
          </p14:sldIdLst>
        </p14:section>
        <p14:section name="Biomes" id="{454163af-20d5-e88e-b70e-1c468f61063a}">
          <p14:sldIdLst>
            <p14:sldId id="259"/>
            <p14:sldId id="260"/>
            <p14:sldId id="261"/>
            <p14:sldId id="262"/>
            <p14:sldId id="263"/>
            <p14:sldId id="264"/>
            <p14:sldId id="265"/>
            <p14:sldId id="266"/>
          </p14:sldIdLst>
        </p14:section>
        <p14:section name="Biodiversity" id="{d1b2d86c-fe84-ce39-92bd-999f552d6202}">
          <p14:sldIdLst>
            <p14:sldId id="267"/>
            <p14:sldId id="268"/>
            <p14:sldId id="269"/>
          </p14:sldIdLst>
        </p14:section>
        <p14:section name="Forests and People" id="{0c47725a-fbee-19e8-1e66-a98d2b5af01f}">
          <p14:sldIdLst>
            <p14:sldId id="270"/>
            <p14:sldId id="271"/>
            <p14:sldId id="272"/>
            <p14:sldId id="273"/>
            <p14:sldId id="274"/>
            <p14:sldId id="275"/>
            <p14:sldId id="276"/>
            <p14:sldId id="277"/>
            <p14:sldId id="278"/>
            <p14:sldId id="279"/>
          </p14:sldIdLst>
        </p14:section>
        <p14:section name="Review" id="{fd069fb7-1e21-6327-8f6b-b8248c9e4bf2}">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Why do camels live in Rajasthan but not in Kerala's backwaters? This chapter explores how landforms, climate and water shape life, and how humans and nature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pair a coloured paper square. They draw their 'patch' (climate, plants, animals, houses). Stick all squares together on the board to make a class quilt. Point out that similar patches across the world form a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Biome = a city; ecosystem = a neighbourhood in it. Ask students to name an ecosystem near the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work: Look at the world biome map (textbook Fig. 2.2). Which continent has the fewest biomes? (Antarctica, mostly ice.) Why are some areas without biomes? (Ice sheets, high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Look at the layers (textbook Fig. 2.4). Ask: Which layer gets the most sunlight? Why would a sloth or monkey live in the canopy? Activity idea: students act as layers; the 'sunlight' (a torch) reaches fewer students as you go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Let's Explore: compare Fig. 2.7(a) and (b). Answer: The Nubra Valley is a cold desert, so its camels (Bactrian) need denser fur for insulation. Extend: Why does the polar tundra have mosses and lichens while the Himalaya has conifers? (Latitude, altitude, soil and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Chapter 1 (Oceans and Life). Ask: Which freshwater body is closest to our school? What lives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trophic levels with a food chain from a local biome: grass, deer, tiger. Ask: Why are there far fewer tigers than deer? (Energy is lost at every level.) Let's Map: place A&amp;N Islands, Keralam, Ladakh, Chhattisgarh, Odisha, Meghalaya and Lakshadweep on the climate triangle in textbook Fig. 2.10 (cold/hot, wet/dry).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textbook's Let's Explore table (Component type, Examples observed, Interaction with humans). Encourage observation of birds' nests, ant hills, termite mounds and spider webs as 'structures built by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Biodiversity is unevenly spread, so geography decides where and how we conserve. Ask: Is there a sacred grove, temple tank or community forest near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Namdapha NP (Arunachal Pradesh); Rann of Kutch (Gujarat); Gahirmatha beach (Odisha, nesting site of olive ridley turtles); Gulf of Mannar (Tamil Nadu, marine biosphere reserve with coral reefs); Pachmarhi (Madhya Pradesh, biosphere reserve in the Satpura range); Achanakmar–Amarkantak (Chhattisgarh–Madhya Pradesh border, biosphere 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code: no littering or plastic, stay on trails, no feeding or teasing animals, no loud music, buy local products, respect local customs. Ask: Is there an ecotourism site in our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textbook Fig. 2.16 (map). Students add a forest product from their state on the class map. Non-timber forest products (NTFPs) help families meet daily needs and earn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time: tell the story of Amrita Devi Bishnoi (1730), who hugged trees to save them. Ask: What can we learn from forest dwellers about sustainable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 tags connect geography (place), culture (traditional knowledge), governance (legal protection) and the rural economy (better prices). Ask: Can you name a GI-tagged product from our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How has the Pradhan Mantri Ujjwala Yojana (LPG connections) improved women's health? (Less smoke from fuelwood.) Think about it: Which wild animals have you seen in your area, and why do they enter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name of FRA: Scheduled Tribes and Other Traditional Forest Dwellers (Recognition of Forest Rights) Act, 2006.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link with Fundamental Rights (participation, control over resources) and Fundamental Duties (protecting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Use the School Bhuvan–NCERT Geoportal to spot tanks and the fields they irrigate (textbook Fig. 2.24, Bhandara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to the Forest Rights Act and Mendha Lekha. Encourage students to consider alternatives like Thenmala-style community ecotourism.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B, Q3: C, Q4: A.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up for FACT and stay seated for MYTH (or show thumbs up/down).
Answers:
1. MYTH: A biome is a large region; an ecosystem is like a neighbourhood within it.
2. FACT: They preserve rich, unique genetic resources.
3. MYTH: Deserts can be cold too, like the Gobi or Ladakh's Nubra Valley.
4. FACT: The Bishnoi Movement led by Amrita Devi influenced Chipko in Uttarakhand.
5. FACT: It links a product's quality and reputation to its place of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457200"/>
            <a:ext cx="2743200" cy="365760"/>
          </a:xfrm>
          <a:prstGeom prst="rect">
            <a:avLst/>
          </a:prstGeom>
          <a:noFill/>
          <a:ln/>
        </p:spPr>
        <p:txBody>
          <a:bodyPr wrap="square" lIns="0" tIns="0" rIns="0" bIns="0" rtlCol="0" anchor="ctr"/>
          <a:lstStyle/>
          <a:p>
            <a:pPr indent="0" marL="0">
              <a:buNone/>
            </a:pPr>
            <a:r>
              <a:rPr lang="en-US" sz="1600" b="1" spc="400" kern="0" dirty="0">
                <a:solidFill>
                  <a:schemeClr val="bg1"/>
                </a:solidFill>
              </a:rPr>
              <a:t>EDUBYTEZ</a:t>
            </a:r>
            <a:endParaRPr lang="en-US" sz="1600" dirty="0"/>
          </a:p>
        </p:txBody>
      </p:sp>
      <p:sp>
        <p:nvSpPr>
          <p:cNvPr id="6" name="Text 1"/>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7" name="Text 2"/>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2: Life on Earth</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bg1"/>
                </a:solidFill>
              </a:rPr>
              <a:t>Edubytez</a:t>
            </a:r>
            <a:endParaRPr lang="en-US" sz="1000" dirty="0"/>
          </a:p>
        </p:txBody>
      </p:sp>
      <p:sp>
        <p:nvSpPr>
          <p:cNvPr id="6"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2: Life on Earth</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2: Life on Earth</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2: Life on Earth</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2: Life on Earth</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AF3E6"/>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6.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2  ·  GEOGRAPHY</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Life on Earth</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Every patch of Earth's quilt has its own life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Earth's Patchwork Quilt</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THINK · PAIR · SHARE</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If Earth were a giant patchwork quilt, what would your patch look like?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Name 3 plants and 3 animals found near your home</a:t>
            </a:r>
            <a:endParaRPr lang="en-US" sz="1600" dirty="0"/>
          </a:p>
          <a:p>
            <a:pPr marL="228600" indent="-228600">
              <a:spcAft>
                <a:spcPts val="600"/>
              </a:spcAft>
              <a:buSzPct val="100000"/>
              <a:buChar char="•"/>
            </a:pPr>
            <a:r>
              <a:rPr lang="en-US" sz="1600" dirty="0">
                <a:solidFill>
                  <a:schemeClr val="tx1"/>
                </a:solidFill>
              </a:rPr>
              <a:t>What is the weather like for most of the year?</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'Biome' comes from the Greek bios (life) + -ome (a group).</a:t>
            </a:r>
            <a:endParaRPr lang="en-US" sz="1600" dirty="0"/>
          </a:p>
          <a:p>
            <a:pPr marL="228600" indent="-228600">
              <a:spcAft>
                <a:spcPts val="1000"/>
              </a:spcAft>
              <a:buSzPct val="100000"/>
              <a:buChar char="•"/>
            </a:pPr>
            <a:r>
              <a:rPr lang="en-US" sz="1600" dirty="0">
                <a:solidFill>
                  <a:schemeClr val="bg1"/>
                </a:solidFill>
              </a:rPr>
              <a:t>The Rann of Kutch is a white salt desert in the dry season and a marshy wetland in the monsoon.</a:t>
            </a:r>
            <a:endParaRPr lang="en-US" sz="1600" dirty="0"/>
          </a:p>
          <a:p>
            <a:pPr marL="228600" indent="-228600">
              <a:spcAft>
                <a:spcPts val="1000"/>
              </a:spcAft>
              <a:buSzPct val="100000"/>
              <a:buChar char="•"/>
            </a:pPr>
            <a:r>
              <a:rPr lang="en-US" sz="1600" dirty="0">
                <a:solidFill>
                  <a:schemeClr val="bg1"/>
                </a:solidFill>
              </a:rPr>
              <a:t>India has over 1,00,000 sacred groves protected by local communities.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 physiography and climate shape life on Earth?</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are humans and other life forms interconnected?</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the importance of preserving various life forms, and how can we contribute to their conservation?</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Biomes: Earth's Patchwork Quilt</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Large natural regions where certain plants and animals live under similar climatic conditions.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Biome or Ecosystem?</a:t>
            </a:r>
            <a:endParaRPr lang="en-US" sz="3600" dirty="0"/>
          </a:p>
        </p:txBody>
      </p:sp>
      <p:sp>
        <p:nvSpPr>
          <p:cNvPr id="3" name="Biome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Biome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Biome</a:t>
            </a:r>
            <a:endParaRPr lang="en-US" sz="2200" dirty="0"/>
          </a:p>
        </p:txBody>
      </p:sp>
      <p:sp>
        <p:nvSpPr>
          <p:cNvPr id="6" name="Biome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A </a:t>
            </a:r>
            <a:r>
              <a:rPr lang="en-US" sz="1900" b="1" dirty="0">
                <a:solidFill>
                  <a:schemeClr val="tx1"/>
                </a:solidFill>
              </a:rPr>
              <a:t>large natural region</a:t>
            </a:r>
            <a:r>
              <a:rPr lang="en-US" sz="1900" dirty="0">
                <a:solidFill>
                  <a:schemeClr val="tx1"/>
                </a:solidFill>
              </a:rPr>
              <a:t> of the world</a:t>
            </a:r>
            <a:endParaRPr lang="en-US" sz="1600" dirty="0"/>
          </a:p>
          <a:p>
            <a:pPr marL="228600" indent="-228600">
              <a:spcAft>
                <a:spcPts val="800"/>
              </a:spcAft>
              <a:buSzPct val="100000"/>
              <a:buChar char="•"/>
            </a:pPr>
            <a:r>
              <a:rPr lang="en-US" sz="1900" dirty="0">
                <a:solidFill>
                  <a:schemeClr val="tx1"/>
                </a:solidFill>
              </a:rPr>
              <a:t>Plants and animals live under </a:t>
            </a:r>
            <a:r>
              <a:rPr lang="en-US" sz="1900" b="1" dirty="0">
                <a:solidFill>
                  <a:schemeClr val="tx1"/>
                </a:solidFill>
              </a:rPr>
              <a:t>similar climate</a:t>
            </a:r>
            <a:endParaRPr lang="en-US" sz="1600" dirty="0"/>
          </a:p>
          <a:p>
            <a:pPr marL="228600" indent="-228600">
              <a:spcAft>
                <a:spcPts val="800"/>
              </a:spcAft>
              <a:buSzPct val="100000"/>
              <a:buChar char="•"/>
            </a:pPr>
            <a:r>
              <a:rPr lang="en-US" sz="1900" dirty="0">
                <a:solidFill>
                  <a:schemeClr val="tx1"/>
                </a:solidFill>
              </a:rPr>
              <a:t>Examples: icy tundra, hot desert, green forest, vast grassland</a:t>
            </a:r>
            <a:endParaRPr lang="en-US" sz="1600" dirty="0"/>
          </a:p>
          <a:p>
            <a:pPr marL="228600" indent="-228600">
              <a:spcAft>
                <a:spcPts val="800"/>
              </a:spcAft>
              <a:buSzPct val="100000"/>
              <a:buChar char="•"/>
            </a:pPr>
            <a:r>
              <a:rPr lang="en-US" sz="1900" dirty="0">
                <a:solidFill>
                  <a:schemeClr val="tx1"/>
                </a:solidFill>
              </a:rPr>
              <a:t>Can be </a:t>
            </a:r>
            <a:r>
              <a:rPr lang="en-US" sz="1900" b="1" dirty="0">
                <a:solidFill>
                  <a:schemeClr val="tx1"/>
                </a:solidFill>
              </a:rPr>
              <a:t>terrestrial</a:t>
            </a:r>
            <a:r>
              <a:rPr lang="en-US" sz="1900" dirty="0">
                <a:solidFill>
                  <a:schemeClr val="tx1"/>
                </a:solidFill>
              </a:rPr>
              <a:t> (land) or </a:t>
            </a:r>
            <a:r>
              <a:rPr lang="en-US" sz="1900" b="1" dirty="0">
                <a:solidFill>
                  <a:schemeClr val="tx1"/>
                </a:solidFill>
              </a:rPr>
              <a:t>aquatic</a:t>
            </a:r>
            <a:r>
              <a:rPr lang="en-US" sz="1900" dirty="0">
                <a:solidFill>
                  <a:schemeClr val="tx1"/>
                </a:solidFill>
              </a:rPr>
              <a:t> (water)</a:t>
            </a:r>
            <a:endParaRPr lang="en-US" sz="1600" dirty="0"/>
          </a:p>
        </p:txBody>
      </p:sp>
      <p:sp>
        <p:nvSpPr>
          <p:cNvPr id="8" name="Ecosystem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Ecosystem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Ecosystem</a:t>
            </a:r>
            <a:endParaRPr lang="en-US" sz="2200" dirty="0"/>
          </a:p>
        </p:txBody>
      </p:sp>
      <p:sp>
        <p:nvSpPr>
          <p:cNvPr id="11" name="Ecosystem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Like a </a:t>
            </a:r>
            <a:r>
              <a:rPr lang="en-US" sz="1900" b="1" dirty="0">
                <a:solidFill>
                  <a:schemeClr val="tx1"/>
                </a:solidFill>
              </a:rPr>
              <a:t>neighbourhood</a:t>
            </a:r>
            <a:r>
              <a:rPr lang="en-US" sz="1900" dirty="0">
                <a:solidFill>
                  <a:schemeClr val="tx1"/>
                </a:solidFill>
              </a:rPr>
              <a:t> within a biome</a:t>
            </a:r>
            <a:endParaRPr lang="en-US" sz="1600" dirty="0"/>
          </a:p>
          <a:p>
            <a:pPr marL="228600" indent="-228600">
              <a:spcAft>
                <a:spcPts val="800"/>
              </a:spcAft>
              <a:buSzPct val="100000"/>
              <a:buChar char="•"/>
            </a:pPr>
            <a:r>
              <a:rPr lang="en-US" sz="1900" dirty="0">
                <a:solidFill>
                  <a:schemeClr val="tx1"/>
                </a:solidFill>
              </a:rPr>
              <a:t>Plants, animals and </a:t>
            </a:r>
            <a:r>
              <a:rPr lang="en-US" sz="1900" b="1" dirty="0">
                <a:solidFill>
                  <a:schemeClr val="tx1"/>
                </a:solidFill>
              </a:rPr>
              <a:t>non-living things</a:t>
            </a:r>
            <a:r>
              <a:rPr lang="en-US" sz="1900" dirty="0">
                <a:solidFill>
                  <a:schemeClr val="tx1"/>
                </a:solidFill>
              </a:rPr>
              <a:t> interact closely</a:t>
            </a:r>
            <a:endParaRPr lang="en-US" sz="1600" dirty="0"/>
          </a:p>
          <a:p>
            <a:pPr marL="228600" indent="-228600">
              <a:spcAft>
                <a:spcPts val="800"/>
              </a:spcAft>
              <a:buSzPct val="100000"/>
              <a:buChar char="•"/>
            </a:pPr>
            <a:r>
              <a:rPr lang="en-US" sz="1900" dirty="0">
                <a:solidFill>
                  <a:schemeClr val="tx1"/>
                </a:solidFill>
              </a:rPr>
              <a:t>Example: a pond, a sacred grove, a mangrove creek</a:t>
            </a:r>
            <a:endParaRPr lang="en-US" sz="1600" dirty="0"/>
          </a:p>
          <a:p>
            <a:pPr marL="228600" indent="-228600">
              <a:spcAft>
                <a:spcPts val="800"/>
              </a:spcAft>
              <a:buSzPct val="100000"/>
              <a:buChar char="•"/>
            </a:pPr>
            <a:r>
              <a:rPr lang="en-US" sz="1900" dirty="0">
                <a:solidFill>
                  <a:schemeClr val="tx1"/>
                </a:solidFill>
              </a:rPr>
              <a:t>Many ecosystems together make up a biome</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&amp;</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What decides a biome? </a:t>
            </a:r>
            <a:r>
              <a:rPr lang="en-US" sz="1500" b="1" dirty="0">
                <a:solidFill>
                  <a:schemeClr val="bg1"/>
                </a:solidFill>
              </a:rPr>
              <a:t>Temperature · precipitation · dominant plants · growth forms of vegetation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Terrestrial Biomes</a:t>
            </a:r>
            <a:endParaRPr lang="en-US" sz="3600" dirty="0"/>
          </a:p>
        </p:txBody>
      </p:sp>
      <p:sp>
        <p:nvSpPr>
          <p:cNvPr id="3" name="card 1"/>
          <p:cNvSpPr/>
          <p:nvPr/>
        </p:nvSpPr>
        <p:spPr>
          <a:xfrm>
            <a:off x="548640" y="1371600"/>
            <a:ext cx="539496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Forest biome</a:t>
            </a:r>
            <a:endParaRPr lang="en-US" sz="1800" dirty="0"/>
          </a:p>
        </p:txBody>
      </p:sp>
      <p:sp>
        <p:nvSpPr>
          <p:cNvPr id="7" name="Text 4"/>
          <p:cNvSpPr txBox="1"/>
          <p:nvPr/>
        </p:nvSpPr>
        <p:spPr>
          <a:xfrm>
            <a:off x="77724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Hot and wet all year near the Equator. Amazon, Congo, Southeast Asia; in India, A&amp;N Islands and the Northeast. Called a </a:t>
            </a:r>
            <a:r>
              <a:rPr lang="en-US" sz="1800" b="1" dirty="0">
                <a:solidFill>
                  <a:schemeClr val="tx1"/>
                </a:solidFill>
              </a:rPr>
              <a:t>'gene bank'</a:t>
            </a:r>
            <a:r>
              <a:rPr lang="en-US" sz="1800" dirty="0">
                <a:solidFill>
                  <a:schemeClr val="tx1"/>
                </a:solidFill>
              </a:rPr>
              <a:t>.</a:t>
            </a:r>
            <a:endParaRPr lang="en-US" sz="1600" dirty="0"/>
          </a:p>
        </p:txBody>
      </p:sp>
      <p:sp>
        <p:nvSpPr>
          <p:cNvPr id="8" name="card 2"/>
          <p:cNvSpPr/>
          <p:nvPr/>
        </p:nvSpPr>
        <p:spPr>
          <a:xfrm>
            <a:off x="6217920" y="1371600"/>
            <a:ext cx="539496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Grassland biome</a:t>
            </a:r>
            <a:endParaRPr lang="en-US" sz="1800" dirty="0"/>
          </a:p>
        </p:txBody>
      </p:sp>
      <p:sp>
        <p:nvSpPr>
          <p:cNvPr id="12" name="Text 8"/>
          <p:cNvSpPr txBox="1"/>
          <p:nvPr/>
        </p:nvSpPr>
        <p:spPr>
          <a:xfrm>
            <a:off x="644652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Moderate rainfall, few trees. </a:t>
            </a:r>
            <a:r>
              <a:rPr lang="en-US" sz="1800" b="1" dirty="0">
                <a:solidFill>
                  <a:schemeClr val="tx1"/>
                </a:solidFill>
              </a:rPr>
              <a:t>Temperate:</a:t>
            </a:r>
            <a:r>
              <a:rPr lang="en-US" sz="1800" dirty="0">
                <a:solidFill>
                  <a:schemeClr val="tx1"/>
                </a:solidFill>
              </a:rPr>
              <a:t> prairies, steppes (farming). </a:t>
            </a:r>
            <a:r>
              <a:rPr lang="en-US" sz="1800" b="1" dirty="0">
                <a:solidFill>
                  <a:schemeClr val="tx1"/>
                </a:solidFill>
              </a:rPr>
              <a:t>Tropical savannas</a:t>
            </a:r>
            <a:r>
              <a:rPr lang="en-US" sz="1800" dirty="0">
                <a:solidFill>
                  <a:schemeClr val="tx1"/>
                </a:solidFill>
              </a:rPr>
              <a:t> (Africa): lions, elephants, giraffes.</a:t>
            </a:r>
            <a:endParaRPr lang="en-US" sz="1600" dirty="0"/>
          </a:p>
        </p:txBody>
      </p:sp>
      <p:sp>
        <p:nvSpPr>
          <p:cNvPr id="13" name="card 3"/>
          <p:cNvSpPr/>
          <p:nvPr/>
        </p:nvSpPr>
        <p:spPr>
          <a:xfrm>
            <a:off x="548640" y="3931920"/>
            <a:ext cx="539496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777240" y="416052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4285244"/>
            <a:ext cx="317480" cy="317480"/>
          </a:xfrm>
          <a:prstGeom prst="rect">
            <a:avLst/>
          </a:prstGeom>
        </p:spPr>
      </p:pic>
      <p:sp>
        <p:nvSpPr>
          <p:cNvPr id="16" name="Text 11"/>
          <p:cNvSpPr txBox="1"/>
          <p:nvPr/>
        </p:nvSpPr>
        <p:spPr>
          <a:xfrm>
            <a:off x="148132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Desert biome</a:t>
            </a:r>
            <a:endParaRPr lang="en-US" sz="1800" dirty="0"/>
          </a:p>
        </p:txBody>
      </p:sp>
      <p:sp>
        <p:nvSpPr>
          <p:cNvPr id="17" name="Text 12"/>
          <p:cNvSpPr txBox="1"/>
          <p:nvPr/>
        </p:nvSpPr>
        <p:spPr>
          <a:xfrm>
            <a:off x="77724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Driest biome. </a:t>
            </a:r>
            <a:r>
              <a:rPr lang="en-US" sz="1800" b="1" dirty="0">
                <a:solidFill>
                  <a:schemeClr val="tx1"/>
                </a:solidFill>
              </a:rPr>
              <a:t>Hot</a:t>
            </a:r>
            <a:r>
              <a:rPr lang="en-US" sz="1800" dirty="0">
                <a:solidFill>
                  <a:schemeClr val="tx1"/>
                </a:solidFill>
              </a:rPr>
              <a:t> (Sahara) or </a:t>
            </a:r>
            <a:r>
              <a:rPr lang="en-US" sz="1800" b="1" dirty="0">
                <a:solidFill>
                  <a:schemeClr val="tx1"/>
                </a:solidFill>
              </a:rPr>
              <a:t>cold</a:t>
            </a:r>
            <a:r>
              <a:rPr lang="en-US" sz="1800" dirty="0">
                <a:solidFill>
                  <a:schemeClr val="tx1"/>
                </a:solidFill>
              </a:rPr>
              <a:t> (Gobi). Cacti, camels, lizards and snakes store water and bear heat.</a:t>
            </a:r>
            <a:endParaRPr lang="en-US" sz="1600" dirty="0"/>
          </a:p>
        </p:txBody>
      </p:sp>
      <p:sp>
        <p:nvSpPr>
          <p:cNvPr id="18" name="card 4"/>
          <p:cNvSpPr/>
          <p:nvPr/>
        </p:nvSpPr>
        <p:spPr>
          <a:xfrm>
            <a:off x="6217920" y="3931920"/>
            <a:ext cx="539496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644652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4285244"/>
            <a:ext cx="317480" cy="317480"/>
          </a:xfrm>
          <a:prstGeom prst="rect">
            <a:avLst/>
          </a:prstGeom>
        </p:spPr>
      </p:pic>
      <p:sp>
        <p:nvSpPr>
          <p:cNvPr id="21" name="Text 15"/>
          <p:cNvSpPr txBox="1"/>
          <p:nvPr/>
        </p:nvSpPr>
        <p:spPr>
          <a:xfrm>
            <a:off x="715060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Tundra biome</a:t>
            </a:r>
            <a:endParaRPr lang="en-US" sz="1800" dirty="0"/>
          </a:p>
        </p:txBody>
      </p:sp>
      <p:sp>
        <p:nvSpPr>
          <p:cNvPr id="22" name="Text 16"/>
          <p:cNvSpPr txBox="1"/>
          <p:nvPr/>
        </p:nvSpPr>
        <p:spPr>
          <a:xfrm>
            <a:off x="644652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Coldest biome near the Arctic and Antarctic. </a:t>
            </a:r>
            <a:r>
              <a:rPr lang="en-US" sz="1800" b="1" dirty="0">
                <a:solidFill>
                  <a:schemeClr val="tx1"/>
                </a:solidFill>
              </a:rPr>
              <a:t>Permafrost</a:t>
            </a:r>
            <a:r>
              <a:rPr lang="en-US" sz="1800" dirty="0">
                <a:solidFill>
                  <a:schemeClr val="tx1"/>
                </a:solidFill>
              </a:rPr>
              <a:t> stops trees growing; mosses, lichens; reindeer, polar bears.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Inside a Tropical Rainforest</a:t>
            </a:r>
            <a:endParaRPr lang="en-US" sz="3600" dirty="0"/>
          </a:p>
        </p:txBody>
      </p:sp>
      <p:sp>
        <p:nvSpPr>
          <p:cNvPr id="3" name="Emergent layer"/>
          <p:cNvSpPr/>
          <p:nvPr/>
        </p:nvSpPr>
        <p:spPr>
          <a:xfrm>
            <a:off x="548640" y="1371600"/>
            <a:ext cx="6766560" cy="1170432"/>
          </a:xfrm>
          <a:prstGeom prst="roundRect">
            <a:avLst>
              <a:gd name="adj" fmla="val 7813"/>
            </a:avLst>
          </a:prstGeom>
          <a:solidFill>
            <a:schemeClr val="accent5">
              <a:alpha val="65000"/>
            </a:schemeClr>
          </a:solidFill>
          <a:ln w="12700">
            <a:solidFill>
              <a:schemeClr val="accent5"/>
            </a:solidFill>
            <a:prstDash val="solid"/>
          </a:ln>
        </p:spPr>
      </p:sp>
      <p:pic>
        <p:nvPicPr>
          <p:cNvPr id="4" name="Emergent layer icon" descr="preencoded.png">    </p:cNvPr>
          <p:cNvPicPr>
            <a:picLocks noChangeAspect="1"/>
          </p:cNvPicPr>
          <p:nvPr/>
        </p:nvPicPr>
        <p:blipFill>
          <a:blip r:embed="rId1"/>
          <a:stretch>
            <a:fillRect/>
          </a:stretch>
        </p:blipFill>
        <p:spPr>
          <a:xfrm>
            <a:off x="777240" y="1591056"/>
            <a:ext cx="731520" cy="731520"/>
          </a:xfrm>
          <a:prstGeom prst="rect">
            <a:avLst/>
          </a:prstGeom>
        </p:spPr>
      </p:pic>
      <p:sp>
        <p:nvSpPr>
          <p:cNvPr id="5" name="Text 2"/>
          <p:cNvSpPr txBox="1"/>
          <p:nvPr/>
        </p:nvSpPr>
        <p:spPr>
          <a:xfrm>
            <a:off x="1737360" y="1481328"/>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Emergent layer</a:t>
            </a:r>
            <a:endParaRPr lang="en-US" sz="1600" dirty="0"/>
          </a:p>
          <a:p>
            <a:pPr indent="0" marL="0">
              <a:buNone/>
            </a:pPr>
            <a:r>
              <a:rPr lang="en-US" sz="1500" dirty="0">
                <a:solidFill>
                  <a:schemeClr val="bg1"/>
                </a:solidFill>
              </a:rPr>
              <a:t>Tallest trees poke out above the canopy. Lots of sun and wind.</a:t>
            </a:r>
            <a:endParaRPr lang="en-US" sz="1600" dirty="0"/>
          </a:p>
        </p:txBody>
      </p:sp>
      <p:sp>
        <p:nvSpPr>
          <p:cNvPr id="6" name="Upper canopy"/>
          <p:cNvSpPr/>
          <p:nvPr/>
        </p:nvSpPr>
        <p:spPr>
          <a:xfrm>
            <a:off x="548640" y="2596896"/>
            <a:ext cx="6766560" cy="1170432"/>
          </a:xfrm>
          <a:prstGeom prst="roundRect">
            <a:avLst>
              <a:gd name="adj" fmla="val 7813"/>
            </a:avLst>
          </a:prstGeom>
          <a:solidFill>
            <a:schemeClr val="accent1"/>
          </a:solidFill>
          <a:ln w="12700">
            <a:solidFill>
              <a:schemeClr val="accent1"/>
            </a:solidFill>
            <a:prstDash val="solid"/>
          </a:ln>
        </p:spPr>
      </p:sp>
      <p:pic>
        <p:nvPicPr>
          <p:cNvPr id="7" name="Upper canopy icon" descr="preencoded.png">    </p:cNvPr>
          <p:cNvPicPr>
            <a:picLocks noChangeAspect="1"/>
          </p:cNvPicPr>
          <p:nvPr/>
        </p:nvPicPr>
        <p:blipFill>
          <a:blip r:embed="rId2"/>
          <a:stretch>
            <a:fillRect/>
          </a:stretch>
        </p:blipFill>
        <p:spPr>
          <a:xfrm>
            <a:off x="777240" y="2816352"/>
            <a:ext cx="731520" cy="731520"/>
          </a:xfrm>
          <a:prstGeom prst="rect">
            <a:avLst/>
          </a:prstGeom>
        </p:spPr>
      </p:pic>
      <p:sp>
        <p:nvSpPr>
          <p:cNvPr id="8" name="Text 4"/>
          <p:cNvSpPr txBox="1"/>
          <p:nvPr/>
        </p:nvSpPr>
        <p:spPr>
          <a:xfrm>
            <a:off x="1737360" y="2706624"/>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Upper canopy</a:t>
            </a:r>
            <a:endParaRPr lang="en-US" sz="1600" dirty="0"/>
          </a:p>
          <a:p>
            <a:pPr indent="0" marL="0">
              <a:buNone/>
            </a:pPr>
            <a:r>
              <a:rPr lang="en-US" sz="1500" dirty="0">
                <a:solidFill>
                  <a:schemeClr val="bg1"/>
                </a:solidFill>
              </a:rPr>
              <a:t>A thick roof of leaves and branches. Most animals live here.</a:t>
            </a:r>
            <a:endParaRPr lang="en-US" sz="1600" dirty="0"/>
          </a:p>
        </p:txBody>
      </p:sp>
      <p:sp>
        <p:nvSpPr>
          <p:cNvPr id="9" name="Understory / lower canopy"/>
          <p:cNvSpPr/>
          <p:nvPr/>
        </p:nvSpPr>
        <p:spPr>
          <a:xfrm>
            <a:off x="548640" y="3822192"/>
            <a:ext cx="6766560" cy="1170432"/>
          </a:xfrm>
          <a:prstGeom prst="roundRect">
            <a:avLst>
              <a:gd name="adj" fmla="val 7813"/>
            </a:avLst>
          </a:prstGeom>
          <a:solidFill>
            <a:schemeClr val="tx2">
              <a:alpha val="85000"/>
            </a:schemeClr>
          </a:solidFill>
          <a:ln w="12700">
            <a:solidFill>
              <a:schemeClr val="tx2"/>
            </a:solidFill>
            <a:prstDash val="solid"/>
          </a:ln>
        </p:spPr>
      </p:sp>
      <p:pic>
        <p:nvPicPr>
          <p:cNvPr id="10" name="Understory / lower canopy icon" descr="preencoded.png">    </p:cNvPr>
          <p:cNvPicPr>
            <a:picLocks noChangeAspect="1"/>
          </p:cNvPicPr>
          <p:nvPr/>
        </p:nvPicPr>
        <p:blipFill>
          <a:blip r:embed="rId3"/>
          <a:stretch>
            <a:fillRect/>
          </a:stretch>
        </p:blipFill>
        <p:spPr>
          <a:xfrm>
            <a:off x="777240" y="4041648"/>
            <a:ext cx="731520" cy="731520"/>
          </a:xfrm>
          <a:prstGeom prst="rect">
            <a:avLst/>
          </a:prstGeom>
        </p:spPr>
      </p:pic>
      <p:sp>
        <p:nvSpPr>
          <p:cNvPr id="11" name="Text 6"/>
          <p:cNvSpPr txBox="1"/>
          <p:nvPr/>
        </p:nvSpPr>
        <p:spPr>
          <a:xfrm>
            <a:off x="1737360" y="3931920"/>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Understory / lower canopy</a:t>
            </a:r>
            <a:endParaRPr lang="en-US" sz="1600" dirty="0"/>
          </a:p>
          <a:p>
            <a:pPr indent="0" marL="0">
              <a:buNone/>
            </a:pPr>
            <a:r>
              <a:rPr lang="en-US" sz="1500" dirty="0">
                <a:solidFill>
                  <a:schemeClr val="bg1"/>
                </a:solidFill>
              </a:rPr>
              <a:t>Dim and humid. Young trees, shrubs and big leaves.</a:t>
            </a:r>
            <a:endParaRPr lang="en-US" sz="1600" dirty="0"/>
          </a:p>
        </p:txBody>
      </p:sp>
      <p:sp>
        <p:nvSpPr>
          <p:cNvPr id="12" name="Forest floor"/>
          <p:cNvSpPr/>
          <p:nvPr/>
        </p:nvSpPr>
        <p:spPr>
          <a:xfrm>
            <a:off x="548640" y="5047488"/>
            <a:ext cx="6766560" cy="1170432"/>
          </a:xfrm>
          <a:prstGeom prst="roundRect">
            <a:avLst>
              <a:gd name="adj" fmla="val 7813"/>
            </a:avLst>
          </a:prstGeom>
          <a:solidFill>
            <a:schemeClr val="tx2"/>
          </a:solidFill>
          <a:ln w="12700">
            <a:solidFill>
              <a:schemeClr val="tx2"/>
            </a:solidFill>
            <a:prstDash val="solid"/>
          </a:ln>
        </p:spPr>
      </p:sp>
      <p:pic>
        <p:nvPicPr>
          <p:cNvPr id="13" name="Forest floor icon" descr="preencoded.png">    </p:cNvPr>
          <p:cNvPicPr>
            <a:picLocks noChangeAspect="1"/>
          </p:cNvPicPr>
          <p:nvPr/>
        </p:nvPicPr>
        <p:blipFill>
          <a:blip r:embed="rId4"/>
          <a:stretch>
            <a:fillRect/>
          </a:stretch>
        </p:blipFill>
        <p:spPr>
          <a:xfrm>
            <a:off x="777240" y="5266944"/>
            <a:ext cx="731520" cy="731520"/>
          </a:xfrm>
          <a:prstGeom prst="rect">
            <a:avLst/>
          </a:prstGeom>
        </p:spPr>
      </p:pic>
      <p:sp>
        <p:nvSpPr>
          <p:cNvPr id="14" name="Text 8"/>
          <p:cNvSpPr txBox="1"/>
          <p:nvPr/>
        </p:nvSpPr>
        <p:spPr>
          <a:xfrm>
            <a:off x="1737360" y="5157216"/>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Forest floor</a:t>
            </a:r>
            <a:endParaRPr lang="en-US" sz="1600" dirty="0"/>
          </a:p>
          <a:p>
            <a:pPr indent="0" marL="0">
              <a:buNone/>
            </a:pPr>
            <a:r>
              <a:rPr lang="en-US" sz="1500" dirty="0">
                <a:solidFill>
                  <a:schemeClr val="bg1"/>
                </a:solidFill>
              </a:rPr>
              <a:t>Dark, damp, little sunlight. Fallen leaves rot quickly.</a:t>
            </a:r>
            <a:endParaRPr lang="en-US" sz="1600" dirty="0"/>
          </a:p>
        </p:txBody>
      </p:sp>
      <p:sp>
        <p:nvSpPr>
          <p:cNvPr id="15" name="gene bank card"/>
          <p:cNvSpPr/>
          <p:nvPr/>
        </p:nvSpPr>
        <p:spPr>
          <a:xfrm>
            <a:off x="7635240" y="1371600"/>
            <a:ext cx="3977640" cy="2240280"/>
          </a:xfrm>
          <a:prstGeom prst="roundRect">
            <a:avLst>
              <a:gd name="adj" fmla="val 4898"/>
            </a:avLst>
          </a:prstGeom>
          <a:solidFill>
            <a:schemeClr val="bg2"/>
          </a:solidFill>
          <a:ln w="12700">
            <a:solidFill>
              <a:schemeClr val="bg2"/>
            </a:solidFill>
            <a:prstDash val="solid"/>
          </a:ln>
        </p:spPr>
      </p:sp>
      <p:sp>
        <p:nvSpPr>
          <p:cNvPr id="16" name="Text 10"/>
          <p:cNvSpPr txBox="1"/>
          <p:nvPr/>
        </p:nvSpPr>
        <p:spPr>
          <a:xfrm>
            <a:off x="7863840" y="1508760"/>
            <a:ext cx="3566160" cy="1965960"/>
          </a:xfrm>
          <a:prstGeom prst="rect">
            <a:avLst/>
          </a:prstGeom>
          <a:noFill/>
          <a:ln/>
        </p:spPr>
        <p:txBody>
          <a:bodyPr wrap="square" lIns="0" tIns="0" rIns="0" bIns="0" rtlCol="0" anchor="t"/>
          <a:lstStyle/>
          <a:p>
            <a:pPr indent="0" marL="0">
              <a:buNone/>
            </a:pPr>
            <a:r>
              <a:rPr lang="en-US" sz="1800" b="1" dirty="0">
                <a:solidFill>
                  <a:schemeClr val="accent1"/>
                </a:solidFill>
              </a:rPr>
              <a:t>Why a 'gene bank'?</a:t>
            </a:r>
            <a:endParaRPr lang="en-US" sz="1600" dirty="0"/>
          </a:p>
          <a:p>
            <a:pPr indent="0" marL="0">
              <a:buNone/>
            </a:pPr>
            <a:r>
              <a:rPr lang="en-US" sz="1500" dirty="0">
                <a:solidFill>
                  <a:schemeClr val="tx1"/>
                </a:solidFill>
              </a:rPr>
              <a:t>Rainforests are the world's richest store of biodiversity. They preserve unique genetic material for conservation and research.</a:t>
            </a:r>
            <a:endParaRPr lang="en-US" sz="1600" dirty="0"/>
          </a:p>
        </p:txBody>
      </p:sp>
      <p:sp>
        <p:nvSpPr>
          <p:cNvPr id="17" name="where card"/>
          <p:cNvSpPr/>
          <p:nvPr/>
        </p:nvSpPr>
        <p:spPr>
          <a:xfrm>
            <a:off x="7635240" y="3794760"/>
            <a:ext cx="3977640" cy="2423160"/>
          </a:xfrm>
          <a:prstGeom prst="roundRect">
            <a:avLst>
              <a:gd name="adj" fmla="val 4528"/>
            </a:avLst>
          </a:prstGeom>
          <a:solidFill>
            <a:schemeClr val="tx2"/>
          </a:solidFill>
          <a:ln w="12700">
            <a:solidFill>
              <a:schemeClr val="tx2"/>
            </a:solidFill>
            <a:prstDash val="solid"/>
          </a:ln>
        </p:spPr>
      </p:sp>
      <p:sp>
        <p:nvSpPr>
          <p:cNvPr id="18" name="Text 12"/>
          <p:cNvSpPr txBox="1"/>
          <p:nvPr/>
        </p:nvSpPr>
        <p:spPr>
          <a:xfrm>
            <a:off x="7863840" y="3931920"/>
            <a:ext cx="3566160" cy="2148840"/>
          </a:xfrm>
          <a:prstGeom prst="rect">
            <a:avLst/>
          </a:prstGeom>
          <a:noFill/>
          <a:ln/>
        </p:spPr>
        <p:txBody>
          <a:bodyPr wrap="square" lIns="0" tIns="0" rIns="0" bIns="0" rtlCol="0" anchor="t"/>
          <a:lstStyle/>
          <a:p>
            <a:pPr indent="0" marL="0">
              <a:buNone/>
            </a:pPr>
            <a:r>
              <a:rPr lang="en-US" sz="1800" b="1" dirty="0">
                <a:solidFill>
                  <a:schemeClr val="accent3"/>
                </a:solidFill>
              </a:rPr>
              <a:t>Where are they?</a:t>
            </a:r>
            <a:endParaRPr lang="en-US" sz="1600" dirty="0"/>
          </a:p>
          <a:p>
            <a:pPr indent="0" marL="0">
              <a:buNone/>
            </a:pPr>
            <a:r>
              <a:rPr lang="en-US" sz="1500" dirty="0">
                <a:solidFill>
                  <a:schemeClr val="bg1"/>
                </a:solidFill>
              </a:rPr>
              <a:t>Between 23.5° N and 23.5° S: Amazon Basin, Congo Basin, Indonesia and Malaysia. In India: Andaman &amp; Nicobar Islands and the Northeast.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Think About It: Two Desert Camels</a:t>
            </a:r>
            <a:endParaRPr lang="en-US" sz="3600" dirty="0"/>
          </a:p>
        </p:txBody>
      </p:sp>
      <p:sp>
        <p:nvSpPr>
          <p:cNvPr id="3" name="Rajasthan camel (Thar)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Rajasthan camel (Thar)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Rajasthan camel (Thar)</a:t>
            </a:r>
            <a:endParaRPr lang="en-US" sz="2200" dirty="0"/>
          </a:p>
        </p:txBody>
      </p:sp>
      <p:sp>
        <p:nvSpPr>
          <p:cNvPr id="6" name="Rajasthan camel (Thar)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Hot desert</a:t>
            </a:r>
            <a:r>
              <a:rPr lang="en-US" sz="2200" dirty="0">
                <a:solidFill>
                  <a:schemeClr val="tx1"/>
                </a:solidFill>
              </a:rPr>
              <a:t>: very hot days, sandy soil</a:t>
            </a:r>
            <a:endParaRPr lang="en-US" sz="1600" dirty="0"/>
          </a:p>
          <a:p>
            <a:pPr marL="228600" indent="-228600">
              <a:spcAft>
                <a:spcPts val="800"/>
              </a:spcAft>
              <a:buSzPct val="100000"/>
              <a:buChar char="•"/>
            </a:pPr>
            <a:r>
              <a:rPr lang="en-US" sz="2200" dirty="0">
                <a:solidFill>
                  <a:schemeClr val="tx1"/>
                </a:solidFill>
              </a:rPr>
              <a:t>Short, thin coat to stay cool</a:t>
            </a:r>
            <a:endParaRPr lang="en-US" sz="1600" dirty="0"/>
          </a:p>
          <a:p>
            <a:pPr marL="228600" indent="-228600">
              <a:spcAft>
                <a:spcPts val="800"/>
              </a:spcAft>
              <a:buSzPct val="100000"/>
              <a:buChar char="•"/>
            </a:pPr>
            <a:r>
              <a:rPr lang="en-US" sz="2200" dirty="0">
                <a:solidFill>
                  <a:schemeClr val="tx1"/>
                </a:solidFill>
              </a:rPr>
              <a:t>One hump</a:t>
            </a:r>
            <a:endParaRPr lang="en-US" sz="1600" dirty="0"/>
          </a:p>
          <a:p>
            <a:pPr marL="228600" indent="-228600">
              <a:spcAft>
                <a:spcPts val="800"/>
              </a:spcAft>
              <a:buSzPct val="100000"/>
              <a:buChar char="•"/>
            </a:pPr>
            <a:r>
              <a:rPr lang="en-US" sz="2200" dirty="0">
                <a:solidFill>
                  <a:schemeClr val="tx1"/>
                </a:solidFill>
              </a:rPr>
              <a:t>Used for transport, milk and tourism</a:t>
            </a:r>
            <a:endParaRPr lang="en-US" sz="1600" dirty="0"/>
          </a:p>
        </p:txBody>
      </p:sp>
      <p:sp>
        <p:nvSpPr>
          <p:cNvPr id="8" name="Nubra Valley camel (Ladakh)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Nubra Valley camel (Ladakh)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Nubra Valley camel (Ladakh)</a:t>
            </a:r>
            <a:endParaRPr lang="en-US" sz="2200" dirty="0"/>
          </a:p>
        </p:txBody>
      </p:sp>
      <p:sp>
        <p:nvSpPr>
          <p:cNvPr id="11" name="Nubra Valley camel (Ladakh)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Cold desert</a:t>
            </a:r>
            <a:r>
              <a:rPr lang="en-US" sz="2200" dirty="0">
                <a:solidFill>
                  <a:schemeClr val="tx1"/>
                </a:solidFill>
              </a:rPr>
              <a:t>: freezing winters, high altitude</a:t>
            </a:r>
            <a:endParaRPr lang="en-US" sz="1600" dirty="0"/>
          </a:p>
          <a:p>
            <a:pPr marL="228600" indent="-228600">
              <a:spcAft>
                <a:spcPts val="800"/>
              </a:spcAft>
              <a:buSzPct val="100000"/>
              <a:buChar char="•"/>
            </a:pPr>
            <a:r>
              <a:rPr lang="en-US" sz="2200" b="1" dirty="0">
                <a:solidFill>
                  <a:schemeClr val="tx1"/>
                </a:solidFill>
              </a:rPr>
              <a:t>Thick, shaggy fur</a:t>
            </a:r>
            <a:r>
              <a:rPr lang="en-US" sz="2200" dirty="0">
                <a:solidFill>
                  <a:schemeClr val="tx1"/>
                </a:solidFill>
              </a:rPr>
              <a:t> to keep warm</a:t>
            </a:r>
            <a:endParaRPr lang="en-US" sz="1600" dirty="0"/>
          </a:p>
          <a:p>
            <a:pPr marL="228600" indent="-228600">
              <a:spcAft>
                <a:spcPts val="800"/>
              </a:spcAft>
              <a:buSzPct val="100000"/>
              <a:buChar char="•"/>
            </a:pPr>
            <a:r>
              <a:rPr lang="en-US" sz="2200" dirty="0">
                <a:solidFill>
                  <a:schemeClr val="tx1"/>
                </a:solidFill>
              </a:rPr>
              <a:t>Two humps</a:t>
            </a:r>
            <a:endParaRPr lang="en-US" sz="1600" dirty="0"/>
          </a:p>
          <a:p>
            <a:pPr marL="228600" indent="-228600">
              <a:spcAft>
                <a:spcPts val="800"/>
              </a:spcAft>
              <a:buSzPct val="100000"/>
              <a:buChar char="•"/>
            </a:pPr>
            <a:r>
              <a:rPr lang="en-US" sz="2200" dirty="0">
                <a:solidFill>
                  <a:schemeClr val="tx1"/>
                </a:solidFill>
              </a:rPr>
              <a:t>Now used mainly for tourism rides</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Same animal family, different climates: </a:t>
            </a:r>
            <a:r>
              <a:rPr lang="en-US" sz="1500" b="1" dirty="0">
                <a:solidFill>
                  <a:schemeClr val="bg1"/>
                </a:solidFill>
              </a:rPr>
              <a:t>adaptations</a:t>
            </a:r>
            <a:r>
              <a:rPr lang="en-US" sz="1500" dirty="0">
                <a:solidFill>
                  <a:schemeClr val="bg1"/>
                </a:solidFill>
              </a:rPr>
              <a:t> help living beings survive where they live.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Aquatic Biomes: Three-Fourths of Earth</a:t>
            </a:r>
            <a:endParaRPr lang="en-US" sz="3600" dirty="0"/>
          </a:p>
        </p:txBody>
      </p:sp>
      <p:sp>
        <p:nvSpPr>
          <p:cNvPr id="3" name="Freshwater biomes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Freshwater biomes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Freshwater biomes</a:t>
            </a:r>
            <a:endParaRPr lang="en-US" sz="2200" dirty="0"/>
          </a:p>
        </p:txBody>
      </p:sp>
      <p:sp>
        <p:nvSpPr>
          <p:cNvPr id="6" name="Freshwater biomes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Rivers, lakes, ponds and wetlands</a:t>
            </a:r>
            <a:endParaRPr lang="en-US" sz="1600" dirty="0"/>
          </a:p>
          <a:p>
            <a:pPr marL="228600" indent="-228600">
              <a:spcAft>
                <a:spcPts val="800"/>
              </a:spcAft>
              <a:buSzPct val="100000"/>
              <a:buChar char="•"/>
            </a:pPr>
            <a:r>
              <a:rPr lang="en-US" sz="2200" dirty="0">
                <a:solidFill>
                  <a:schemeClr val="tx1"/>
                </a:solidFill>
              </a:rPr>
              <a:t>Crucial for </a:t>
            </a:r>
            <a:r>
              <a:rPr lang="en-US" sz="2200" b="1" dirty="0">
                <a:solidFill>
                  <a:schemeClr val="tx1"/>
                </a:solidFill>
              </a:rPr>
              <a:t>agriculture</a:t>
            </a:r>
            <a:r>
              <a:rPr lang="en-US" sz="2200" dirty="0">
                <a:solidFill>
                  <a:schemeClr val="tx1"/>
                </a:solidFill>
              </a:rPr>
              <a:t> and </a:t>
            </a:r>
            <a:r>
              <a:rPr lang="en-US" sz="2200" b="1" dirty="0">
                <a:solidFill>
                  <a:schemeClr val="tx1"/>
                </a:solidFill>
              </a:rPr>
              <a:t>drinking water</a:t>
            </a:r>
            <a:endParaRPr lang="en-US" sz="1600" dirty="0"/>
          </a:p>
          <a:p>
            <a:pPr marL="228600" indent="-228600">
              <a:spcAft>
                <a:spcPts val="800"/>
              </a:spcAft>
              <a:buSzPct val="100000"/>
              <a:buChar char="•"/>
            </a:pPr>
            <a:r>
              <a:rPr lang="en-US" sz="2200" dirty="0">
                <a:solidFill>
                  <a:schemeClr val="tx1"/>
                </a:solidFill>
              </a:rPr>
              <a:t>Home to fish, frogs and insects</a:t>
            </a:r>
            <a:endParaRPr lang="en-US" sz="1600" dirty="0"/>
          </a:p>
        </p:txBody>
      </p:sp>
      <p:sp>
        <p:nvSpPr>
          <p:cNvPr id="8" name="Marine biomes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Marine biomes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Marine biomes</a:t>
            </a:r>
            <a:endParaRPr lang="en-US" sz="2200" dirty="0"/>
          </a:p>
        </p:txBody>
      </p:sp>
      <p:sp>
        <p:nvSpPr>
          <p:cNvPr id="11" name="Marine biomes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Oceans, seas and </a:t>
            </a:r>
            <a:r>
              <a:rPr lang="en-US" sz="2200" b="1" dirty="0">
                <a:solidFill>
                  <a:schemeClr val="tx1"/>
                </a:solidFill>
              </a:rPr>
              <a:t>coral reefs</a:t>
            </a:r>
            <a:endParaRPr lang="en-US" sz="1600" dirty="0"/>
          </a:p>
          <a:p>
            <a:pPr marL="228600" indent="-228600">
              <a:spcAft>
                <a:spcPts val="800"/>
              </a:spcAft>
              <a:buSzPct val="100000"/>
              <a:buChar char="•"/>
            </a:pPr>
            <a:r>
              <a:rPr lang="en-US" sz="2200" dirty="0">
                <a:solidFill>
                  <a:schemeClr val="tx1"/>
                </a:solidFill>
              </a:rPr>
              <a:t>Rich in biodiversity; store and spread heat, so they shape </a:t>
            </a:r>
            <a:r>
              <a:rPr lang="en-US" sz="2200" b="1" dirty="0">
                <a:solidFill>
                  <a:schemeClr val="tx1"/>
                </a:solidFill>
              </a:rPr>
              <a:t>climate</a:t>
            </a:r>
            <a:endParaRPr lang="en-US" sz="1600" dirty="0"/>
          </a:p>
          <a:p>
            <a:pPr marL="228600" indent="-228600">
              <a:spcAft>
                <a:spcPts val="800"/>
              </a:spcAft>
              <a:buSzPct val="100000"/>
              <a:buChar char="•"/>
            </a:pPr>
            <a:r>
              <a:rPr lang="en-US" sz="2200" dirty="0">
                <a:solidFill>
                  <a:schemeClr val="tx1"/>
                </a:solidFill>
              </a:rPr>
              <a:t>Whales, dolphins, fish, plankton; food and jobs for millions</a:t>
            </a:r>
            <a:endParaRPr lang="en-US" sz="1600" dirty="0"/>
          </a:p>
        </p:txBody>
      </p:sp>
      <p:sp>
        <p:nvSpPr>
          <p:cNvPr id="1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4" name="Text 10"/>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Aquatic biomes cover about </a:t>
            </a:r>
            <a:r>
              <a:rPr lang="en-US" sz="1500" b="1" dirty="0">
                <a:solidFill>
                  <a:schemeClr val="bg1"/>
                </a:solidFill>
              </a:rPr>
              <a:t>three-fourths</a:t>
            </a:r>
            <a:r>
              <a:rPr lang="en-US" sz="1500" dirty="0">
                <a:solidFill>
                  <a:schemeClr val="bg1"/>
                </a:solidFill>
              </a:rPr>
              <a:t> of the Earth's surface.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Biome Pyramid</a:t>
            </a:r>
            <a:endParaRPr lang="en-US" sz="3600" dirty="0"/>
          </a:p>
        </p:txBody>
      </p:sp>
      <p:sp>
        <p:nvSpPr>
          <p:cNvPr id="3" name="Producers tier"/>
          <p:cNvSpPr/>
          <p:nvPr/>
        </p:nvSpPr>
        <p:spPr>
          <a:xfrm>
            <a:off x="1005840" y="4594860"/>
            <a:ext cx="5669280" cy="1074420"/>
          </a:xfrm>
          <a:custGeom>
            <a:avLst/>
            <a:gdLst/>
            <a:ahLst/>
            <a:cxnLst/>
            <a:rect l="l" t="t" r="r" b="b"/>
            <a:pathLst>
              <a:path w="5669280" h="1074420">
                <a:moveTo>
                  <a:pt x="0" y="1074420"/>
                </a:moveTo>
                <a:lnTo>
                  <a:pt x="5669280" y="1074420"/>
                </a:lnTo>
                <a:lnTo>
                  <a:pt x="4960620" y="0"/>
                </a:lnTo>
                <a:lnTo>
                  <a:pt x="708660" y="0"/>
                </a:lnTo>
                <a:close/>
              </a:path>
            </a:pathLst>
          </a:custGeom>
          <a:solidFill>
            <a:schemeClr val="accent5"/>
          </a:solidFill>
          <a:ln w="25400">
            <a:solidFill>
              <a:schemeClr val="bg1"/>
            </a:solidFill>
            <a:prstDash val="solid"/>
          </a:ln>
        </p:spPr>
      </p:sp>
      <p:pic>
        <p:nvPicPr>
          <p:cNvPr id="4" name="Producers icon" descr="preencoded.png">    </p:cNvPr>
          <p:cNvPicPr>
            <a:picLocks noChangeAspect="1"/>
          </p:cNvPicPr>
          <p:nvPr/>
        </p:nvPicPr>
        <p:blipFill>
          <a:blip r:embed="rId1"/>
          <a:stretch>
            <a:fillRect/>
          </a:stretch>
        </p:blipFill>
        <p:spPr>
          <a:xfrm>
            <a:off x="3557016" y="4848606"/>
            <a:ext cx="566928" cy="566928"/>
          </a:xfrm>
          <a:prstGeom prst="rect">
            <a:avLst/>
          </a:prstGeom>
        </p:spPr>
      </p:pic>
      <p:sp>
        <p:nvSpPr>
          <p:cNvPr id="5" name="leader 0"/>
          <p:cNvSpPr/>
          <p:nvPr/>
        </p:nvSpPr>
        <p:spPr>
          <a:xfrm>
            <a:off x="6412230" y="5132070"/>
            <a:ext cx="674370" cy="0"/>
          </a:xfrm>
          <a:prstGeom prst="line">
            <a:avLst/>
          </a:prstGeom>
          <a:noFill/>
          <a:ln w="19050">
            <a:solidFill>
              <a:schemeClr val="accent5"/>
            </a:solidFill>
            <a:prstDash val="dash"/>
          </a:ln>
        </p:spPr>
      </p:sp>
      <p:sp>
        <p:nvSpPr>
          <p:cNvPr id="6" name="Text 3"/>
          <p:cNvSpPr txBox="1"/>
          <p:nvPr/>
        </p:nvSpPr>
        <p:spPr>
          <a:xfrm>
            <a:off x="7178040" y="4674870"/>
            <a:ext cx="4434840" cy="914400"/>
          </a:xfrm>
          <a:prstGeom prst="rect">
            <a:avLst/>
          </a:prstGeom>
          <a:noFill/>
          <a:ln/>
        </p:spPr>
        <p:txBody>
          <a:bodyPr wrap="square" lIns="0" tIns="0" rIns="0" bIns="0" rtlCol="0" anchor="ctr"/>
          <a:lstStyle/>
          <a:p>
            <a:pPr indent="0" marL="0">
              <a:buNone/>
            </a:pPr>
            <a:r>
              <a:rPr lang="en-US" sz="1800" b="1" dirty="0">
                <a:solidFill>
                  <a:schemeClr val="accent5"/>
                </a:solidFill>
              </a:rPr>
              <a:t>Producers</a:t>
            </a:r>
            <a:endParaRPr lang="en-US" sz="1600" dirty="0"/>
          </a:p>
          <a:p>
            <a:pPr indent="0" marL="0">
              <a:buNone/>
            </a:pPr>
            <a:r>
              <a:rPr lang="en-US" sz="1500" dirty="0">
                <a:solidFill>
                  <a:schemeClr val="tx1"/>
                </a:solidFill>
              </a:rPr>
              <a:t>Plants and algae capture solar energy by photosynthesis</a:t>
            </a:r>
            <a:endParaRPr lang="en-US" sz="1600" dirty="0"/>
          </a:p>
        </p:txBody>
      </p:sp>
      <p:sp>
        <p:nvSpPr>
          <p:cNvPr id="7" name="Primary consumers tier"/>
          <p:cNvSpPr/>
          <p:nvPr/>
        </p:nvSpPr>
        <p:spPr>
          <a:xfrm>
            <a:off x="1714500" y="3520440"/>
            <a:ext cx="4251960" cy="1074420"/>
          </a:xfrm>
          <a:custGeom>
            <a:avLst/>
            <a:gdLst/>
            <a:ahLst/>
            <a:cxnLst/>
            <a:rect l="l" t="t" r="r" b="b"/>
            <a:pathLst>
              <a:path w="4251960" h="1074420">
                <a:moveTo>
                  <a:pt x="0" y="1074420"/>
                </a:moveTo>
                <a:lnTo>
                  <a:pt x="4251960" y="1074420"/>
                </a:lnTo>
                <a:lnTo>
                  <a:pt x="3543300" y="0"/>
                </a:lnTo>
                <a:lnTo>
                  <a:pt x="708660" y="0"/>
                </a:lnTo>
                <a:close/>
              </a:path>
            </a:pathLst>
          </a:custGeom>
          <a:solidFill>
            <a:schemeClr val="accent1"/>
          </a:solidFill>
          <a:ln w="25400">
            <a:solidFill>
              <a:schemeClr val="bg1"/>
            </a:solidFill>
            <a:prstDash val="solid"/>
          </a:ln>
        </p:spPr>
      </p:sp>
      <p:pic>
        <p:nvPicPr>
          <p:cNvPr id="8" name="Primary consumers icon" descr="preencoded.png">    </p:cNvPr>
          <p:cNvPicPr>
            <a:picLocks noChangeAspect="1"/>
          </p:cNvPicPr>
          <p:nvPr/>
        </p:nvPicPr>
        <p:blipFill>
          <a:blip r:embed="rId2"/>
          <a:stretch>
            <a:fillRect/>
          </a:stretch>
        </p:blipFill>
        <p:spPr>
          <a:xfrm>
            <a:off x="3557016" y="3774186"/>
            <a:ext cx="566928" cy="566928"/>
          </a:xfrm>
          <a:prstGeom prst="rect">
            <a:avLst/>
          </a:prstGeom>
        </p:spPr>
      </p:pic>
      <p:sp>
        <p:nvSpPr>
          <p:cNvPr id="9" name="leader 1"/>
          <p:cNvSpPr/>
          <p:nvPr/>
        </p:nvSpPr>
        <p:spPr>
          <a:xfrm>
            <a:off x="5703570" y="4057650"/>
            <a:ext cx="1383030" cy="0"/>
          </a:xfrm>
          <a:prstGeom prst="line">
            <a:avLst/>
          </a:prstGeom>
          <a:noFill/>
          <a:ln w="19050">
            <a:solidFill>
              <a:schemeClr val="accent1"/>
            </a:solidFill>
            <a:prstDash val="dash"/>
          </a:ln>
        </p:spPr>
      </p:sp>
      <p:sp>
        <p:nvSpPr>
          <p:cNvPr id="10" name="Text 6"/>
          <p:cNvSpPr txBox="1"/>
          <p:nvPr/>
        </p:nvSpPr>
        <p:spPr>
          <a:xfrm>
            <a:off x="7178040" y="3600450"/>
            <a:ext cx="4434840" cy="914400"/>
          </a:xfrm>
          <a:prstGeom prst="rect">
            <a:avLst/>
          </a:prstGeom>
          <a:noFill/>
          <a:ln/>
        </p:spPr>
        <p:txBody>
          <a:bodyPr wrap="square" lIns="0" tIns="0" rIns="0" bIns="0" rtlCol="0" anchor="ctr"/>
          <a:lstStyle/>
          <a:p>
            <a:pPr indent="0" marL="0">
              <a:buNone/>
            </a:pPr>
            <a:r>
              <a:rPr lang="en-US" sz="1800" b="1" dirty="0">
                <a:solidFill>
                  <a:schemeClr val="accent1"/>
                </a:solidFill>
              </a:rPr>
              <a:t>Primary consumers</a:t>
            </a:r>
            <a:endParaRPr lang="en-US" sz="1600" dirty="0"/>
          </a:p>
          <a:p>
            <a:pPr indent="0" marL="0">
              <a:buNone/>
            </a:pPr>
            <a:r>
              <a:rPr lang="en-US" sz="1500" dirty="0">
                <a:solidFill>
                  <a:schemeClr val="tx1"/>
                </a:solidFill>
              </a:rPr>
              <a:t>Herbivores, e.g. deer, grasshoppers</a:t>
            </a:r>
            <a:endParaRPr lang="en-US" sz="1600" dirty="0"/>
          </a:p>
        </p:txBody>
      </p:sp>
      <p:sp>
        <p:nvSpPr>
          <p:cNvPr id="11" name="Secondary consumers tier"/>
          <p:cNvSpPr/>
          <p:nvPr/>
        </p:nvSpPr>
        <p:spPr>
          <a:xfrm>
            <a:off x="2423160" y="2446020"/>
            <a:ext cx="2834640" cy="1074420"/>
          </a:xfrm>
          <a:custGeom>
            <a:avLst/>
            <a:gdLst/>
            <a:ahLst/>
            <a:cxnLst/>
            <a:rect l="l" t="t" r="r" b="b"/>
            <a:pathLst>
              <a:path w="2834640" h="1074420">
                <a:moveTo>
                  <a:pt x="0" y="1074420"/>
                </a:moveTo>
                <a:lnTo>
                  <a:pt x="2834640" y="1074420"/>
                </a:lnTo>
                <a:lnTo>
                  <a:pt x="2125980" y="0"/>
                </a:lnTo>
                <a:lnTo>
                  <a:pt x="708660" y="0"/>
                </a:lnTo>
                <a:close/>
              </a:path>
            </a:pathLst>
          </a:custGeom>
          <a:solidFill>
            <a:schemeClr val="accent4"/>
          </a:solidFill>
          <a:ln w="25400">
            <a:solidFill>
              <a:schemeClr val="bg1"/>
            </a:solidFill>
            <a:prstDash val="solid"/>
          </a:ln>
        </p:spPr>
      </p:sp>
      <p:pic>
        <p:nvPicPr>
          <p:cNvPr id="12" name="Secondary consumers icon" descr="preencoded.png">    </p:cNvPr>
          <p:cNvPicPr>
            <a:picLocks noChangeAspect="1"/>
          </p:cNvPicPr>
          <p:nvPr/>
        </p:nvPicPr>
        <p:blipFill>
          <a:blip r:embed="rId3"/>
          <a:stretch>
            <a:fillRect/>
          </a:stretch>
        </p:blipFill>
        <p:spPr>
          <a:xfrm>
            <a:off x="3557016" y="2699766"/>
            <a:ext cx="566928" cy="566928"/>
          </a:xfrm>
          <a:prstGeom prst="rect">
            <a:avLst/>
          </a:prstGeom>
        </p:spPr>
      </p:pic>
      <p:sp>
        <p:nvSpPr>
          <p:cNvPr id="13" name="leader 2"/>
          <p:cNvSpPr/>
          <p:nvPr/>
        </p:nvSpPr>
        <p:spPr>
          <a:xfrm>
            <a:off x="4994910" y="2983230"/>
            <a:ext cx="2091690" cy="0"/>
          </a:xfrm>
          <a:prstGeom prst="line">
            <a:avLst/>
          </a:prstGeom>
          <a:noFill/>
          <a:ln w="19050">
            <a:solidFill>
              <a:schemeClr val="accent4"/>
            </a:solidFill>
            <a:prstDash val="dash"/>
          </a:ln>
        </p:spPr>
      </p:sp>
      <p:sp>
        <p:nvSpPr>
          <p:cNvPr id="14" name="Text 9"/>
          <p:cNvSpPr txBox="1"/>
          <p:nvPr/>
        </p:nvSpPr>
        <p:spPr>
          <a:xfrm>
            <a:off x="7178040" y="2526030"/>
            <a:ext cx="4434840" cy="914400"/>
          </a:xfrm>
          <a:prstGeom prst="rect">
            <a:avLst/>
          </a:prstGeom>
          <a:noFill/>
          <a:ln/>
        </p:spPr>
        <p:txBody>
          <a:bodyPr wrap="square" lIns="0" tIns="0" rIns="0" bIns="0" rtlCol="0" anchor="ctr"/>
          <a:lstStyle/>
          <a:p>
            <a:pPr indent="0" marL="0">
              <a:buNone/>
            </a:pPr>
            <a:r>
              <a:rPr lang="en-US" sz="1800" b="1" dirty="0">
                <a:solidFill>
                  <a:schemeClr val="accent4"/>
                </a:solidFill>
              </a:rPr>
              <a:t>Secondary consumers</a:t>
            </a:r>
            <a:endParaRPr lang="en-US" sz="1600" dirty="0"/>
          </a:p>
          <a:p>
            <a:pPr indent="0" marL="0">
              <a:buNone/>
            </a:pPr>
            <a:r>
              <a:rPr lang="en-US" sz="1500" dirty="0">
                <a:solidFill>
                  <a:schemeClr val="tx1"/>
                </a:solidFill>
              </a:rPr>
              <a:t>Carnivores, e.g. snakes, frogs, foxes</a:t>
            </a:r>
            <a:endParaRPr lang="en-US" sz="1600" dirty="0"/>
          </a:p>
        </p:txBody>
      </p:sp>
      <p:sp>
        <p:nvSpPr>
          <p:cNvPr id="15" name="Tertiary consumers tier"/>
          <p:cNvSpPr/>
          <p:nvPr/>
        </p:nvSpPr>
        <p:spPr>
          <a:xfrm>
            <a:off x="3131820" y="1371600"/>
            <a:ext cx="1417320" cy="1074420"/>
          </a:xfrm>
          <a:custGeom>
            <a:avLst/>
            <a:gdLst/>
            <a:ahLst/>
            <a:cxnLst/>
            <a:rect l="l" t="t" r="r" b="b"/>
            <a:pathLst>
              <a:path w="1417320" h="1074420">
                <a:moveTo>
                  <a:pt x="0" y="1074420"/>
                </a:moveTo>
                <a:lnTo>
                  <a:pt x="1417320" y="1074420"/>
                </a:lnTo>
                <a:lnTo>
                  <a:pt x="708660" y="0"/>
                </a:lnTo>
                <a:lnTo>
                  <a:pt x="708660" y="0"/>
                </a:lnTo>
                <a:close/>
              </a:path>
            </a:pathLst>
          </a:custGeom>
          <a:solidFill>
            <a:schemeClr val="accent2"/>
          </a:solidFill>
          <a:ln w="25400">
            <a:solidFill>
              <a:schemeClr val="bg1"/>
            </a:solidFill>
            <a:prstDash val="solid"/>
          </a:ln>
        </p:spPr>
      </p:sp>
      <p:pic>
        <p:nvPicPr>
          <p:cNvPr id="16" name="Tertiary consumers icon" descr="preencoded.png">    </p:cNvPr>
          <p:cNvPicPr>
            <a:picLocks noChangeAspect="1"/>
          </p:cNvPicPr>
          <p:nvPr/>
        </p:nvPicPr>
        <p:blipFill>
          <a:blip r:embed="rId4"/>
          <a:stretch>
            <a:fillRect/>
          </a:stretch>
        </p:blipFill>
        <p:spPr>
          <a:xfrm>
            <a:off x="3611880" y="1938528"/>
            <a:ext cx="457200" cy="457200"/>
          </a:xfrm>
          <a:prstGeom prst="rect">
            <a:avLst/>
          </a:prstGeom>
        </p:spPr>
      </p:pic>
      <p:sp>
        <p:nvSpPr>
          <p:cNvPr id="17" name="leader 3"/>
          <p:cNvSpPr/>
          <p:nvPr/>
        </p:nvSpPr>
        <p:spPr>
          <a:xfrm>
            <a:off x="4286250" y="1908810"/>
            <a:ext cx="2800350" cy="0"/>
          </a:xfrm>
          <a:prstGeom prst="line">
            <a:avLst/>
          </a:prstGeom>
          <a:noFill/>
          <a:ln w="19050">
            <a:solidFill>
              <a:schemeClr val="accent2"/>
            </a:solidFill>
            <a:prstDash val="dash"/>
          </a:ln>
        </p:spPr>
      </p:sp>
      <p:sp>
        <p:nvSpPr>
          <p:cNvPr id="18" name="Text 12"/>
          <p:cNvSpPr txBox="1"/>
          <p:nvPr/>
        </p:nvSpPr>
        <p:spPr>
          <a:xfrm>
            <a:off x="7178040" y="1451610"/>
            <a:ext cx="4434840" cy="914400"/>
          </a:xfrm>
          <a:prstGeom prst="rect">
            <a:avLst/>
          </a:prstGeom>
          <a:noFill/>
          <a:ln/>
        </p:spPr>
        <p:txBody>
          <a:bodyPr wrap="square" lIns="0" tIns="0" rIns="0" bIns="0" rtlCol="0" anchor="ctr"/>
          <a:lstStyle/>
          <a:p>
            <a:pPr indent="0" marL="0">
              <a:buNone/>
            </a:pPr>
            <a:r>
              <a:rPr lang="en-US" sz="1800" b="1" dirty="0">
                <a:solidFill>
                  <a:schemeClr val="accent2"/>
                </a:solidFill>
              </a:rPr>
              <a:t>Tertiary consumers</a:t>
            </a:r>
            <a:endParaRPr lang="en-US" sz="1600" dirty="0"/>
          </a:p>
          <a:p>
            <a:pPr indent="0" marL="0">
              <a:buNone/>
            </a:pPr>
            <a:r>
              <a:rPr lang="en-US" sz="1500" dirty="0">
                <a:solidFill>
                  <a:schemeClr val="tx1"/>
                </a:solidFill>
              </a:rPr>
              <a:t>Top predators, e.g. tigers, eagles</a:t>
            </a:r>
            <a:endParaRPr lang="en-US" sz="1600" dirty="0"/>
          </a:p>
        </p:txBody>
      </p:sp>
      <p:sp>
        <p:nvSpPr>
          <p:cNvPr id="19" name="decrease arrow"/>
          <p:cNvSpPr/>
          <p:nvPr/>
        </p:nvSpPr>
        <p:spPr>
          <a:xfrm>
            <a:off x="548640" y="1645920"/>
            <a:ext cx="502920" cy="4023360"/>
          </a:xfrm>
          <a:prstGeom prst="upArrow">
            <a:avLst/>
          </a:prstGeom>
          <a:solidFill>
            <a:schemeClr val="accent3"/>
          </a:solidFill>
          <a:ln w="12700">
            <a:solidFill>
              <a:schemeClr val="accent3"/>
            </a:solidFill>
            <a:prstDash val="solid"/>
          </a:ln>
        </p:spPr>
      </p:sp>
      <p:sp>
        <p:nvSpPr>
          <p:cNvPr id="20" name="Text 14"/>
          <p:cNvSpPr txBox="1"/>
          <p:nvPr/>
        </p:nvSpPr>
        <p:spPr>
          <a:xfrm>
            <a:off x="548640" y="5852160"/>
            <a:ext cx="11064240" cy="411480"/>
          </a:xfrm>
          <a:prstGeom prst="rect">
            <a:avLst/>
          </a:prstGeom>
          <a:noFill/>
          <a:ln/>
        </p:spPr>
        <p:txBody>
          <a:bodyPr wrap="square" lIns="0" tIns="0" rIns="0" bIns="0" rtlCol="0" anchor="ctr"/>
          <a:lstStyle/>
          <a:p>
            <a:pPr indent="0" marL="0">
              <a:buNone/>
            </a:pPr>
            <a:r>
              <a:rPr lang="en-US" sz="1500" b="1" dirty="0">
                <a:solidFill>
                  <a:schemeClr val="tx2"/>
                </a:solidFill>
              </a:rPr>
              <a:t>Going up the pyramid:</a:t>
            </a:r>
            <a:r>
              <a:rPr lang="en-US" sz="1500" dirty="0">
                <a:solidFill>
                  <a:schemeClr val="tx2"/>
                </a:solidFill>
              </a:rPr>
              <a:t> less energy, fewer organisms and less biomass, because energy is lost as heat at each level.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Local Life Detective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FIELD WORK</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Explore your neighbourhood</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 days (homework) + 15 min sharing</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Pairs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Notebook, pencil, a phone camera (optional)</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Walk around your village, colony or school campus.</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Record </a:t>
            </a:r>
            <a:r>
              <a:rPr lang="en-US" sz="1400" b="1" dirty="0">
                <a:solidFill>
                  <a:schemeClr val="tx1"/>
                </a:solidFill>
              </a:rPr>
              <a:t>trees/plants, insects, animals and non-living things</a:t>
            </a:r>
            <a:r>
              <a:rPr lang="en-US" sz="1400" dirty="0">
                <a:solidFill>
                  <a:schemeClr val="tx1"/>
                </a:solidFill>
              </a:rPr>
              <a:t> you see.</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For each, write how it </a:t>
            </a:r>
            <a:r>
              <a:rPr lang="en-US" sz="1400" b="1" dirty="0">
                <a:solidFill>
                  <a:schemeClr val="tx1"/>
                </a:solidFill>
              </a:rPr>
              <a:t>interacts with humans</a:t>
            </a:r>
            <a:r>
              <a:rPr lang="en-US" sz="1400" dirty="0">
                <a:solidFill>
                  <a:schemeClr val="tx1"/>
                </a:solidFill>
              </a:rPr>
              <a:t> (shade, food, pest, water...).</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Make a 4-row table and add one photo or sketch.</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Share: Which living thing depends most on humans? Which do we depend on most?</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Living and non-living things in our surroundings are interconnected.</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Biodiversity and Conservation</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The variety of life: species, the genetic differences within them, and the habitats that sustain them.</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Geography of Conservation</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Biodiversity hotspots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Himalaya, Western Ghats, Northeast India, A&amp;N Islands: species found nowhere else.</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Ecosystem-based</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Fit the plan to the place: </a:t>
            </a:r>
            <a:r>
              <a:rPr lang="en-US" sz="1700" b="1" dirty="0">
                <a:solidFill>
                  <a:schemeClr val="tx1"/>
                </a:solidFill>
              </a:rPr>
              <a:t>mangroves</a:t>
            </a:r>
            <a:r>
              <a:rPr lang="en-US" sz="1700" dirty="0">
                <a:solidFill>
                  <a:schemeClr val="tx1"/>
                </a:solidFill>
              </a:rPr>
              <a:t> on coasts, </a:t>
            </a:r>
            <a:r>
              <a:rPr lang="en-US" sz="1700" b="1" dirty="0">
                <a:solidFill>
                  <a:schemeClr val="tx1"/>
                </a:solidFill>
              </a:rPr>
              <a:t>afforestation</a:t>
            </a:r>
            <a:r>
              <a:rPr lang="en-US" sz="1700" dirty="0">
                <a:solidFill>
                  <a:schemeClr val="tx1"/>
                </a:solidFill>
              </a:rPr>
              <a:t> in mountains.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Protected areas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National parks, wildlife sanctuaries, biosphere reserves, World Heritage Sites.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Barriers and corridors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Rivers and mountains guide animal movement; </a:t>
            </a:r>
            <a:r>
              <a:rPr lang="en-US" sz="1700" b="1" dirty="0">
                <a:solidFill>
                  <a:schemeClr val="tx1"/>
                </a:solidFill>
              </a:rPr>
              <a:t>wildlife corridors</a:t>
            </a:r>
            <a:r>
              <a:rPr lang="en-US" sz="1700" dirty="0">
                <a:solidFill>
                  <a:schemeClr val="tx1"/>
                </a:solidFill>
              </a:rPr>
              <a:t> and forest bridges reduce roadkill.</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People and land</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Sustainable use suited to the land: </a:t>
            </a:r>
            <a:r>
              <a:rPr lang="en-US" sz="1700" b="1" dirty="0">
                <a:solidFill>
                  <a:schemeClr val="tx1"/>
                </a:solidFill>
              </a:rPr>
              <a:t>terrace farming</a:t>
            </a:r>
            <a:r>
              <a:rPr lang="en-US" sz="1700" dirty="0">
                <a:solidFill>
                  <a:schemeClr val="tx1"/>
                </a:solidFill>
              </a:rPr>
              <a:t> in hills, </a:t>
            </a:r>
            <a:r>
              <a:rPr lang="en-US" sz="1700" b="1" dirty="0">
                <a:solidFill>
                  <a:schemeClr val="tx1"/>
                </a:solidFill>
              </a:rPr>
              <a:t>agroforestry</a:t>
            </a:r>
            <a:r>
              <a:rPr lang="en-US" sz="1700" dirty="0">
                <a:solidFill>
                  <a:schemeClr val="tx1"/>
                </a:solidFill>
              </a:rPr>
              <a:t> in plains.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Sacred groves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Over 1,00,000 in India: </a:t>
            </a:r>
            <a:r>
              <a:rPr lang="en-US" sz="1700" b="1" dirty="0">
                <a:solidFill>
                  <a:schemeClr val="tx1"/>
                </a:solidFill>
              </a:rPr>
              <a:t>Devrai, Devarakadu, Kavu, Sarna</a:t>
            </a:r>
            <a:r>
              <a:rPr lang="en-US" sz="1700" dirty="0">
                <a:solidFill>
                  <a:schemeClr val="tx1"/>
                </a:solidFill>
              </a:rPr>
              <a:t>. Small but rich in rare plants and water sources.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Map Work: Biodiversity Treasure Hunt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MAP SKILLS</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Mark and name</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Pairs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Political outline map of India, atlas, coloured pencils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Mark </a:t>
            </a:r>
            <a:r>
              <a:rPr lang="en-US" sz="1400" b="1" dirty="0">
                <a:solidFill>
                  <a:schemeClr val="tx1"/>
                </a:solidFill>
              </a:rPr>
              <a:t>Namdapha National Park</a:t>
            </a:r>
            <a:r>
              <a:rPr lang="en-US" sz="1400" dirty="0">
                <a:solidFill>
                  <a:schemeClr val="tx1"/>
                </a:solidFill>
              </a:rPr>
              <a:t> and </a:t>
            </a:r>
            <a:r>
              <a:rPr lang="en-US" sz="1400" b="1" dirty="0">
                <a:solidFill>
                  <a:schemeClr val="tx1"/>
                </a:solidFill>
              </a:rPr>
              <a:t>Rann of Kutch</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Mark </a:t>
            </a:r>
            <a:r>
              <a:rPr lang="en-US" sz="1400" b="1" dirty="0">
                <a:solidFill>
                  <a:schemeClr val="tx1"/>
                </a:solidFill>
              </a:rPr>
              <a:t>Gahirmatha beach</a:t>
            </a:r>
            <a:r>
              <a:rPr lang="en-US" sz="1400" dirty="0">
                <a:solidFill>
                  <a:schemeClr val="tx1"/>
                </a:solidFill>
              </a:rPr>
              <a:t> and the </a:t>
            </a:r>
            <a:r>
              <a:rPr lang="en-US" sz="1400" b="1" dirty="0">
                <a:solidFill>
                  <a:schemeClr val="tx1"/>
                </a:solidFill>
              </a:rPr>
              <a:t>Gulf of Mannar</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Mark </a:t>
            </a:r>
            <a:r>
              <a:rPr lang="en-US" sz="1400" b="1" dirty="0">
                <a:solidFill>
                  <a:schemeClr val="tx1"/>
                </a:solidFill>
              </a:rPr>
              <a:t>Pachmarhi</a:t>
            </a:r>
            <a:r>
              <a:rPr lang="en-US" sz="1400" dirty="0">
                <a:solidFill>
                  <a:schemeClr val="tx1"/>
                </a:solidFill>
              </a:rPr>
              <a:t> and </a:t>
            </a:r>
            <a:r>
              <a:rPr lang="en-US" sz="1400" b="1" dirty="0">
                <a:solidFill>
                  <a:schemeClr val="tx1"/>
                </a:solidFill>
              </a:rPr>
              <a:t>Achanakmar–Amarkantak</a:t>
            </a:r>
            <a:r>
              <a:rPr lang="en-US" sz="14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Use a symbol key: tree = forest, wave = coast, star = biosphere reserve.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Find one special animal or plant from each place.</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Biodiversity regions are spread across very different landscapes of India.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3</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Forests, People and Livelihoods</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From primitive hunting to modern ecotourism, forests sustain lives and cultures.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Forest Ecotourism</a:t>
            </a:r>
            <a:endParaRPr lang="en-US" sz="3600" dirty="0"/>
          </a:p>
        </p:txBody>
      </p:sp>
      <p:sp>
        <p:nvSpPr>
          <p:cNvPr id="3" name="card 1"/>
          <p:cNvSpPr/>
          <p:nvPr/>
        </p:nvSpPr>
        <p:spPr>
          <a:xfrm>
            <a:off x="548640" y="1371600"/>
            <a:ext cx="539496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What is it?</a:t>
            </a:r>
            <a:endParaRPr lang="en-US" sz="1800" dirty="0"/>
          </a:p>
        </p:txBody>
      </p:sp>
      <p:sp>
        <p:nvSpPr>
          <p:cNvPr id="7" name="Text 4"/>
          <p:cNvSpPr txBox="1"/>
          <p:nvPr/>
        </p:nvSpPr>
        <p:spPr>
          <a:xfrm>
            <a:off x="77724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Responsible travel to forests: enjoy nature with </a:t>
            </a:r>
            <a:r>
              <a:rPr lang="en-US" sz="1800" b="1" dirty="0">
                <a:solidFill>
                  <a:schemeClr val="tx1"/>
                </a:solidFill>
              </a:rPr>
              <a:t>minimal harm</a:t>
            </a:r>
            <a:r>
              <a:rPr lang="en-US" sz="1800" dirty="0">
                <a:solidFill>
                  <a:schemeClr val="tx1"/>
                </a:solidFill>
              </a:rPr>
              <a:t>, respect local people, learn about ecosystems.</a:t>
            </a:r>
            <a:endParaRPr lang="en-US" sz="1600" dirty="0"/>
          </a:p>
        </p:txBody>
      </p:sp>
      <p:sp>
        <p:nvSpPr>
          <p:cNvPr id="8" name="card 2"/>
          <p:cNvSpPr/>
          <p:nvPr/>
        </p:nvSpPr>
        <p:spPr>
          <a:xfrm>
            <a:off x="6217920" y="1371600"/>
            <a:ext cx="539496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Thenmala, Keralam</a:t>
            </a:r>
            <a:endParaRPr lang="en-US" sz="1800" dirty="0"/>
          </a:p>
        </p:txBody>
      </p:sp>
      <p:sp>
        <p:nvSpPr>
          <p:cNvPr id="12" name="Text 8"/>
          <p:cNvSpPr txBox="1"/>
          <p:nvPr/>
        </p:nvSpPr>
        <p:spPr>
          <a:xfrm>
            <a:off x="644652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India's </a:t>
            </a:r>
            <a:r>
              <a:rPr lang="en-US" sz="1800" b="1" dirty="0">
                <a:solidFill>
                  <a:schemeClr val="tx1"/>
                </a:solidFill>
              </a:rPr>
              <a:t>first planned ecotourism</a:t>
            </a:r>
            <a:r>
              <a:rPr lang="en-US" sz="1800" dirty="0">
                <a:solidFill>
                  <a:schemeClr val="tx1"/>
                </a:solidFill>
              </a:rPr>
              <a:t> destination (Kollam). 'Thenmala' means </a:t>
            </a:r>
            <a:r>
              <a:rPr lang="en-US" sz="1800" b="1" dirty="0">
                <a:solidFill>
                  <a:schemeClr val="tx1"/>
                </a:solidFill>
              </a:rPr>
              <a:t>Honey Hill</a:t>
            </a:r>
            <a:r>
              <a:rPr lang="en-US" sz="1800" dirty="0">
                <a:solidFill>
                  <a:schemeClr val="tx1"/>
                </a:solidFill>
              </a:rPr>
              <a:t>; in the Western Ghats.</a:t>
            </a:r>
            <a:endParaRPr lang="en-US" sz="1600" dirty="0"/>
          </a:p>
        </p:txBody>
      </p:sp>
      <p:sp>
        <p:nvSpPr>
          <p:cNvPr id="13" name="card 3"/>
          <p:cNvSpPr/>
          <p:nvPr/>
        </p:nvSpPr>
        <p:spPr>
          <a:xfrm>
            <a:off x="548640" y="3634740"/>
            <a:ext cx="539496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777240" y="386334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3988064"/>
            <a:ext cx="317480" cy="317480"/>
          </a:xfrm>
          <a:prstGeom prst="rect">
            <a:avLst/>
          </a:prstGeom>
        </p:spPr>
      </p:pic>
      <p:sp>
        <p:nvSpPr>
          <p:cNvPr id="16" name="Text 11"/>
          <p:cNvSpPr txBox="1"/>
          <p:nvPr/>
        </p:nvSpPr>
        <p:spPr>
          <a:xfrm>
            <a:off x="148132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Locals benefit</a:t>
            </a:r>
            <a:endParaRPr lang="en-US" sz="1800" dirty="0"/>
          </a:p>
        </p:txBody>
      </p:sp>
      <p:sp>
        <p:nvSpPr>
          <p:cNvPr id="17" name="Text 12"/>
          <p:cNvSpPr txBox="1"/>
          <p:nvPr/>
        </p:nvSpPr>
        <p:spPr>
          <a:xfrm>
            <a:off x="77724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Villagers work as guides, eco-guards and service providers, so tourism income stays in the community.</a:t>
            </a:r>
            <a:endParaRPr lang="en-US" sz="1600" dirty="0"/>
          </a:p>
        </p:txBody>
      </p:sp>
      <p:sp>
        <p:nvSpPr>
          <p:cNvPr id="18" name="card 4"/>
          <p:cNvSpPr/>
          <p:nvPr/>
        </p:nvSpPr>
        <p:spPr>
          <a:xfrm>
            <a:off x="6217920" y="3634740"/>
            <a:ext cx="539496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644652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3988064"/>
            <a:ext cx="317480" cy="317480"/>
          </a:xfrm>
          <a:prstGeom prst="rect">
            <a:avLst/>
          </a:prstGeom>
        </p:spPr>
      </p:pic>
      <p:sp>
        <p:nvSpPr>
          <p:cNvPr id="21" name="Text 15"/>
          <p:cNvSpPr txBox="1"/>
          <p:nvPr/>
        </p:nvSpPr>
        <p:spPr>
          <a:xfrm>
            <a:off x="715060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Swadesh Darshan 2.0</a:t>
            </a:r>
            <a:endParaRPr lang="en-US" sz="1800" dirty="0"/>
          </a:p>
        </p:txBody>
      </p:sp>
      <p:sp>
        <p:nvSpPr>
          <p:cNvPr id="22" name="Text 16"/>
          <p:cNvSpPr txBox="1"/>
          <p:nvPr/>
        </p:nvSpPr>
        <p:spPr>
          <a:xfrm>
            <a:off x="644652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Ministry of Tourism scheme for sustainable, community-involved tourist destinations.</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Discuss:</a:t>
            </a:r>
            <a:r>
              <a:rPr lang="en-US" sz="1500" dirty="0">
                <a:solidFill>
                  <a:schemeClr val="bg1"/>
                </a:solidFill>
              </a:rPr>
              <a:t> How should a tourist behave at a forest site? Make a class 'Eco-Tourist Code'.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Forest Produce Across India</a:t>
            </a:r>
            <a:endParaRPr lang="en-US" sz="3600" dirty="0"/>
          </a:p>
        </p:txBody>
      </p:sp>
      <p:sp>
        <p:nvSpPr>
          <p:cNvPr id="3" name="card 1"/>
          <p:cNvSpPr/>
          <p:nvPr/>
        </p:nvSpPr>
        <p:spPr>
          <a:xfrm>
            <a:off x="548640" y="1371600"/>
            <a:ext cx="350520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Timber and bamboo</a:t>
            </a:r>
            <a:endParaRPr lang="en-US" sz="1800" dirty="0"/>
          </a:p>
        </p:txBody>
      </p:sp>
      <p:sp>
        <p:nvSpPr>
          <p:cNvPr id="7" name="Text 4"/>
          <p:cNvSpPr txBox="1"/>
          <p:nvPr/>
        </p:nvSpPr>
        <p:spPr>
          <a:xfrm>
            <a:off x="777240" y="2276856"/>
            <a:ext cx="3048000" cy="946404"/>
          </a:xfrm>
          <a:prstGeom prst="rect">
            <a:avLst/>
          </a:prstGeom>
          <a:noFill/>
          <a:ln/>
        </p:spPr>
        <p:txBody>
          <a:bodyPr wrap="square" lIns="0" tIns="0" rIns="0" bIns="0" rtlCol="0" anchor="t"/>
          <a:lstStyle/>
          <a:p>
            <a:pPr indent="0" marL="0">
              <a:buNone/>
            </a:pPr>
            <a:r>
              <a:rPr lang="en-US" sz="1800" dirty="0">
                <a:solidFill>
                  <a:schemeClr val="tx1"/>
                </a:solidFill>
              </a:rPr>
              <a:t>Assam, Tripura, Keralam</a:t>
            </a:r>
            <a:endParaRPr lang="en-US" sz="1600" dirty="0"/>
          </a:p>
        </p:txBody>
      </p:sp>
      <p:sp>
        <p:nvSpPr>
          <p:cNvPr id="8" name="card 2"/>
          <p:cNvSpPr/>
          <p:nvPr/>
        </p:nvSpPr>
        <p:spPr>
          <a:xfrm>
            <a:off x="4328160" y="1371600"/>
            <a:ext cx="350520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Fruits, honey, mushrooms, roots</a:t>
            </a:r>
            <a:endParaRPr lang="en-US" sz="1800" dirty="0"/>
          </a:p>
        </p:txBody>
      </p:sp>
      <p:sp>
        <p:nvSpPr>
          <p:cNvPr id="12" name="Text 8"/>
          <p:cNvSpPr txBox="1"/>
          <p:nvPr/>
        </p:nvSpPr>
        <p:spPr>
          <a:xfrm>
            <a:off x="4556760" y="2276856"/>
            <a:ext cx="3048000" cy="946404"/>
          </a:xfrm>
          <a:prstGeom prst="rect">
            <a:avLst/>
          </a:prstGeom>
          <a:noFill/>
          <a:ln/>
        </p:spPr>
        <p:txBody>
          <a:bodyPr wrap="square" lIns="0" tIns="0" rIns="0" bIns="0" rtlCol="0" anchor="t"/>
          <a:lstStyle/>
          <a:p>
            <a:pPr indent="0" marL="0">
              <a:buNone/>
            </a:pPr>
            <a:r>
              <a:rPr lang="en-US" sz="1800" dirty="0">
                <a:solidFill>
                  <a:schemeClr val="tx1"/>
                </a:solidFill>
              </a:rPr>
              <a:t>Jharkhand, Odisha</a:t>
            </a:r>
            <a:endParaRPr lang="en-US" sz="1600" dirty="0"/>
          </a:p>
        </p:txBody>
      </p:sp>
      <p:sp>
        <p:nvSpPr>
          <p:cNvPr id="13" name="card 3"/>
          <p:cNvSpPr/>
          <p:nvPr/>
        </p:nvSpPr>
        <p:spPr>
          <a:xfrm>
            <a:off x="8107680" y="1371600"/>
            <a:ext cx="350520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Tendu, mahua, sal seeds, gums</a:t>
            </a:r>
            <a:endParaRPr lang="en-US" sz="1800" dirty="0"/>
          </a:p>
        </p:txBody>
      </p:sp>
      <p:sp>
        <p:nvSpPr>
          <p:cNvPr id="17" name="Text 12"/>
          <p:cNvSpPr txBox="1"/>
          <p:nvPr/>
        </p:nvSpPr>
        <p:spPr>
          <a:xfrm>
            <a:off x="8336280" y="2276856"/>
            <a:ext cx="3048000" cy="946404"/>
          </a:xfrm>
          <a:prstGeom prst="rect">
            <a:avLst/>
          </a:prstGeom>
          <a:noFill/>
          <a:ln/>
        </p:spPr>
        <p:txBody>
          <a:bodyPr wrap="square" lIns="0" tIns="0" rIns="0" bIns="0" rtlCol="0" anchor="t"/>
          <a:lstStyle/>
          <a:p>
            <a:pPr indent="0" marL="0">
              <a:buNone/>
            </a:pPr>
            <a:r>
              <a:rPr lang="en-US" sz="1800" dirty="0">
                <a:solidFill>
                  <a:schemeClr val="tx1"/>
                </a:solidFill>
              </a:rPr>
              <a:t>Madhya Pradesh, Chhattisgarh</a:t>
            </a:r>
            <a:endParaRPr lang="en-US" sz="1600" dirty="0"/>
          </a:p>
        </p:txBody>
      </p:sp>
      <p:sp>
        <p:nvSpPr>
          <p:cNvPr id="18" name="card 4"/>
          <p:cNvSpPr/>
          <p:nvPr/>
        </p:nvSpPr>
        <p:spPr>
          <a:xfrm>
            <a:off x="548640" y="3634740"/>
            <a:ext cx="350520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77724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3988064"/>
            <a:ext cx="317480" cy="317480"/>
          </a:xfrm>
          <a:prstGeom prst="rect">
            <a:avLst/>
          </a:prstGeom>
        </p:spPr>
      </p:pic>
      <p:sp>
        <p:nvSpPr>
          <p:cNvPr id="21" name="Text 15"/>
          <p:cNvSpPr txBox="1"/>
          <p:nvPr/>
        </p:nvSpPr>
        <p:spPr>
          <a:xfrm>
            <a:off x="1481328" y="386334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Ecotourism</a:t>
            </a:r>
            <a:endParaRPr lang="en-US" sz="1800" dirty="0"/>
          </a:p>
        </p:txBody>
      </p:sp>
      <p:sp>
        <p:nvSpPr>
          <p:cNvPr id="22" name="Text 16"/>
          <p:cNvSpPr txBox="1"/>
          <p:nvPr/>
        </p:nvSpPr>
        <p:spPr>
          <a:xfrm>
            <a:off x="777240" y="4539996"/>
            <a:ext cx="3048000" cy="946404"/>
          </a:xfrm>
          <a:prstGeom prst="rect">
            <a:avLst/>
          </a:prstGeom>
          <a:noFill/>
          <a:ln/>
        </p:spPr>
        <p:txBody>
          <a:bodyPr wrap="square" lIns="0" tIns="0" rIns="0" bIns="0" rtlCol="0" anchor="t"/>
          <a:lstStyle/>
          <a:p>
            <a:pPr indent="0" marL="0">
              <a:buNone/>
            </a:pPr>
            <a:r>
              <a:rPr lang="en-US" sz="1800" dirty="0">
                <a:solidFill>
                  <a:schemeClr val="tx1"/>
                </a:solidFill>
              </a:rPr>
              <a:t>Uttarakhand, Assam, Keralam</a:t>
            </a:r>
            <a:endParaRPr lang="en-US" sz="1600" dirty="0"/>
          </a:p>
        </p:txBody>
      </p:sp>
      <p:sp>
        <p:nvSpPr>
          <p:cNvPr id="23" name="card 5"/>
          <p:cNvSpPr/>
          <p:nvPr/>
        </p:nvSpPr>
        <p:spPr>
          <a:xfrm>
            <a:off x="4328160" y="3634740"/>
            <a:ext cx="3505200" cy="1988820"/>
          </a:xfrm>
          <a:prstGeom prst="roundRect">
            <a:avLst>
              <a:gd name="adj" fmla="val 5517"/>
            </a:avLst>
          </a:prstGeom>
          <a:solidFill>
            <a:schemeClr val="bg2"/>
          </a:solidFill>
          <a:ln w="12700">
            <a:solidFill>
              <a:schemeClr val="bg2"/>
            </a:solidFill>
            <a:prstDash val="solid"/>
          </a:ln>
        </p:spPr>
      </p:sp>
      <p:sp>
        <p:nvSpPr>
          <p:cNvPr id="24" name="card 5 disc"/>
          <p:cNvSpPr/>
          <p:nvPr/>
        </p:nvSpPr>
        <p:spPr>
          <a:xfrm>
            <a:off x="4556760" y="386334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3988064"/>
            <a:ext cx="317480" cy="317480"/>
          </a:xfrm>
          <a:prstGeom prst="rect">
            <a:avLst/>
          </a:prstGeom>
        </p:spPr>
      </p:pic>
      <p:sp>
        <p:nvSpPr>
          <p:cNvPr id="26" name="Text 19"/>
          <p:cNvSpPr txBox="1"/>
          <p:nvPr/>
        </p:nvSpPr>
        <p:spPr>
          <a:xfrm>
            <a:off x="5260848" y="386334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Herbs: ashwagandha, neem, tulsi</a:t>
            </a:r>
            <a:endParaRPr lang="en-US" sz="1800" dirty="0"/>
          </a:p>
        </p:txBody>
      </p:sp>
      <p:sp>
        <p:nvSpPr>
          <p:cNvPr id="27" name="Text 20"/>
          <p:cNvSpPr txBox="1"/>
          <p:nvPr/>
        </p:nvSpPr>
        <p:spPr>
          <a:xfrm>
            <a:off x="4556760" y="4539996"/>
            <a:ext cx="3048000" cy="946404"/>
          </a:xfrm>
          <a:prstGeom prst="rect">
            <a:avLst/>
          </a:prstGeom>
          <a:noFill/>
          <a:ln/>
        </p:spPr>
        <p:txBody>
          <a:bodyPr wrap="square" lIns="0" tIns="0" rIns="0" bIns="0" rtlCol="0" anchor="t"/>
          <a:lstStyle/>
          <a:p>
            <a:pPr indent="0" marL="0">
              <a:buNone/>
            </a:pPr>
            <a:r>
              <a:rPr lang="en-US" sz="1800" dirty="0">
                <a:solidFill>
                  <a:schemeClr val="tx1"/>
                </a:solidFill>
              </a:rPr>
              <a:t>Himalayan region, Western Ghats</a:t>
            </a:r>
            <a:endParaRPr lang="en-US" sz="1600" dirty="0"/>
          </a:p>
        </p:txBody>
      </p:sp>
      <p:sp>
        <p:nvSpPr>
          <p:cNvPr id="28" name="card 6"/>
          <p:cNvSpPr/>
          <p:nvPr/>
        </p:nvSpPr>
        <p:spPr>
          <a:xfrm>
            <a:off x="8107680" y="3634740"/>
            <a:ext cx="3505200" cy="1988820"/>
          </a:xfrm>
          <a:prstGeom prst="roundRect">
            <a:avLst>
              <a:gd name="adj" fmla="val 5517"/>
            </a:avLst>
          </a:prstGeom>
          <a:solidFill>
            <a:schemeClr val="bg2"/>
          </a:solidFill>
          <a:ln w="12700">
            <a:solidFill>
              <a:schemeClr val="bg2"/>
            </a:solidFill>
            <a:prstDash val="solid"/>
          </a:ln>
        </p:spPr>
      </p:sp>
      <p:sp>
        <p:nvSpPr>
          <p:cNvPr id="29" name="card 6 disc"/>
          <p:cNvSpPr/>
          <p:nvPr/>
        </p:nvSpPr>
        <p:spPr>
          <a:xfrm>
            <a:off x="8336280" y="386334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3988064"/>
            <a:ext cx="317480" cy="317480"/>
          </a:xfrm>
          <a:prstGeom prst="rect">
            <a:avLst/>
          </a:prstGeom>
        </p:spPr>
      </p:pic>
      <p:sp>
        <p:nvSpPr>
          <p:cNvPr id="31" name="Text 23"/>
          <p:cNvSpPr txBox="1"/>
          <p:nvPr/>
        </p:nvSpPr>
        <p:spPr>
          <a:xfrm>
            <a:off x="9040368" y="386334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Handicrafts and cottage industries</a:t>
            </a:r>
            <a:endParaRPr lang="en-US" sz="1800" dirty="0"/>
          </a:p>
        </p:txBody>
      </p:sp>
      <p:sp>
        <p:nvSpPr>
          <p:cNvPr id="32" name="Text 24"/>
          <p:cNvSpPr txBox="1"/>
          <p:nvPr/>
        </p:nvSpPr>
        <p:spPr>
          <a:xfrm>
            <a:off x="8336280" y="4539996"/>
            <a:ext cx="3048000" cy="946404"/>
          </a:xfrm>
          <a:prstGeom prst="rect">
            <a:avLst/>
          </a:prstGeom>
          <a:noFill/>
          <a:ln/>
        </p:spPr>
        <p:txBody>
          <a:bodyPr wrap="square" lIns="0" tIns="0" rIns="0" bIns="0" rtlCol="0" anchor="t"/>
          <a:lstStyle/>
          <a:p>
            <a:pPr indent="0" marL="0">
              <a:buNone/>
            </a:pPr>
            <a:r>
              <a:rPr lang="en-US" sz="1800" dirty="0">
                <a:solidFill>
                  <a:schemeClr val="tx1"/>
                </a:solidFill>
              </a:rPr>
              <a:t>Rajasthan, Keralam</a:t>
            </a:r>
            <a:endParaRPr lang="en-US" sz="1600" dirty="0"/>
          </a:p>
        </p:txBody>
      </p:sp>
      <p:sp>
        <p:nvSpPr>
          <p:cNvPr id="3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34" name="Text 26"/>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Your turn:</a:t>
            </a:r>
            <a:r>
              <a:rPr lang="en-US" sz="1500" dirty="0">
                <a:solidFill>
                  <a:schemeClr val="bg1"/>
                </a:solidFill>
              </a:rPr>
              <a:t> Add one forest product from our own state or UT.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Forest Dwellers: Guardians of the Forest</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Livelihood</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Collect and process </a:t>
            </a:r>
            <a:r>
              <a:rPr lang="en-US" sz="1800" b="1" dirty="0">
                <a:solidFill>
                  <a:schemeClr val="tx1"/>
                </a:solidFill>
              </a:rPr>
              <a:t>NTFPs</a:t>
            </a:r>
            <a:r>
              <a:rPr lang="en-US" sz="1800" dirty="0">
                <a:solidFill>
                  <a:schemeClr val="tx1"/>
                </a:solidFill>
              </a:rPr>
              <a:t>: tendu leaves, mahua, honey, lac, bamboo.</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Household needs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Firewood, fodder, wild fruits, roots, tubers and medicinal plants.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Knowledge holders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Traditional knowledge of herbs and plants, passed down generations.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Forest protectors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Bishnoi Movement</a:t>
            </a:r>
            <a:r>
              <a:rPr lang="en-US" sz="1800" dirty="0">
                <a:solidFill>
                  <a:schemeClr val="tx1"/>
                </a:solidFill>
              </a:rPr>
              <a:t> (Amrita Devi, Rajasthan) inspired the </a:t>
            </a:r>
            <a:r>
              <a:rPr lang="en-US" sz="1800" b="1" dirty="0">
                <a:solidFill>
                  <a:schemeClr val="tx1"/>
                </a:solidFill>
              </a:rPr>
              <a:t>Chipko Movement</a:t>
            </a:r>
            <a:r>
              <a:rPr lang="en-US" sz="1800" dirty="0">
                <a:solidFill>
                  <a:schemeClr val="tx1"/>
                </a:solidFill>
              </a:rPr>
              <a:t> (Uttarakhand).</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Gonds and Bhils honour forest deities before collecting resources.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Women's role</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Women collect and manage forest resources and keep traditional knowledge alive.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GI-Tagged Forest Products of India</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A </a:t>
            </a:r>
            <a:r>
              <a:rPr lang="en-US" sz="1700" b="1" dirty="0">
                <a:solidFill>
                  <a:schemeClr val="tx1"/>
                </a:solidFill>
              </a:rPr>
              <a:t>Geographical Indication (GI)</a:t>
            </a:r>
            <a:r>
              <a:rPr lang="en-US" sz="1700" dirty="0">
                <a:solidFill>
                  <a:schemeClr val="tx1"/>
                </a:solidFill>
              </a:rPr>
              <a:t> tag shows that a product comes from a particular place and gets its quality from there.</a:t>
            </a:r>
            <a:endParaRPr lang="en-US" sz="16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3017520"/>
                <a:gridCol w="2743200"/>
                <a:gridCol w="5303520"/>
              </a:tblGrid>
              <a:tr h="43891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Product</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2E7D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State</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2E7D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makes it special</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2E7D4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Ramban Sulai Honey</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Jammu and Kashmir</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Nutritious, antioxidant, distinct flavour and aroma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Tezpur Litchi</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Assam</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Bright colour, high pulp content</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Channapatna Toys</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Karnataka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Made from the forest tree 'Aale mara'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Kandhamal Haldi</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Odisha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Grown by tribal communities; high curcumin</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Erode Turmeric</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Tamil Nadu</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Used in cooking and ayurvedic medicine</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Nilgiri Tea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TN, Keralam, Karnataka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Quality depends on Western Ghats forests</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Tripura Queen Pineapple</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Tripura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Famous for sweetness and aroma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Khasi Mandarin</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Meghalaya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Citrus fruit from forest-rich hills</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Challenges of Forest Life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Basic services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Hard to reach healthcare, education and clean water.</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Health and fires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Women breathe fuelwood smoke. About </a:t>
            </a:r>
            <a:r>
              <a:rPr lang="en-US" sz="1800" b="1" dirty="0">
                <a:solidFill>
                  <a:schemeClr val="tx1"/>
                </a:solidFill>
              </a:rPr>
              <a:t>36%</a:t>
            </a:r>
            <a:r>
              <a:rPr lang="en-US" sz="1800" dirty="0">
                <a:solidFill>
                  <a:schemeClr val="tx1"/>
                </a:solidFill>
              </a:rPr>
              <a:t> of India's forest cover is prone to fires.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Rules vs needs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Restrictions and deforestation limit access, creating conflict with survival needs.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Human–wildlife conflict</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Elephants, monkeys and wild boars damage crops; attacks create fear.</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Disasters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Floods and landslides in forested hills wash away homes and roads.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Low prices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Forest products sell cheaply; processing and marketing support is needed.</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Government Support for Forest Dwellers</a:t>
            </a:r>
            <a:endParaRPr lang="en-US" sz="3600" dirty="0"/>
          </a:p>
        </p:txBody>
      </p:sp>
      <p:sp>
        <p:nvSpPr>
          <p:cNvPr id="3" name="card 1"/>
          <p:cNvSpPr/>
          <p:nvPr/>
        </p:nvSpPr>
        <p:spPr>
          <a:xfrm>
            <a:off x="548640" y="1371600"/>
            <a:ext cx="539496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Forest Rights Act, 2006</a:t>
            </a:r>
            <a:endParaRPr lang="en-US" sz="1800" dirty="0"/>
          </a:p>
        </p:txBody>
      </p:sp>
      <p:sp>
        <p:nvSpPr>
          <p:cNvPr id="7" name="Text 4"/>
          <p:cNvSpPr txBox="1"/>
          <p:nvPr/>
        </p:nvSpPr>
        <p:spPr>
          <a:xfrm>
            <a:off x="77724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Recognises rights over forest land and resources: collect minor forest produce; ownership of small cultivated plots.</a:t>
            </a:r>
            <a:endParaRPr lang="en-US" sz="1600" dirty="0"/>
          </a:p>
        </p:txBody>
      </p:sp>
      <p:sp>
        <p:nvSpPr>
          <p:cNvPr id="8" name="card 2"/>
          <p:cNvSpPr/>
          <p:nvPr/>
        </p:nvSpPr>
        <p:spPr>
          <a:xfrm>
            <a:off x="6217920" y="1371600"/>
            <a:ext cx="539496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Joint Forest Management</a:t>
            </a:r>
            <a:endParaRPr lang="en-US" sz="1800" dirty="0"/>
          </a:p>
        </p:txBody>
      </p:sp>
      <p:sp>
        <p:nvSpPr>
          <p:cNvPr id="12" name="Text 8"/>
          <p:cNvSpPr txBox="1"/>
          <p:nvPr/>
        </p:nvSpPr>
        <p:spPr>
          <a:xfrm>
            <a:off x="644652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Communities protect forests and share the forest produce.</a:t>
            </a:r>
            <a:endParaRPr lang="en-US" sz="1600" dirty="0"/>
          </a:p>
        </p:txBody>
      </p:sp>
      <p:sp>
        <p:nvSpPr>
          <p:cNvPr id="13" name="card 3"/>
          <p:cNvSpPr/>
          <p:nvPr/>
        </p:nvSpPr>
        <p:spPr>
          <a:xfrm>
            <a:off x="548640" y="3931920"/>
            <a:ext cx="539496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777240" y="416052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4285244"/>
            <a:ext cx="317480" cy="317480"/>
          </a:xfrm>
          <a:prstGeom prst="rect">
            <a:avLst/>
          </a:prstGeom>
        </p:spPr>
      </p:pic>
      <p:sp>
        <p:nvSpPr>
          <p:cNvPr id="16" name="Text 11"/>
          <p:cNvSpPr txBox="1"/>
          <p:nvPr/>
        </p:nvSpPr>
        <p:spPr>
          <a:xfrm>
            <a:off x="148132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PESA Act</a:t>
            </a:r>
            <a:endParaRPr lang="en-US" sz="1800" dirty="0"/>
          </a:p>
        </p:txBody>
      </p:sp>
      <p:sp>
        <p:nvSpPr>
          <p:cNvPr id="17" name="Text 12"/>
          <p:cNvSpPr txBox="1"/>
          <p:nvPr/>
        </p:nvSpPr>
        <p:spPr>
          <a:xfrm>
            <a:off x="77724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Strengthens local self-governance (Gram Sabhas) in Scheduled Areas.</a:t>
            </a:r>
            <a:endParaRPr lang="en-US" sz="1600" dirty="0"/>
          </a:p>
        </p:txBody>
      </p:sp>
      <p:sp>
        <p:nvSpPr>
          <p:cNvPr id="18" name="card 4"/>
          <p:cNvSpPr/>
          <p:nvPr/>
        </p:nvSpPr>
        <p:spPr>
          <a:xfrm>
            <a:off x="6217920" y="3931920"/>
            <a:ext cx="539496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644652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4285244"/>
            <a:ext cx="317480" cy="317480"/>
          </a:xfrm>
          <a:prstGeom prst="rect">
            <a:avLst/>
          </a:prstGeom>
        </p:spPr>
      </p:pic>
      <p:sp>
        <p:nvSpPr>
          <p:cNvPr id="21" name="Text 15"/>
          <p:cNvSpPr txBox="1"/>
          <p:nvPr/>
        </p:nvSpPr>
        <p:spPr>
          <a:xfrm>
            <a:off x="715060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Welfare schemes</a:t>
            </a:r>
            <a:endParaRPr lang="en-US" sz="1800" dirty="0"/>
          </a:p>
        </p:txBody>
      </p:sp>
      <p:sp>
        <p:nvSpPr>
          <p:cNvPr id="22" name="Text 16"/>
          <p:cNvSpPr txBox="1"/>
          <p:nvPr/>
        </p:nvSpPr>
        <p:spPr>
          <a:xfrm>
            <a:off x="644652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Scholarships, healthcare, skill training; </a:t>
            </a:r>
            <a:r>
              <a:rPr lang="en-US" sz="1800" b="1" dirty="0">
                <a:solidFill>
                  <a:schemeClr val="tx1"/>
                </a:solidFill>
              </a:rPr>
              <a:t>DAJGUA</a:t>
            </a:r>
            <a:r>
              <a:rPr lang="en-US" sz="1800" dirty="0">
                <a:solidFill>
                  <a:schemeClr val="tx1"/>
                </a:solidFill>
              </a:rPr>
              <a:t> and </a:t>
            </a:r>
            <a:r>
              <a:rPr lang="en-US" sz="1800" b="1" dirty="0">
                <a:solidFill>
                  <a:schemeClr val="tx1"/>
                </a:solidFill>
              </a:rPr>
              <a:t>PM JANMAN</a:t>
            </a:r>
            <a:r>
              <a:rPr lang="en-US" sz="1800" dirty="0">
                <a:solidFill>
                  <a:schemeClr val="tx1"/>
                </a:solidFill>
              </a:rPr>
              <a:t> for tribal welfare.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Mendha Lekha, Maharashtra</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A Gond village in </a:t>
            </a:r>
            <a:r>
              <a:rPr lang="en-US" sz="1700" b="1" dirty="0">
                <a:solidFill>
                  <a:schemeClr val="tx1"/>
                </a:solidFill>
              </a:rPr>
              <a:t>Gadchiroli</a:t>
            </a:r>
            <a:r>
              <a:rPr lang="en-US" sz="1700" dirty="0">
                <a:solidFill>
                  <a:schemeClr val="tx1"/>
                </a:solidFill>
              </a:rPr>
              <a:t>: the </a:t>
            </a:r>
            <a:r>
              <a:rPr lang="en-US" sz="1700" b="1" dirty="0">
                <a:solidFill>
                  <a:schemeClr val="tx1"/>
                </a:solidFill>
              </a:rPr>
              <a:t>first in India</a:t>
            </a:r>
            <a:r>
              <a:rPr lang="en-US" sz="1700" dirty="0">
                <a:solidFill>
                  <a:schemeClr val="tx1"/>
                </a:solidFill>
              </a:rPr>
              <a:t> to gain rights over its forest under the FRA. Motto: </a:t>
            </a:r>
            <a:r>
              <a:rPr lang="en-US" sz="1700" b="1" dirty="0">
                <a:solidFill>
                  <a:schemeClr val="tx1"/>
                </a:solidFill>
              </a:rPr>
              <a:t>'Mawa Nate Mawa Raj'</a:t>
            </a:r>
            <a:r>
              <a:rPr lang="en-US" sz="1700" dirty="0">
                <a:solidFill>
                  <a:schemeClr val="tx1"/>
                </a:solidFill>
              </a:rPr>
              <a:t> (our village, our rule).</a:t>
            </a:r>
            <a:endParaRPr lang="en-US" sz="1600" dirty="0"/>
          </a:p>
        </p:txBody>
      </p:sp>
      <p:sp>
        <p:nvSpPr>
          <p:cNvPr id="4" name="step 1 card"/>
          <p:cNvSpPr/>
          <p:nvPr/>
        </p:nvSpPr>
        <p:spPr>
          <a:xfrm>
            <a:off x="548640" y="2057400"/>
            <a:ext cx="2457450" cy="3520440"/>
          </a:xfrm>
          <a:prstGeom prst="roundRect">
            <a:avLst>
              <a:gd name="adj" fmla="val 4465"/>
            </a:avLst>
          </a:prstGeom>
          <a:solidFill>
            <a:schemeClr val="bg2"/>
          </a:solidFill>
          <a:ln w="12700">
            <a:solidFill>
              <a:schemeClr val="bg2"/>
            </a:solidFill>
            <a:prstDash val="solid"/>
          </a:ln>
        </p:spPr>
      </p:sp>
      <p:sp>
        <p:nvSpPr>
          <p:cNvPr id="5" name="step 1 disc"/>
          <p:cNvSpPr/>
          <p:nvPr/>
        </p:nvSpPr>
        <p:spPr>
          <a:xfrm>
            <a:off x="1343025" y="2331720"/>
            <a:ext cx="868680" cy="868680"/>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534135" y="2522830"/>
            <a:ext cx="486461" cy="486461"/>
          </a:xfrm>
          <a:prstGeom prst="rect">
            <a:avLst/>
          </a:prstGeom>
        </p:spPr>
      </p:pic>
      <p:sp>
        <p:nvSpPr>
          <p:cNvPr id="7" name="Text 4"/>
          <p:cNvSpPr txBox="1"/>
          <p:nvPr/>
        </p:nvSpPr>
        <p:spPr>
          <a:xfrm>
            <a:off x="68580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1. Gram Sabha decides</a:t>
            </a:r>
            <a:endParaRPr lang="en-US" sz="1700" dirty="0"/>
          </a:p>
        </p:txBody>
      </p:sp>
      <p:sp>
        <p:nvSpPr>
          <p:cNvPr id="8" name="Text 5"/>
          <p:cNvSpPr txBox="1"/>
          <p:nvPr/>
        </p:nvSpPr>
        <p:spPr>
          <a:xfrm>
            <a:off x="73152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All decisions are taken together by the village assembly.</a:t>
            </a:r>
            <a:endParaRPr lang="en-US" sz="1600" dirty="0"/>
          </a:p>
        </p:txBody>
      </p:sp>
      <p:sp>
        <p:nvSpPr>
          <p:cNvPr id="9" name="arrow 1"/>
          <p:cNvSpPr/>
          <p:nvPr/>
        </p:nvSpPr>
        <p:spPr>
          <a:xfrm>
            <a:off x="3060954" y="2619756"/>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3417570" y="2057400"/>
            <a:ext cx="2457450" cy="3520440"/>
          </a:xfrm>
          <a:prstGeom prst="roundRect">
            <a:avLst>
              <a:gd name="adj" fmla="val 4465"/>
            </a:avLst>
          </a:prstGeom>
          <a:solidFill>
            <a:schemeClr val="bg2"/>
          </a:solidFill>
          <a:ln w="12700">
            <a:solidFill>
              <a:schemeClr val="bg2"/>
            </a:solidFill>
            <a:prstDash val="solid"/>
          </a:ln>
        </p:spPr>
      </p:sp>
      <p:sp>
        <p:nvSpPr>
          <p:cNvPr id="11" name="step 2 disc"/>
          <p:cNvSpPr/>
          <p:nvPr/>
        </p:nvSpPr>
        <p:spPr>
          <a:xfrm>
            <a:off x="4211955" y="2331720"/>
            <a:ext cx="868680" cy="868680"/>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4403065" y="2522830"/>
            <a:ext cx="486461" cy="486461"/>
          </a:xfrm>
          <a:prstGeom prst="rect">
            <a:avLst/>
          </a:prstGeom>
        </p:spPr>
      </p:pic>
      <p:sp>
        <p:nvSpPr>
          <p:cNvPr id="13" name="Text 9"/>
          <p:cNvSpPr txBox="1"/>
          <p:nvPr/>
        </p:nvSpPr>
        <p:spPr>
          <a:xfrm>
            <a:off x="355473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2. Protect 1,800 ha</a:t>
            </a:r>
            <a:endParaRPr lang="en-US" sz="1700" dirty="0"/>
          </a:p>
        </p:txBody>
      </p:sp>
      <p:sp>
        <p:nvSpPr>
          <p:cNvPr id="14" name="Text 10"/>
          <p:cNvSpPr txBox="1"/>
          <p:nvPr/>
        </p:nvSpPr>
        <p:spPr>
          <a:xfrm>
            <a:off x="360045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Regulate tree cutting and prevent forest fires.</a:t>
            </a:r>
            <a:endParaRPr lang="en-US" sz="1600" dirty="0"/>
          </a:p>
        </p:txBody>
      </p:sp>
      <p:sp>
        <p:nvSpPr>
          <p:cNvPr id="15" name="arrow 2"/>
          <p:cNvSpPr/>
          <p:nvPr/>
        </p:nvSpPr>
        <p:spPr>
          <a:xfrm>
            <a:off x="5929884" y="2619756"/>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6286500" y="2057400"/>
            <a:ext cx="2457450" cy="3520440"/>
          </a:xfrm>
          <a:prstGeom prst="roundRect">
            <a:avLst>
              <a:gd name="adj" fmla="val 4465"/>
            </a:avLst>
          </a:prstGeom>
          <a:solidFill>
            <a:schemeClr val="bg2"/>
          </a:solidFill>
          <a:ln w="12700">
            <a:solidFill>
              <a:schemeClr val="bg2"/>
            </a:solidFill>
            <a:prstDash val="solid"/>
          </a:ln>
        </p:spPr>
      </p:sp>
      <p:sp>
        <p:nvSpPr>
          <p:cNvPr id="17" name="step 3 disc"/>
          <p:cNvSpPr/>
          <p:nvPr/>
        </p:nvSpPr>
        <p:spPr>
          <a:xfrm>
            <a:off x="7080885" y="2331720"/>
            <a:ext cx="868680" cy="868680"/>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7271995" y="2522830"/>
            <a:ext cx="486461" cy="486461"/>
          </a:xfrm>
          <a:prstGeom prst="rect">
            <a:avLst/>
          </a:prstGeom>
        </p:spPr>
      </p:pic>
      <p:sp>
        <p:nvSpPr>
          <p:cNvPr id="19" name="Text 14"/>
          <p:cNvSpPr txBox="1"/>
          <p:nvPr/>
        </p:nvSpPr>
        <p:spPr>
          <a:xfrm>
            <a:off x="642366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3. Use wisely</a:t>
            </a:r>
            <a:endParaRPr lang="en-US" sz="1700" dirty="0"/>
          </a:p>
        </p:txBody>
      </p:sp>
      <p:sp>
        <p:nvSpPr>
          <p:cNvPr id="20" name="Text 15"/>
          <p:cNvSpPr txBox="1"/>
          <p:nvPr/>
        </p:nvSpPr>
        <p:spPr>
          <a:xfrm>
            <a:off x="646938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Harvest bamboo as a renewable resource; control grazing.</a:t>
            </a:r>
            <a:endParaRPr lang="en-US" sz="1600" dirty="0"/>
          </a:p>
        </p:txBody>
      </p:sp>
      <p:sp>
        <p:nvSpPr>
          <p:cNvPr id="21" name="arrow 3"/>
          <p:cNvSpPr/>
          <p:nvPr/>
        </p:nvSpPr>
        <p:spPr>
          <a:xfrm>
            <a:off x="8798814" y="2619756"/>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9155430" y="2057400"/>
            <a:ext cx="2457450" cy="3520440"/>
          </a:xfrm>
          <a:prstGeom prst="roundRect">
            <a:avLst>
              <a:gd name="adj" fmla="val 4465"/>
            </a:avLst>
          </a:prstGeom>
          <a:solidFill>
            <a:schemeClr val="bg2"/>
          </a:solidFill>
          <a:ln w="12700">
            <a:solidFill>
              <a:schemeClr val="bg2"/>
            </a:solidFill>
            <a:prstDash val="solid"/>
          </a:ln>
        </p:spPr>
      </p:sp>
      <p:sp>
        <p:nvSpPr>
          <p:cNvPr id="23" name="step 4 disc"/>
          <p:cNvSpPr/>
          <p:nvPr/>
        </p:nvSpPr>
        <p:spPr>
          <a:xfrm>
            <a:off x="9949815" y="2331720"/>
            <a:ext cx="868680" cy="868680"/>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10140925" y="2522830"/>
            <a:ext cx="486461" cy="486461"/>
          </a:xfrm>
          <a:prstGeom prst="rect">
            <a:avLst/>
          </a:prstGeom>
        </p:spPr>
      </p:pic>
      <p:sp>
        <p:nvSpPr>
          <p:cNvPr id="25" name="Text 19"/>
          <p:cNvSpPr txBox="1"/>
          <p:nvPr/>
        </p:nvSpPr>
        <p:spPr>
          <a:xfrm>
            <a:off x="929259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4. Share the gains</a:t>
            </a:r>
            <a:endParaRPr lang="en-US" sz="1700" dirty="0"/>
          </a:p>
        </p:txBody>
      </p:sp>
      <p:sp>
        <p:nvSpPr>
          <p:cNvPr id="26" name="Text 20"/>
          <p:cNvSpPr txBox="1"/>
          <p:nvPr/>
        </p:nvSpPr>
        <p:spPr>
          <a:xfrm>
            <a:off x="933831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Forest income funds education and village infrastructure.</a:t>
            </a:r>
            <a:endParaRPr lang="en-US" sz="1600" dirty="0"/>
          </a:p>
        </p:txBody>
      </p:sp>
      <p:sp>
        <p:nvSpPr>
          <p:cNvPr id="27"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28" name="Text 22"/>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Rights + duties + democratic participation = </a:t>
            </a:r>
            <a:r>
              <a:rPr lang="en-US" sz="1500" b="1" dirty="0">
                <a:solidFill>
                  <a:schemeClr val="bg1"/>
                </a:solidFill>
              </a:rPr>
              <a:t>sustainable forest conservation</a:t>
            </a:r>
            <a:r>
              <a:rPr lang="en-US" sz="15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Ecological Commons: Shared by All</a:t>
            </a:r>
            <a:endParaRPr lang="en-US" sz="3600" dirty="0"/>
          </a:p>
        </p:txBody>
      </p:sp>
      <p:sp>
        <p:nvSpPr>
          <p:cNvPr id="3" name="Text 1"/>
          <p:cNvSpPr txBox="1"/>
          <p:nvPr/>
        </p:nvSpPr>
        <p:spPr>
          <a:xfrm>
            <a:off x="548640" y="1280160"/>
            <a:ext cx="11064240" cy="640080"/>
          </a:xfrm>
          <a:prstGeom prst="rect">
            <a:avLst/>
          </a:prstGeom>
          <a:noFill/>
          <a:ln/>
        </p:spPr>
        <p:txBody>
          <a:bodyPr wrap="square" lIns="0" tIns="0" rIns="0" bIns="0" rtlCol="0" anchor="ctr"/>
          <a:lstStyle/>
          <a:p>
            <a:pPr indent="0" marL="0">
              <a:buNone/>
            </a:pPr>
            <a:r>
              <a:rPr lang="en-US" sz="1700" b="1" dirty="0">
                <a:solidFill>
                  <a:schemeClr val="tx1"/>
                </a:solidFill>
              </a:rPr>
              <a:t>Ecological commons</a:t>
            </a:r>
            <a:r>
              <a:rPr lang="en-US" sz="1700" dirty="0">
                <a:solidFill>
                  <a:schemeClr val="tx1"/>
                </a:solidFill>
              </a:rPr>
              <a:t> are forests, rivers, lakes, grazing lands, air and biodiversity used and managed together by a community.</a:t>
            </a:r>
            <a:endParaRPr lang="en-US" sz="1600" dirty="0"/>
          </a:p>
        </p:txBody>
      </p:sp>
      <p:sp>
        <p:nvSpPr>
          <p:cNvPr id="4" name="card 1"/>
          <p:cNvSpPr/>
          <p:nvPr/>
        </p:nvSpPr>
        <p:spPr>
          <a:xfrm>
            <a:off x="548640" y="2057400"/>
            <a:ext cx="3505200" cy="4160520"/>
          </a:xfrm>
          <a:prstGeom prst="roundRect">
            <a:avLst>
              <a:gd name="adj" fmla="val 3130"/>
            </a:avLst>
          </a:prstGeom>
          <a:solidFill>
            <a:schemeClr val="bg2"/>
          </a:solidFill>
          <a:ln w="12700">
            <a:solidFill>
              <a:schemeClr val="bg2"/>
            </a:solidFill>
            <a:prstDash val="solid"/>
          </a:ln>
        </p:spPr>
      </p:sp>
      <p:sp>
        <p:nvSpPr>
          <p:cNvPr id="5" name="card 1 disc"/>
          <p:cNvSpPr/>
          <p:nvPr/>
        </p:nvSpPr>
        <p:spPr>
          <a:xfrm>
            <a:off x="777240" y="2286000"/>
            <a:ext cx="566928" cy="566928"/>
          </a:xfrm>
          <a:prstGeom prst="ellipse">
            <a:avLst/>
          </a:prstGeom>
          <a:solidFill>
            <a:schemeClr val="accent1"/>
          </a:solidFill>
          <a:ln w="12700">
            <a:solidFill>
              <a:schemeClr val="accent1"/>
            </a:solidFill>
            <a:prstDash val="solid"/>
          </a:ln>
        </p:spPr>
      </p:sp>
      <p:pic>
        <p:nvPicPr>
          <p:cNvPr id="6" name="card 1 glyph" descr="preencoded.png">    </p:cNvPr>
          <p:cNvPicPr>
            <a:picLocks noChangeAspect="1"/>
          </p:cNvPicPr>
          <p:nvPr/>
        </p:nvPicPr>
        <p:blipFill>
          <a:blip r:embed="rId1"/>
          <a:stretch>
            <a:fillRect/>
          </a:stretch>
        </p:blipFill>
        <p:spPr>
          <a:xfrm>
            <a:off x="901964" y="2410724"/>
            <a:ext cx="317480" cy="317480"/>
          </a:xfrm>
          <a:prstGeom prst="rect">
            <a:avLst/>
          </a:prstGeom>
        </p:spPr>
      </p:pic>
      <p:sp>
        <p:nvSpPr>
          <p:cNvPr id="7" name="Text 4"/>
          <p:cNvSpPr txBox="1"/>
          <p:nvPr/>
        </p:nvSpPr>
        <p:spPr>
          <a:xfrm>
            <a:off x="148132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Bihar's fisheries</a:t>
            </a:r>
            <a:endParaRPr lang="en-US" sz="1800" dirty="0"/>
          </a:p>
        </p:txBody>
      </p:sp>
      <p:sp>
        <p:nvSpPr>
          <p:cNvPr id="8" name="Text 5"/>
          <p:cNvSpPr txBox="1"/>
          <p:nvPr/>
        </p:nvSpPr>
        <p:spPr>
          <a:xfrm>
            <a:off x="777240" y="2962656"/>
            <a:ext cx="3048000" cy="3118104"/>
          </a:xfrm>
          <a:prstGeom prst="rect">
            <a:avLst/>
          </a:prstGeom>
          <a:noFill/>
          <a:ln/>
        </p:spPr>
        <p:txBody>
          <a:bodyPr wrap="square" lIns="0" tIns="0" rIns="0" bIns="0" rtlCol="0" anchor="t"/>
          <a:lstStyle/>
          <a:p>
            <a:pPr indent="0" marL="0">
              <a:buNone/>
            </a:pPr>
            <a:r>
              <a:rPr lang="en-US" sz="1800" dirty="0">
                <a:solidFill>
                  <a:schemeClr val="tx1"/>
                </a:solidFill>
              </a:rPr>
              <a:t>The </a:t>
            </a:r>
            <a:r>
              <a:rPr lang="en-US" sz="1800" b="1" dirty="0">
                <a:solidFill>
                  <a:schemeClr val="tx1"/>
                </a:solidFill>
              </a:rPr>
              <a:t>Bihar Fish Jalkar Management Act, 2006</a:t>
            </a:r>
            <a:r>
              <a:rPr lang="en-US" sz="1800" dirty="0">
                <a:solidFill>
                  <a:schemeClr val="tx1"/>
                </a:solidFill>
              </a:rPr>
              <a:t> gave communities control of water bodies; fish production keeps growing.</a:t>
            </a:r>
            <a:endParaRPr lang="en-US" sz="1600" dirty="0"/>
          </a:p>
        </p:txBody>
      </p:sp>
      <p:sp>
        <p:nvSpPr>
          <p:cNvPr id="9" name="card 2"/>
          <p:cNvSpPr/>
          <p:nvPr/>
        </p:nvSpPr>
        <p:spPr>
          <a:xfrm>
            <a:off x="4328160" y="2057400"/>
            <a:ext cx="3505200" cy="4160520"/>
          </a:xfrm>
          <a:prstGeom prst="roundRect">
            <a:avLst>
              <a:gd name="adj" fmla="val 3130"/>
            </a:avLst>
          </a:prstGeom>
          <a:solidFill>
            <a:schemeClr val="bg2"/>
          </a:solidFill>
          <a:ln w="12700">
            <a:solidFill>
              <a:schemeClr val="bg2"/>
            </a:solidFill>
            <a:prstDash val="solid"/>
          </a:ln>
        </p:spPr>
      </p:sp>
      <p:sp>
        <p:nvSpPr>
          <p:cNvPr id="10" name="card 2 disc"/>
          <p:cNvSpPr/>
          <p:nvPr/>
        </p:nvSpPr>
        <p:spPr>
          <a:xfrm>
            <a:off x="4556760" y="2286000"/>
            <a:ext cx="566928" cy="566928"/>
          </a:xfrm>
          <a:prstGeom prst="ellipse">
            <a:avLst/>
          </a:prstGeom>
          <a:solidFill>
            <a:schemeClr val="accent2"/>
          </a:solidFill>
          <a:ln w="12700">
            <a:solidFill>
              <a:schemeClr val="accent2"/>
            </a:solidFill>
            <a:prstDash val="solid"/>
          </a:ln>
        </p:spPr>
      </p:sp>
      <p:pic>
        <p:nvPicPr>
          <p:cNvPr id="11" name="card 2 glyph" descr="preencoded.png">    </p:cNvPr>
          <p:cNvPicPr>
            <a:picLocks noChangeAspect="1"/>
          </p:cNvPicPr>
          <p:nvPr/>
        </p:nvPicPr>
        <p:blipFill>
          <a:blip r:embed="rId2"/>
          <a:stretch>
            <a:fillRect/>
          </a:stretch>
        </p:blipFill>
        <p:spPr>
          <a:xfrm>
            <a:off x="4681484" y="2410724"/>
            <a:ext cx="317480" cy="317480"/>
          </a:xfrm>
          <a:prstGeom prst="rect">
            <a:avLst/>
          </a:prstGeom>
        </p:spPr>
      </p:pic>
      <p:sp>
        <p:nvSpPr>
          <p:cNvPr id="12" name="Text 8"/>
          <p:cNvSpPr txBox="1"/>
          <p:nvPr/>
        </p:nvSpPr>
        <p:spPr>
          <a:xfrm>
            <a:off x="526084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Traditional tanks</a:t>
            </a:r>
            <a:endParaRPr lang="en-US" sz="1800" dirty="0"/>
          </a:p>
        </p:txBody>
      </p:sp>
      <p:sp>
        <p:nvSpPr>
          <p:cNvPr id="13" name="Text 9"/>
          <p:cNvSpPr txBox="1"/>
          <p:nvPr/>
        </p:nvSpPr>
        <p:spPr>
          <a:xfrm>
            <a:off x="4556760" y="2962656"/>
            <a:ext cx="3048000" cy="3118104"/>
          </a:xfrm>
          <a:prstGeom prst="rect">
            <a:avLst/>
          </a:prstGeom>
          <a:noFill/>
          <a:ln/>
        </p:spPr>
        <p:txBody>
          <a:bodyPr wrap="square" lIns="0" tIns="0" rIns="0" bIns="0" rtlCol="0" anchor="t"/>
          <a:lstStyle/>
          <a:p>
            <a:pPr indent="0" marL="0">
              <a:buNone/>
            </a:pPr>
            <a:r>
              <a:rPr lang="en-US" sz="1800" dirty="0">
                <a:solidFill>
                  <a:schemeClr val="tx1"/>
                </a:solidFill>
              </a:rPr>
              <a:t>Chandellas and Bundelas built ~</a:t>
            </a:r>
            <a:r>
              <a:rPr lang="en-US" sz="1800" b="1" dirty="0">
                <a:solidFill>
                  <a:schemeClr val="tx1"/>
                </a:solidFill>
              </a:rPr>
              <a:t>8,000 tanks</a:t>
            </a:r>
            <a:r>
              <a:rPr lang="en-US" sz="1800" dirty="0">
                <a:solidFill>
                  <a:schemeClr val="tx1"/>
                </a:solidFill>
              </a:rPr>
              <a:t> in Bundelkhand (800–1200 CE). Keres, eri, chevuru, ahar-pynes, Gond </a:t>
            </a:r>
            <a:r>
              <a:rPr lang="en-US" sz="1800" b="1" dirty="0">
                <a:solidFill>
                  <a:schemeClr val="tx1"/>
                </a:solidFill>
              </a:rPr>
              <a:t>katas</a:t>
            </a:r>
            <a:r>
              <a:rPr lang="en-US" sz="1800" dirty="0">
                <a:solidFill>
                  <a:schemeClr val="tx1"/>
                </a:solidFill>
              </a:rPr>
              <a:t>.</a:t>
            </a:r>
            <a:endParaRPr lang="en-US" sz="1600" dirty="0"/>
          </a:p>
        </p:txBody>
      </p:sp>
      <p:sp>
        <p:nvSpPr>
          <p:cNvPr id="14" name="card 3"/>
          <p:cNvSpPr/>
          <p:nvPr/>
        </p:nvSpPr>
        <p:spPr>
          <a:xfrm>
            <a:off x="8107680" y="2057400"/>
            <a:ext cx="3505200" cy="4160520"/>
          </a:xfrm>
          <a:prstGeom prst="roundRect">
            <a:avLst>
              <a:gd name="adj" fmla="val 3130"/>
            </a:avLst>
          </a:prstGeom>
          <a:solidFill>
            <a:schemeClr val="bg2"/>
          </a:solidFill>
          <a:ln w="12700">
            <a:solidFill>
              <a:schemeClr val="bg2"/>
            </a:solidFill>
            <a:prstDash val="solid"/>
          </a:ln>
        </p:spPr>
      </p:sp>
      <p:sp>
        <p:nvSpPr>
          <p:cNvPr id="15" name="card 3 disc"/>
          <p:cNvSpPr/>
          <p:nvPr/>
        </p:nvSpPr>
        <p:spPr>
          <a:xfrm>
            <a:off x="8336280" y="2286000"/>
            <a:ext cx="566928" cy="566928"/>
          </a:xfrm>
          <a:prstGeom prst="ellipse">
            <a:avLst/>
          </a:prstGeom>
          <a:solidFill>
            <a:schemeClr val="accent4"/>
          </a:solidFill>
          <a:ln w="12700">
            <a:solidFill>
              <a:schemeClr val="accent4"/>
            </a:solidFill>
            <a:prstDash val="solid"/>
          </a:ln>
        </p:spPr>
      </p:sp>
      <p:pic>
        <p:nvPicPr>
          <p:cNvPr id="16" name="card 3 glyph" descr="preencoded.png">    </p:cNvPr>
          <p:cNvPicPr>
            <a:picLocks noChangeAspect="1"/>
          </p:cNvPicPr>
          <p:nvPr/>
        </p:nvPicPr>
        <p:blipFill>
          <a:blip r:embed="rId3"/>
          <a:stretch>
            <a:fillRect/>
          </a:stretch>
        </p:blipFill>
        <p:spPr>
          <a:xfrm>
            <a:off x="8461004" y="2410724"/>
            <a:ext cx="317480" cy="317480"/>
          </a:xfrm>
          <a:prstGeom prst="rect">
            <a:avLst/>
          </a:prstGeom>
        </p:spPr>
      </p:pic>
      <p:sp>
        <p:nvSpPr>
          <p:cNvPr id="17" name="Text 12"/>
          <p:cNvSpPr txBox="1"/>
          <p:nvPr/>
        </p:nvSpPr>
        <p:spPr>
          <a:xfrm>
            <a:off x="904036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Under pressure</a:t>
            </a:r>
            <a:endParaRPr lang="en-US" sz="1800" dirty="0"/>
          </a:p>
        </p:txBody>
      </p:sp>
      <p:sp>
        <p:nvSpPr>
          <p:cNvPr id="18" name="Text 13"/>
          <p:cNvSpPr txBox="1"/>
          <p:nvPr/>
        </p:nvSpPr>
        <p:spPr>
          <a:xfrm>
            <a:off x="8336280" y="2962656"/>
            <a:ext cx="3048000" cy="3118104"/>
          </a:xfrm>
          <a:prstGeom prst="rect">
            <a:avLst/>
          </a:prstGeom>
          <a:noFill/>
          <a:ln/>
        </p:spPr>
        <p:txBody>
          <a:bodyPr wrap="square" lIns="0" tIns="0" rIns="0" bIns="0" rtlCol="0" anchor="t"/>
          <a:lstStyle/>
          <a:p>
            <a:pPr indent="0" marL="0">
              <a:buNone/>
            </a:pPr>
            <a:r>
              <a:rPr lang="en-US" sz="1800" dirty="0">
                <a:solidFill>
                  <a:schemeClr val="tx1"/>
                </a:solidFill>
              </a:rPr>
              <a:t>Population growth, industry and privatisation are shrinking commons. India still has </a:t>
            </a:r>
            <a:r>
              <a:rPr lang="en-US" sz="1800" b="1" dirty="0">
                <a:solidFill>
                  <a:schemeClr val="tx1"/>
                </a:solidFill>
              </a:rPr>
              <a:t>15 lakh+</a:t>
            </a:r>
            <a:r>
              <a:rPr lang="en-US" sz="1800" dirty="0">
                <a:solidFill>
                  <a:schemeClr val="tx1"/>
                </a:solidFill>
              </a:rPr>
              <a:t> working tanks.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Role-Play: The Gram Sabha Decides</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ROLE-PLAY</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Should the forest be cleared?</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30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Whole class, 6 roles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Role cards, a 'proposal' letter, voting slips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Proposal: a company wants to clear 50 ha of village forest for a resort.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Roles: </a:t>
            </a:r>
            <a:r>
              <a:rPr lang="en-US" sz="1400" b="1" dirty="0">
                <a:solidFill>
                  <a:schemeClr val="tx1"/>
                </a:solidFill>
              </a:rPr>
              <a:t>elder, woman NTFP collector, forest officer, entrepreneur, environmentalist, youth</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Each role speaks for 1 minute using facts from the chapter.</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The class (Gram Sabha) asks questions, then votes.</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Reflect: Can we find a 'win–win' plan (e.g. ecotourism run by villagers)?</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Communities balance livelihoods, rights and conservation through democratic decisions.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Permafrost is found in the…</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desert biome</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tundra biome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savanna</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rainforest</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Thenmala is famous as India's first…</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tiger reserve</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planned ecotourism destination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salt desert</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GI-tagged honey</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Moving up a biome pyramid, energy…</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increases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stays the same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decreases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doubles</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Which village first won forest rights under the FRA?</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Mendha Lekha</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Sohra</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Nubra</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Bhandara</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Tundra biome</a:t>
            </a:r>
            <a:endParaRPr lang="en-US" sz="1600" dirty="0"/>
          </a:p>
          <a:p>
            <a:pPr indent="0" marL="0">
              <a:buNone/>
            </a:pPr>
            <a:r>
              <a:rPr lang="en-US" sz="1400" dirty="0">
                <a:solidFill>
                  <a:schemeClr val="tx1"/>
                </a:solidFill>
              </a:rPr>
              <a:t>In the tundra, soil stays frozen almost all year, so trees cannot grow.</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Planned ecotourism destination</a:t>
            </a:r>
            <a:endParaRPr lang="en-US" sz="1600" dirty="0"/>
          </a:p>
          <a:p>
            <a:pPr indent="0" marL="0">
              <a:buNone/>
            </a:pPr>
            <a:r>
              <a:rPr lang="en-US" sz="1400" dirty="0">
                <a:solidFill>
                  <a:schemeClr val="tx1"/>
                </a:solidFill>
              </a:rPr>
              <a:t>Thenmala (Kollam, Keralam) is India's first planned ecotourism destination.</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Decreases</a:t>
            </a:r>
            <a:endParaRPr lang="en-US" sz="1600" dirty="0"/>
          </a:p>
          <a:p>
            <a:pPr indent="0" marL="0">
              <a:buNone/>
            </a:pPr>
            <a:r>
              <a:rPr lang="en-US" sz="1400" dirty="0">
                <a:solidFill>
                  <a:schemeClr val="tx1"/>
                </a:solidFill>
              </a:rPr>
              <a:t>Energy is lost as heat at each trophic level.</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Mendha Lekha</a:t>
            </a:r>
            <a:endParaRPr lang="en-US" sz="1600" dirty="0"/>
          </a:p>
          <a:p>
            <a:pPr indent="0" marL="0">
              <a:buNone/>
            </a:pPr>
            <a:r>
              <a:rPr lang="en-US" sz="1400" dirty="0">
                <a:solidFill>
                  <a:schemeClr val="tx1"/>
                </a:solidFill>
              </a:rPr>
              <a:t>Mendha Lekha (Gadchiroli, Maharashtra): 'Mawa Nate Mawa Raj'.</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Myth or Fact?</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A biome and an ecosystem mean exactly the same thing.</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Tropical rainforests are called a 'gene bank'.</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All deserts are hot.</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The Chipko Movement was inspired by the Bishnoi Movement.</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A GI tag tells us where a product comes from.</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Life on Earth</a:t>
            </a:r>
            <a:endParaRPr lang="en-US" sz="1800" dirty="0"/>
          </a:p>
        </p:txBody>
      </p:sp>
      <p:sp>
        <p:nvSpPr>
          <p:cNvPr id="5" name="branch 1 line"/>
          <p:cNvSpPr/>
          <p:nvPr/>
        </p:nvSpPr>
        <p:spPr>
          <a:xfrm>
            <a:off x="4114800" y="2103120"/>
            <a:ext cx="792328" cy="1691640"/>
          </a:xfrm>
          <a:prstGeom prst="line">
            <a:avLst/>
          </a:prstGeom>
          <a:noFill/>
          <a:ln w="25400">
            <a:solidFill>
              <a:srgbClr val="F2C14E"/>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Biomes</a:t>
            </a:r>
            <a:endParaRPr lang="en-US" sz="1600" dirty="0"/>
          </a:p>
          <a:p>
            <a:pPr indent="0" marL="0">
              <a:buNone/>
            </a:pPr>
            <a:r>
              <a:rPr lang="en-US" sz="1600" dirty="0">
                <a:solidFill>
                  <a:schemeClr val="tx1"/>
                </a:solidFill>
              </a:rPr>
              <a:t>Forest, grassland, desert, tundra; freshwater and marine</a:t>
            </a:r>
            <a:endParaRPr lang="en-US" sz="1600" dirty="0"/>
          </a:p>
        </p:txBody>
      </p:sp>
      <p:sp>
        <p:nvSpPr>
          <p:cNvPr id="8" name="branch 2 line"/>
          <p:cNvSpPr/>
          <p:nvPr/>
        </p:nvSpPr>
        <p:spPr>
          <a:xfrm>
            <a:off x="4114800" y="3794760"/>
            <a:ext cx="792328" cy="914"/>
          </a:xfrm>
          <a:prstGeom prst="line">
            <a:avLst/>
          </a:prstGeom>
          <a:noFill/>
          <a:ln w="25400">
            <a:solidFill>
              <a:srgbClr val="F2C14E"/>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Biome pyramid</a:t>
            </a:r>
            <a:endParaRPr lang="en-US" sz="1600" dirty="0"/>
          </a:p>
          <a:p>
            <a:pPr indent="0" marL="0">
              <a:buNone/>
            </a:pPr>
            <a:r>
              <a:rPr lang="en-US" sz="1600" dirty="0">
                <a:solidFill>
                  <a:schemeClr val="tx1"/>
                </a:solidFill>
              </a:rPr>
              <a:t>Producers to top predators; energy decreases upward</a:t>
            </a:r>
            <a:endParaRPr lang="en-US" sz="1600" dirty="0"/>
          </a:p>
        </p:txBody>
      </p:sp>
      <p:sp>
        <p:nvSpPr>
          <p:cNvPr id="11" name="branch 3 line"/>
          <p:cNvSpPr/>
          <p:nvPr/>
        </p:nvSpPr>
        <p:spPr>
          <a:xfrm flipV="1">
            <a:off x="4114800" y="3794760"/>
            <a:ext cx="792328" cy="1691640"/>
          </a:xfrm>
          <a:prstGeom prst="line">
            <a:avLst/>
          </a:prstGeom>
          <a:noFill/>
          <a:ln w="25400">
            <a:solidFill>
              <a:srgbClr val="F2C14E"/>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Biodiversity</a:t>
            </a:r>
            <a:endParaRPr lang="en-US" sz="1600" dirty="0"/>
          </a:p>
          <a:p>
            <a:pPr indent="0" marL="0">
              <a:buNone/>
            </a:pPr>
            <a:r>
              <a:rPr lang="en-US" sz="1600" dirty="0">
                <a:solidFill>
                  <a:schemeClr val="tx1"/>
                </a:solidFill>
              </a:rPr>
              <a:t>Hotspots, protected areas, corridors, sacred groves</a:t>
            </a:r>
            <a:endParaRPr lang="en-US" sz="1600" dirty="0"/>
          </a:p>
        </p:txBody>
      </p:sp>
      <p:sp>
        <p:nvSpPr>
          <p:cNvPr id="14" name="branch 4 line"/>
          <p:cNvSpPr/>
          <p:nvPr/>
        </p:nvSpPr>
        <p:spPr>
          <a:xfrm flipV="1">
            <a:off x="7284568" y="2103120"/>
            <a:ext cx="789584" cy="1691640"/>
          </a:xfrm>
          <a:prstGeom prst="line">
            <a:avLst/>
          </a:prstGeom>
          <a:noFill/>
          <a:ln w="25400">
            <a:solidFill>
              <a:srgbClr val="F2C14E"/>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Forests and livelihoods</a:t>
            </a:r>
            <a:endParaRPr lang="en-US" sz="1600" dirty="0"/>
          </a:p>
          <a:p>
            <a:pPr indent="0" marL="0">
              <a:buNone/>
            </a:pPr>
            <a:r>
              <a:rPr lang="en-US" sz="1600" dirty="0">
                <a:solidFill>
                  <a:schemeClr val="tx1"/>
                </a:solidFill>
              </a:rPr>
              <a:t>NTFPs, ecotourism, GI tags, forest dwellers</a:t>
            </a:r>
            <a:endParaRPr lang="en-US" sz="1600" dirty="0"/>
          </a:p>
        </p:txBody>
      </p:sp>
      <p:sp>
        <p:nvSpPr>
          <p:cNvPr id="17" name="branch 5 line"/>
          <p:cNvSpPr/>
          <p:nvPr/>
        </p:nvSpPr>
        <p:spPr>
          <a:xfrm>
            <a:off x="7284568" y="3794760"/>
            <a:ext cx="789584" cy="914"/>
          </a:xfrm>
          <a:prstGeom prst="line">
            <a:avLst/>
          </a:prstGeom>
          <a:noFill/>
          <a:ln w="25400">
            <a:solidFill>
              <a:srgbClr val="F2C14E"/>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Challenges and support</a:t>
            </a:r>
            <a:endParaRPr lang="en-US" sz="1600" dirty="0"/>
          </a:p>
          <a:p>
            <a:pPr indent="0" marL="0">
              <a:buNone/>
            </a:pPr>
            <a:r>
              <a:rPr lang="en-US" sz="1600" dirty="0">
                <a:solidFill>
                  <a:schemeClr val="tx1"/>
                </a:solidFill>
              </a:rPr>
              <a:t>Fires, conflict, low prices; FRA, JFM, PESA, PM JANMAN</a:t>
            </a:r>
            <a:endParaRPr lang="en-US" sz="1600" dirty="0"/>
          </a:p>
        </p:txBody>
      </p:sp>
      <p:sp>
        <p:nvSpPr>
          <p:cNvPr id="20" name="branch 6 line"/>
          <p:cNvSpPr/>
          <p:nvPr/>
        </p:nvSpPr>
        <p:spPr>
          <a:xfrm>
            <a:off x="7284568" y="3794760"/>
            <a:ext cx="789584" cy="1691640"/>
          </a:xfrm>
          <a:prstGeom prst="line">
            <a:avLst/>
          </a:prstGeom>
          <a:noFill/>
          <a:ln w="25400">
            <a:solidFill>
              <a:srgbClr val="F2C14E"/>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Ecological commons</a:t>
            </a:r>
            <a:endParaRPr lang="en-US" sz="1600" dirty="0"/>
          </a:p>
          <a:p>
            <a:pPr indent="0" marL="0">
              <a:buNone/>
            </a:pPr>
            <a:r>
              <a:rPr lang="en-US" sz="1600" dirty="0">
                <a:solidFill>
                  <a:schemeClr val="tx1"/>
                </a:solidFill>
              </a:rPr>
              <a:t>Mendha Lekha, Bihar fisheries, traditional tanks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Make a map of our state showing </a:t>
            </a:r>
            <a:r>
              <a:rPr lang="en-US" sz="1500" b="1" dirty="0">
                <a:solidFill>
                  <a:schemeClr val="bg1"/>
                </a:solidFill>
              </a:rPr>
              <a:t>national parks and sanctuaries</a:t>
            </a:r>
            <a:r>
              <a:rPr lang="en-US" sz="1500" dirty="0">
                <a:solidFill>
                  <a:schemeClr val="bg1"/>
                </a:solidFill>
              </a:rPr>
              <a:t>.</a:t>
            </a:r>
            <a:endParaRPr lang="en-US" sz="1600" dirty="0"/>
          </a:p>
          <a:p>
            <a:pPr marL="228600" indent="-228600">
              <a:spcAft>
                <a:spcPts val="1000"/>
              </a:spcAft>
              <a:buSzPct val="100000"/>
              <a:buChar char="•"/>
            </a:pPr>
            <a:r>
              <a:rPr lang="en-US" sz="1500" dirty="0">
                <a:solidFill>
                  <a:schemeClr val="bg1"/>
                </a:solidFill>
              </a:rPr>
              <a:t>List </a:t>
            </a:r>
            <a:r>
              <a:rPr lang="en-US" sz="1500" b="1" dirty="0">
                <a:solidFill>
                  <a:schemeClr val="bg1"/>
                </a:solidFill>
              </a:rPr>
              <a:t>economically valuable native plants</a:t>
            </a:r>
            <a:r>
              <a:rPr lang="en-US" sz="1500" dirty="0">
                <a:solidFill>
                  <a:schemeClr val="bg1"/>
                </a:solidFill>
              </a:rPr>
              <a:t> in your region and note how common they are.</a:t>
            </a:r>
            <a:endParaRPr lang="en-US" sz="1600" dirty="0"/>
          </a:p>
          <a:p>
            <a:pPr marL="228600" indent="-228600">
              <a:spcAft>
                <a:spcPts val="1000"/>
              </a:spcAft>
              <a:buSzPct val="100000"/>
              <a:buChar char="•"/>
            </a:pPr>
            <a:r>
              <a:rPr lang="en-US" sz="1500" dirty="0">
                <a:solidFill>
                  <a:schemeClr val="bg1"/>
                </a:solidFill>
              </a:rPr>
              <a:t>Ask grandparents about </a:t>
            </a:r>
            <a:r>
              <a:rPr lang="en-US" sz="1500" b="1" dirty="0">
                <a:solidFill>
                  <a:schemeClr val="bg1"/>
                </a:solidFill>
              </a:rPr>
              <a:t>traditional forest conservation</a:t>
            </a:r>
            <a:r>
              <a:rPr lang="en-US" sz="1500" dirty="0">
                <a:solidFill>
                  <a:schemeClr val="bg1"/>
                </a:solidFill>
              </a:rPr>
              <a:t> methods.</a:t>
            </a:r>
            <a:endParaRPr lang="en-US" sz="1600" dirty="0"/>
          </a:p>
          <a:p>
            <a:pPr marL="228600" indent="-228600">
              <a:spcAft>
                <a:spcPts val="1000"/>
              </a:spcAft>
              <a:buSzPct val="100000"/>
              <a:buChar char="•"/>
            </a:pPr>
            <a:r>
              <a:rPr lang="en-US" sz="1500" dirty="0">
                <a:solidFill>
                  <a:schemeClr val="bg1"/>
                </a:solidFill>
              </a:rPr>
              <a:t>Prepare a </a:t>
            </a:r>
            <a:r>
              <a:rPr lang="en-US" sz="1500" b="1" dirty="0">
                <a:solidFill>
                  <a:schemeClr val="bg1"/>
                </a:solidFill>
              </a:rPr>
              <a:t>forest fire prevention and mitigation plan</a:t>
            </a:r>
            <a:r>
              <a:rPr lang="en-US" sz="1500" dirty="0">
                <a:solidFill>
                  <a:schemeClr val="bg1"/>
                </a:solidFill>
              </a:rPr>
              <a:t>.</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Forests are the lungs of the Earth: protect them, and they protect us.</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AF3E6"/>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Life on Earth">
  <a:themeElements>
    <a:clrScheme name="Life on Earth">
      <a:dk1>
        <a:srgbClr val="1F2328"/>
      </a:dk1>
      <a:lt1>
        <a:srgbClr val="FFFFFF"/>
      </a:lt1>
      <a:dk2>
        <a:srgbClr val="1F3D2B"/>
      </a:dk2>
      <a:lt2>
        <a:srgbClr val="EAF3E6"/>
      </a:lt2>
      <a:accent1>
        <a:srgbClr val="2E7D4F"/>
      </a:accent1>
      <a:accent2>
        <a:srgbClr val="A0522D"/>
      </a:accent2>
      <a:accent3>
        <a:srgbClr val="F2C14E"/>
      </a:accent3>
      <a:accent4>
        <a:srgbClr val="3E7CB1"/>
      </a:accent4>
      <a:accent5>
        <a:srgbClr val="5E8C31"/>
      </a:accent5>
      <a:accent6>
        <a:srgbClr val="8E5572"/>
      </a:accent6>
      <a:hlink>
        <a:srgbClr val="0563C1"/>
      </a:hlink>
      <a:folHlink>
        <a:srgbClr val="954F72"/>
      </a:folHlink>
    </a:clrScheme>
    <a:fontScheme name="Life on Eart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Edubytez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Edubytez | Grade 9 Social Science | Chapter 2: Life on Earth</dc:title>
  <dc:subject>Understanding Society: India and Beyond, Grade 9 Part 2</dc:subject>
  <dc:creator>Edubytez</dc:creator>
  <cp:lastModifiedBy>Edubytez</cp:lastModifiedBy>
  <cp:revision>1</cp:revision>
  <dcterms:created xsi:type="dcterms:W3CDTF">2026-10-09T15:57:26Z</dcterms:created>
  <dcterms:modified xsi:type="dcterms:W3CDTF">2026-10-09T15:57:26Z</dcterms:modified>
</cp:coreProperties>
</file>