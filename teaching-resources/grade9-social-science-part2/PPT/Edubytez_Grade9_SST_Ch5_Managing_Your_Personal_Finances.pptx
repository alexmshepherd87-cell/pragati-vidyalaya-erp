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3e29c21-d02e-3805-51a8-eebbb68ad93b}">
          <p14:sldIdLst>
            <p14:sldId id="256"/>
            <p14:sldId id="257"/>
            <p14:sldId id="258"/>
          </p14:sldIdLst>
        </p14:section>
        <p14:section name="The Five Pillars" id="{e0e89626-55d4-e8d9-d8aa-72acb630e254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Investing and Protection" id="{cc14b08f-c339-a613-1fea-c2a13f85f826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Taxes" id="{cef6dbb1-375c-2c1f-b848-20b13b68a5ea}">
          <p14:sldIdLst>
            <p14:sldId id="273"/>
            <p14:sldId id="274"/>
            <p14:sldId id="275"/>
            <p14:sldId id="276"/>
          </p14:sldIdLst>
        </p14:section>
        <p14:section name="Review" id="{cc9fcb59-bc74-1a4a-bb9d-16c0b8675345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D3E"/>
                </a:solidFill>
                <a:latin typeface="+mn-lt"/>
              </a:rPr>
              <a:t>Saving ₹1,000 every year at 7% (value in ₹ by age)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Bhavisha (starts at 25)</c:v>
                </c:pt>
              </c:strCache>
            </c:strRef>
          </c:tx>
          <c:spPr>
            <a:solidFill>
              <a:srgbClr val="137C6B"/>
            </a:solidFill>
            <a:ln w="38100" cap="flat">
              <a:solidFill>
                <a:srgbClr val="137C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37C6B"/>
              </a:solidFill>
              <a:ln w="9525" cap="flat">
                <a:solidFill>
                  <a:srgbClr val="137C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25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30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35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40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45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50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55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60</c:v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65</c:v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</c:v>
                </c:pt>
                <c:pt idx="1">
                  <c:v>1000</c:v>
                </c:pt>
                <c:pt idx="2">
                  <c:v>2070</c:v>
                </c:pt>
                <c:pt idx="3">
                  <c:v>3215</c:v>
                </c:pt>
                <c:pt idx="4">
                  <c:v>4440</c:v>
                </c:pt>
                <c:pt idx="5">
                  <c:v>5751</c:v>
                </c:pt>
                <c:pt idx="6">
                  <c:v>7153</c:v>
                </c:pt>
                <c:pt idx="7">
                  <c:v>8654</c:v>
                </c:pt>
                <c:pt idx="8">
                  <c:v>10260</c:v>
                </c:pt>
                <c:pt idx="9">
                  <c:v>11978</c:v>
                </c:pt>
                <c:pt idx="10">
                  <c:v>13816</c:v>
                </c:pt>
                <c:pt idx="11">
                  <c:v>15784</c:v>
                </c:pt>
                <c:pt idx="12">
                  <c:v>17888</c:v>
                </c:pt>
                <c:pt idx="13">
                  <c:v>20141</c:v>
                </c:pt>
                <c:pt idx="14">
                  <c:v>22550</c:v>
                </c:pt>
                <c:pt idx="15">
                  <c:v>25129</c:v>
                </c:pt>
                <c:pt idx="16">
                  <c:v>27888</c:v>
                </c:pt>
                <c:pt idx="17">
                  <c:v>30840</c:v>
                </c:pt>
                <c:pt idx="18">
                  <c:v>33999</c:v>
                </c:pt>
                <c:pt idx="19">
                  <c:v>37379</c:v>
                </c:pt>
                <c:pt idx="20">
                  <c:v>40995</c:v>
                </c:pt>
                <c:pt idx="21">
                  <c:v>44865</c:v>
                </c:pt>
                <c:pt idx="22">
                  <c:v>49006</c:v>
                </c:pt>
                <c:pt idx="23">
                  <c:v>53436</c:v>
                </c:pt>
                <c:pt idx="24">
                  <c:v>58177</c:v>
                </c:pt>
                <c:pt idx="25">
                  <c:v>63249</c:v>
                </c:pt>
                <c:pt idx="26">
                  <c:v>68676</c:v>
                </c:pt>
                <c:pt idx="27">
                  <c:v>74484</c:v>
                </c:pt>
                <c:pt idx="28">
                  <c:v>80698</c:v>
                </c:pt>
                <c:pt idx="29">
                  <c:v>87347</c:v>
                </c:pt>
                <c:pt idx="30">
                  <c:v>94461</c:v>
                </c:pt>
                <c:pt idx="31">
                  <c:v>102073</c:v>
                </c:pt>
                <c:pt idx="32">
                  <c:v>110218</c:v>
                </c:pt>
                <c:pt idx="33">
                  <c:v>118933</c:v>
                </c:pt>
                <c:pt idx="34">
                  <c:v>128259</c:v>
                </c:pt>
                <c:pt idx="35">
                  <c:v>138237</c:v>
                </c:pt>
                <c:pt idx="36">
                  <c:v>148913</c:v>
                </c:pt>
                <c:pt idx="37">
                  <c:v>160337</c:v>
                </c:pt>
                <c:pt idx="38">
                  <c:v>172561</c:v>
                </c:pt>
                <c:pt idx="39">
                  <c:v>185640</c:v>
                </c:pt>
                <c:pt idx="40">
                  <c:v>199635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Dhruv (starts at 35)</c:v>
                </c:pt>
              </c:strCache>
            </c:strRef>
          </c:tx>
          <c:spPr>
            <a:solidFill>
              <a:srgbClr val="8A5A0B"/>
            </a:solidFill>
            <a:ln w="38100" cap="flat">
              <a:solidFill>
                <a:srgbClr val="8A5A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A5A0B"/>
              </a:solidFill>
              <a:ln w="9525" cap="flat">
                <a:solidFill>
                  <a:srgbClr val="8A5A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25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30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35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40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45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50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55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60</c:v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65</c:v>
                  </c:pt>
                </c:lvl>
              </c:multiLvlStrCache>
            </c:multiLvl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1000</c:v>
                </c:pt>
                <c:pt idx="12">
                  <c:v>2070</c:v>
                </c:pt>
                <c:pt idx="13">
                  <c:v>3215</c:v>
                </c:pt>
                <c:pt idx="14">
                  <c:v>4440</c:v>
                </c:pt>
                <c:pt idx="15">
                  <c:v>5751</c:v>
                </c:pt>
                <c:pt idx="16">
                  <c:v>7153</c:v>
                </c:pt>
                <c:pt idx="17">
                  <c:v>8654</c:v>
                </c:pt>
                <c:pt idx="18">
                  <c:v>10260</c:v>
                </c:pt>
                <c:pt idx="19">
                  <c:v>11978</c:v>
                </c:pt>
                <c:pt idx="20">
                  <c:v>13816</c:v>
                </c:pt>
                <c:pt idx="21">
                  <c:v>15784</c:v>
                </c:pt>
                <c:pt idx="22">
                  <c:v>17888</c:v>
                </c:pt>
                <c:pt idx="23">
                  <c:v>20141</c:v>
                </c:pt>
                <c:pt idx="24">
                  <c:v>22550</c:v>
                </c:pt>
                <c:pt idx="25">
                  <c:v>25129</c:v>
                </c:pt>
                <c:pt idx="26">
                  <c:v>27888</c:v>
                </c:pt>
                <c:pt idx="27">
                  <c:v>30840</c:v>
                </c:pt>
                <c:pt idx="28">
                  <c:v>33999</c:v>
                </c:pt>
                <c:pt idx="29">
                  <c:v>37379</c:v>
                </c:pt>
                <c:pt idx="30">
                  <c:v>40995</c:v>
                </c:pt>
                <c:pt idx="31">
                  <c:v>44865</c:v>
                </c:pt>
                <c:pt idx="32">
                  <c:v>49006</c:v>
                </c:pt>
                <c:pt idx="33">
                  <c:v>53436</c:v>
                </c:pt>
                <c:pt idx="34">
                  <c:v>58177</c:v>
                </c:pt>
                <c:pt idx="35">
                  <c:v>63249</c:v>
                </c:pt>
                <c:pt idx="36">
                  <c:v>68676</c:v>
                </c:pt>
                <c:pt idx="37">
                  <c:v>74484</c:v>
                </c:pt>
                <c:pt idx="38">
                  <c:v>80698</c:v>
                </c:pt>
                <c:pt idx="39">
                  <c:v>87347</c:v>
                </c:pt>
                <c:pt idx="40">
                  <c:v>94461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F3D3E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F3D3E"/>
                    </a:solidFill>
                    <a:latin typeface="Arial"/>
                  </a:rPr>
                  <a:t>Age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3D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5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3D3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F232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money journey starts in childhood with pocket money and gifts. This chapter helps students make smart decisions about spending, saving, investing, protecting money and paying taxes.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answers on the board in three columns: Spend, Save, Grow. Ask: Do you agree that we should 'save first and spend what is left'? Can people with low income also save? (Yes, even small amounts, regularly.)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 finance means planning and managing an individual's money: how much to spend, save, where to invest, and how to prepare for the future. Ask students to stand up as 'pillars'; if one sits down (e.g. no protection), what happens to the roof?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About It: What skill could you use to earn money one day? Income is the starting point: without it, we cannot spend, save or invest.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budget is a written plan to balance income and expenses. It controls impulse shopping and helps us live within our means. Think About It: You need new badminton rackets. Would you cut other expenses, use savings or borrow?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Textbook Q3. Use the template in the activity book. Ask pairs to share their hardest trade-off: this builds the idea of opportunity cost from Part 1 ('The Problem of Choice').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Priya and Sameer are responsible, but only Sameer's money grows faster than inflation. Key terms: liquidity, inflation, purchasing power.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Explore: Why are the curves flat at first and steep later? (Returns earn returns: compounding grows over time.) Ask students to find the fixed deposit rates at their parents'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About It: Why do mutual fund ads say 'Mutual fund investments are subject to market risks'? (Returns are not guaranteed; investors can lose money.) Let's Analyse: The BSE SENSEX tracks 30 large companies; it fluctuates in the short run but has risen over the long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Higher risk does not guarantee higher returns; it only offers the possibility. Ask: Is taking higher risk always best? (No: it depends on goals, risk tolerance and time horizon.)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answers: Dadi: FDs or government bonds/small savings (low risk). Rohan: stocks or equity mutual funds (long time horizon can absorb ups and downs). Meera: savings account or short FD (liquidity, low risk). Kabir: mutual funds (professional management, diversification).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a family pays ₹500 a month for health insurance; when someone is hospitalised, the insurer pays most of the bill instead of the family's savings. Textbook Q8: Why buy insurance even if a loss may never happen? (Peace of mind and protection of savings.)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30 students the pool is ₹300; it pays ₹240 and ₹60 remains (the insurer's costs/profit). Without insurance, each unlucky student would pay ₹120 alone: 12 times their premium.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EMI (equated monthly instalment) includes part of the principal and the interest. Why might a family still choose EMI? (No lump sum available; urgent need.) Can too many EMIs affect emergency funds? (Yes.)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Paying taxes honestly and on time is every citizen's responsibility; it funds public services and national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slab is taxed at its own rate, not the whole income at the highest rate. Standard deduction: a fixed amount (₹75,000) that salaried people and pensioners subtract before calculating tax. Teacher's note: in real life, a rebate (Section 87A) means no tax for resident individuals with taxable income up to ₹12 lakh under the new regime; the textbook keeps its examples simple, so we follow its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Sai: Nil (below ₹4 lakh). Arjun: 0 + 20,000 + 40,000 + 60,000 = ₹1,20,000. Ravi: taxable ₹15,00,000; 0 + 20,000 + 40,000 + 45,000 (15% of ₹3,00,000) = ₹1,05,000.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Q1: C, Q2: C, Q3: B, Q4: B. Let students vote with fingers (1-4) or A/B/C/D cards before revealing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why each wrong option is wrong. Ask: Which question was the trickiest, and why?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Textbook Q9. Answer: A = 30,000 × (1.08)⁵ = 30,000 × 1.4693 = ₹44,079.84; interest = ₹14,079.84. Pie chart: each ₹1,000 = 3.6 degrees.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stand up for FACT and stay seated for MYTH (or show thumbs up/down).
Answers:
1. MYTH: Inflation reduces its purchasing power.
2. MYTH: Higher risk only offers the possibility of higher returns; losses can happen.
3. FACT: Many people pay premiums into a common pool.
4. FACT: Higher income slabs are taxed at higher rates.
5. MYTH: Managing money wisely matters at every income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ask a different student to explain each branch in one sentence, in their own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out sticky notes or half-sheets for the 3-2-1 exit ticket. Collect them at the door and use the questions to plan the next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43000"/>
            <a:ext cx="69494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691640"/>
            <a:ext cx="694944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6908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bg1"/>
                </a:solidFill>
              </a:rPr>
              <a:t>EDUBYTEZ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548640" y="64190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Edubytez</a:t>
            </a:r>
            <a:endParaRPr lang="en-US" sz="1000" dirty="0"/>
          </a:p>
        </p:txBody>
      </p:sp>
      <p:sp>
        <p:nvSpPr>
          <p:cNvPr id="7" name="Text 2"/>
          <p:cNvSpPr/>
          <p:nvPr/>
        </p:nvSpPr>
        <p:spPr>
          <a:xfrm>
            <a:off x="109728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|   Grade 9 Social Science  ·  Chapter 5: Managing Your Personal Finances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300" kern="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14600"/>
            <a:ext cx="7772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69080"/>
            <a:ext cx="7772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190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Edubytez</a:t>
            </a:r>
            <a:endParaRPr lang="en-US" sz="1000" dirty="0"/>
          </a:p>
        </p:txBody>
      </p:sp>
      <p:sp>
        <p:nvSpPr>
          <p:cNvPr id="6" name="Text 1"/>
          <p:cNvSpPr/>
          <p:nvPr/>
        </p:nvSpPr>
        <p:spPr>
          <a:xfrm>
            <a:off x="109728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|   Grade 9 Social Science  ·  Chapter 5: Managing Your Personal Finances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Edubytez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9728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|   Grade 9 Social Science  ·  Chapter 5: Managing Your Personal Finances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Edubytez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9728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|   Grade 9 Social Science  ·  Chapter 5: Managing Your Personal Finances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Edubytez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9728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|   Grade 9 Social Science  ·  Chapter 5: Managing Your Personal Finances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6F2E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43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3"/>
                </a:solidFill>
              </a:rPr>
              <a:t>CHAPTER 5  ·  ECONOMICS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69164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Managing Your Personal Finances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690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Understanding Society: India and Beyond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Grade 9, Part 2</a:t>
            </a:r>
            <a:endParaRPr lang="en-US" sz="1800" dirty="0"/>
          </a:p>
        </p:txBody>
      </p:sp>
      <p:sp>
        <p:nvSpPr>
          <p:cNvPr id="5" name="hero disc"/>
          <p:cNvSpPr/>
          <p:nvPr/>
        </p:nvSpPr>
        <p:spPr>
          <a:xfrm>
            <a:off x="8001000" y="1234440"/>
            <a:ext cx="3566160" cy="356616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6" name="her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2057400"/>
            <a:ext cx="1920240" cy="1920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80960" y="50749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bg2"/>
                </a:solidFill>
              </a:rPr>
              <a:t>Small choices today, big freedom tomorrow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Let's Begin: The ₹100 Challenge</a:t>
            </a:r>
            <a:endParaRPr lang="en-US" sz="3600" dirty="0"/>
          </a:p>
        </p:txBody>
      </p:sp>
      <p:sp>
        <p:nvSpPr>
          <p:cNvPr id="3" name="hook prompt card"/>
          <p:cNvSpPr/>
          <p:nvPr/>
        </p:nvSpPr>
        <p:spPr>
          <a:xfrm>
            <a:off x="548640" y="1371600"/>
            <a:ext cx="6766560" cy="475488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hook disc"/>
          <p:cNvSpPr/>
          <p:nvPr/>
        </p:nvSpPr>
        <p:spPr>
          <a:xfrm>
            <a:off x="868680" y="16916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hook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" y="1872691"/>
            <a:ext cx="460858" cy="4608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874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30-SECOND DECISION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7432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Nani gives you ₹100. Will you spend it, save it, or grow it? Decide in 30 seconds!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61772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Write: Spend ₹___ · Save ₹___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Is your spending on a need or a want?</a:t>
            </a:r>
            <a:endParaRPr lang="en-US" sz="1600" dirty="0"/>
          </a:p>
        </p:txBody>
      </p:sp>
      <p:sp>
        <p:nvSpPr>
          <p:cNvPr id="9" name="did you know card"/>
          <p:cNvSpPr/>
          <p:nvPr/>
        </p:nvSpPr>
        <p:spPr>
          <a:xfrm>
            <a:off x="7635240" y="1371600"/>
            <a:ext cx="3977640" cy="475488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69164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41080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Did you know?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55280" y="246888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If prices rise 6% a year, a ₹1,000 school bag may cost about ₹1,060 next year.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Money in a gullak (piggy bank) stays the same, but prices keep rising.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Starting to save 10 years earlier can give more than double the money by age 65.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Big Questions</a:t>
            </a:r>
            <a:endParaRPr lang="en-US" sz="3600" dirty="0"/>
          </a:p>
        </p:txBody>
      </p:sp>
      <p:sp>
        <p:nvSpPr>
          <p:cNvPr id="3" name="question 1 card"/>
          <p:cNvSpPr/>
          <p:nvPr/>
        </p:nvSpPr>
        <p:spPr>
          <a:xfrm>
            <a:off x="548640" y="1371600"/>
            <a:ext cx="110642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1 badge"/>
          <p:cNvSpPr/>
          <p:nvPr/>
        </p:nvSpPr>
        <p:spPr>
          <a:xfrm>
            <a:off x="731520" y="149504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950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37160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What is personal finance and why is it important for individuals?</a:t>
            </a:r>
            <a:endParaRPr lang="en-US" sz="1800" dirty="0"/>
          </a:p>
        </p:txBody>
      </p:sp>
      <p:sp>
        <p:nvSpPr>
          <p:cNvPr id="7" name="question 2 card"/>
          <p:cNvSpPr/>
          <p:nvPr/>
        </p:nvSpPr>
        <p:spPr>
          <a:xfrm>
            <a:off x="548640" y="2286000"/>
            <a:ext cx="110642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q2 badge"/>
          <p:cNvSpPr/>
          <p:nvPr/>
        </p:nvSpPr>
        <p:spPr>
          <a:xfrm>
            <a:off x="731520" y="240944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4094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28600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What are the pillars of personal finance?</a:t>
            </a:r>
            <a:endParaRPr lang="en-US" sz="1800" dirty="0"/>
          </a:p>
        </p:txBody>
      </p:sp>
      <p:sp>
        <p:nvSpPr>
          <p:cNvPr id="11" name="question 3 card"/>
          <p:cNvSpPr/>
          <p:nvPr/>
        </p:nvSpPr>
        <p:spPr>
          <a:xfrm>
            <a:off x="548640" y="3200400"/>
            <a:ext cx="110642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q3 badge"/>
          <p:cNvSpPr/>
          <p:nvPr/>
        </p:nvSpPr>
        <p:spPr>
          <a:xfrm>
            <a:off x="731520" y="332384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3238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20040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What are some common savings and investment options?</a:t>
            </a:r>
            <a:endParaRPr lang="en-US" sz="1800" dirty="0"/>
          </a:p>
        </p:txBody>
      </p:sp>
      <p:sp>
        <p:nvSpPr>
          <p:cNvPr id="15" name="question 4 card"/>
          <p:cNvSpPr/>
          <p:nvPr/>
        </p:nvSpPr>
        <p:spPr>
          <a:xfrm>
            <a:off x="548640" y="4114800"/>
            <a:ext cx="110642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q4 badge"/>
          <p:cNvSpPr/>
          <p:nvPr/>
        </p:nvSpPr>
        <p:spPr>
          <a:xfrm>
            <a:off x="731520" y="423824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2382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11480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How can you protect your savings and assets?</a:t>
            </a:r>
            <a:endParaRPr lang="en-US" sz="1800" dirty="0"/>
          </a:p>
        </p:txBody>
      </p:sp>
      <p:sp>
        <p:nvSpPr>
          <p:cNvPr id="19" name="question 5 card"/>
          <p:cNvSpPr/>
          <p:nvPr/>
        </p:nvSpPr>
        <p:spPr>
          <a:xfrm>
            <a:off x="548640" y="5029200"/>
            <a:ext cx="110642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q5 badge"/>
          <p:cNvSpPr/>
          <p:nvPr/>
        </p:nvSpPr>
        <p:spPr>
          <a:xfrm>
            <a:off x="731520" y="515264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1526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02920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What is income tax?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bg2"/>
                </a:solidFill>
              </a:rPr>
              <a:t>PART 1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Personal Finance: Earn, Plan, Save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690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Planning and managing money to meet needs, wants and future goals.</a:t>
            </a:r>
            <a:endParaRPr lang="en-US" sz="1800" dirty="0"/>
          </a:p>
        </p:txBody>
      </p:sp>
      <p:sp>
        <p:nvSpPr>
          <p:cNvPr id="5" name="section disc"/>
          <p:cNvSpPr/>
          <p:nvPr/>
        </p:nvSpPr>
        <p:spPr>
          <a:xfrm>
            <a:off x="9006840" y="1828800"/>
            <a:ext cx="2560320" cy="256032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6" name="se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42316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Five Pillars of Personal Finance</a:t>
            </a:r>
            <a:endParaRPr lang="en-US" sz="3600" dirty="0"/>
          </a:p>
        </p:txBody>
      </p:sp>
      <p:sp>
        <p:nvSpPr>
          <p:cNvPr id="3" name="roof"/>
          <p:cNvSpPr/>
          <p:nvPr/>
        </p:nvSpPr>
        <p:spPr>
          <a:xfrm>
            <a:off x="822960" y="1280160"/>
            <a:ext cx="10543032" cy="868680"/>
          </a:xfrm>
          <a:custGeom>
            <a:avLst/>
            <a:gdLst/>
            <a:ahLst/>
            <a:cxnLst/>
            <a:rect l="l" t="t" r="r" b="b"/>
            <a:pathLst>
              <a:path w="10543032" h="868680">
                <a:moveTo>
                  <a:pt x="0" y="868680"/>
                </a:moveTo>
                <a:lnTo>
                  <a:pt x="5271516" y="0"/>
                </a:lnTo>
                <a:lnTo>
                  <a:pt x="10543032" y="868680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0" y="164592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chemeClr val="accent3"/>
                </a:solidFill>
              </a:rPr>
              <a:t>FINANCIAL SECURITY</a:t>
            </a:r>
            <a:endParaRPr lang="en-US" sz="1800" dirty="0"/>
          </a:p>
        </p:txBody>
      </p:sp>
      <p:sp>
        <p:nvSpPr>
          <p:cNvPr id="5" name="Income pillar"/>
          <p:cNvSpPr/>
          <p:nvPr/>
        </p:nvSpPr>
        <p:spPr>
          <a:xfrm>
            <a:off x="1005840" y="2286000"/>
            <a:ext cx="1920240" cy="34290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ncome disc"/>
          <p:cNvSpPr/>
          <p:nvPr/>
        </p:nvSpPr>
        <p:spPr>
          <a:xfrm>
            <a:off x="1600200" y="24688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ncome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1134" y="2629814"/>
            <a:ext cx="409651" cy="40965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Income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3749040"/>
            <a:ext cx="1645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Money you receive: salary, business income, rent, interest</a:t>
            </a:r>
            <a:endParaRPr lang="en-US" sz="1500" dirty="0"/>
          </a:p>
        </p:txBody>
      </p:sp>
      <p:sp>
        <p:nvSpPr>
          <p:cNvPr id="10" name="Budgeting pillar"/>
          <p:cNvSpPr/>
          <p:nvPr/>
        </p:nvSpPr>
        <p:spPr>
          <a:xfrm>
            <a:off x="3070098" y="2286000"/>
            <a:ext cx="1920240" cy="34290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udgeting disc"/>
          <p:cNvSpPr/>
          <p:nvPr/>
        </p:nvSpPr>
        <p:spPr>
          <a:xfrm>
            <a:off x="3664458" y="24688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Budgeting 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392" y="262981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161538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Budgeting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207258" y="3749040"/>
            <a:ext cx="1645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Plan how much to spend and save; needs before wants</a:t>
            </a:r>
            <a:endParaRPr lang="en-US" sz="1500" dirty="0"/>
          </a:p>
        </p:txBody>
      </p:sp>
      <p:sp>
        <p:nvSpPr>
          <p:cNvPr id="15" name="Saving pillar"/>
          <p:cNvSpPr/>
          <p:nvPr/>
        </p:nvSpPr>
        <p:spPr>
          <a:xfrm>
            <a:off x="5134356" y="2286000"/>
            <a:ext cx="1920240" cy="34290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aving disc"/>
          <p:cNvSpPr/>
          <p:nvPr/>
        </p:nvSpPr>
        <p:spPr>
          <a:xfrm>
            <a:off x="5728716" y="24688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Saving 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650" y="2629814"/>
            <a:ext cx="409651" cy="40965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25796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Saving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271516" y="3749040"/>
            <a:ext cx="1645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Set money aside for future needs and emergencies</a:t>
            </a:r>
            <a:endParaRPr lang="en-US" sz="1500" dirty="0"/>
          </a:p>
        </p:txBody>
      </p:sp>
      <p:sp>
        <p:nvSpPr>
          <p:cNvPr id="20" name="Investing pillar"/>
          <p:cNvSpPr/>
          <p:nvPr/>
        </p:nvSpPr>
        <p:spPr>
          <a:xfrm>
            <a:off x="7198614" y="2286000"/>
            <a:ext cx="1920240" cy="34290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nvesting disc"/>
          <p:cNvSpPr/>
          <p:nvPr/>
        </p:nvSpPr>
        <p:spPr>
          <a:xfrm>
            <a:off x="7792974" y="24688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nvesting 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3908" y="2629814"/>
            <a:ext cx="409651" cy="40965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90054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Investing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7335774" y="3749040"/>
            <a:ext cx="1645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Put savings in assets like FDs, stocks, mutual funds to grow</a:t>
            </a:r>
            <a:endParaRPr lang="en-US" sz="1500" dirty="0"/>
          </a:p>
        </p:txBody>
      </p:sp>
      <p:sp>
        <p:nvSpPr>
          <p:cNvPr id="25" name="Protection pillar"/>
          <p:cNvSpPr/>
          <p:nvPr/>
        </p:nvSpPr>
        <p:spPr>
          <a:xfrm>
            <a:off x="9262872" y="2286000"/>
            <a:ext cx="1920240" cy="34290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Protection disc"/>
          <p:cNvSpPr/>
          <p:nvPr/>
        </p:nvSpPr>
        <p:spPr>
          <a:xfrm>
            <a:off x="9857232" y="24688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Protection glyp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8166" y="2629814"/>
            <a:ext cx="409651" cy="409651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354312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Protection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9400032" y="3749040"/>
            <a:ext cx="1645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Insurance and careful borrowing guard against risks</a:t>
            </a:r>
            <a:endParaRPr lang="en-US" sz="1500" dirty="0"/>
          </a:p>
        </p:txBody>
      </p:sp>
      <p:sp>
        <p:nvSpPr>
          <p:cNvPr id="30" name="base"/>
          <p:cNvSpPr/>
          <p:nvPr/>
        </p:nvSpPr>
        <p:spPr>
          <a:xfrm>
            <a:off x="822960" y="5806440"/>
            <a:ext cx="10543032" cy="4572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822960" y="58064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Base: smart money decisions, starting young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Income: Where Does Money Come From?</a:t>
            </a:r>
            <a:endParaRPr lang="en-US" sz="3600" dirty="0"/>
          </a:p>
        </p:txBody>
      </p:sp>
      <p:sp>
        <p:nvSpPr>
          <p:cNvPr id="3" name="card 1"/>
          <p:cNvSpPr/>
          <p:nvPr/>
        </p:nvSpPr>
        <p:spPr>
          <a:xfrm>
            <a:off x="548640" y="1371600"/>
            <a:ext cx="35052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 1 disc"/>
          <p:cNvSpPr/>
          <p:nvPr/>
        </p:nvSpPr>
        <p:spPr>
          <a:xfrm>
            <a:off x="777240" y="16002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card 1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1724924"/>
            <a:ext cx="317480" cy="317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81328" y="1600200"/>
            <a:ext cx="2343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Salary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76856"/>
            <a:ext cx="30480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teacher earns a monthly salary.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28160" y="1371600"/>
            <a:ext cx="35052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d 2 disc"/>
          <p:cNvSpPr/>
          <p:nvPr/>
        </p:nvSpPr>
        <p:spPr>
          <a:xfrm>
            <a:off x="4556760" y="16002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card 2 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484" y="172492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60848" y="1600200"/>
            <a:ext cx="2343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Profit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56760" y="2276856"/>
            <a:ext cx="30480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shopkeeper earns profit from a business.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07680" y="1371600"/>
            <a:ext cx="35052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ard 3 disc"/>
          <p:cNvSpPr/>
          <p:nvPr/>
        </p:nvSpPr>
        <p:spPr>
          <a:xfrm>
            <a:off x="8336280" y="160020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card 3 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004" y="172492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40368" y="1600200"/>
            <a:ext cx="2343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Rent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36280" y="2276856"/>
            <a:ext cx="30480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person earns rent by letting out property.</a:t>
            </a:r>
            <a:endParaRPr lang="en-US" sz="1600" dirty="0"/>
          </a:p>
        </p:txBody>
      </p:sp>
      <p:sp>
        <p:nvSpPr>
          <p:cNvPr id="18" name="card 4"/>
          <p:cNvSpPr/>
          <p:nvPr/>
        </p:nvSpPr>
        <p:spPr>
          <a:xfrm>
            <a:off x="548640" y="3931920"/>
            <a:ext cx="35052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ard 4 disc"/>
          <p:cNvSpPr/>
          <p:nvPr/>
        </p:nvSpPr>
        <p:spPr>
          <a:xfrm>
            <a:off x="777240" y="416052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card 4 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64" y="4285244"/>
            <a:ext cx="317480" cy="317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81328" y="4160520"/>
            <a:ext cx="2343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Interest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837176"/>
            <a:ext cx="30480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An investor earns interest on bank deposits.</a:t>
            </a:r>
            <a:endParaRPr lang="en-US" sz="1600" dirty="0"/>
          </a:p>
        </p:txBody>
      </p:sp>
      <p:sp>
        <p:nvSpPr>
          <p:cNvPr id="23" name="card 5"/>
          <p:cNvSpPr/>
          <p:nvPr/>
        </p:nvSpPr>
        <p:spPr>
          <a:xfrm>
            <a:off x="4328160" y="3931920"/>
            <a:ext cx="35052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ard 5 disc"/>
          <p:cNvSpPr/>
          <p:nvPr/>
        </p:nvSpPr>
        <p:spPr>
          <a:xfrm>
            <a:off x="4556760" y="4160520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5" name="card 5 glyp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484" y="4285244"/>
            <a:ext cx="317480" cy="3174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60848" y="4160520"/>
            <a:ext cx="2343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Dividends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556760" y="4837176"/>
            <a:ext cx="30480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shareholder receives dividends from securities.</a:t>
            </a:r>
            <a:endParaRPr lang="en-US" sz="1600" dirty="0"/>
          </a:p>
        </p:txBody>
      </p:sp>
      <p:sp>
        <p:nvSpPr>
          <p:cNvPr id="28" name="card 6"/>
          <p:cNvSpPr/>
          <p:nvPr/>
        </p:nvSpPr>
        <p:spPr>
          <a:xfrm>
            <a:off x="8107680" y="3931920"/>
            <a:ext cx="35052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card 6 disc"/>
          <p:cNvSpPr/>
          <p:nvPr/>
        </p:nvSpPr>
        <p:spPr>
          <a:xfrm>
            <a:off x="8336280" y="41605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card 6 glyph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004" y="4285244"/>
            <a:ext cx="317480" cy="3174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40368" y="4160520"/>
            <a:ext cx="2343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Earn while you learn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336280" y="4837176"/>
            <a:ext cx="30480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Part-time work, internships and apprenticeships help students earn and gain skills.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Budgeting in Four Steps</a:t>
            </a:r>
            <a:endParaRPr lang="en-US" sz="3600" dirty="0"/>
          </a:p>
        </p:txBody>
      </p:sp>
      <p:sp>
        <p:nvSpPr>
          <p:cNvPr id="3" name="step 1 card"/>
          <p:cNvSpPr/>
          <p:nvPr/>
        </p:nvSpPr>
        <p:spPr>
          <a:xfrm>
            <a:off x="548640" y="1417320"/>
            <a:ext cx="2457450" cy="4160520"/>
          </a:xfrm>
          <a:prstGeom prst="roundRect">
            <a:avLst>
              <a:gd name="adj" fmla="val 44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1 disc"/>
          <p:cNvSpPr/>
          <p:nvPr/>
        </p:nvSpPr>
        <p:spPr>
          <a:xfrm>
            <a:off x="1343025" y="16916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tep 1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135" y="1882750"/>
            <a:ext cx="486461" cy="4864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651760"/>
            <a:ext cx="21831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1. Identify expenses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383280"/>
            <a:ext cx="209169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List all monthly expenses, big and small.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3060954" y="1979676"/>
            <a:ext cx="301752" cy="292608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step 2 card"/>
          <p:cNvSpPr/>
          <p:nvPr/>
        </p:nvSpPr>
        <p:spPr>
          <a:xfrm>
            <a:off x="3417570" y="1417320"/>
            <a:ext cx="2457450" cy="4160520"/>
          </a:xfrm>
          <a:prstGeom prst="roundRect">
            <a:avLst>
              <a:gd name="adj" fmla="val 44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 2 disc"/>
          <p:cNvSpPr/>
          <p:nvPr/>
        </p:nvSpPr>
        <p:spPr>
          <a:xfrm>
            <a:off x="4211955" y="16916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step 2 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065" y="1882750"/>
            <a:ext cx="486461" cy="4864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54730" y="2651760"/>
            <a:ext cx="21831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2. Set a savings goal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600450" y="3383280"/>
            <a:ext cx="209169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₹3,000 for a bicycle in 6 months = </a:t>
            </a:r>
            <a:r>
              <a:rPr lang="en-US" sz="1700" b="1" dirty="0">
                <a:solidFill>
                  <a:schemeClr val="tx1"/>
                </a:solidFill>
              </a:rPr>
              <a:t>₹500 a month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5929884" y="1979676"/>
            <a:ext cx="301752" cy="292608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tep 3 card"/>
          <p:cNvSpPr/>
          <p:nvPr/>
        </p:nvSpPr>
        <p:spPr>
          <a:xfrm>
            <a:off x="6286500" y="1417320"/>
            <a:ext cx="2457450" cy="4160520"/>
          </a:xfrm>
          <a:prstGeom prst="roundRect">
            <a:avLst>
              <a:gd name="adj" fmla="val 44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 3 disc"/>
          <p:cNvSpPr/>
          <p:nvPr/>
        </p:nvSpPr>
        <p:spPr>
          <a:xfrm>
            <a:off x="7080885" y="16916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step 3 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995" y="1882750"/>
            <a:ext cx="486461" cy="48646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23660" y="2651760"/>
            <a:ext cx="21831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3. Track spending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469380" y="3383280"/>
            <a:ext cx="209169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Compare what you spend with your budget.</a:t>
            </a:r>
            <a:endParaRPr lang="en-US" sz="1600" dirty="0"/>
          </a:p>
        </p:txBody>
      </p:sp>
      <p:sp>
        <p:nvSpPr>
          <p:cNvPr id="20" name="arrow 3"/>
          <p:cNvSpPr/>
          <p:nvPr/>
        </p:nvSpPr>
        <p:spPr>
          <a:xfrm>
            <a:off x="8798814" y="1979676"/>
            <a:ext cx="301752" cy="292608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step 4 card"/>
          <p:cNvSpPr/>
          <p:nvPr/>
        </p:nvSpPr>
        <p:spPr>
          <a:xfrm>
            <a:off x="9155430" y="1417320"/>
            <a:ext cx="2457450" cy="4160520"/>
          </a:xfrm>
          <a:prstGeom prst="roundRect">
            <a:avLst>
              <a:gd name="adj" fmla="val 44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tep 4 disc"/>
          <p:cNvSpPr/>
          <p:nvPr/>
        </p:nvSpPr>
        <p:spPr>
          <a:xfrm>
            <a:off x="9949815" y="16916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step 4 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0925" y="1882750"/>
            <a:ext cx="486461" cy="48646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92590" y="2651760"/>
            <a:ext cx="21831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4. Review and adjust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9338310" y="3383280"/>
            <a:ext cx="209169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Update for changes like bus fares or medical bills.</a:t>
            </a:r>
            <a:endParaRPr lang="en-US" sz="1600" dirty="0"/>
          </a:p>
        </p:txBody>
      </p:sp>
      <p:sp>
        <p:nvSpPr>
          <p:cNvPr id="26" name="footnote band"/>
          <p:cNvSpPr/>
          <p:nvPr/>
        </p:nvSpPr>
        <p:spPr>
          <a:xfrm>
            <a:off x="548640" y="5715000"/>
            <a:ext cx="1106424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77240" y="57150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Goal questions: </a:t>
            </a:r>
            <a:r>
              <a:rPr lang="en-US" sz="1500" b="1" dirty="0">
                <a:solidFill>
                  <a:schemeClr val="bg1"/>
                </a:solidFill>
              </a:rPr>
              <a:t>What</a:t>
            </a:r>
            <a:r>
              <a:rPr lang="en-US" sz="1500" dirty="0">
                <a:solidFill>
                  <a:schemeClr val="bg1"/>
                </a:solidFill>
              </a:rPr>
              <a:t> do I want? </a:t>
            </a:r>
            <a:r>
              <a:rPr lang="en-US" sz="1500" b="1" dirty="0">
                <a:solidFill>
                  <a:schemeClr val="bg1"/>
                </a:solidFill>
              </a:rPr>
              <a:t>How much</a:t>
            </a:r>
            <a:r>
              <a:rPr lang="en-US" sz="1500" dirty="0">
                <a:solidFill>
                  <a:schemeClr val="bg1"/>
                </a:solidFill>
              </a:rPr>
              <a:t> will I need? </a:t>
            </a:r>
            <a:r>
              <a:rPr lang="en-US" sz="1500" b="1" dirty="0">
                <a:solidFill>
                  <a:schemeClr val="bg1"/>
                </a:solidFill>
              </a:rPr>
              <a:t>By when?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b="1" dirty="0">
                <a:solidFill>
                  <a:schemeClr val="bg1"/>
                </a:solidFill>
              </a:rPr>
              <a:t>What steps</a:t>
            </a:r>
            <a:r>
              <a:rPr lang="en-US" sz="1500" dirty="0">
                <a:solidFill>
                  <a:schemeClr val="bg1"/>
                </a:solidFill>
              </a:rPr>
              <a:t> will get me there?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Activity: School Reopening Budget</a:t>
            </a:r>
            <a:endParaRPr lang="en-US" sz="3600" dirty="0"/>
          </a:p>
        </p:txBody>
      </p:sp>
      <p:sp>
        <p:nvSpPr>
          <p:cNvPr id="3" name="activity info card"/>
          <p:cNvSpPr/>
          <p:nvPr/>
        </p:nvSpPr>
        <p:spPr>
          <a:xfrm>
            <a:off x="548640" y="1371600"/>
            <a:ext cx="3657600" cy="484632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activity disc"/>
          <p:cNvSpPr/>
          <p:nvPr/>
        </p:nvSpPr>
        <p:spPr>
          <a:xfrm>
            <a:off x="868680" y="16916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activity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89280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MONEY LAB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Make ₹3,000 work</a:t>
            </a:r>
            <a:endParaRPr lang="en-US" sz="1800" dirty="0"/>
          </a:p>
        </p:txBody>
      </p:sp>
      <p:pic>
        <p:nvPicPr>
          <p:cNvPr id="8" name="Tim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63240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30175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Time: </a:t>
            </a:r>
            <a:r>
              <a:rPr lang="en-US" sz="1400" dirty="0">
                <a:solidFill>
                  <a:schemeClr val="bg1"/>
                </a:solidFill>
              </a:rPr>
              <a:t>30 minutes (+ price survey at home)</a:t>
            </a:r>
            <a:endParaRPr lang="en-US" sz="1400" dirty="0"/>
          </a:p>
        </p:txBody>
      </p:sp>
      <p:pic>
        <p:nvPicPr>
          <p:cNvPr id="10" name="Grou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03320"/>
            <a:ext cx="347472" cy="34747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3657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Group: </a:t>
            </a:r>
            <a:r>
              <a:rPr lang="en-US" sz="1400" dirty="0">
                <a:solidFill>
                  <a:schemeClr val="bg1"/>
                </a:solidFill>
              </a:rPr>
              <a:t>Pairs</a:t>
            </a:r>
            <a:endParaRPr lang="en-US" sz="1400" dirty="0"/>
          </a:p>
        </p:txBody>
      </p:sp>
      <p:pic>
        <p:nvPicPr>
          <p:cNvPr id="12" name="You need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43400"/>
            <a:ext cx="347472" cy="34747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71600" y="42976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You need: </a:t>
            </a:r>
            <a:r>
              <a:rPr lang="en-US" sz="1400" dirty="0">
                <a:solidFill>
                  <a:schemeClr val="bg1"/>
                </a:solidFill>
              </a:rPr>
              <a:t>Budget template, price list from local shops</a:t>
            </a:r>
            <a:endParaRPr lang="en-US" sz="1400" dirty="0"/>
          </a:p>
        </p:txBody>
      </p:sp>
      <p:sp>
        <p:nvSpPr>
          <p:cNvPr id="14" name="activity steps card"/>
          <p:cNvSpPr/>
          <p:nvPr/>
        </p:nvSpPr>
        <p:spPr>
          <a:xfrm>
            <a:off x="4526280" y="1371600"/>
            <a:ext cx="708660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Text 9"/>
          <p:cNvSpPr txBox="1"/>
          <p:nvPr/>
        </p:nvSpPr>
        <p:spPr>
          <a:xfrm>
            <a:off x="4846320" y="1600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How to play</a:t>
            </a:r>
            <a:endParaRPr lang="en-US" sz="2000" dirty="0"/>
          </a:p>
        </p:txBody>
      </p:sp>
      <p:sp>
        <p:nvSpPr>
          <p:cNvPr id="16" name="step 1 badge"/>
          <p:cNvSpPr/>
          <p:nvPr/>
        </p:nvSpPr>
        <p:spPr>
          <a:xfrm>
            <a:off x="4846320" y="22128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484632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5394960" y="2194560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 items: bag, books, uniform and shoes, notebooks, pens, pencils, art supplies.</a:t>
            </a:r>
            <a:endParaRPr lang="en-US" sz="1600" dirty="0"/>
          </a:p>
        </p:txBody>
      </p:sp>
      <p:sp>
        <p:nvSpPr>
          <p:cNvPr id="19" name="step 2 badge"/>
          <p:cNvSpPr/>
          <p:nvPr/>
        </p:nvSpPr>
        <p:spPr>
          <a:xfrm>
            <a:off x="4846320" y="27523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484632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394960" y="2734056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real prices from a local shop, a parent or a teacher.</a:t>
            </a:r>
            <a:endParaRPr lang="en-US" sz="1600" dirty="0"/>
          </a:p>
        </p:txBody>
      </p:sp>
      <p:sp>
        <p:nvSpPr>
          <p:cNvPr id="22" name="step 3 badge"/>
          <p:cNvSpPr/>
          <p:nvPr/>
        </p:nvSpPr>
        <p:spPr>
          <a:xfrm>
            <a:off x="4846320" y="3291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484632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394960" y="3273552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up the total. Is it </a:t>
            </a:r>
            <a:r>
              <a:rPr lang="en-US" sz="1400" b="1" dirty="0">
                <a:solidFill>
                  <a:schemeClr val="tx1"/>
                </a:solidFill>
              </a:rPr>
              <a:t>within ₹3,000</a:t>
            </a:r>
            <a:r>
              <a:rPr lang="en-US" sz="1400" dirty="0">
                <a:solidFill>
                  <a:schemeClr val="tx1"/>
                </a:solidFill>
              </a:rPr>
              <a:t>?</a:t>
            </a:r>
            <a:endParaRPr lang="en-US" sz="1600" dirty="0"/>
          </a:p>
        </p:txBody>
      </p:sp>
      <p:sp>
        <p:nvSpPr>
          <p:cNvPr id="25" name="step 4 badge"/>
          <p:cNvSpPr/>
          <p:nvPr/>
        </p:nvSpPr>
        <p:spPr>
          <a:xfrm>
            <a:off x="4846320" y="38313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84632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5394960" y="3813048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</a:t>
            </a:r>
            <a:r>
              <a:rPr lang="en-US" sz="1400" b="1" dirty="0">
                <a:solidFill>
                  <a:schemeClr val="tx1"/>
                </a:solidFill>
              </a:rPr>
              <a:t>under</a:t>
            </a:r>
            <a:r>
              <a:rPr lang="en-US" sz="1400" dirty="0">
                <a:solidFill>
                  <a:schemeClr val="tx1"/>
                </a:solidFill>
              </a:rPr>
              <a:t>, add one item of your choice. If </a:t>
            </a:r>
            <a:r>
              <a:rPr lang="en-US" sz="1400" b="1" dirty="0">
                <a:solidFill>
                  <a:schemeClr val="tx1"/>
                </a:solidFill>
              </a:rPr>
              <a:t>over</a:t>
            </a:r>
            <a:r>
              <a:rPr lang="en-US" sz="1400" dirty="0">
                <a:solidFill>
                  <a:schemeClr val="tx1"/>
                </a:solidFill>
              </a:rPr>
              <a:t>, decide what to postpone.</a:t>
            </a:r>
            <a:endParaRPr lang="en-US" sz="1600" dirty="0"/>
          </a:p>
        </p:txBody>
      </p:sp>
      <p:sp>
        <p:nvSpPr>
          <p:cNvPr id="28" name="step 5 badge"/>
          <p:cNvSpPr/>
          <p:nvPr/>
        </p:nvSpPr>
        <p:spPr>
          <a:xfrm>
            <a:off x="4846320" y="43708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84632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5394960" y="4352544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Write the amount </a:t>
            </a:r>
            <a:r>
              <a:rPr lang="en-US" sz="1400" b="1" dirty="0">
                <a:solidFill>
                  <a:schemeClr val="tx1"/>
                </a:solidFill>
              </a:rPr>
              <a:t>saved</a:t>
            </a:r>
            <a:r>
              <a:rPr lang="en-US" sz="1400" dirty="0">
                <a:solidFill>
                  <a:schemeClr val="tx1"/>
                </a:solidFill>
              </a:rPr>
              <a:t>, and explain one hard choice you made.</a:t>
            </a:r>
            <a:endParaRPr lang="en-US" sz="1600" dirty="0"/>
          </a:p>
        </p:txBody>
      </p:sp>
      <p:sp>
        <p:nvSpPr>
          <p:cNvPr id="31" name="outcome band"/>
          <p:cNvSpPr/>
          <p:nvPr/>
        </p:nvSpPr>
        <p:spPr>
          <a:xfrm>
            <a:off x="4846320" y="5074920"/>
            <a:ext cx="64465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029200" y="507492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Learning link:</a:t>
            </a:r>
            <a:r>
              <a:rPr lang="en-US" sz="1400" dirty="0">
                <a:solidFill>
                  <a:schemeClr val="tx2"/>
                </a:solidFill>
              </a:rPr>
              <a:t> Budgeting means prioritising needs and making trade-offs.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Saving or Investing?</a:t>
            </a:r>
            <a:endParaRPr lang="en-US" sz="3600" dirty="0"/>
          </a:p>
        </p:txBody>
      </p:sp>
      <p:sp>
        <p:nvSpPr>
          <p:cNvPr id="3" name="Saving header"/>
          <p:cNvSpPr/>
          <p:nvPr/>
        </p:nvSpPr>
        <p:spPr>
          <a:xfrm>
            <a:off x="548640" y="1371600"/>
            <a:ext cx="525780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Sav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716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Saving</a:t>
            </a:r>
            <a:endParaRPr lang="en-US" sz="2200" dirty="0"/>
          </a:p>
        </p:txBody>
      </p:sp>
      <p:sp>
        <p:nvSpPr>
          <p:cNvPr id="6" name="Saving body"/>
          <p:cNvSpPr/>
          <p:nvPr/>
        </p:nvSpPr>
        <p:spPr>
          <a:xfrm>
            <a:off x="548640" y="2240280"/>
            <a:ext cx="525780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42316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Keeping aside part of income for </a:t>
            </a:r>
            <a:r>
              <a:rPr lang="en-US" sz="2200" b="1" dirty="0">
                <a:solidFill>
                  <a:schemeClr val="tx1"/>
                </a:solidFill>
              </a:rPr>
              <a:t>future use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Helps in </a:t>
            </a:r>
            <a:r>
              <a:rPr lang="en-US" sz="2200" b="1" dirty="0">
                <a:solidFill>
                  <a:schemeClr val="tx1"/>
                </a:solidFill>
              </a:rPr>
              <a:t>emergencies</a:t>
            </a:r>
            <a:r>
              <a:rPr lang="en-US" sz="2200" dirty="0">
                <a:solidFill>
                  <a:schemeClr val="tx1"/>
                </a:solidFill>
              </a:rPr>
              <a:t>; cash is liquid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Priya</a:t>
            </a:r>
            <a:r>
              <a:rPr lang="en-US" sz="2200" dirty="0">
                <a:solidFill>
                  <a:schemeClr val="tx1"/>
                </a:solidFill>
              </a:rPr>
              <a:t> keeps ₹500 in a gullak: after a year, still </a:t>
            </a:r>
            <a:r>
              <a:rPr lang="en-US" sz="2200" b="1" dirty="0">
                <a:solidFill>
                  <a:schemeClr val="tx1"/>
                </a:solidFill>
              </a:rPr>
              <a:t>₹500</a:t>
            </a:r>
            <a:endParaRPr lang="en-US" sz="1600" dirty="0"/>
          </a:p>
        </p:txBody>
      </p:sp>
      <p:sp>
        <p:nvSpPr>
          <p:cNvPr id="8" name="Investing header"/>
          <p:cNvSpPr/>
          <p:nvPr/>
        </p:nvSpPr>
        <p:spPr>
          <a:xfrm>
            <a:off x="6355080" y="1371600"/>
            <a:ext cx="525780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nvestin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087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269480" y="13716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Investing</a:t>
            </a:r>
            <a:endParaRPr lang="en-US" sz="2200" dirty="0"/>
          </a:p>
        </p:txBody>
      </p:sp>
      <p:sp>
        <p:nvSpPr>
          <p:cNvPr id="11" name="Investing body"/>
          <p:cNvSpPr/>
          <p:nvPr/>
        </p:nvSpPr>
        <p:spPr>
          <a:xfrm>
            <a:off x="6355080" y="2240280"/>
            <a:ext cx="525780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629400" y="242316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Putting savings into </a:t>
            </a:r>
            <a:r>
              <a:rPr lang="en-US" sz="2200" b="1" dirty="0">
                <a:solidFill>
                  <a:schemeClr val="tx1"/>
                </a:solidFill>
              </a:rPr>
              <a:t>assets</a:t>
            </a:r>
            <a:r>
              <a:rPr lang="en-US" sz="2200" dirty="0">
                <a:solidFill>
                  <a:schemeClr val="tx1"/>
                </a:solidFill>
              </a:rPr>
              <a:t> to earn returns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Like planting a </a:t>
            </a:r>
            <a:r>
              <a:rPr lang="en-US" sz="2200" b="1" dirty="0">
                <a:solidFill>
                  <a:schemeClr val="tx1"/>
                </a:solidFill>
              </a:rPr>
              <a:t>mango tree</a:t>
            </a:r>
            <a:r>
              <a:rPr lang="en-US" sz="2200" dirty="0">
                <a:solidFill>
                  <a:schemeClr val="tx1"/>
                </a:solidFill>
              </a:rPr>
              <a:t>: fruit later, for many years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Sameer</a:t>
            </a:r>
            <a:r>
              <a:rPr lang="en-US" sz="2200" dirty="0">
                <a:solidFill>
                  <a:schemeClr val="tx1"/>
                </a:solidFill>
              </a:rPr>
              <a:t> invests ₹500 at 8%: after a year, </a:t>
            </a:r>
            <a:r>
              <a:rPr lang="en-US" sz="2200" b="1" dirty="0">
                <a:solidFill>
                  <a:schemeClr val="tx1"/>
                </a:solidFill>
              </a:rPr>
              <a:t>₹540</a:t>
            </a:r>
            <a:endParaRPr lang="en-US" sz="1600" dirty="0"/>
          </a:p>
        </p:txBody>
      </p:sp>
      <p:sp>
        <p:nvSpPr>
          <p:cNvPr id="13" name="vs badge"/>
          <p:cNvSpPr/>
          <p:nvPr/>
        </p:nvSpPr>
        <p:spPr>
          <a:xfrm>
            <a:off x="5733288" y="1417320"/>
            <a:ext cx="713232" cy="713232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733288" y="14173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VS</a:t>
            </a:r>
            <a:endParaRPr lang="en-US" sz="1600" dirty="0"/>
          </a:p>
        </p:txBody>
      </p:sp>
      <p:sp>
        <p:nvSpPr>
          <p:cNvPr id="15" name="footnote band"/>
          <p:cNvSpPr/>
          <p:nvPr/>
        </p:nvSpPr>
        <p:spPr>
          <a:xfrm>
            <a:off x="548640" y="5760720"/>
            <a:ext cx="1106424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Inflation</a:t>
            </a:r>
            <a:r>
              <a:rPr lang="en-US" sz="1500" dirty="0">
                <a:solidFill>
                  <a:schemeClr val="bg1"/>
                </a:solidFill>
              </a:rPr>
              <a:t> reduces purchasing power: at 6% inflation, a ₹1,000 bag may cost about </a:t>
            </a:r>
            <a:r>
              <a:rPr lang="en-US" sz="1500" b="1" dirty="0">
                <a:solidFill>
                  <a:schemeClr val="bg1"/>
                </a:solidFill>
              </a:rPr>
              <a:t>₹1,060</a:t>
            </a:r>
            <a:r>
              <a:rPr lang="en-US" sz="1500" dirty="0">
                <a:solidFill>
                  <a:schemeClr val="bg1"/>
                </a:solidFill>
              </a:rPr>
              <a:t> next year.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Power of Starting Early</a:t>
            </a:r>
            <a:endParaRPr lang="en-US" sz="3600" dirty="0"/>
          </a:p>
        </p:txBody>
      </p:sp>
      <p:graphicFrame>
        <p:nvGraphicFramePr>
          <p:cNvPr id="3" name="compounding chart" descr=""/>
          <p:cNvGraphicFramePr/>
          <p:nvPr/>
        </p:nvGraphicFramePr>
        <p:xfrm>
          <a:off x="548640" y="1325880"/>
          <a:ext cx="72237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havisha at 65"/>
          <p:cNvSpPr/>
          <p:nvPr/>
        </p:nvSpPr>
        <p:spPr>
          <a:xfrm>
            <a:off x="8092440" y="137160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7532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₹1,99,635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Bhavisha at 65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Started at 25 (40 years)</a:t>
            </a:r>
            <a:endParaRPr lang="en-US" sz="1600" dirty="0"/>
          </a:p>
        </p:txBody>
      </p:sp>
      <p:sp>
        <p:nvSpPr>
          <p:cNvPr id="6" name="Dhruv at 65"/>
          <p:cNvSpPr/>
          <p:nvPr/>
        </p:nvSpPr>
        <p:spPr>
          <a:xfrm>
            <a:off x="8092440" y="297180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75320" y="30632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₹94,460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Dhruv at 65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Started at 35 (30 years)</a:t>
            </a:r>
            <a:endParaRPr lang="en-US" sz="1600" dirty="0"/>
          </a:p>
        </p:txBody>
      </p:sp>
      <p:sp>
        <p:nvSpPr>
          <p:cNvPr id="8" name="lesson"/>
          <p:cNvSpPr/>
          <p:nvPr/>
        </p:nvSpPr>
        <p:spPr>
          <a:xfrm>
            <a:off x="8092440" y="457200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75320" y="466344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Same yearly saving, but starting </a:t>
            </a:r>
            <a:r>
              <a:rPr lang="en-US" sz="1500" b="1" dirty="0">
                <a:solidFill>
                  <a:schemeClr val="tx2"/>
                </a:solidFill>
              </a:rPr>
              <a:t>10 years earlier</a:t>
            </a:r>
            <a:r>
              <a:rPr lang="en-US" sz="1500" dirty="0">
                <a:solidFill>
                  <a:schemeClr val="tx2"/>
                </a:solidFill>
              </a:rPr>
              <a:t> gives </a:t>
            </a:r>
            <a:r>
              <a:rPr lang="en-US" sz="1500" b="1" dirty="0">
                <a:solidFill>
                  <a:schemeClr val="tx2"/>
                </a:solidFill>
              </a:rPr>
              <a:t>more than double</a:t>
            </a:r>
            <a:r>
              <a:rPr lang="en-US" sz="1500" dirty="0">
                <a:solidFill>
                  <a:schemeClr val="tx2"/>
                </a:solidFill>
              </a:rPr>
              <a:t>. Returns earn returns: that is </a:t>
            </a:r>
            <a:r>
              <a:rPr lang="en-US" sz="1500" b="1" dirty="0">
                <a:solidFill>
                  <a:schemeClr val="tx2"/>
                </a:solidFill>
              </a:rPr>
              <a:t>compounding</a:t>
            </a:r>
            <a:r>
              <a:rPr lang="en-US" sz="1500" dirty="0">
                <a:solidFill>
                  <a:schemeClr val="tx2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bg2"/>
                </a:solidFill>
              </a:rPr>
              <a:t>PART 2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Investing and Protecting Your Money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690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Grow your savings wisely and guard against life's uncertainties.</a:t>
            </a:r>
            <a:endParaRPr lang="en-US" sz="1800" dirty="0"/>
          </a:p>
        </p:txBody>
      </p:sp>
      <p:sp>
        <p:nvSpPr>
          <p:cNvPr id="5" name="section disc"/>
          <p:cNvSpPr/>
          <p:nvPr/>
        </p:nvSpPr>
        <p:spPr>
          <a:xfrm>
            <a:off x="9006840" y="1828800"/>
            <a:ext cx="2560320" cy="256032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6" name="se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42316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Common Investment Options</a:t>
            </a:r>
            <a:endParaRPr lang="en-US" sz="3600" dirty="0"/>
          </a:p>
        </p:txBody>
      </p:sp>
      <p:sp>
        <p:nvSpPr>
          <p:cNvPr id="3" name="card 1"/>
          <p:cNvSpPr/>
          <p:nvPr/>
        </p:nvSpPr>
        <p:spPr>
          <a:xfrm>
            <a:off x="548640" y="137160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 1 disc"/>
          <p:cNvSpPr/>
          <p:nvPr/>
        </p:nvSpPr>
        <p:spPr>
          <a:xfrm>
            <a:off x="777240" y="16002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card 1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1724924"/>
            <a:ext cx="317480" cy="317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81328" y="1600200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Fixed deposits (FDs)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76856"/>
            <a:ext cx="49377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Lump sum for a fixed time at a </a:t>
            </a:r>
            <a:r>
              <a:rPr lang="en-US" sz="1800" b="1" dirty="0">
                <a:solidFill>
                  <a:schemeClr val="tx1"/>
                </a:solidFill>
              </a:rPr>
              <a:t>fixed interest rate</a:t>
            </a:r>
            <a:r>
              <a:rPr lang="en-US" sz="1800" dirty="0">
                <a:solidFill>
                  <a:schemeClr val="tx1"/>
                </a:solidFill>
              </a:rPr>
              <a:t>; among the safest. Also: PPF, NSC, Sukanya Samriddhi Yojana.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6217920" y="137160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d 2 disc"/>
          <p:cNvSpPr/>
          <p:nvPr/>
        </p:nvSpPr>
        <p:spPr>
          <a:xfrm>
            <a:off x="6446520" y="16002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card 2 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244" y="172492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50608" y="1600200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Bonds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2276856"/>
            <a:ext cx="49377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You </a:t>
            </a:r>
            <a:r>
              <a:rPr lang="en-US" sz="1800" b="1" dirty="0">
                <a:solidFill>
                  <a:schemeClr val="tx1"/>
                </a:solidFill>
              </a:rPr>
              <a:t>lend</a:t>
            </a:r>
            <a:r>
              <a:rPr lang="en-US" sz="1800" dirty="0">
                <a:solidFill>
                  <a:schemeClr val="tx1"/>
                </a:solidFill>
              </a:rPr>
              <a:t> to the government or a company. ₹10,000 at 5% earns ₹500 a year. Government bonds are safer.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548640" y="393192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ard 3 disc"/>
          <p:cNvSpPr/>
          <p:nvPr/>
        </p:nvSpPr>
        <p:spPr>
          <a:xfrm>
            <a:off x="777240" y="416052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card 3 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64" y="428524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81328" y="4160520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Stocks (shares)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837176"/>
            <a:ext cx="49377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You </a:t>
            </a:r>
            <a:r>
              <a:rPr lang="en-US" sz="1800" b="1" dirty="0">
                <a:solidFill>
                  <a:schemeClr val="tx1"/>
                </a:solidFill>
              </a:rPr>
              <a:t>own part of a company</a:t>
            </a:r>
            <a:r>
              <a:rPr lang="en-US" sz="1800" dirty="0">
                <a:solidFill>
                  <a:schemeClr val="tx1"/>
                </a:solidFill>
              </a:rPr>
              <a:t>: dividends and price rise. Higher risk, higher long-term potential.</a:t>
            </a:r>
            <a:endParaRPr lang="en-US" sz="1600" dirty="0"/>
          </a:p>
        </p:txBody>
      </p:sp>
      <p:sp>
        <p:nvSpPr>
          <p:cNvPr id="18" name="card 4"/>
          <p:cNvSpPr/>
          <p:nvPr/>
        </p:nvSpPr>
        <p:spPr>
          <a:xfrm>
            <a:off x="6217920" y="393192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ard 4 disc"/>
          <p:cNvSpPr/>
          <p:nvPr/>
        </p:nvSpPr>
        <p:spPr>
          <a:xfrm>
            <a:off x="6446520" y="416052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card 4 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244" y="4285244"/>
            <a:ext cx="317480" cy="317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50608" y="4160520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Mutual funds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446520" y="4837176"/>
            <a:ext cx="49377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Money from many investors, managed by experts across many assets: </a:t>
            </a:r>
            <a:r>
              <a:rPr lang="en-US" sz="1800" b="1" dirty="0">
                <a:solidFill>
                  <a:schemeClr val="tx1"/>
                </a:solidFill>
              </a:rPr>
              <a:t>diversification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Risk and Return Go Together</a:t>
            </a:r>
            <a:endParaRPr lang="en-US" sz="3600" dirty="0"/>
          </a:p>
        </p:txBody>
      </p:sp>
      <p:sp>
        <p:nvSpPr>
          <p:cNvPr id="3" name="x axis"/>
          <p:cNvSpPr/>
          <p:nvPr/>
        </p:nvSpPr>
        <p:spPr>
          <a:xfrm>
            <a:off x="868680" y="5669280"/>
            <a:ext cx="60350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" name="y axis"/>
          <p:cNvSpPr/>
          <p:nvPr/>
        </p:nvSpPr>
        <p:spPr>
          <a:xfrm>
            <a:off x="868680" y="1417320"/>
            <a:ext cx="0" cy="42519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headEnd type="triangle"/>
          </a:ln>
        </p:spPr>
      </p:sp>
      <p:sp>
        <p:nvSpPr>
          <p:cNvPr id="5" name="Text 3"/>
          <p:cNvSpPr txBox="1"/>
          <p:nvPr/>
        </p:nvSpPr>
        <p:spPr>
          <a:xfrm>
            <a:off x="6400800" y="52852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Risk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Potential return</a:t>
            </a:r>
            <a:endParaRPr lang="en-US" sz="1500" dirty="0"/>
          </a:p>
        </p:txBody>
      </p:sp>
      <p:sp>
        <p:nvSpPr>
          <p:cNvPr id="7" name="Fixed deposits bar"/>
          <p:cNvSpPr/>
          <p:nvPr/>
        </p:nvSpPr>
        <p:spPr>
          <a:xfrm>
            <a:off x="1051560" y="4663440"/>
            <a:ext cx="1234440" cy="978408"/>
          </a:xfrm>
          <a:prstGeom prst="roundRect">
            <a:avLst>
              <a:gd name="adj" fmla="val 747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475488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Fixed deposits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7947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Low risk, assured returns</a:t>
            </a:r>
            <a:endParaRPr lang="en-US" sz="1300" dirty="0"/>
          </a:p>
        </p:txBody>
      </p:sp>
      <p:sp>
        <p:nvSpPr>
          <p:cNvPr id="10" name="Govt bonds bar"/>
          <p:cNvSpPr/>
          <p:nvPr/>
        </p:nvSpPr>
        <p:spPr>
          <a:xfrm>
            <a:off x="2450592" y="4069080"/>
            <a:ext cx="1234440" cy="1572768"/>
          </a:xfrm>
          <a:prstGeom prst="roundRect">
            <a:avLst>
              <a:gd name="adj" fmla="val 59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96312" y="41605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Govt bonds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404872" y="32004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Safer, stable interest</a:t>
            </a:r>
            <a:endParaRPr lang="en-US" sz="1300" dirty="0"/>
          </a:p>
        </p:txBody>
      </p:sp>
      <p:sp>
        <p:nvSpPr>
          <p:cNvPr id="13" name="Mutual funds bar"/>
          <p:cNvSpPr/>
          <p:nvPr/>
        </p:nvSpPr>
        <p:spPr>
          <a:xfrm>
            <a:off x="3849624" y="3337560"/>
            <a:ext cx="1234440" cy="2304288"/>
          </a:xfrm>
          <a:prstGeom prst="roundRect">
            <a:avLst>
              <a:gd name="adj" fmla="val 59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95344" y="34290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Mutual funds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803904" y="24688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Diversified; may give higher returns</a:t>
            </a:r>
            <a:endParaRPr lang="en-US" sz="1300" dirty="0"/>
          </a:p>
        </p:txBody>
      </p:sp>
      <p:sp>
        <p:nvSpPr>
          <p:cNvPr id="16" name="Stocks bar"/>
          <p:cNvSpPr/>
          <p:nvPr/>
        </p:nvSpPr>
        <p:spPr>
          <a:xfrm>
            <a:off x="5248656" y="2468880"/>
            <a:ext cx="1234440" cy="3172968"/>
          </a:xfrm>
          <a:prstGeom prst="roundRect">
            <a:avLst>
              <a:gd name="adj" fmla="val 592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94376" y="25603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Stocks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02936" y="16002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Highest potential return and risk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Think about 4 things before investing</a:t>
            </a:r>
            <a:endParaRPr lang="en-US" sz="1700" dirty="0"/>
          </a:p>
        </p:txBody>
      </p:sp>
      <p:sp>
        <p:nvSpPr>
          <p:cNvPr id="20" name="Risk card"/>
          <p:cNvSpPr/>
          <p:nvPr/>
        </p:nvSpPr>
        <p:spPr>
          <a:xfrm>
            <a:off x="7406640" y="1828800"/>
            <a:ext cx="4206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Risk disc"/>
          <p:cNvSpPr/>
          <p:nvPr/>
        </p:nvSpPr>
        <p:spPr>
          <a:xfrm>
            <a:off x="7589520" y="20116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Risk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0279" y="2142439"/>
            <a:ext cx="332842" cy="33284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8366760" y="18288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Risk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Chance of losing money</a:t>
            </a:r>
            <a:endParaRPr lang="en-US" sz="1600" dirty="0"/>
          </a:p>
        </p:txBody>
      </p:sp>
      <p:sp>
        <p:nvSpPr>
          <p:cNvPr id="24" name="Return card"/>
          <p:cNvSpPr/>
          <p:nvPr/>
        </p:nvSpPr>
        <p:spPr>
          <a:xfrm>
            <a:off x="7406640" y="2926080"/>
            <a:ext cx="4206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Return disc"/>
          <p:cNvSpPr/>
          <p:nvPr/>
        </p:nvSpPr>
        <p:spPr>
          <a:xfrm>
            <a:off x="7589520" y="31089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Return 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279" y="3239719"/>
            <a:ext cx="332842" cy="33284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8366760" y="292608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Return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Profit earned from an investment</a:t>
            </a:r>
            <a:endParaRPr lang="en-US" sz="1600" dirty="0"/>
          </a:p>
        </p:txBody>
      </p:sp>
      <p:sp>
        <p:nvSpPr>
          <p:cNvPr id="28" name="Time horizon card"/>
          <p:cNvSpPr/>
          <p:nvPr/>
        </p:nvSpPr>
        <p:spPr>
          <a:xfrm>
            <a:off x="7406640" y="4023360"/>
            <a:ext cx="4206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ime horizon disc"/>
          <p:cNvSpPr/>
          <p:nvPr/>
        </p:nvSpPr>
        <p:spPr>
          <a:xfrm>
            <a:off x="7589520" y="4206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Time horizon 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0279" y="4336999"/>
            <a:ext cx="332842" cy="33284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366760" y="40233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Time horizon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long money can stay invested</a:t>
            </a:r>
            <a:endParaRPr lang="en-US" sz="1600" dirty="0"/>
          </a:p>
        </p:txBody>
      </p:sp>
      <p:sp>
        <p:nvSpPr>
          <p:cNvPr id="32" name="Liquidity card"/>
          <p:cNvSpPr/>
          <p:nvPr/>
        </p:nvSpPr>
        <p:spPr>
          <a:xfrm>
            <a:off x="7406640" y="5120640"/>
            <a:ext cx="4206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Liquidity disc"/>
          <p:cNvSpPr/>
          <p:nvPr/>
        </p:nvSpPr>
        <p:spPr>
          <a:xfrm>
            <a:off x="7589520" y="53035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Liquidity 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0279" y="5434279"/>
            <a:ext cx="332842" cy="332842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8366760" y="512064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Liquidity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easily it turns into cash</a:t>
            </a:r>
            <a:endParaRPr lang="en-US" sz="1600" dirty="0"/>
          </a:p>
        </p:txBody>
      </p:sp>
      <p:sp>
        <p:nvSpPr>
          <p:cNvPr id="36" name="Text 30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Lower risk usually means lower returns. Choose by your goals, risk tolerance and when you need the money.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Game: Match the Investor</a:t>
            </a:r>
            <a:endParaRPr lang="en-US" sz="3600" dirty="0"/>
          </a:p>
        </p:txBody>
      </p:sp>
      <p:sp>
        <p:nvSpPr>
          <p:cNvPr id="3" name="activity info card"/>
          <p:cNvSpPr/>
          <p:nvPr/>
        </p:nvSpPr>
        <p:spPr>
          <a:xfrm>
            <a:off x="548640" y="1371600"/>
            <a:ext cx="3657600" cy="484632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activity disc"/>
          <p:cNvSpPr/>
          <p:nvPr/>
        </p:nvSpPr>
        <p:spPr>
          <a:xfrm>
            <a:off x="868680" y="16916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activity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89280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THINK LIKE AN ADVISER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Who should invest where?</a:t>
            </a:r>
            <a:endParaRPr lang="en-US" sz="1800" dirty="0"/>
          </a:p>
        </p:txBody>
      </p:sp>
      <p:pic>
        <p:nvPicPr>
          <p:cNvPr id="8" name="Tim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63240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30175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Time: </a:t>
            </a:r>
            <a:r>
              <a:rPr lang="en-US" sz="1400" dirty="0">
                <a:solidFill>
                  <a:schemeClr val="bg1"/>
                </a:solidFill>
              </a:rPr>
              <a:t>15 minutes</a:t>
            </a:r>
            <a:endParaRPr lang="en-US" sz="1400" dirty="0"/>
          </a:p>
        </p:txBody>
      </p:sp>
      <p:pic>
        <p:nvPicPr>
          <p:cNvPr id="10" name="Grou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03320"/>
            <a:ext cx="347472" cy="34747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3657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Group: </a:t>
            </a:r>
            <a:r>
              <a:rPr lang="en-US" sz="1400" dirty="0">
                <a:solidFill>
                  <a:schemeClr val="bg1"/>
                </a:solidFill>
              </a:rPr>
              <a:t>Groups of 4</a:t>
            </a:r>
            <a:endParaRPr lang="en-US" sz="1400" dirty="0"/>
          </a:p>
        </p:txBody>
      </p:sp>
      <p:pic>
        <p:nvPicPr>
          <p:cNvPr id="12" name="You need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43400"/>
            <a:ext cx="347472" cy="34747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71600" y="42976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You need: </a:t>
            </a:r>
            <a:r>
              <a:rPr lang="en-US" sz="1400" dirty="0">
                <a:solidFill>
                  <a:schemeClr val="bg1"/>
                </a:solidFill>
              </a:rPr>
              <a:t>4 investor cards, 4 option cards</a:t>
            </a:r>
            <a:endParaRPr lang="en-US" sz="1400" dirty="0"/>
          </a:p>
        </p:txBody>
      </p:sp>
      <p:sp>
        <p:nvSpPr>
          <p:cNvPr id="14" name="activity steps card"/>
          <p:cNvSpPr/>
          <p:nvPr/>
        </p:nvSpPr>
        <p:spPr>
          <a:xfrm>
            <a:off x="4526280" y="1371600"/>
            <a:ext cx="708660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Text 9"/>
          <p:cNvSpPr txBox="1"/>
          <p:nvPr/>
        </p:nvSpPr>
        <p:spPr>
          <a:xfrm>
            <a:off x="4846320" y="1600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How to play</a:t>
            </a:r>
            <a:endParaRPr lang="en-US" sz="2000" dirty="0"/>
          </a:p>
        </p:txBody>
      </p:sp>
      <p:sp>
        <p:nvSpPr>
          <p:cNvPr id="16" name="step 1 badge"/>
          <p:cNvSpPr/>
          <p:nvPr/>
        </p:nvSpPr>
        <p:spPr>
          <a:xfrm>
            <a:off x="4846320" y="22128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484632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5394960" y="2194560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Dadi</a:t>
            </a:r>
            <a:r>
              <a:rPr lang="en-US" sz="1400" dirty="0">
                <a:solidFill>
                  <a:schemeClr val="tx1"/>
                </a:solidFill>
              </a:rPr>
              <a:t> (68) wants safe, steady income.</a:t>
            </a:r>
            <a:endParaRPr lang="en-US" sz="1600" dirty="0"/>
          </a:p>
        </p:txBody>
      </p:sp>
      <p:sp>
        <p:nvSpPr>
          <p:cNvPr id="19" name="step 2 badge"/>
          <p:cNvSpPr/>
          <p:nvPr/>
        </p:nvSpPr>
        <p:spPr>
          <a:xfrm>
            <a:off x="4846320" y="27523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484632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394960" y="2734056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Rohan</a:t>
            </a:r>
            <a:r>
              <a:rPr lang="en-US" sz="1400" dirty="0">
                <a:solidFill>
                  <a:schemeClr val="tx1"/>
                </a:solidFill>
              </a:rPr>
              <a:t> (22) is saving for 20+ years.</a:t>
            </a:r>
            <a:endParaRPr lang="en-US" sz="1600" dirty="0"/>
          </a:p>
        </p:txBody>
      </p:sp>
      <p:sp>
        <p:nvSpPr>
          <p:cNvPr id="22" name="step 3 badge"/>
          <p:cNvSpPr/>
          <p:nvPr/>
        </p:nvSpPr>
        <p:spPr>
          <a:xfrm>
            <a:off x="4846320" y="3291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484632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394960" y="3273552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Meera</a:t>
            </a:r>
            <a:r>
              <a:rPr lang="en-US" sz="1400" dirty="0">
                <a:solidFill>
                  <a:schemeClr val="tx1"/>
                </a:solidFill>
              </a:rPr>
              <a:t> needs her savings for fees in </a:t>
            </a:r>
            <a:r>
              <a:rPr lang="en-US" sz="1400" b="1" dirty="0">
                <a:solidFill>
                  <a:schemeClr val="tx1"/>
                </a:solidFill>
              </a:rPr>
              <a:t>3 months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tep 4 badge"/>
          <p:cNvSpPr/>
          <p:nvPr/>
        </p:nvSpPr>
        <p:spPr>
          <a:xfrm>
            <a:off x="4846320" y="38313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84632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5394960" y="3813048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Kabir</a:t>
            </a:r>
            <a:r>
              <a:rPr lang="en-US" sz="1400" dirty="0">
                <a:solidFill>
                  <a:schemeClr val="tx1"/>
                </a:solidFill>
              </a:rPr>
              <a:t> wants growth but has no time to study markets.</a:t>
            </a:r>
            <a:endParaRPr lang="en-US" sz="1600" dirty="0"/>
          </a:p>
        </p:txBody>
      </p:sp>
      <p:sp>
        <p:nvSpPr>
          <p:cNvPr id="28" name="step 5 badge"/>
          <p:cNvSpPr/>
          <p:nvPr/>
        </p:nvSpPr>
        <p:spPr>
          <a:xfrm>
            <a:off x="4846320" y="43708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84632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5394960" y="4352544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Match each with an option and justify using </a:t>
            </a:r>
            <a:r>
              <a:rPr lang="en-US" sz="1400" b="1" dirty="0">
                <a:solidFill>
                  <a:schemeClr val="tx1"/>
                </a:solidFill>
              </a:rPr>
              <a:t>risk, return, time horizon, liquidity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31" name="outcome band"/>
          <p:cNvSpPr/>
          <p:nvPr/>
        </p:nvSpPr>
        <p:spPr>
          <a:xfrm>
            <a:off x="4846320" y="5074920"/>
            <a:ext cx="64465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029200" y="507492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Learning link:</a:t>
            </a:r>
            <a:r>
              <a:rPr lang="en-US" sz="1400" dirty="0">
                <a:solidFill>
                  <a:schemeClr val="tx2"/>
                </a:solidFill>
              </a:rPr>
              <a:t> The 'best' investment depends on the person's goals and situation.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Protection: Insurance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Pay a regular </a:t>
            </a:r>
            <a:r>
              <a:rPr lang="en-US" sz="1700" b="1" dirty="0">
                <a:solidFill>
                  <a:schemeClr val="tx1"/>
                </a:solidFill>
              </a:rPr>
              <a:t>premium</a:t>
            </a:r>
            <a:r>
              <a:rPr lang="en-US" sz="1700" dirty="0">
                <a:solidFill>
                  <a:schemeClr val="tx1"/>
                </a:solidFill>
              </a:rPr>
              <a:t>; the insurer pays for covered losses. It works on </a:t>
            </a:r>
            <a:r>
              <a:rPr lang="en-US" sz="1700" b="1" dirty="0">
                <a:solidFill>
                  <a:schemeClr val="tx1"/>
                </a:solidFill>
              </a:rPr>
              <a:t>risk sharing</a:t>
            </a:r>
            <a:r>
              <a:rPr lang="en-US" sz="1700" dirty="0">
                <a:solidFill>
                  <a:schemeClr val="tx1"/>
                </a:solidFill>
              </a:rPr>
              <a:t>: many pay into one pool.</a:t>
            </a:r>
            <a:endParaRPr lang="en-US" sz="1600" dirty="0"/>
          </a:p>
        </p:txBody>
      </p:sp>
      <p:sp>
        <p:nvSpPr>
          <p:cNvPr id="4" name="card 1"/>
          <p:cNvSpPr/>
          <p:nvPr/>
        </p:nvSpPr>
        <p:spPr>
          <a:xfrm>
            <a:off x="548640" y="2057400"/>
            <a:ext cx="3505200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 1 disc"/>
          <p:cNvSpPr/>
          <p:nvPr/>
        </p:nvSpPr>
        <p:spPr>
          <a:xfrm>
            <a:off x="777240" y="22860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ard 1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2410724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81328" y="2286000"/>
            <a:ext cx="2343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Health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62656"/>
            <a:ext cx="304800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Hospital bills, medicines, tests. </a:t>
            </a:r>
            <a:r>
              <a:rPr lang="en-US" sz="1700" b="1" dirty="0">
                <a:solidFill>
                  <a:schemeClr val="tx1"/>
                </a:solidFill>
              </a:rPr>
              <a:t>Ayushman Bharat PM-JAY</a:t>
            </a:r>
            <a:r>
              <a:rPr lang="en-US" sz="1700" dirty="0">
                <a:solidFill>
                  <a:schemeClr val="tx1"/>
                </a:solidFill>
              </a:rPr>
              <a:t> covers eligible families.</a:t>
            </a:r>
            <a:endParaRPr lang="en-US" sz="1600" dirty="0"/>
          </a:p>
        </p:txBody>
      </p:sp>
      <p:sp>
        <p:nvSpPr>
          <p:cNvPr id="9" name="card 2"/>
          <p:cNvSpPr/>
          <p:nvPr/>
        </p:nvSpPr>
        <p:spPr>
          <a:xfrm>
            <a:off x="4328160" y="2057400"/>
            <a:ext cx="3505200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 2 disc"/>
          <p:cNvSpPr/>
          <p:nvPr/>
        </p:nvSpPr>
        <p:spPr>
          <a:xfrm>
            <a:off x="4556760" y="22860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card 2 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484" y="241072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60848" y="2286000"/>
            <a:ext cx="2343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Life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56760" y="2962656"/>
            <a:ext cx="304800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Supports the family if the breadwinner dies: daily needs, education, loans.</a:t>
            </a:r>
            <a:endParaRPr lang="en-US" sz="1600" dirty="0"/>
          </a:p>
        </p:txBody>
      </p:sp>
      <p:sp>
        <p:nvSpPr>
          <p:cNvPr id="14" name="card 3"/>
          <p:cNvSpPr/>
          <p:nvPr/>
        </p:nvSpPr>
        <p:spPr>
          <a:xfrm>
            <a:off x="8107680" y="2057400"/>
            <a:ext cx="3505200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 3 disc"/>
          <p:cNvSpPr/>
          <p:nvPr/>
        </p:nvSpPr>
        <p:spPr>
          <a:xfrm>
            <a:off x="8336280" y="228600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card 3 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004" y="2410724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40368" y="2286000"/>
            <a:ext cx="2343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Motor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36280" y="2962656"/>
            <a:ext cx="304800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Repairs and damages from vehicle accidents.</a:t>
            </a:r>
            <a:endParaRPr lang="en-US" sz="1600" dirty="0"/>
          </a:p>
        </p:txBody>
      </p:sp>
      <p:sp>
        <p:nvSpPr>
          <p:cNvPr id="19" name="card 4"/>
          <p:cNvSpPr/>
          <p:nvPr/>
        </p:nvSpPr>
        <p:spPr>
          <a:xfrm>
            <a:off x="548640" y="4274820"/>
            <a:ext cx="3505200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ard 4 disc"/>
          <p:cNvSpPr/>
          <p:nvPr/>
        </p:nvSpPr>
        <p:spPr>
          <a:xfrm>
            <a:off x="777240" y="450342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card 4 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64" y="4628144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81328" y="4503420"/>
            <a:ext cx="2343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Property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180076"/>
            <a:ext cx="304800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Homes and businesses against fire, theft, flood, earthquake.</a:t>
            </a:r>
            <a:endParaRPr lang="en-US" sz="1600" dirty="0"/>
          </a:p>
        </p:txBody>
      </p:sp>
      <p:sp>
        <p:nvSpPr>
          <p:cNvPr id="24" name="card 5"/>
          <p:cNvSpPr/>
          <p:nvPr/>
        </p:nvSpPr>
        <p:spPr>
          <a:xfrm>
            <a:off x="4328160" y="4274820"/>
            <a:ext cx="3505200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card 5 disc"/>
          <p:cNvSpPr/>
          <p:nvPr/>
        </p:nvSpPr>
        <p:spPr>
          <a:xfrm>
            <a:off x="4556760" y="4503420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6" name="card 5 glyp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484" y="4628144"/>
            <a:ext cx="317480" cy="3174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60848" y="4503420"/>
            <a:ext cx="2343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Crop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4556760" y="5180076"/>
            <a:ext cx="304800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Farmers against disasters, pests and price changes.</a:t>
            </a:r>
            <a:endParaRPr lang="en-US" sz="1600" dirty="0"/>
          </a:p>
        </p:txBody>
      </p:sp>
      <p:sp>
        <p:nvSpPr>
          <p:cNvPr id="29" name="card 6"/>
          <p:cNvSpPr/>
          <p:nvPr/>
        </p:nvSpPr>
        <p:spPr>
          <a:xfrm>
            <a:off x="8107680" y="4274820"/>
            <a:ext cx="3505200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ard 6 disc"/>
          <p:cNvSpPr/>
          <p:nvPr/>
        </p:nvSpPr>
        <p:spPr>
          <a:xfrm>
            <a:off x="8336280" y="45034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card 6 glyph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004" y="4628144"/>
            <a:ext cx="317480" cy="3174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40368" y="4503420"/>
            <a:ext cx="2343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Cattle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8336280" y="5180076"/>
            <a:ext cx="304800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Death or disability of farm and dairy animals.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Game: The Risk Pool</a:t>
            </a:r>
            <a:endParaRPr lang="en-US" sz="3600" dirty="0"/>
          </a:p>
        </p:txBody>
      </p:sp>
      <p:sp>
        <p:nvSpPr>
          <p:cNvPr id="3" name="activity info card"/>
          <p:cNvSpPr/>
          <p:nvPr/>
        </p:nvSpPr>
        <p:spPr>
          <a:xfrm>
            <a:off x="548640" y="1371600"/>
            <a:ext cx="3657600" cy="484632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activity disc"/>
          <p:cNvSpPr/>
          <p:nvPr/>
        </p:nvSpPr>
        <p:spPr>
          <a:xfrm>
            <a:off x="868680" y="16916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activity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89280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SIMULATION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How insurance works</a:t>
            </a:r>
            <a:endParaRPr lang="en-US" sz="1800" dirty="0"/>
          </a:p>
        </p:txBody>
      </p:sp>
      <p:pic>
        <p:nvPicPr>
          <p:cNvPr id="8" name="Tim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63240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30175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Time: </a:t>
            </a:r>
            <a:r>
              <a:rPr lang="en-US" sz="1400" dirty="0">
                <a:solidFill>
                  <a:schemeClr val="bg1"/>
                </a:solidFill>
              </a:rPr>
              <a:t>15 minutes</a:t>
            </a:r>
            <a:endParaRPr lang="en-US" sz="1400" dirty="0"/>
          </a:p>
        </p:txBody>
      </p:sp>
      <p:pic>
        <p:nvPicPr>
          <p:cNvPr id="10" name="Grou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03320"/>
            <a:ext cx="347472" cy="34747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3657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Group: </a:t>
            </a:r>
            <a:r>
              <a:rPr lang="en-US" sz="1400" dirty="0">
                <a:solidFill>
                  <a:schemeClr val="bg1"/>
                </a:solidFill>
              </a:rPr>
              <a:t>Whole class</a:t>
            </a:r>
            <a:endParaRPr lang="en-US" sz="1400" dirty="0"/>
          </a:p>
        </p:txBody>
      </p:sp>
      <p:pic>
        <p:nvPicPr>
          <p:cNvPr id="12" name="You need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43400"/>
            <a:ext cx="347472" cy="34747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71600" y="42976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You need: </a:t>
            </a:r>
            <a:r>
              <a:rPr lang="en-US" sz="1400" dirty="0">
                <a:solidFill>
                  <a:schemeClr val="bg1"/>
                </a:solidFill>
              </a:rPr>
              <a:t>Paper money (₹10 notes), a box of chits</a:t>
            </a:r>
            <a:endParaRPr lang="en-US" sz="1400" dirty="0"/>
          </a:p>
        </p:txBody>
      </p:sp>
      <p:sp>
        <p:nvSpPr>
          <p:cNvPr id="14" name="activity steps card"/>
          <p:cNvSpPr/>
          <p:nvPr/>
        </p:nvSpPr>
        <p:spPr>
          <a:xfrm>
            <a:off x="4526280" y="1371600"/>
            <a:ext cx="708660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Text 9"/>
          <p:cNvSpPr txBox="1"/>
          <p:nvPr/>
        </p:nvSpPr>
        <p:spPr>
          <a:xfrm>
            <a:off x="4846320" y="1600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How to play</a:t>
            </a:r>
            <a:endParaRPr lang="en-US" sz="2000" dirty="0"/>
          </a:p>
        </p:txBody>
      </p:sp>
      <p:sp>
        <p:nvSpPr>
          <p:cNvPr id="16" name="step 1 badge"/>
          <p:cNvSpPr/>
          <p:nvPr/>
        </p:nvSpPr>
        <p:spPr>
          <a:xfrm>
            <a:off x="4846320" y="22128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484632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5394960" y="2194560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Every student pays </a:t>
            </a:r>
            <a:r>
              <a:rPr lang="en-US" sz="1600" b="1" dirty="0">
                <a:solidFill>
                  <a:schemeClr val="tx1"/>
                </a:solidFill>
              </a:rPr>
              <a:t>₹10 'premium'</a:t>
            </a:r>
            <a:r>
              <a:rPr lang="en-US" sz="1600" dirty="0">
                <a:solidFill>
                  <a:schemeClr val="tx1"/>
                </a:solidFill>
              </a:rPr>
              <a:t> into the class pool.</a:t>
            </a:r>
            <a:endParaRPr lang="en-US" sz="1600" dirty="0"/>
          </a:p>
        </p:txBody>
      </p:sp>
      <p:sp>
        <p:nvSpPr>
          <p:cNvPr id="19" name="step 2 badge"/>
          <p:cNvSpPr/>
          <p:nvPr/>
        </p:nvSpPr>
        <p:spPr>
          <a:xfrm>
            <a:off x="4846320" y="27523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484632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394960" y="2734056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Draw 3 chits: 2 say </a:t>
            </a:r>
            <a:r>
              <a:rPr lang="en-US" sz="1600" b="1" dirty="0">
                <a:solidFill>
                  <a:schemeClr val="tx1"/>
                </a:solidFill>
              </a:rPr>
              <a:t>'Hospital bill: ₹120'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22" name="step 3 badge"/>
          <p:cNvSpPr/>
          <p:nvPr/>
        </p:nvSpPr>
        <p:spPr>
          <a:xfrm>
            <a:off x="4846320" y="3291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484632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394960" y="3273552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pool pays these 'unlucky' students' bills.</a:t>
            </a:r>
            <a:endParaRPr lang="en-US" sz="1600" dirty="0"/>
          </a:p>
        </p:txBody>
      </p:sp>
      <p:sp>
        <p:nvSpPr>
          <p:cNvPr id="25" name="step 4 badge"/>
          <p:cNvSpPr/>
          <p:nvPr/>
        </p:nvSpPr>
        <p:spPr>
          <a:xfrm>
            <a:off x="4846320" y="38313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84632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5394960" y="3813048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Count what is left in the pool.</a:t>
            </a:r>
            <a:endParaRPr lang="en-US" sz="1600" dirty="0"/>
          </a:p>
        </p:txBody>
      </p:sp>
      <p:sp>
        <p:nvSpPr>
          <p:cNvPr id="28" name="step 5 badge"/>
          <p:cNvSpPr/>
          <p:nvPr/>
        </p:nvSpPr>
        <p:spPr>
          <a:xfrm>
            <a:off x="4846320" y="43708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84632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5394960" y="4352544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Discuss: What if they had no insurance?</a:t>
            </a:r>
            <a:endParaRPr lang="en-US" sz="1600" dirty="0"/>
          </a:p>
        </p:txBody>
      </p:sp>
      <p:sp>
        <p:nvSpPr>
          <p:cNvPr id="31" name="outcome band"/>
          <p:cNvSpPr/>
          <p:nvPr/>
        </p:nvSpPr>
        <p:spPr>
          <a:xfrm>
            <a:off x="4846320" y="5074920"/>
            <a:ext cx="64465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029200" y="507492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Learning link:</a:t>
            </a:r>
            <a:r>
              <a:rPr lang="en-US" sz="1400" dirty="0">
                <a:solidFill>
                  <a:schemeClr val="tx2"/>
                </a:solidFill>
              </a:rPr>
              <a:t> Small regular premiums from many people protect a few from big losses.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Borrowing Wisely</a:t>
            </a:r>
            <a:endParaRPr lang="en-US" sz="3600" dirty="0"/>
          </a:p>
        </p:txBody>
      </p:sp>
      <p:sp>
        <p:nvSpPr>
          <p:cNvPr id="3" name="Productive borrowing header"/>
          <p:cNvSpPr/>
          <p:nvPr/>
        </p:nvSpPr>
        <p:spPr>
          <a:xfrm>
            <a:off x="548640" y="1371600"/>
            <a:ext cx="525780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Productive borrow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716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Productive borrowing</a:t>
            </a:r>
            <a:endParaRPr lang="en-US" sz="2200" dirty="0"/>
          </a:p>
        </p:txBody>
      </p:sp>
      <p:sp>
        <p:nvSpPr>
          <p:cNvPr id="6" name="Productive borrowing body"/>
          <p:cNvSpPr/>
          <p:nvPr/>
        </p:nvSpPr>
        <p:spPr>
          <a:xfrm>
            <a:off x="548640" y="2240280"/>
            <a:ext cx="525780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42316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Borrow only when </a:t>
            </a:r>
            <a:r>
              <a:rPr lang="en-US" sz="2200" b="1" dirty="0">
                <a:solidFill>
                  <a:schemeClr val="tx1"/>
                </a:solidFill>
              </a:rPr>
              <a:t>necessary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e.g. an </a:t>
            </a:r>
            <a:r>
              <a:rPr lang="en-US" sz="2200" b="1" dirty="0">
                <a:solidFill>
                  <a:schemeClr val="tx1"/>
                </a:solidFill>
              </a:rPr>
              <a:t>education loan</a:t>
            </a:r>
            <a:r>
              <a:rPr lang="en-US" sz="2200" dirty="0">
                <a:solidFill>
                  <a:schemeClr val="tx1"/>
                </a:solidFill>
              </a:rPr>
              <a:t> for higher studies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Repay </a:t>
            </a:r>
            <a:r>
              <a:rPr lang="en-US" sz="2200" b="1" dirty="0">
                <a:solidFill>
                  <a:schemeClr val="tx1"/>
                </a:solidFill>
              </a:rPr>
              <a:t>on time</a:t>
            </a:r>
            <a:endParaRPr lang="en-US" sz="1600" dirty="0"/>
          </a:p>
        </p:txBody>
      </p:sp>
      <p:sp>
        <p:nvSpPr>
          <p:cNvPr id="8" name="Risky borrowing header"/>
          <p:cNvSpPr/>
          <p:nvPr/>
        </p:nvSpPr>
        <p:spPr>
          <a:xfrm>
            <a:off x="6355080" y="1371600"/>
            <a:ext cx="525780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Risky borrowin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087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269480" y="13716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Risky borrowing</a:t>
            </a:r>
            <a:endParaRPr lang="en-US" sz="2200" dirty="0"/>
          </a:p>
        </p:txBody>
      </p:sp>
      <p:sp>
        <p:nvSpPr>
          <p:cNvPr id="11" name="Risky borrowing body"/>
          <p:cNvSpPr/>
          <p:nvPr/>
        </p:nvSpPr>
        <p:spPr>
          <a:xfrm>
            <a:off x="6355080" y="2240280"/>
            <a:ext cx="525780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629400" y="242316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Loans for unnecessary consumer goods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Too many </a:t>
            </a:r>
            <a:r>
              <a:rPr lang="en-US" sz="2200" b="1" dirty="0">
                <a:solidFill>
                  <a:schemeClr val="tx1"/>
                </a:solidFill>
              </a:rPr>
              <a:t>EMIs</a:t>
            </a:r>
            <a:r>
              <a:rPr lang="en-US" sz="2200" dirty="0">
                <a:solidFill>
                  <a:schemeClr val="tx1"/>
                </a:solidFill>
              </a:rPr>
              <a:t> eat into savings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Can lead to a </a:t>
            </a:r>
            <a:r>
              <a:rPr lang="en-US" sz="2200" b="1" dirty="0">
                <a:solidFill>
                  <a:schemeClr val="tx1"/>
                </a:solidFill>
              </a:rPr>
              <a:t>debt burden</a:t>
            </a:r>
            <a:endParaRPr lang="en-US" sz="1600" dirty="0"/>
          </a:p>
        </p:txBody>
      </p:sp>
      <p:sp>
        <p:nvSpPr>
          <p:cNvPr id="13" name="vs badge"/>
          <p:cNvSpPr/>
          <p:nvPr/>
        </p:nvSpPr>
        <p:spPr>
          <a:xfrm>
            <a:off x="5733288" y="1417320"/>
            <a:ext cx="713232" cy="713232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733288" y="14173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VS</a:t>
            </a:r>
            <a:endParaRPr lang="en-US" sz="1600" dirty="0"/>
          </a:p>
        </p:txBody>
      </p:sp>
      <p:sp>
        <p:nvSpPr>
          <p:cNvPr id="15" name="footnote band"/>
          <p:cNvSpPr/>
          <p:nvPr/>
        </p:nvSpPr>
        <p:spPr>
          <a:xfrm>
            <a:off x="548640" y="5760720"/>
            <a:ext cx="1106424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EMI example:</a:t>
            </a:r>
            <a:r>
              <a:rPr lang="en-US" sz="1500" dirty="0">
                <a:solidFill>
                  <a:schemeClr val="bg1"/>
                </a:solidFill>
              </a:rPr>
              <a:t> ₹30,000 fridge = ₹3,000 × 12 months = ₹36,000 paid. The extra </a:t>
            </a:r>
            <a:r>
              <a:rPr lang="en-US" sz="1500" b="1" dirty="0">
                <a:solidFill>
                  <a:schemeClr val="bg1"/>
                </a:solidFill>
              </a:rPr>
              <a:t>₹6,000 is interest</a:t>
            </a:r>
            <a:r>
              <a:rPr lang="en-US" sz="1500" dirty="0">
                <a:solidFill>
                  <a:schemeClr val="bg1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bg2"/>
                </a:solidFill>
              </a:rPr>
              <a:t>PART 3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Taxes: Our Contribution to the Nation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690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Compulsory payments that fund schools, hospitals, roads, defence and more.</a:t>
            </a:r>
            <a:endParaRPr lang="en-US" sz="1800" dirty="0"/>
          </a:p>
        </p:txBody>
      </p:sp>
      <p:sp>
        <p:nvSpPr>
          <p:cNvPr id="5" name="section disc"/>
          <p:cNvSpPr/>
          <p:nvPr/>
        </p:nvSpPr>
        <p:spPr>
          <a:xfrm>
            <a:off x="9006840" y="1828800"/>
            <a:ext cx="2560320" cy="256032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6" name="se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42316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Direct and Indirect Taxes</a:t>
            </a:r>
            <a:endParaRPr lang="en-US" sz="3600" dirty="0"/>
          </a:p>
        </p:txBody>
      </p:sp>
      <p:sp>
        <p:nvSpPr>
          <p:cNvPr id="3" name="Direct taxes header"/>
          <p:cNvSpPr/>
          <p:nvPr/>
        </p:nvSpPr>
        <p:spPr>
          <a:xfrm>
            <a:off x="548640" y="1371600"/>
            <a:ext cx="525780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Direct tax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716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Direct taxes</a:t>
            </a:r>
            <a:endParaRPr lang="en-US" sz="2200" dirty="0"/>
          </a:p>
        </p:txBody>
      </p:sp>
      <p:sp>
        <p:nvSpPr>
          <p:cNvPr id="6" name="Direct taxes body"/>
          <p:cNvSpPr/>
          <p:nvPr/>
        </p:nvSpPr>
        <p:spPr>
          <a:xfrm>
            <a:off x="548640" y="2240280"/>
            <a:ext cx="525780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42316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Paid directly on a person's or organisation's </a:t>
            </a:r>
            <a:r>
              <a:rPr lang="en-US" sz="2200" b="1" dirty="0">
                <a:solidFill>
                  <a:schemeClr val="tx1"/>
                </a:solidFill>
              </a:rPr>
              <a:t>income or profits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e.g. </a:t>
            </a:r>
            <a:r>
              <a:rPr lang="en-US" sz="2200" b="1" dirty="0">
                <a:solidFill>
                  <a:schemeClr val="tx1"/>
                </a:solidFill>
              </a:rPr>
              <a:t>income tax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Financial year: 1 April to 31 March</a:t>
            </a:r>
            <a:endParaRPr lang="en-US" sz="1600" dirty="0"/>
          </a:p>
        </p:txBody>
      </p:sp>
      <p:sp>
        <p:nvSpPr>
          <p:cNvPr id="8" name="Indirect taxes header"/>
          <p:cNvSpPr/>
          <p:nvPr/>
        </p:nvSpPr>
        <p:spPr>
          <a:xfrm>
            <a:off x="6355080" y="1371600"/>
            <a:ext cx="525780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ndirect taxe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087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269480" y="13716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Indirect taxes</a:t>
            </a:r>
            <a:endParaRPr lang="en-US" sz="2200" dirty="0"/>
          </a:p>
        </p:txBody>
      </p:sp>
      <p:sp>
        <p:nvSpPr>
          <p:cNvPr id="11" name="Indirect taxes body"/>
          <p:cNvSpPr/>
          <p:nvPr/>
        </p:nvSpPr>
        <p:spPr>
          <a:xfrm>
            <a:off x="6355080" y="2240280"/>
            <a:ext cx="525780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629400" y="242316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Added to the </a:t>
            </a:r>
            <a:r>
              <a:rPr lang="en-US" sz="2200" b="1" dirty="0">
                <a:solidFill>
                  <a:schemeClr val="tx1"/>
                </a:solidFill>
              </a:rPr>
              <a:t>price of goods and services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e.g. </a:t>
            </a:r>
            <a:r>
              <a:rPr lang="en-US" sz="2200" b="1" dirty="0">
                <a:solidFill>
                  <a:schemeClr val="tx1"/>
                </a:solidFill>
              </a:rPr>
              <a:t>GST</a:t>
            </a:r>
            <a:r>
              <a:rPr lang="en-US" sz="2200" dirty="0">
                <a:solidFill>
                  <a:schemeClr val="tx1"/>
                </a:solidFill>
              </a:rPr>
              <a:t> (Goods and Services Tax)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Paid by everyone who buys</a:t>
            </a:r>
            <a:endParaRPr lang="en-US" sz="1600" dirty="0"/>
          </a:p>
        </p:txBody>
      </p:sp>
      <p:sp>
        <p:nvSpPr>
          <p:cNvPr id="13" name="vs badge"/>
          <p:cNvSpPr/>
          <p:nvPr/>
        </p:nvSpPr>
        <p:spPr>
          <a:xfrm>
            <a:off x="5733288" y="1417320"/>
            <a:ext cx="713232" cy="713232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733288" y="14173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&amp;</a:t>
            </a:r>
            <a:endParaRPr lang="en-US" sz="1600" dirty="0"/>
          </a:p>
        </p:txBody>
      </p:sp>
      <p:sp>
        <p:nvSpPr>
          <p:cNvPr id="15" name="footnote band"/>
          <p:cNvSpPr/>
          <p:nvPr/>
        </p:nvSpPr>
        <p:spPr>
          <a:xfrm>
            <a:off x="548640" y="5760720"/>
            <a:ext cx="1106424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Progressive taxation:</a:t>
            </a:r>
            <a:r>
              <a:rPr lang="en-US" sz="1500" dirty="0">
                <a:solidFill>
                  <a:schemeClr val="bg1"/>
                </a:solidFill>
              </a:rPr>
              <a:t> higher incomes pay higher rates. Slabs come in the </a:t>
            </a:r>
            <a:r>
              <a:rPr lang="en-US" sz="1500" b="1" dirty="0">
                <a:solidFill>
                  <a:schemeClr val="bg1"/>
                </a:solidFill>
              </a:rPr>
              <a:t>Union Budget</a:t>
            </a:r>
            <a:r>
              <a:rPr lang="en-US" sz="1500" dirty="0">
                <a:solidFill>
                  <a:schemeClr val="bg1"/>
                </a:solidFill>
              </a:rPr>
              <a:t>; the </a:t>
            </a:r>
            <a:r>
              <a:rPr lang="en-US" sz="1500" b="1" dirty="0">
                <a:solidFill>
                  <a:schemeClr val="bg1"/>
                </a:solidFill>
              </a:rPr>
              <a:t>CBDT</a:t>
            </a:r>
            <a:r>
              <a:rPr lang="en-US" sz="1500" dirty="0">
                <a:solidFill>
                  <a:schemeClr val="bg1"/>
                </a:solidFill>
              </a:rPr>
              <a:t> administers direct taxes.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Income Tax Slabs: How Tax Is Calculated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New tax regime, FY 2025–26</a:t>
            </a:r>
            <a:endParaRPr lang="en-US" sz="1700" dirty="0"/>
          </a:p>
        </p:txBody>
      </p:sp>
      <p:graphicFrame>
        <p:nvGraphicFramePr>
          <p:cNvPr id="21" name="slab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45720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income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C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₹4 lakh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₹4–8 lakh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₹8–12 lakh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₹12–16 lakh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₹16–20 lakh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₹20–24 lakh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₹24 lakh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86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Progressive: the higher the income, the higher the rate on the extra part.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12801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Worked example: Priya earns ₹14 lakh a year</a:t>
            </a:r>
            <a:endParaRPr lang="en-US" sz="1700" dirty="0"/>
          </a:p>
        </p:txBody>
      </p:sp>
      <p:graphicFrame>
        <p:nvGraphicFramePr>
          <p:cNvPr id="41" name="priy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737360"/>
          <a:ext cx="612648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8288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1: Taxable income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C6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salary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14,00,000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standard deduction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75,000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Taxable income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13,25,000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2: Tax slab by slab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(₹)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C6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₹4,00,000 at 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₹4,00,000 at 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₹4,00,000 at 10%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 ₹1,25,000 at 15%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18,750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8A5A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tax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8A5A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78,750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Challenge: Be the Tax Officer</a:t>
            </a:r>
            <a:endParaRPr lang="en-US" sz="3600" dirty="0"/>
          </a:p>
        </p:txBody>
      </p:sp>
      <p:sp>
        <p:nvSpPr>
          <p:cNvPr id="3" name="activity info card"/>
          <p:cNvSpPr/>
          <p:nvPr/>
        </p:nvSpPr>
        <p:spPr>
          <a:xfrm>
            <a:off x="548640" y="1371600"/>
            <a:ext cx="3657600" cy="484632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activity disc"/>
          <p:cNvSpPr/>
          <p:nvPr/>
        </p:nvSpPr>
        <p:spPr>
          <a:xfrm>
            <a:off x="868680" y="16916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activity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89280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MATHS IN SST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Calculate the tax</a:t>
            </a:r>
            <a:endParaRPr lang="en-US" sz="1800" dirty="0"/>
          </a:p>
        </p:txBody>
      </p:sp>
      <p:pic>
        <p:nvPicPr>
          <p:cNvPr id="8" name="Tim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63240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30175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Time: </a:t>
            </a:r>
            <a:r>
              <a:rPr lang="en-US" sz="1400" dirty="0">
                <a:solidFill>
                  <a:schemeClr val="bg1"/>
                </a:solidFill>
              </a:rPr>
              <a:t>15 minutes</a:t>
            </a:r>
            <a:endParaRPr lang="en-US" sz="1400" dirty="0"/>
          </a:p>
        </p:txBody>
      </p:sp>
      <p:pic>
        <p:nvPicPr>
          <p:cNvPr id="10" name="Grou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03320"/>
            <a:ext cx="347472" cy="34747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3657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Group: </a:t>
            </a:r>
            <a:r>
              <a:rPr lang="en-US" sz="1400" dirty="0">
                <a:solidFill>
                  <a:schemeClr val="bg1"/>
                </a:solidFill>
              </a:rPr>
              <a:t>Individual, then pairs</a:t>
            </a:r>
            <a:endParaRPr lang="en-US" sz="1400" dirty="0"/>
          </a:p>
        </p:txBody>
      </p:sp>
      <p:pic>
        <p:nvPicPr>
          <p:cNvPr id="12" name="You need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43400"/>
            <a:ext cx="347472" cy="34747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71600" y="42976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You need: </a:t>
            </a:r>
            <a:r>
              <a:rPr lang="en-US" sz="1400" dirty="0">
                <a:solidFill>
                  <a:schemeClr val="bg1"/>
                </a:solidFill>
              </a:rPr>
              <a:t>Slab table, calculator (optional)</a:t>
            </a:r>
            <a:endParaRPr lang="en-US" sz="1400" dirty="0"/>
          </a:p>
        </p:txBody>
      </p:sp>
      <p:sp>
        <p:nvSpPr>
          <p:cNvPr id="14" name="activity steps card"/>
          <p:cNvSpPr/>
          <p:nvPr/>
        </p:nvSpPr>
        <p:spPr>
          <a:xfrm>
            <a:off x="4526280" y="1371600"/>
            <a:ext cx="708660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Text 9"/>
          <p:cNvSpPr txBox="1"/>
          <p:nvPr/>
        </p:nvSpPr>
        <p:spPr>
          <a:xfrm>
            <a:off x="4846320" y="1600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How to play</a:t>
            </a:r>
            <a:endParaRPr lang="en-US" sz="2000" dirty="0"/>
          </a:p>
        </p:txBody>
      </p:sp>
      <p:sp>
        <p:nvSpPr>
          <p:cNvPr id="16" name="step 1 badge"/>
          <p:cNvSpPr/>
          <p:nvPr/>
        </p:nvSpPr>
        <p:spPr>
          <a:xfrm>
            <a:off x="4846320" y="22128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484632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5394960" y="2194560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Sai's</a:t>
            </a:r>
            <a:r>
              <a:rPr lang="en-US" sz="1400" dirty="0">
                <a:solidFill>
                  <a:schemeClr val="tx1"/>
                </a:solidFill>
              </a:rPr>
              <a:t> taxable income is </a:t>
            </a:r>
            <a:r>
              <a:rPr lang="en-US" sz="1400" b="1" dirty="0">
                <a:solidFill>
                  <a:schemeClr val="tx1"/>
                </a:solidFill>
              </a:rPr>
              <a:t>₹3,80,000</a:t>
            </a:r>
            <a:r>
              <a:rPr lang="en-US" sz="1400" dirty="0">
                <a:solidFill>
                  <a:schemeClr val="tx1"/>
                </a:solidFill>
              </a:rPr>
              <a:t>. How much tax?</a:t>
            </a:r>
            <a:endParaRPr lang="en-US" sz="1600" dirty="0"/>
          </a:p>
        </p:txBody>
      </p:sp>
      <p:sp>
        <p:nvSpPr>
          <p:cNvPr id="19" name="step 2 badge"/>
          <p:cNvSpPr/>
          <p:nvPr/>
        </p:nvSpPr>
        <p:spPr>
          <a:xfrm>
            <a:off x="4846320" y="27523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484632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394960" y="2734056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Arjun's</a:t>
            </a:r>
            <a:r>
              <a:rPr lang="en-US" sz="1400" dirty="0">
                <a:solidFill>
                  <a:schemeClr val="tx1"/>
                </a:solidFill>
              </a:rPr>
              <a:t> taxable income is </a:t>
            </a:r>
            <a:r>
              <a:rPr lang="en-US" sz="1400" b="1" dirty="0">
                <a:solidFill>
                  <a:schemeClr val="tx1"/>
                </a:solidFill>
              </a:rPr>
              <a:t>₹16,00,000</a:t>
            </a:r>
            <a:r>
              <a:rPr lang="en-US" sz="1400" dirty="0">
                <a:solidFill>
                  <a:schemeClr val="tx1"/>
                </a:solidFill>
              </a:rPr>
              <a:t>. Work slab by slab.</a:t>
            </a:r>
            <a:endParaRPr lang="en-US" sz="1600" dirty="0"/>
          </a:p>
        </p:txBody>
      </p:sp>
      <p:sp>
        <p:nvSpPr>
          <p:cNvPr id="22" name="step 3 badge"/>
          <p:cNvSpPr/>
          <p:nvPr/>
        </p:nvSpPr>
        <p:spPr>
          <a:xfrm>
            <a:off x="4846320" y="3291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484632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394960" y="3273552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Ravi's</a:t>
            </a:r>
            <a:r>
              <a:rPr lang="en-US" sz="1400" dirty="0">
                <a:solidFill>
                  <a:schemeClr val="tx1"/>
                </a:solidFill>
              </a:rPr>
              <a:t> salary is </a:t>
            </a:r>
            <a:r>
              <a:rPr lang="en-US" sz="1400" b="1" dirty="0">
                <a:solidFill>
                  <a:schemeClr val="tx1"/>
                </a:solidFill>
              </a:rPr>
              <a:t>₹15,75,000</a:t>
            </a:r>
            <a:r>
              <a:rPr lang="en-US" sz="1400" dirty="0">
                <a:solidFill>
                  <a:schemeClr val="tx1"/>
                </a:solidFill>
              </a:rPr>
              <a:t>. Subtract ₹75,000 first, then calculate.</a:t>
            </a:r>
            <a:endParaRPr lang="en-US" sz="1600" dirty="0"/>
          </a:p>
        </p:txBody>
      </p:sp>
      <p:sp>
        <p:nvSpPr>
          <p:cNvPr id="25" name="step 4 badge"/>
          <p:cNvSpPr/>
          <p:nvPr/>
        </p:nvSpPr>
        <p:spPr>
          <a:xfrm>
            <a:off x="4846320" y="38313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84632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5394960" y="3813048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your partner's working.</a:t>
            </a:r>
            <a:endParaRPr lang="en-US" sz="1600" dirty="0"/>
          </a:p>
        </p:txBody>
      </p:sp>
      <p:sp>
        <p:nvSpPr>
          <p:cNvPr id="28" name="step 5 badge"/>
          <p:cNvSpPr/>
          <p:nvPr/>
        </p:nvSpPr>
        <p:spPr>
          <a:xfrm>
            <a:off x="4846320" y="43708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84632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5394960" y="4352544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Ask a parent how an income tax return is filed (incometaxindia.gov.in).</a:t>
            </a:r>
            <a:endParaRPr lang="en-US" sz="1600" dirty="0"/>
          </a:p>
        </p:txBody>
      </p:sp>
      <p:sp>
        <p:nvSpPr>
          <p:cNvPr id="31" name="outcome band"/>
          <p:cNvSpPr/>
          <p:nvPr/>
        </p:nvSpPr>
        <p:spPr>
          <a:xfrm>
            <a:off x="4846320" y="5074920"/>
            <a:ext cx="64465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029200" y="507492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Learning link:</a:t>
            </a:r>
            <a:r>
              <a:rPr lang="en-US" sz="1400" dirty="0">
                <a:solidFill>
                  <a:schemeClr val="tx2"/>
                </a:solidFill>
              </a:rPr>
              <a:t> Progressive slabs mean each part of income is taxed at its own rate.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Quick Quiz</a:t>
            </a:r>
            <a:endParaRPr lang="en-US" sz="3600" dirty="0"/>
          </a:p>
        </p:txBody>
      </p:sp>
      <p:sp>
        <p:nvSpPr>
          <p:cNvPr id="3" name="quiz q1"/>
          <p:cNvSpPr/>
          <p:nvPr/>
        </p:nvSpPr>
        <p:spPr>
          <a:xfrm>
            <a:off x="548640" y="137160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quiz q1 badge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0876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Which is NOT a pillar of personal finance?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40280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A)  </a:t>
            </a:r>
            <a:r>
              <a:rPr lang="en-US" sz="1700" dirty="0">
                <a:solidFill>
                  <a:schemeClr val="tx1"/>
                </a:solidFill>
              </a:rPr>
              <a:t>Budgeting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B)  </a:t>
            </a:r>
            <a:r>
              <a:rPr lang="en-US" sz="1700" dirty="0">
                <a:solidFill>
                  <a:schemeClr val="tx1"/>
                </a:solidFill>
              </a:rPr>
              <a:t>Investing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C)  </a:t>
            </a:r>
            <a:r>
              <a:rPr lang="en-US" sz="1700" dirty="0">
                <a:solidFill>
                  <a:schemeClr val="tx1"/>
                </a:solidFill>
              </a:rPr>
              <a:t>Gambling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D)  </a:t>
            </a:r>
            <a:r>
              <a:rPr lang="en-US" sz="1700" dirty="0">
                <a:solidFill>
                  <a:schemeClr val="tx1"/>
                </a:solidFill>
              </a:rPr>
              <a:t>Protection</a:t>
            </a:r>
            <a:endParaRPr lang="en-US" sz="1700" dirty="0"/>
          </a:p>
        </p:txBody>
      </p:sp>
      <p:sp>
        <p:nvSpPr>
          <p:cNvPr id="8" name="quiz q2"/>
          <p:cNvSpPr/>
          <p:nvPr/>
        </p:nvSpPr>
        <p:spPr>
          <a:xfrm>
            <a:off x="6217920" y="137160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quiz q2 badge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50876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At 6% inflation, a ₹1,000 bag will cost about…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240280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A)  </a:t>
            </a:r>
            <a:r>
              <a:rPr lang="en-US" sz="1700" dirty="0">
                <a:solidFill>
                  <a:schemeClr val="tx1"/>
                </a:solidFill>
              </a:rPr>
              <a:t>₹940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B)  </a:t>
            </a:r>
            <a:r>
              <a:rPr lang="en-US" sz="1700" dirty="0">
                <a:solidFill>
                  <a:schemeClr val="tx1"/>
                </a:solidFill>
              </a:rPr>
              <a:t>₹1,006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C)  </a:t>
            </a:r>
            <a:r>
              <a:rPr lang="en-US" sz="1700" dirty="0">
                <a:solidFill>
                  <a:schemeClr val="tx1"/>
                </a:solidFill>
              </a:rPr>
              <a:t>₹1,060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D)  </a:t>
            </a:r>
            <a:r>
              <a:rPr lang="en-US" sz="1700" dirty="0">
                <a:solidFill>
                  <a:schemeClr val="tx1"/>
                </a:solidFill>
              </a:rPr>
              <a:t>₹1,600</a:t>
            </a:r>
            <a:endParaRPr lang="en-US" sz="1700" dirty="0"/>
          </a:p>
        </p:txBody>
      </p:sp>
      <p:sp>
        <p:nvSpPr>
          <p:cNvPr id="13" name="quiz q3"/>
          <p:cNvSpPr/>
          <p:nvPr/>
        </p:nvSpPr>
        <p:spPr>
          <a:xfrm>
            <a:off x="548640" y="393192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quiz q3 badge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0690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Mutual funds reduce risk through…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800600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A)  </a:t>
            </a:r>
            <a:r>
              <a:rPr lang="en-US" sz="1700" dirty="0">
                <a:solidFill>
                  <a:schemeClr val="tx1"/>
                </a:solidFill>
              </a:rPr>
              <a:t>guaranteed returns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B)  </a:t>
            </a:r>
            <a:r>
              <a:rPr lang="en-US" sz="1700" dirty="0">
                <a:solidFill>
                  <a:schemeClr val="tx1"/>
                </a:solidFill>
              </a:rPr>
              <a:t>portfolio diversification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C)  </a:t>
            </a:r>
            <a:r>
              <a:rPr lang="en-US" sz="1700" dirty="0">
                <a:solidFill>
                  <a:schemeClr val="tx1"/>
                </a:solidFill>
              </a:rPr>
              <a:t>fixed interest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D)  </a:t>
            </a:r>
            <a:r>
              <a:rPr lang="en-US" sz="1700" dirty="0">
                <a:solidFill>
                  <a:schemeClr val="tx1"/>
                </a:solidFill>
              </a:rPr>
              <a:t>zero fees</a:t>
            </a:r>
            <a:endParaRPr lang="en-US" sz="1700" dirty="0"/>
          </a:p>
        </p:txBody>
      </p:sp>
      <p:sp>
        <p:nvSpPr>
          <p:cNvPr id="18" name="quiz q4"/>
          <p:cNvSpPr/>
          <p:nvPr/>
        </p:nvSpPr>
        <p:spPr>
          <a:xfrm>
            <a:off x="6217920" y="393192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quiz q4 badge"/>
          <p:cNvSpPr/>
          <p:nvPr/>
        </p:nvSpPr>
        <p:spPr>
          <a:xfrm>
            <a:off x="6400800" y="4114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40690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GST is an example of…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4800600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A)  </a:t>
            </a:r>
            <a:r>
              <a:rPr lang="en-US" sz="1700" dirty="0">
                <a:solidFill>
                  <a:schemeClr val="tx1"/>
                </a:solidFill>
              </a:rPr>
              <a:t>a direct tax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B)  </a:t>
            </a:r>
            <a:r>
              <a:rPr lang="en-US" sz="1700" dirty="0">
                <a:solidFill>
                  <a:schemeClr val="tx1"/>
                </a:solidFill>
              </a:rPr>
              <a:t>an indirect tax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C)  </a:t>
            </a:r>
            <a:r>
              <a:rPr lang="en-US" sz="1700" dirty="0">
                <a:solidFill>
                  <a:schemeClr val="tx1"/>
                </a:solidFill>
              </a:rPr>
              <a:t>an insurance premium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D)  </a:t>
            </a:r>
            <a:r>
              <a:rPr lang="en-US" sz="1700" dirty="0">
                <a:solidFill>
                  <a:schemeClr val="tx1"/>
                </a:solidFill>
              </a:rPr>
              <a:t>an EMI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Quick Quiz: Answers</a:t>
            </a:r>
            <a:endParaRPr lang="en-US" sz="3600" dirty="0"/>
          </a:p>
        </p:txBody>
      </p:sp>
      <p:sp>
        <p:nvSpPr>
          <p:cNvPr id="3" name="answer 1"/>
          <p:cNvSpPr/>
          <p:nvPr/>
        </p:nvSpPr>
        <p:spPr>
          <a:xfrm>
            <a:off x="548640" y="1371600"/>
            <a:ext cx="11064240" cy="1074420"/>
          </a:xfrm>
          <a:prstGeom prst="roundRect">
            <a:avLst>
              <a:gd name="adj" fmla="val 10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nswer 1 badge"/>
          <p:cNvSpPr/>
          <p:nvPr/>
        </p:nvSpPr>
        <p:spPr>
          <a:xfrm>
            <a:off x="731520" y="168021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802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371600"/>
            <a:ext cx="1005840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Q1. Gambling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five pillars: income, budgeting, saving, investing, protection.</a:t>
            </a:r>
            <a:endParaRPr lang="en-US" sz="1600" dirty="0"/>
          </a:p>
        </p:txBody>
      </p:sp>
      <p:sp>
        <p:nvSpPr>
          <p:cNvPr id="7" name="answer 2"/>
          <p:cNvSpPr/>
          <p:nvPr/>
        </p:nvSpPr>
        <p:spPr>
          <a:xfrm>
            <a:off x="548640" y="2583180"/>
            <a:ext cx="11064240" cy="1074420"/>
          </a:xfrm>
          <a:prstGeom prst="roundRect">
            <a:avLst>
              <a:gd name="adj" fmla="val 10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nswer 2 badge"/>
          <p:cNvSpPr/>
          <p:nvPr/>
        </p:nvSpPr>
        <p:spPr>
          <a:xfrm>
            <a:off x="731520" y="289179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89179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583180"/>
            <a:ext cx="1005840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Q2. ₹1,060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6% of ₹1,000 is ₹60, so about ₹1,060.</a:t>
            </a:r>
            <a:endParaRPr lang="en-US" sz="1600" dirty="0"/>
          </a:p>
        </p:txBody>
      </p:sp>
      <p:sp>
        <p:nvSpPr>
          <p:cNvPr id="11" name="answer 3"/>
          <p:cNvSpPr/>
          <p:nvPr/>
        </p:nvSpPr>
        <p:spPr>
          <a:xfrm>
            <a:off x="548640" y="3794760"/>
            <a:ext cx="11064240" cy="1074420"/>
          </a:xfrm>
          <a:prstGeom prst="roundRect">
            <a:avLst>
              <a:gd name="adj" fmla="val 10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nswer 3 badge"/>
          <p:cNvSpPr/>
          <p:nvPr/>
        </p:nvSpPr>
        <p:spPr>
          <a:xfrm>
            <a:off x="731520" y="410337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033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794760"/>
            <a:ext cx="1005840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Q3. Portfolio diversification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They spread money across many assets.</a:t>
            </a:r>
            <a:endParaRPr lang="en-US" sz="1600" dirty="0"/>
          </a:p>
        </p:txBody>
      </p:sp>
      <p:sp>
        <p:nvSpPr>
          <p:cNvPr id="15" name="answer 4"/>
          <p:cNvSpPr/>
          <p:nvPr/>
        </p:nvSpPr>
        <p:spPr>
          <a:xfrm>
            <a:off x="548640" y="5006340"/>
            <a:ext cx="11064240" cy="1074420"/>
          </a:xfrm>
          <a:prstGeom prst="roundRect">
            <a:avLst>
              <a:gd name="adj" fmla="val 10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answer 4 badge"/>
          <p:cNvSpPr/>
          <p:nvPr/>
        </p:nvSpPr>
        <p:spPr>
          <a:xfrm>
            <a:off x="731520" y="531495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3149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006340"/>
            <a:ext cx="1005840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Q4. An indirect tax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is added to the price of goods and services.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Activity: The Family's ₹1,00,000 Plan</a:t>
            </a:r>
            <a:endParaRPr lang="en-US" sz="3600" dirty="0"/>
          </a:p>
        </p:txBody>
      </p:sp>
      <p:sp>
        <p:nvSpPr>
          <p:cNvPr id="3" name="activity info card"/>
          <p:cNvSpPr/>
          <p:nvPr/>
        </p:nvSpPr>
        <p:spPr>
          <a:xfrm>
            <a:off x="548640" y="1371600"/>
            <a:ext cx="3657600" cy="484632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activity disc"/>
          <p:cNvSpPr/>
          <p:nvPr/>
        </p:nvSpPr>
        <p:spPr>
          <a:xfrm>
            <a:off x="868680" y="16916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activity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89280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PROJECT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Help your family decide</a:t>
            </a:r>
            <a:endParaRPr lang="en-US" sz="1800" dirty="0"/>
          </a:p>
        </p:txBody>
      </p:sp>
      <p:pic>
        <p:nvPicPr>
          <p:cNvPr id="8" name="Tim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63240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30175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Time: </a:t>
            </a:r>
            <a:r>
              <a:rPr lang="en-US" sz="1400" dirty="0">
                <a:solidFill>
                  <a:schemeClr val="bg1"/>
                </a:solidFill>
              </a:rPr>
              <a:t>40 minutes</a:t>
            </a:r>
            <a:endParaRPr lang="en-US" sz="1400" dirty="0"/>
          </a:p>
        </p:txBody>
      </p:sp>
      <p:pic>
        <p:nvPicPr>
          <p:cNvPr id="10" name="Grou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03320"/>
            <a:ext cx="347472" cy="34747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3657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Group: </a:t>
            </a:r>
            <a:r>
              <a:rPr lang="en-US" sz="1400" dirty="0">
                <a:solidFill>
                  <a:schemeClr val="bg1"/>
                </a:solidFill>
              </a:rPr>
              <a:t>Groups of 4</a:t>
            </a:r>
            <a:endParaRPr lang="en-US" sz="1400" dirty="0"/>
          </a:p>
        </p:txBody>
      </p:sp>
      <p:pic>
        <p:nvPicPr>
          <p:cNvPr id="12" name="You need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43400"/>
            <a:ext cx="347472" cy="34747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71600" y="42976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You need: </a:t>
            </a:r>
            <a:r>
              <a:rPr lang="en-US" sz="1400" dirty="0">
                <a:solidFill>
                  <a:schemeClr val="bg1"/>
                </a:solidFill>
              </a:rPr>
              <a:t>Budget table, pie-chart template, protractor</a:t>
            </a:r>
            <a:endParaRPr lang="en-US" sz="1400" dirty="0"/>
          </a:p>
        </p:txBody>
      </p:sp>
      <p:sp>
        <p:nvSpPr>
          <p:cNvPr id="14" name="activity steps card"/>
          <p:cNvSpPr/>
          <p:nvPr/>
        </p:nvSpPr>
        <p:spPr>
          <a:xfrm>
            <a:off x="4526280" y="1371600"/>
            <a:ext cx="708660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Text 9"/>
          <p:cNvSpPr txBox="1"/>
          <p:nvPr/>
        </p:nvSpPr>
        <p:spPr>
          <a:xfrm>
            <a:off x="4846320" y="1600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How to play</a:t>
            </a:r>
            <a:endParaRPr lang="en-US" sz="2000" dirty="0"/>
          </a:p>
        </p:txBody>
      </p:sp>
      <p:sp>
        <p:nvSpPr>
          <p:cNvPr id="16" name="step 1 badge"/>
          <p:cNvSpPr/>
          <p:nvPr/>
        </p:nvSpPr>
        <p:spPr>
          <a:xfrm>
            <a:off x="4846320" y="22128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484632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5394960" y="2194560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Allocate ₹1,00,000: savings, education, household, health fund, farm/business, home, festivals.</a:t>
            </a:r>
            <a:endParaRPr lang="en-US" sz="1600" dirty="0"/>
          </a:p>
        </p:txBody>
      </p:sp>
      <p:sp>
        <p:nvSpPr>
          <p:cNvPr id="19" name="step 2 badge"/>
          <p:cNvSpPr/>
          <p:nvPr/>
        </p:nvSpPr>
        <p:spPr>
          <a:xfrm>
            <a:off x="4846320" y="27523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484632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394960" y="2734056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Mark each expense as a </a:t>
            </a:r>
            <a:r>
              <a:rPr lang="en-US" sz="1400" b="1" dirty="0">
                <a:solidFill>
                  <a:schemeClr val="tx1"/>
                </a:solidFill>
              </a:rPr>
              <a:t>need</a:t>
            </a:r>
            <a:r>
              <a:rPr lang="en-US" sz="1400" dirty="0">
                <a:solidFill>
                  <a:schemeClr val="tx1"/>
                </a:solidFill>
              </a:rPr>
              <a:t> or a </a:t>
            </a:r>
            <a:r>
              <a:rPr lang="en-US" sz="1400" b="1" dirty="0">
                <a:solidFill>
                  <a:schemeClr val="tx1"/>
                </a:solidFill>
              </a:rPr>
              <a:t>want</a:t>
            </a:r>
            <a:r>
              <a:rPr lang="en-US" sz="1400" dirty="0">
                <a:solidFill>
                  <a:schemeClr val="tx1"/>
                </a:solidFill>
              </a:rPr>
              <a:t>, with a reason.</a:t>
            </a:r>
            <a:endParaRPr lang="en-US" sz="1600" dirty="0"/>
          </a:p>
        </p:txBody>
      </p:sp>
      <p:sp>
        <p:nvSpPr>
          <p:cNvPr id="22" name="step 3 badge"/>
          <p:cNvSpPr/>
          <p:nvPr/>
        </p:nvSpPr>
        <p:spPr>
          <a:xfrm>
            <a:off x="4846320" y="3291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484632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394960" y="3273552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Save first:</a:t>
            </a:r>
            <a:r>
              <a:rPr lang="en-US" sz="1400" dirty="0">
                <a:solidFill>
                  <a:schemeClr val="tx1"/>
                </a:solidFill>
              </a:rPr>
              <a:t> if ₹20,000 is saved, only ₹80,000 is left to spend.</a:t>
            </a:r>
            <a:endParaRPr lang="en-US" sz="1600" dirty="0"/>
          </a:p>
        </p:txBody>
      </p:sp>
      <p:sp>
        <p:nvSpPr>
          <p:cNvPr id="25" name="step 4 badge"/>
          <p:cNvSpPr/>
          <p:nvPr/>
        </p:nvSpPr>
        <p:spPr>
          <a:xfrm>
            <a:off x="4846320" y="38313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84632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5394960" y="3813048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₹30,000 at 8% compound interest for 5 years: use </a:t>
            </a:r>
            <a:r>
              <a:rPr lang="en-US" sz="1400" b="1" dirty="0">
                <a:solidFill>
                  <a:schemeClr val="tx1"/>
                </a:solidFill>
              </a:rPr>
              <a:t>A = P(1 + r)ⁿ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28" name="step 5 badge"/>
          <p:cNvSpPr/>
          <p:nvPr/>
        </p:nvSpPr>
        <p:spPr>
          <a:xfrm>
            <a:off x="4846320" y="43708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84632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5394960" y="4352544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Draw a </a:t>
            </a:r>
            <a:r>
              <a:rPr lang="en-US" sz="1400" b="1" dirty="0">
                <a:solidFill>
                  <a:schemeClr val="tx1"/>
                </a:solidFill>
              </a:rPr>
              <a:t>pie chart</a:t>
            </a:r>
            <a:r>
              <a:rPr lang="en-US" sz="1400" dirty="0">
                <a:solidFill>
                  <a:schemeClr val="tx1"/>
                </a:solidFill>
              </a:rPr>
              <a:t> of your plan.</a:t>
            </a:r>
            <a:endParaRPr lang="en-US" sz="1600" dirty="0"/>
          </a:p>
        </p:txBody>
      </p:sp>
      <p:sp>
        <p:nvSpPr>
          <p:cNvPr id="31" name="outcome band"/>
          <p:cNvSpPr/>
          <p:nvPr/>
        </p:nvSpPr>
        <p:spPr>
          <a:xfrm>
            <a:off x="4846320" y="5074920"/>
            <a:ext cx="64465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029200" y="507492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Learning link:</a:t>
            </a:r>
            <a:r>
              <a:rPr lang="en-US" sz="1400" dirty="0">
                <a:solidFill>
                  <a:schemeClr val="tx2"/>
                </a:solidFill>
              </a:rPr>
              <a:t> Savings plus compound interest build a family's financial security.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Myth or Fact?</a:t>
            </a:r>
            <a:endParaRPr lang="en-US" sz="3600" dirty="0"/>
          </a:p>
        </p:txBody>
      </p:sp>
      <p:sp>
        <p:nvSpPr>
          <p:cNvPr id="3" name="statement 1"/>
          <p:cNvSpPr/>
          <p:nvPr/>
        </p:nvSpPr>
        <p:spPr>
          <a:xfrm>
            <a:off x="548640" y="1371600"/>
            <a:ext cx="11064240" cy="832104"/>
          </a:xfrm>
          <a:prstGeom prst="roundRect">
            <a:avLst>
              <a:gd name="adj" fmla="val 131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85953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1.  Money kept in a piggy bank keeps its value even when prices rise.</a:t>
            </a:r>
            <a:endParaRPr lang="en-US" sz="1700" dirty="0"/>
          </a:p>
        </p:txBody>
      </p:sp>
      <p:sp>
        <p:nvSpPr>
          <p:cNvPr id="5" name="vote 1"/>
          <p:cNvSpPr/>
          <p:nvPr/>
        </p:nvSpPr>
        <p:spPr>
          <a:xfrm>
            <a:off x="9646920" y="1559052"/>
            <a:ext cx="173736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46920" y="15590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Myth  /  Fact</a:t>
            </a:r>
            <a:endParaRPr lang="en-US" sz="1300" dirty="0"/>
          </a:p>
        </p:txBody>
      </p:sp>
      <p:sp>
        <p:nvSpPr>
          <p:cNvPr id="7" name="statement 2"/>
          <p:cNvSpPr/>
          <p:nvPr/>
        </p:nvSpPr>
        <p:spPr>
          <a:xfrm>
            <a:off x="548640" y="2340864"/>
            <a:ext cx="11064240" cy="832104"/>
          </a:xfrm>
          <a:prstGeom prst="roundRect">
            <a:avLst>
              <a:gd name="adj" fmla="val 131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40864"/>
            <a:ext cx="85953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2.  Higher risk always gives higher returns.</a:t>
            </a:r>
            <a:endParaRPr lang="en-US" sz="1700" dirty="0"/>
          </a:p>
        </p:txBody>
      </p:sp>
      <p:sp>
        <p:nvSpPr>
          <p:cNvPr id="9" name="vote 2"/>
          <p:cNvSpPr/>
          <p:nvPr/>
        </p:nvSpPr>
        <p:spPr>
          <a:xfrm>
            <a:off x="9646920" y="2528316"/>
            <a:ext cx="173736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46920" y="25283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Myth  /  Fact</a:t>
            </a:r>
            <a:endParaRPr lang="en-US" sz="1300" dirty="0"/>
          </a:p>
        </p:txBody>
      </p:sp>
      <p:sp>
        <p:nvSpPr>
          <p:cNvPr id="11" name="statement 3"/>
          <p:cNvSpPr/>
          <p:nvPr/>
        </p:nvSpPr>
        <p:spPr>
          <a:xfrm>
            <a:off x="548640" y="3310128"/>
            <a:ext cx="11064240" cy="832104"/>
          </a:xfrm>
          <a:prstGeom prst="roundRect">
            <a:avLst>
              <a:gd name="adj" fmla="val 131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3310128"/>
            <a:ext cx="85953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3.  Insurance works on the principle of risk sharing.</a:t>
            </a:r>
            <a:endParaRPr lang="en-US" sz="1700" dirty="0"/>
          </a:p>
        </p:txBody>
      </p:sp>
      <p:sp>
        <p:nvSpPr>
          <p:cNvPr id="13" name="vote 3"/>
          <p:cNvSpPr/>
          <p:nvPr/>
        </p:nvSpPr>
        <p:spPr>
          <a:xfrm>
            <a:off x="9646920" y="3497580"/>
            <a:ext cx="173736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46920" y="34975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Myth  /  Fact</a:t>
            </a:r>
            <a:endParaRPr lang="en-US" sz="1300" dirty="0"/>
          </a:p>
        </p:txBody>
      </p:sp>
      <p:sp>
        <p:nvSpPr>
          <p:cNvPr id="15" name="statement 4"/>
          <p:cNvSpPr/>
          <p:nvPr/>
        </p:nvSpPr>
        <p:spPr>
          <a:xfrm>
            <a:off x="548640" y="4279392"/>
            <a:ext cx="11064240" cy="832104"/>
          </a:xfrm>
          <a:prstGeom prst="roundRect">
            <a:avLst>
              <a:gd name="adj" fmla="val 131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4279392"/>
            <a:ext cx="85953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4.  India's income tax system is progressive.</a:t>
            </a:r>
            <a:endParaRPr lang="en-US" sz="1700" dirty="0"/>
          </a:p>
        </p:txBody>
      </p:sp>
      <p:sp>
        <p:nvSpPr>
          <p:cNvPr id="17" name="vote 4"/>
          <p:cNvSpPr/>
          <p:nvPr/>
        </p:nvSpPr>
        <p:spPr>
          <a:xfrm>
            <a:off x="9646920" y="4466844"/>
            <a:ext cx="173736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46920" y="446684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Myth  /  Fact</a:t>
            </a:r>
            <a:endParaRPr lang="en-US" sz="1300" dirty="0"/>
          </a:p>
        </p:txBody>
      </p:sp>
      <p:sp>
        <p:nvSpPr>
          <p:cNvPr id="19" name="statement 5"/>
          <p:cNvSpPr/>
          <p:nvPr/>
        </p:nvSpPr>
        <p:spPr>
          <a:xfrm>
            <a:off x="548640" y="5248656"/>
            <a:ext cx="11064240" cy="832104"/>
          </a:xfrm>
          <a:prstGeom prst="roundRect">
            <a:avLst>
              <a:gd name="adj" fmla="val 131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5248656"/>
            <a:ext cx="85953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5.  Only rich people need to budget.</a:t>
            </a:r>
            <a:endParaRPr lang="en-US" sz="1700" dirty="0"/>
          </a:p>
        </p:txBody>
      </p:sp>
      <p:sp>
        <p:nvSpPr>
          <p:cNvPr id="21" name="vote 5"/>
          <p:cNvSpPr/>
          <p:nvPr/>
        </p:nvSpPr>
        <p:spPr>
          <a:xfrm>
            <a:off x="9646920" y="5436108"/>
            <a:ext cx="173736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46920" y="54361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Myth  /  Fact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Before We Move On</a:t>
            </a:r>
            <a:endParaRPr lang="en-US" sz="3600" dirty="0"/>
          </a:p>
        </p:txBody>
      </p:sp>
      <p:sp>
        <p:nvSpPr>
          <p:cNvPr id="3" name="mind map centre"/>
          <p:cNvSpPr/>
          <p:nvPr/>
        </p:nvSpPr>
        <p:spPr>
          <a:xfrm>
            <a:off x="4861408" y="3063240"/>
            <a:ext cx="2468880" cy="14630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952848" y="30632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Finance</a:t>
            </a:r>
            <a:endParaRPr lang="en-US" sz="1800" dirty="0"/>
          </a:p>
        </p:txBody>
      </p:sp>
      <p:sp>
        <p:nvSpPr>
          <p:cNvPr id="5" name="branch 1 line"/>
          <p:cNvSpPr/>
          <p:nvPr/>
        </p:nvSpPr>
        <p:spPr>
          <a:xfrm>
            <a:off x="4114800" y="2103120"/>
            <a:ext cx="792328" cy="1691640"/>
          </a:xfrm>
          <a:prstGeom prst="line">
            <a:avLst/>
          </a:prstGeom>
          <a:noFill/>
          <a:ln w="25400">
            <a:solidFill>
              <a:srgbClr val="F2C14E"/>
            </a:solidFill>
            <a:prstDash val="solid"/>
          </a:ln>
        </p:spPr>
      </p:sp>
      <p:sp>
        <p:nvSpPr>
          <p:cNvPr id="6" name="branch 1"/>
          <p:cNvSpPr/>
          <p:nvPr/>
        </p:nvSpPr>
        <p:spPr>
          <a:xfrm>
            <a:off x="548640" y="137160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81328"/>
            <a:ext cx="32004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Income and budgeting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Plan spending; needs before wants; set goals</a:t>
            </a:r>
            <a:endParaRPr lang="en-US" sz="1600" dirty="0"/>
          </a:p>
        </p:txBody>
      </p:sp>
      <p:sp>
        <p:nvSpPr>
          <p:cNvPr id="8" name="branch 2 line"/>
          <p:cNvSpPr/>
          <p:nvPr/>
        </p:nvSpPr>
        <p:spPr>
          <a:xfrm>
            <a:off x="4114800" y="3794760"/>
            <a:ext cx="792328" cy="914"/>
          </a:xfrm>
          <a:prstGeom prst="line">
            <a:avLst/>
          </a:prstGeom>
          <a:noFill/>
          <a:ln w="25400">
            <a:solidFill>
              <a:srgbClr val="F2C14E"/>
            </a:solidFill>
            <a:prstDash val="solid"/>
          </a:ln>
        </p:spPr>
      </p:sp>
      <p:sp>
        <p:nvSpPr>
          <p:cNvPr id="9" name="branch 2"/>
          <p:cNvSpPr/>
          <p:nvPr/>
        </p:nvSpPr>
        <p:spPr>
          <a:xfrm>
            <a:off x="548640" y="306324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72968"/>
            <a:ext cx="32004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Saving and inflation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Emergency fund; rising prices reduce purchasing power</a:t>
            </a:r>
            <a:endParaRPr lang="en-US" sz="1600" dirty="0"/>
          </a:p>
        </p:txBody>
      </p:sp>
      <p:sp>
        <p:nvSpPr>
          <p:cNvPr id="11" name="branch 3 line"/>
          <p:cNvSpPr/>
          <p:nvPr/>
        </p:nvSpPr>
        <p:spPr>
          <a:xfrm flipV="1">
            <a:off x="4114800" y="3794760"/>
            <a:ext cx="792328" cy="1691640"/>
          </a:xfrm>
          <a:prstGeom prst="line">
            <a:avLst/>
          </a:prstGeom>
          <a:noFill/>
          <a:ln w="25400">
            <a:solidFill>
              <a:srgbClr val="F2C14E"/>
            </a:solidFill>
            <a:prstDash val="solid"/>
          </a:ln>
        </p:spPr>
      </p:sp>
      <p:sp>
        <p:nvSpPr>
          <p:cNvPr id="12" name="branch 3"/>
          <p:cNvSpPr/>
          <p:nvPr/>
        </p:nvSpPr>
        <p:spPr>
          <a:xfrm>
            <a:off x="548640" y="475488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864608"/>
            <a:ext cx="32004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Investing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FDs, bonds, stocks, mutual funds; compounding</a:t>
            </a:r>
            <a:endParaRPr lang="en-US" sz="1600" dirty="0"/>
          </a:p>
        </p:txBody>
      </p:sp>
      <p:sp>
        <p:nvSpPr>
          <p:cNvPr id="14" name="branch 4 line"/>
          <p:cNvSpPr/>
          <p:nvPr/>
        </p:nvSpPr>
        <p:spPr>
          <a:xfrm flipV="1">
            <a:off x="7284568" y="2103120"/>
            <a:ext cx="789584" cy="1691640"/>
          </a:xfrm>
          <a:prstGeom prst="line">
            <a:avLst/>
          </a:prstGeom>
          <a:noFill/>
          <a:ln w="25400">
            <a:solidFill>
              <a:srgbClr val="F2C14E"/>
            </a:solidFill>
            <a:prstDash val="solid"/>
          </a:ln>
        </p:spPr>
      </p:sp>
      <p:sp>
        <p:nvSpPr>
          <p:cNvPr id="15" name="branch 4"/>
          <p:cNvSpPr/>
          <p:nvPr/>
        </p:nvSpPr>
        <p:spPr>
          <a:xfrm>
            <a:off x="8074152" y="137160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57032" y="1481328"/>
            <a:ext cx="32004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Risk and return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Risk, return, time horizon, liquidity</a:t>
            </a:r>
            <a:endParaRPr lang="en-US" sz="1600" dirty="0"/>
          </a:p>
        </p:txBody>
      </p:sp>
      <p:sp>
        <p:nvSpPr>
          <p:cNvPr id="17" name="branch 5 line"/>
          <p:cNvSpPr/>
          <p:nvPr/>
        </p:nvSpPr>
        <p:spPr>
          <a:xfrm>
            <a:off x="7284568" y="3794760"/>
            <a:ext cx="789584" cy="914"/>
          </a:xfrm>
          <a:prstGeom prst="line">
            <a:avLst/>
          </a:prstGeom>
          <a:noFill/>
          <a:ln w="25400">
            <a:solidFill>
              <a:srgbClr val="F2C14E"/>
            </a:solidFill>
            <a:prstDash val="solid"/>
          </a:ln>
        </p:spPr>
      </p:sp>
      <p:sp>
        <p:nvSpPr>
          <p:cNvPr id="18" name="branch 5"/>
          <p:cNvSpPr/>
          <p:nvPr/>
        </p:nvSpPr>
        <p:spPr>
          <a:xfrm>
            <a:off x="8074152" y="306324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57032" y="3172968"/>
            <a:ext cx="32004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Protection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Insurance types; borrow wisely; EMIs</a:t>
            </a:r>
            <a:endParaRPr lang="en-US" sz="1600" dirty="0"/>
          </a:p>
        </p:txBody>
      </p:sp>
      <p:sp>
        <p:nvSpPr>
          <p:cNvPr id="20" name="branch 6 line"/>
          <p:cNvSpPr/>
          <p:nvPr/>
        </p:nvSpPr>
        <p:spPr>
          <a:xfrm>
            <a:off x="7284568" y="3794760"/>
            <a:ext cx="789584" cy="1691640"/>
          </a:xfrm>
          <a:prstGeom prst="line">
            <a:avLst/>
          </a:prstGeom>
          <a:noFill/>
          <a:ln w="25400">
            <a:solidFill>
              <a:srgbClr val="F2C14E"/>
            </a:solidFill>
            <a:prstDash val="solid"/>
          </a:ln>
        </p:spPr>
      </p:sp>
      <p:sp>
        <p:nvSpPr>
          <p:cNvPr id="21" name="branch 6"/>
          <p:cNvSpPr/>
          <p:nvPr/>
        </p:nvSpPr>
        <p:spPr>
          <a:xfrm>
            <a:off x="8074152" y="475488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57032" y="4864608"/>
            <a:ext cx="32004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Taxes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Direct and indirect; progressive slabs; citizen duty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Exit Ticket and Homework</a:t>
            </a:r>
            <a:endParaRPr lang="en-US" sz="3600" dirty="0"/>
          </a:p>
        </p:txBody>
      </p:sp>
      <p:sp>
        <p:nvSpPr>
          <p:cNvPr id="3" name="exit 3"/>
          <p:cNvSpPr/>
          <p:nvPr/>
        </p:nvSpPr>
        <p:spPr>
          <a:xfrm>
            <a:off x="731520" y="1508760"/>
            <a:ext cx="2103120" cy="274320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things I learnt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63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Three key ideas from this chapter</a:t>
            </a:r>
            <a:endParaRPr lang="en-US" sz="1500" dirty="0"/>
          </a:p>
        </p:txBody>
      </p:sp>
      <p:sp>
        <p:nvSpPr>
          <p:cNvPr id="7" name="exit 2"/>
          <p:cNvSpPr/>
          <p:nvPr/>
        </p:nvSpPr>
        <p:spPr>
          <a:xfrm>
            <a:off x="3063240" y="1508760"/>
            <a:ext cx="2103120" cy="274320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63240" y="1645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connections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3063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Two ways this topic connects to my life or my state</a:t>
            </a:r>
            <a:endParaRPr lang="en-US" sz="1500" dirty="0"/>
          </a:p>
        </p:txBody>
      </p:sp>
      <p:sp>
        <p:nvSpPr>
          <p:cNvPr id="11" name="exit 1"/>
          <p:cNvSpPr/>
          <p:nvPr/>
        </p:nvSpPr>
        <p:spPr>
          <a:xfrm>
            <a:off x="5394960" y="1508760"/>
            <a:ext cx="2103120" cy="274320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94960" y="1645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question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3063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question I still have</a:t>
            </a:r>
            <a:endParaRPr lang="en-US" sz="1500" dirty="0"/>
          </a:p>
        </p:txBody>
      </p:sp>
      <p:sp>
        <p:nvSpPr>
          <p:cNvPr id="15" name="homework card"/>
          <p:cNvSpPr/>
          <p:nvPr/>
        </p:nvSpPr>
        <p:spPr>
          <a:xfrm>
            <a:off x="7863840" y="1508760"/>
            <a:ext cx="3749040" cy="4709160"/>
          </a:xfrm>
          <a:prstGeom prst="roundRect">
            <a:avLst>
              <a:gd name="adj" fmla="val 29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homework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737360"/>
            <a:ext cx="502920" cy="5029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778240" y="1737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Homework / Project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138160" y="24231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Prepare your </a:t>
            </a:r>
            <a:r>
              <a:rPr lang="en-US" sz="1700" b="1" dirty="0">
                <a:solidFill>
                  <a:schemeClr val="bg1"/>
                </a:solidFill>
              </a:rPr>
              <a:t>weekly or monthly budget</a:t>
            </a:r>
            <a:r>
              <a:rPr lang="en-US" sz="1700" dirty="0">
                <a:solidFill>
                  <a:schemeClr val="bg1"/>
                </a:solidFill>
              </a:rPr>
              <a:t> using the activity book template.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Ask your parents about their bank's </a:t>
            </a:r>
            <a:r>
              <a:rPr lang="en-US" sz="1700" b="1" dirty="0">
                <a:solidFill>
                  <a:schemeClr val="bg1"/>
                </a:solidFill>
              </a:rPr>
              <a:t>FD interest rates</a:t>
            </a:r>
            <a:r>
              <a:rPr lang="en-US" sz="1700" dirty="0">
                <a:solidFill>
                  <a:schemeClr val="bg1"/>
                </a:solidFill>
              </a:rPr>
              <a:t>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Make a short report on </a:t>
            </a:r>
            <a:r>
              <a:rPr lang="en-US" sz="1700" b="1" dirty="0">
                <a:solidFill>
                  <a:schemeClr val="bg1"/>
                </a:solidFill>
              </a:rPr>
              <a:t>how to file an income tax return</a:t>
            </a:r>
            <a:r>
              <a:rPr lang="en-US" sz="1700" dirty="0">
                <a:solidFill>
                  <a:schemeClr val="bg1"/>
                </a:solidFill>
              </a:rPr>
              <a:t>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Finish the </a:t>
            </a:r>
            <a:r>
              <a:rPr lang="en-US" sz="1700" b="1" dirty="0">
                <a:solidFill>
                  <a:schemeClr val="bg1"/>
                </a:solidFill>
              </a:rPr>
              <a:t>₹1,00,000 family plan</a:t>
            </a:r>
            <a:r>
              <a:rPr lang="en-US" sz="1700" dirty="0">
                <a:solidFill>
                  <a:schemeClr val="bg1"/>
                </a:solidFill>
              </a:rPr>
              <a:t> with a pie chart.</a:t>
            </a:r>
            <a:endParaRPr lang="en-US" sz="1600" dirty="0"/>
          </a:p>
        </p:txBody>
      </p:sp>
      <p:pic>
        <p:nvPicPr>
          <p:cNvPr id="19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1772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463040" y="4526280"/>
            <a:ext cx="6035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first, spend what is left, and let time grow your money.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6F2E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aging Your Personal Finances">
  <a:themeElements>
    <a:clrScheme name="Managing Your Personal Finances">
      <a:dk1>
        <a:srgbClr val="1F2328"/>
      </a:dk1>
      <a:lt1>
        <a:srgbClr val="FFFFFF"/>
      </a:lt1>
      <a:dk2>
        <a:srgbClr val="0F3D3E"/>
      </a:dk2>
      <a:lt2>
        <a:srgbClr val="E6F2EF"/>
      </a:lt2>
      <a:accent1>
        <a:srgbClr val="137C6B"/>
      </a:accent1>
      <a:accent2>
        <a:srgbClr val="8A5A0B"/>
      </a:accent2>
      <a:accent3>
        <a:srgbClr val="F2C14E"/>
      </a:accent3>
      <a:accent4>
        <a:srgbClr val="2B6CB0"/>
      </a:accent4>
      <a:accent5>
        <a:srgbClr val="B83227"/>
      </a:accent5>
      <a:accent6>
        <a:srgbClr val="6B46C1"/>
      </a:accent6>
      <a:hlink>
        <a:srgbClr val="0563C1"/>
      </a:hlink>
      <a:folHlink>
        <a:srgbClr val="954F72"/>
      </a:folHlink>
    </a:clrScheme>
    <a:fontScheme name="Managing Your Personal Financ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Edubytez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Edubytez | Grade 9 Social Science | Chapter 5: Managing Your Personal Finances</dc:title>
  <dc:subject>Understanding Society: India and Beyond, Grade 9 Part 2</dc:subject>
  <dc:creator>Edubytez</dc:creator>
  <cp:lastModifiedBy>Edubytez</cp:lastModifiedBy>
  <cp:revision>1</cp:revision>
  <dcterms:created xsi:type="dcterms:W3CDTF">2026-10-09T15:57:27Z</dcterms:created>
  <dcterms:modified xsi:type="dcterms:W3CDTF">2026-10-09T15:57:27Z</dcterms:modified>
</cp:coreProperties>
</file>