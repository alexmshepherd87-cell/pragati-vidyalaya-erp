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55fde7f-a2da-ce2f-4d02-64125a0b3094}">
          <p14:sldIdLst>
            <p14:sldId id="256"/>
            <p14:sldId id="257"/>
            <p14:sldId id="258"/>
          </p14:sldIdLst>
        </p14:section>
        <p14:section name="Entrepreneurship" id="{9138c2ca-a015-5a87-0c12-a7702098aca5}">
          <p14:sldIdLst>
            <p14:sldId id="259"/>
            <p14:sldId id="260"/>
            <p14:sldId id="261"/>
            <p14:sldId id="262"/>
            <p14:sldId id="263"/>
            <p14:sldId id="264"/>
            <p14:sldId id="265"/>
          </p14:sldIdLst>
        </p14:section>
        <p14:section name="Business Plan" id="{09347e13-a68a-8ebe-3cf1-8de24460f55e}">
          <p14:sldIdLst>
            <p14:sldId id="266"/>
            <p14:sldId id="267"/>
            <p14:sldId id="268"/>
            <p14:sldId id="269"/>
            <p14:sldId id="270"/>
            <p14:sldId id="271"/>
            <p14:sldId id="272"/>
          </p14:sldIdLst>
        </p14:section>
        <p14:section name="Entrepreneurship and the Nation" id="{5e567b87-df58-5cdd-b21c-1c177284283c}">
          <p14:sldIdLst>
            <p14:sldId id="273"/>
            <p14:sldId id="274"/>
            <p14:sldId id="275"/>
            <p14:sldId id="276"/>
            <p14:sldId id="277"/>
            <p14:sldId id="278"/>
          </p14:sldIdLst>
        </p14:section>
        <p14:section name="Review" id="{6e003df1-c390-18e6-6626-20d07253fc50}">
          <p14:sldIdLst>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Entrepreneurship is the process by which a person or group turns an idea into a business venture. This chapter shows how entrepreneurs create value for society and the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textbook's opening scenario. List on the board what students must decide: costs (lemons, sugar, glasses), price, location, how to attract customers, and how to calculate profit or loss. This simple stall captures the essence of a business: planning, organising and learning by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from the textbook: a business making drones for traffic surveillance; eco-friendly jute bags to replace plastic. Ask: Which local entrepreneur do you admire, and which of these tasks do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Is the tale about spotting opportunities or working smart? (Both.) What traits do entrepreneurs need? (Curiosity, hard work, intelligence, gratitude, social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It: What problem was Lijjat solving beyond selling papads? (Women's financial independence and empowerment.) What challenges could the founders have faced? Could we start a similar cooperative in our community? Lijjat also gives scholarships to members'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Which functional area helped improve the quality of his hotels? (Operations and HR: trained staff, renovated and efficiently run hotels.) How did the areas work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self-check: students rate themselves 1–5 on each trait in the activity book and pick one to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Qualities: perseverance, quality focus, learning, innovation, risk-taking. Opportunity: lack of good art materials suited to Indian needs. Glasgow trip: risky (cost, uncertainty) but improved operations/production (R&amp;D). Society: affordable, quality stationery and art supplies for students and artists; reuse of glass bottles.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bakery example from the textbook: fresh bread or healthy whole-wheat options? Cupcakes for children or savoury snacks for young adults? Near a school or online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rubric: clarity of idea (2), customer understanding (2), realistic costs and pricing (2), marketing creativity (2), handling risks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Q1: Why can a business fail with a great idea if one functional area is weak? Which area would you prioritise first for a bakery,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sort: shout FIXED or VARIABLE for: shop rent, butter, cake boxes, oven, delivery fuel, insurance.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profit and loss account (income statement) shows whether a business made a profit or loss over a period. Students need not memorise the categories. Ask: Which is the biggest expense? How could the bakery increase its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Revenue ₹1,000. Total cost ₹400. Profit ₹600. Fixed: banner (₹50). Variable: lemons, sugar, ice and water, cups (₹350, i.e. ₹3.50 per glass). Ideas: buy in bulk, add a masala variant, better location, combo offers, reusable cups.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traded in salt, rice, textiles and finance, often without formal banks. Students may research communities such as Gujarati, Marwari, Sindhi or Parsi traders, or local trading communities of our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Startup: a young, early-stage company offering an innovative product or service. Atmanirbhar Bharat (2020): self-reliance and domestic manufacturing. Viksit Bharat 2047: a fully developed India by the 100th year of Independence.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Q4: Should every entrepreneur think about the impact on society and the environment? Discuss with examples like eco-friendly packaging and fair wages.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growth mindset. Stress that perseverance and learning matter more than instant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Q10. Shortlist the best ideas for the Startup Pitch Sprint or the school fest's Young Entrepreneurs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B, Q2: C, Q3: B, Q4: C. Let students vote with fingers (1-4) or A/B/C/D cards before revealing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why each wrong option is wrong. Ask: Which question was the trickiest,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stand up for FACT and stay seated for MYTH (or show thumbs up/down).
Answers:
1. MYTH: All functional areas must work well; planning and execution matter.
2. MYTH: It is a dynamic roadmap, revised as conditions change.
3. FACT: It stays the same whatever the output in the short term.
4. MYTH: Honest failures teach lessons for better businesses.
5. FACT: As stated in the textbook.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ask a different student to explain each branch in one sentence,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sticky notes or half-sheets for the 3-2-1 exit ticket. Collect them at the door and use the questions to plan the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H_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rtlCol="0"/>
          <a:lstStyle>
            <a:lvl1pPr indent="0" marL="0">
              <a:buNone/>
              <a:defRPr lang="en-US" sz="1800" b="1" spc="300" kern="0" dirty="0">
                <a:solidFill>
                  <a:schemeClr val="accent3"/>
                </a:solidFill>
              </a:defRPr>
            </a:lvl1pPr>
          </a:lstStyle>
          <a:p>
            <a:pPr indent="0" marL="0">
              <a:buNone/>
            </a:pP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nvSpPr>
        <p:spPr>
          <a:xfrm>
            <a:off x="731520" y="457200"/>
            <a:ext cx="2743200" cy="365760"/>
          </a:xfrm>
          <a:prstGeom prst="rect">
            <a:avLst/>
          </a:prstGeom>
          <a:noFill/>
          <a:ln/>
        </p:spPr>
        <p:txBody>
          <a:bodyPr wrap="square" lIns="0" tIns="0" rIns="0" bIns="0" rtlCol="0" anchor="ctr"/>
          <a:lstStyle/>
          <a:p>
            <a:pPr indent="0" marL="0">
              <a:buNone/>
            </a:pPr>
            <a:r>
              <a:rPr lang="en-US" sz="1600" b="1" spc="400" kern="0" dirty="0">
                <a:solidFill>
                  <a:schemeClr val="bg1"/>
                </a:solidFill>
              </a:rPr>
              <a:t>EDUBYTEZ</a:t>
            </a:r>
            <a:endParaRPr lang="en-US" sz="1600" dirty="0"/>
          </a:p>
        </p:txBody>
      </p:sp>
      <p:sp>
        <p:nvSpPr>
          <p:cNvPr id="6" name="Text 1"/>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3"/>
                </a:solidFill>
              </a:rPr>
              <a:t>Edubytez</a:t>
            </a:r>
            <a:endParaRPr lang="en-US" sz="1000" dirty="0"/>
          </a:p>
        </p:txBody>
      </p:sp>
      <p:sp>
        <p:nvSpPr>
          <p:cNvPr id="7" name="Text 2"/>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bg2"/>
                </a:solidFill>
              </a:rPr>
              <a:t>|   Grade 9 Social Science  ·  Chapter 6: From Ideas to Startups</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rtlCol="0"/>
          <a:lstStyle>
            <a:lvl1pPr indent="0" marL="0">
              <a:buNone/>
              <a:defRPr lang="en-US" sz="1800" b="1" spc="300" kern="0" dirty="0">
                <a:solidFill>
                  <a:schemeClr val="bg2"/>
                </a:solidFill>
              </a:defRPr>
            </a:lvl1pPr>
          </a:lstStyle>
          <a:p>
            <a:pPr indent="0" marL="0">
              <a:buNone/>
            </a:pP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bg1"/>
                </a:solidFill>
              </a:rPr>
              <a:t>Edubytez</a:t>
            </a:r>
            <a:endParaRPr lang="en-US" sz="1000" dirty="0"/>
          </a:p>
        </p:txBody>
      </p:sp>
      <p:sp>
        <p:nvSpPr>
          <p:cNvPr id="6"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bg2"/>
                </a:solidFill>
              </a:rPr>
              <a:t>|   Grade 9 Social Science  ·  Chapter 6: From Ideas to Startups</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1"/>
                </a:solidFill>
              </a:rPr>
              <a:t>Edubytez</a:t>
            </a:r>
            <a:endParaRPr lang="en-US" sz="1000" dirty="0"/>
          </a:p>
        </p:txBody>
      </p:sp>
      <p:sp>
        <p:nvSpPr>
          <p:cNvPr id="4"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   Grade 9 Social Science  ·  Chapter 6: From Ideas to Startups</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CTIVIT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1"/>
                </a:solidFill>
              </a:rPr>
              <a:t>Edubytez</a:t>
            </a:r>
            <a:endParaRPr lang="en-US" sz="1000" dirty="0"/>
          </a:p>
        </p:txBody>
      </p:sp>
      <p:sp>
        <p:nvSpPr>
          <p:cNvPr id="4"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   Grade 9 Social Science  ·  Chapter 6: From Ideas to Startups</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3"/>
                </a:solidFill>
              </a:rPr>
              <a:t>Edubytez</a:t>
            </a:r>
            <a:endParaRPr lang="en-US" sz="1000" dirty="0"/>
          </a:p>
        </p:txBody>
      </p:sp>
      <p:sp>
        <p:nvSpPr>
          <p:cNvPr id="4"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bg2"/>
                </a:solidFill>
              </a:rPr>
              <a:t>|   Grade 9 Social Science  ·  Chapter 6: From Ideas to Startups</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DEEEC"/>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4.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5.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5.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5.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6.xml"/><Relationship Id="rId4"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lIns="0" tIns="0" rIns="0" bIns="0" rtlCol="0"/>
          <a:lstStyle/>
          <a:p>
            <a:pPr indent="0" marL="0">
              <a:buNone/>
            </a:pPr>
            <a:r>
              <a:rPr lang="en-US" sz="1800" b="1" spc="300" kern="0" dirty="0">
                <a:solidFill>
                  <a:schemeClr val="accent3"/>
                </a:solidFill>
              </a:rPr>
              <a:t>CHAPTER 6  ·  ECONOMICS</a:t>
            </a: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lIns="0" tIns="0" rIns="0" bIns="0" rtlCol="0" anchor="t"/>
          <a:lstStyle/>
          <a:p>
            <a:pPr algn="l" indent="0" marL="0">
              <a:buNone/>
            </a:pPr>
            <a:r>
              <a:rPr lang="en-US" sz="5400" b="1" dirty="0">
                <a:solidFill>
                  <a:schemeClr val="bg1"/>
                </a:solidFill>
              </a:rPr>
              <a:t>From Ideas to Startups</a:t>
            </a: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lIns="0" tIns="0" rIns="0" bIns="0" rtlCol="0" anchor="t"/>
          <a:lstStyle/>
          <a:p>
            <a:pPr indent="0" marL="0">
              <a:buNone/>
            </a:pPr>
            <a:r>
              <a:rPr lang="en-US" sz="1800" dirty="0">
                <a:solidFill>
                  <a:schemeClr val="bg2"/>
                </a:solidFill>
              </a:rPr>
              <a:t>Understanding Society: India and Beyond</a:t>
            </a:r>
            <a:endParaRPr lang="en-US" sz="1800" dirty="0"/>
          </a:p>
          <a:p>
            <a:pPr indent="0" marL="0">
              <a:buNone/>
            </a:pPr>
            <a:r>
              <a:rPr lang="en-US" sz="1800" dirty="0">
                <a:solidFill>
                  <a:schemeClr val="bg2"/>
                </a:solidFill>
              </a:rPr>
              <a:t>Grade 9, Part 2</a:t>
            </a:r>
            <a:endParaRPr lang="en-US" sz="1800" dirty="0"/>
          </a:p>
        </p:txBody>
      </p:sp>
      <p:sp>
        <p:nvSpPr>
          <p:cNvPr id="5" name="hero disc"/>
          <p:cNvSpPr/>
          <p:nvPr/>
        </p:nvSpPr>
        <p:spPr>
          <a:xfrm>
            <a:off x="8001000" y="1234440"/>
            <a:ext cx="3566160" cy="3566160"/>
          </a:xfrm>
          <a:prstGeom prst="ellipse">
            <a:avLst/>
          </a:prstGeom>
          <a:solidFill>
            <a:schemeClr val="accent1"/>
          </a:solidFill>
          <a:ln w="38100">
            <a:solidFill>
              <a:schemeClr val="accent3"/>
            </a:solidFill>
            <a:prstDash val="solid"/>
          </a:ln>
        </p:spPr>
      </p:sp>
      <p:pic>
        <p:nvPicPr>
          <p:cNvPr id="6" name="hero icon" descr="preencoded.png">    </p:cNvPr>
          <p:cNvPicPr>
            <a:picLocks noChangeAspect="1"/>
          </p:cNvPicPr>
          <p:nvPr/>
        </p:nvPicPr>
        <p:blipFill>
          <a:blip r:embed="rId1"/>
          <a:stretch>
            <a:fillRect/>
          </a:stretch>
        </p:blipFill>
        <p:spPr>
          <a:xfrm>
            <a:off x="8823960" y="2057400"/>
            <a:ext cx="1920240" cy="1920240"/>
          </a:xfrm>
          <a:prstGeom prst="rect">
            <a:avLst/>
          </a:prstGeom>
        </p:spPr>
      </p:pic>
      <p:sp>
        <p:nvSpPr>
          <p:cNvPr id="7" name="Text 4"/>
          <p:cNvSpPr txBox="1"/>
          <p:nvPr/>
        </p:nvSpPr>
        <p:spPr>
          <a:xfrm>
            <a:off x="7680960" y="5074920"/>
            <a:ext cx="4206240" cy="731520"/>
          </a:xfrm>
          <a:prstGeom prst="rect">
            <a:avLst/>
          </a:prstGeom>
          <a:noFill/>
          <a:ln/>
        </p:spPr>
        <p:txBody>
          <a:bodyPr wrap="square" lIns="0" tIns="0" rIns="0" bIns="0" rtlCol="0" anchor="t"/>
          <a:lstStyle/>
          <a:p>
            <a:pPr algn="ctr" indent="0" marL="0">
              <a:buNone/>
            </a:pPr>
            <a:r>
              <a:rPr lang="en-US" sz="1600" i="1" dirty="0">
                <a:solidFill>
                  <a:schemeClr val="bg2"/>
                </a:solidFill>
              </a:rPr>
              <a:t>The next big idea may be sitting in this classroom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Let's Begin: The Nimbu Pani Challenge</a:t>
            </a:r>
            <a:endParaRPr lang="en-US" sz="3600" dirty="0"/>
          </a:p>
        </p:txBody>
      </p:sp>
      <p:sp>
        <p:nvSpPr>
          <p:cNvPr id="3" name="hook prompt card"/>
          <p:cNvSpPr/>
          <p:nvPr/>
        </p:nvSpPr>
        <p:spPr>
          <a:xfrm>
            <a:off x="548640" y="1371600"/>
            <a:ext cx="6766560" cy="4754880"/>
          </a:xfrm>
          <a:prstGeom prst="roundRect">
            <a:avLst>
              <a:gd name="adj" fmla="val 230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hook disc"/>
          <p:cNvSpPr/>
          <p:nvPr/>
        </p:nvSpPr>
        <p:spPr>
          <a:xfrm>
            <a:off x="868680" y="1691640"/>
            <a:ext cx="822960" cy="822960"/>
          </a:xfrm>
          <a:prstGeom prst="ellipse">
            <a:avLst/>
          </a:prstGeom>
          <a:solidFill>
            <a:schemeClr val="accent1"/>
          </a:solidFill>
          <a:ln w="12700">
            <a:solidFill>
              <a:schemeClr val="accent1"/>
            </a:solidFill>
            <a:prstDash val="solid"/>
          </a:ln>
        </p:spPr>
      </p:sp>
      <p:pic>
        <p:nvPicPr>
          <p:cNvPr id="5" name="hook glyph" descr="preencoded.png">    </p:cNvPr>
          <p:cNvPicPr>
            <a:picLocks noChangeAspect="1"/>
          </p:cNvPicPr>
          <p:nvPr/>
        </p:nvPicPr>
        <p:blipFill>
          <a:blip r:embed="rId1"/>
          <a:stretch>
            <a:fillRect/>
          </a:stretch>
        </p:blipFill>
        <p:spPr>
          <a:xfrm>
            <a:off x="1049731" y="1872691"/>
            <a:ext cx="460858" cy="460858"/>
          </a:xfrm>
          <a:prstGeom prst="rect">
            <a:avLst/>
          </a:prstGeom>
        </p:spPr>
      </p:pic>
      <p:sp>
        <p:nvSpPr>
          <p:cNvPr id="6" name="Text 3"/>
          <p:cNvSpPr txBox="1"/>
          <p:nvPr/>
        </p:nvSpPr>
        <p:spPr>
          <a:xfrm>
            <a:off x="1874520" y="1874520"/>
            <a:ext cx="5120640" cy="457200"/>
          </a:xfrm>
          <a:prstGeom prst="rect">
            <a:avLst/>
          </a:prstGeom>
          <a:noFill/>
          <a:ln/>
        </p:spPr>
        <p:txBody>
          <a:bodyPr wrap="square" lIns="0" tIns="0" rIns="0" bIns="0" rtlCol="0" anchor="ctr"/>
          <a:lstStyle/>
          <a:p>
            <a:pPr indent="0" marL="0">
              <a:buNone/>
            </a:pPr>
            <a:r>
              <a:rPr lang="en-US" sz="1400" b="1" spc="200" kern="0" dirty="0">
                <a:solidFill>
                  <a:schemeClr val="accent1"/>
                </a:solidFill>
              </a:rPr>
              <a:t>SCHOOL FEST STALL</a:t>
            </a:r>
            <a:endParaRPr lang="en-US" sz="1400" dirty="0"/>
          </a:p>
        </p:txBody>
      </p:sp>
      <p:sp>
        <p:nvSpPr>
          <p:cNvPr id="7" name="Text 4"/>
          <p:cNvSpPr txBox="1"/>
          <p:nvPr/>
        </p:nvSpPr>
        <p:spPr>
          <a:xfrm>
            <a:off x="868680" y="2743200"/>
            <a:ext cx="6126480" cy="18288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Your class gets a stall at the school fest. You sell nimbu pani. How will you make a profit?</a:t>
            </a:r>
            <a:endParaRPr lang="en-US" sz="2400" dirty="0"/>
          </a:p>
        </p:txBody>
      </p:sp>
      <p:sp>
        <p:nvSpPr>
          <p:cNvPr id="8" name="Text 5"/>
          <p:cNvSpPr txBox="1"/>
          <p:nvPr/>
        </p:nvSpPr>
        <p:spPr>
          <a:xfrm>
            <a:off x="868680" y="4617720"/>
            <a:ext cx="6126480" cy="137160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What will you buy, and how much?</a:t>
            </a:r>
            <a:endParaRPr lang="en-US" sz="1600" dirty="0"/>
          </a:p>
          <a:p>
            <a:pPr marL="228600" indent="-228600">
              <a:spcAft>
                <a:spcPts val="600"/>
              </a:spcAft>
              <a:buSzPct val="100000"/>
              <a:buChar char="•"/>
            </a:pPr>
            <a:r>
              <a:rPr lang="en-US" sz="1600" dirty="0">
                <a:solidFill>
                  <a:schemeClr val="tx1"/>
                </a:solidFill>
              </a:rPr>
              <a:t>What price will you charge per glass?</a:t>
            </a:r>
            <a:endParaRPr lang="en-US" sz="1600" dirty="0"/>
          </a:p>
        </p:txBody>
      </p:sp>
      <p:sp>
        <p:nvSpPr>
          <p:cNvPr id="9" name="did you know card"/>
          <p:cNvSpPr/>
          <p:nvPr/>
        </p:nvSpPr>
        <p:spPr>
          <a:xfrm>
            <a:off x="7635240" y="1371600"/>
            <a:ext cx="3977640" cy="4754880"/>
          </a:xfrm>
          <a:prstGeom prst="roundRect">
            <a:avLst>
              <a:gd name="adj" fmla="val 2759"/>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10" name="bulb" descr="preencoded.png">    </p:cNvPr>
          <p:cNvPicPr>
            <a:picLocks noChangeAspect="1"/>
          </p:cNvPicPr>
          <p:nvPr/>
        </p:nvPicPr>
        <p:blipFill>
          <a:blip r:embed="rId2"/>
          <a:stretch>
            <a:fillRect/>
          </a:stretch>
        </p:blipFill>
        <p:spPr>
          <a:xfrm>
            <a:off x="7955280" y="1691640"/>
            <a:ext cx="548640" cy="548640"/>
          </a:xfrm>
          <a:prstGeom prst="rect">
            <a:avLst/>
          </a:prstGeom>
        </p:spPr>
      </p:pic>
      <p:sp>
        <p:nvSpPr>
          <p:cNvPr id="11" name="Text 7"/>
          <p:cNvSpPr txBox="1"/>
          <p:nvPr/>
        </p:nvSpPr>
        <p:spPr>
          <a:xfrm>
            <a:off x="8641080" y="1691640"/>
            <a:ext cx="2743200" cy="548640"/>
          </a:xfrm>
          <a:prstGeom prst="rect">
            <a:avLst/>
          </a:prstGeom>
          <a:noFill/>
          <a:ln/>
        </p:spPr>
        <p:txBody>
          <a:bodyPr wrap="square" lIns="0" tIns="0" rIns="0" bIns="0" rtlCol="0" anchor="ctr"/>
          <a:lstStyle/>
          <a:p>
            <a:pPr indent="0" marL="0">
              <a:buNone/>
            </a:pPr>
            <a:r>
              <a:rPr lang="en-US" sz="2000" b="1" dirty="0">
                <a:solidFill>
                  <a:schemeClr val="accent3"/>
                </a:solidFill>
              </a:rPr>
              <a:t>Did you know?</a:t>
            </a:r>
            <a:endParaRPr lang="en-US" sz="2000" dirty="0"/>
          </a:p>
        </p:txBody>
      </p:sp>
      <p:sp>
        <p:nvSpPr>
          <p:cNvPr id="12" name="Text 8"/>
          <p:cNvSpPr txBox="1"/>
          <p:nvPr/>
        </p:nvSpPr>
        <p:spPr>
          <a:xfrm>
            <a:off x="7955280" y="2468880"/>
            <a:ext cx="3383280" cy="34747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Lijjat Papad began in 1959 with just ₹80 on a Mumbai rooftop.</a:t>
            </a:r>
            <a:endParaRPr lang="en-US" sz="1600" dirty="0"/>
          </a:p>
          <a:p>
            <a:pPr marL="228600" indent="-228600">
              <a:spcAft>
                <a:spcPts val="1000"/>
              </a:spcAft>
              <a:buSzPct val="100000"/>
              <a:buChar char="•"/>
            </a:pPr>
            <a:r>
              <a:rPr lang="en-US" sz="1600" dirty="0">
                <a:solidFill>
                  <a:schemeClr val="bg1"/>
                </a:solidFill>
              </a:rPr>
              <a:t>India is the world's third-largest startup ecosystem, with about 120 unicorns in 2025.</a:t>
            </a:r>
            <a:endParaRPr lang="en-US" sz="1600" dirty="0"/>
          </a:p>
          <a:p>
            <a:pPr marL="228600" indent="-228600">
              <a:spcAft>
                <a:spcPts val="1000"/>
              </a:spcAft>
              <a:buSzPct val="100000"/>
              <a:buChar char="•"/>
            </a:pPr>
            <a:r>
              <a:rPr lang="en-US" sz="1600" dirty="0">
                <a:solidFill>
                  <a:schemeClr val="bg1"/>
                </a:solidFill>
              </a:rPr>
              <a:t>Mohan Singh Oberoi started as a hotel desk clerk earning ₹50 a month.</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Big Questions</a:t>
            </a:r>
            <a:endParaRPr lang="en-US" sz="3600" dirty="0"/>
          </a:p>
        </p:txBody>
      </p:sp>
      <p:sp>
        <p:nvSpPr>
          <p:cNvPr id="3" name="question 1 card"/>
          <p:cNvSpPr/>
          <p:nvPr/>
        </p:nvSpPr>
        <p:spPr>
          <a:xfrm>
            <a:off x="548640" y="1371600"/>
            <a:ext cx="11064240" cy="749808"/>
          </a:xfrm>
          <a:prstGeom prst="roundRect">
            <a:avLst>
              <a:gd name="adj" fmla="val 14634"/>
            </a:avLst>
          </a:prstGeom>
          <a:solidFill>
            <a:schemeClr val="bg2"/>
          </a:solidFill>
          <a:ln w="12700">
            <a:solidFill>
              <a:schemeClr val="bg2"/>
            </a:solidFill>
            <a:prstDash val="solid"/>
          </a:ln>
        </p:spPr>
      </p:sp>
      <p:sp>
        <p:nvSpPr>
          <p:cNvPr id="4" name="q1 badge"/>
          <p:cNvSpPr/>
          <p:nvPr/>
        </p:nvSpPr>
        <p:spPr>
          <a:xfrm>
            <a:off x="731520" y="1495044"/>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31520" y="14950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63040" y="13716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does entrepreneurship impact society and the economy?</a:t>
            </a:r>
            <a:endParaRPr lang="en-US" sz="1800" dirty="0"/>
          </a:p>
        </p:txBody>
      </p:sp>
      <p:sp>
        <p:nvSpPr>
          <p:cNvPr id="7" name="question 2 card"/>
          <p:cNvSpPr/>
          <p:nvPr/>
        </p:nvSpPr>
        <p:spPr>
          <a:xfrm>
            <a:off x="548640" y="2286000"/>
            <a:ext cx="11064240" cy="749808"/>
          </a:xfrm>
          <a:prstGeom prst="roundRect">
            <a:avLst>
              <a:gd name="adj" fmla="val 14634"/>
            </a:avLst>
          </a:prstGeom>
          <a:solidFill>
            <a:schemeClr val="bg2"/>
          </a:solidFill>
          <a:ln w="12700">
            <a:solidFill>
              <a:schemeClr val="bg2"/>
            </a:solidFill>
            <a:prstDash val="solid"/>
          </a:ln>
        </p:spPr>
      </p:sp>
      <p:sp>
        <p:nvSpPr>
          <p:cNvPr id="8" name="q2 badge"/>
          <p:cNvSpPr/>
          <p:nvPr/>
        </p:nvSpPr>
        <p:spPr>
          <a:xfrm>
            <a:off x="731520" y="2409444"/>
            <a:ext cx="502920" cy="502920"/>
          </a:xfrm>
          <a:prstGeom prst="ellipse">
            <a:avLst/>
          </a:prstGeom>
          <a:solidFill>
            <a:schemeClr val="accent1"/>
          </a:solidFill>
          <a:ln w="12700">
            <a:solidFill>
              <a:schemeClr val="accent1"/>
            </a:solidFill>
            <a:prstDash val="solid"/>
          </a:ln>
        </p:spPr>
      </p:sp>
      <p:sp>
        <p:nvSpPr>
          <p:cNvPr id="9" name="Text 7"/>
          <p:cNvSpPr txBox="1"/>
          <p:nvPr/>
        </p:nvSpPr>
        <p:spPr>
          <a:xfrm>
            <a:off x="731520" y="24094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463040" y="22860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What are some functional areas of a business?</a:t>
            </a:r>
            <a:endParaRPr lang="en-US" sz="1800" dirty="0"/>
          </a:p>
        </p:txBody>
      </p:sp>
      <p:sp>
        <p:nvSpPr>
          <p:cNvPr id="11" name="question 3 card"/>
          <p:cNvSpPr/>
          <p:nvPr/>
        </p:nvSpPr>
        <p:spPr>
          <a:xfrm>
            <a:off x="548640" y="3200400"/>
            <a:ext cx="11064240" cy="749808"/>
          </a:xfrm>
          <a:prstGeom prst="roundRect">
            <a:avLst>
              <a:gd name="adj" fmla="val 14634"/>
            </a:avLst>
          </a:prstGeom>
          <a:solidFill>
            <a:schemeClr val="bg2"/>
          </a:solidFill>
          <a:ln w="12700">
            <a:solidFill>
              <a:schemeClr val="bg2"/>
            </a:solidFill>
            <a:prstDash val="solid"/>
          </a:ln>
        </p:spPr>
      </p:sp>
      <p:sp>
        <p:nvSpPr>
          <p:cNvPr id="12" name="q3 badge"/>
          <p:cNvSpPr/>
          <p:nvPr/>
        </p:nvSpPr>
        <p:spPr>
          <a:xfrm>
            <a:off x="731520" y="3323844"/>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731520" y="33238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463040" y="32004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do we develop a business plan?</a:t>
            </a:r>
            <a:endParaRPr lang="en-US" sz="18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1</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Entrepreneurs: Seeing Opportunity</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Curious people who see opportunities where others see challenges.</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What Does an Entrepreneur Do?</a:t>
            </a:r>
            <a:endParaRPr lang="en-US" sz="3600" dirty="0"/>
          </a:p>
        </p:txBody>
      </p:sp>
      <p:sp>
        <p:nvSpPr>
          <p:cNvPr id="3" name="spoke 1"/>
          <p:cNvSpPr/>
          <p:nvPr/>
        </p:nvSpPr>
        <p:spPr>
          <a:xfrm>
            <a:off x="6099048" y="1984248"/>
            <a:ext cx="914" cy="1828800"/>
          </a:xfrm>
          <a:prstGeom prst="line">
            <a:avLst/>
          </a:prstGeom>
          <a:noFill/>
          <a:ln w="25400">
            <a:solidFill>
              <a:schemeClr val="accent3"/>
            </a:solidFill>
            <a:prstDash val="solid"/>
          </a:ln>
        </p:spPr>
      </p:sp>
      <p:sp>
        <p:nvSpPr>
          <p:cNvPr id="4" name="spoke 2"/>
          <p:cNvSpPr/>
          <p:nvPr/>
        </p:nvSpPr>
        <p:spPr>
          <a:xfrm flipV="1">
            <a:off x="6099048" y="3247918"/>
            <a:ext cx="3739478" cy="565130"/>
          </a:xfrm>
          <a:prstGeom prst="line">
            <a:avLst/>
          </a:prstGeom>
          <a:noFill/>
          <a:ln w="25400">
            <a:solidFill>
              <a:schemeClr val="accent3"/>
            </a:solidFill>
            <a:prstDash val="solid"/>
          </a:ln>
        </p:spPr>
      </p:sp>
      <p:sp>
        <p:nvSpPr>
          <p:cNvPr id="5" name="spoke 3"/>
          <p:cNvSpPr/>
          <p:nvPr/>
        </p:nvSpPr>
        <p:spPr>
          <a:xfrm>
            <a:off x="6099048" y="3813048"/>
            <a:ext cx="2311125" cy="1479530"/>
          </a:xfrm>
          <a:prstGeom prst="line">
            <a:avLst/>
          </a:prstGeom>
          <a:noFill/>
          <a:ln w="25400">
            <a:solidFill>
              <a:schemeClr val="accent3"/>
            </a:solidFill>
            <a:prstDash val="solid"/>
          </a:ln>
        </p:spPr>
      </p:sp>
      <p:sp>
        <p:nvSpPr>
          <p:cNvPr id="6" name="spoke 4"/>
          <p:cNvSpPr/>
          <p:nvPr/>
        </p:nvSpPr>
        <p:spPr>
          <a:xfrm flipV="1">
            <a:off x="3787923" y="3813048"/>
            <a:ext cx="2311125" cy="1479530"/>
          </a:xfrm>
          <a:prstGeom prst="line">
            <a:avLst/>
          </a:prstGeom>
          <a:noFill/>
          <a:ln w="25400">
            <a:solidFill>
              <a:schemeClr val="accent3"/>
            </a:solidFill>
            <a:prstDash val="solid"/>
          </a:ln>
        </p:spPr>
      </p:sp>
      <p:sp>
        <p:nvSpPr>
          <p:cNvPr id="7" name="spoke 5"/>
          <p:cNvSpPr/>
          <p:nvPr/>
        </p:nvSpPr>
        <p:spPr>
          <a:xfrm>
            <a:off x="2359570" y="3247918"/>
            <a:ext cx="3739478" cy="565130"/>
          </a:xfrm>
          <a:prstGeom prst="line">
            <a:avLst/>
          </a:prstGeom>
          <a:noFill/>
          <a:ln w="25400">
            <a:solidFill>
              <a:schemeClr val="accent3"/>
            </a:solidFill>
            <a:prstDash val="solid"/>
          </a:ln>
        </p:spPr>
      </p:sp>
      <p:sp>
        <p:nvSpPr>
          <p:cNvPr id="8" name="wheel centre"/>
          <p:cNvSpPr/>
          <p:nvPr/>
        </p:nvSpPr>
        <p:spPr>
          <a:xfrm>
            <a:off x="5093208" y="2958084"/>
            <a:ext cx="2011680" cy="1709928"/>
          </a:xfrm>
          <a:prstGeom prst="ellipse">
            <a:avLst/>
          </a:prstGeom>
          <a:solidFill>
            <a:schemeClr val="tx2"/>
          </a:solidFill>
          <a:ln w="38100">
            <a:solidFill>
              <a:schemeClr val="bg1"/>
            </a:solidFill>
            <a:prstDash val="solid"/>
          </a:ln>
        </p:spPr>
      </p:sp>
      <p:sp>
        <p:nvSpPr>
          <p:cNvPr id="9" name="Text 7"/>
          <p:cNvSpPr txBox="1"/>
          <p:nvPr/>
        </p:nvSpPr>
        <p:spPr>
          <a:xfrm>
            <a:off x="5184648" y="2958084"/>
            <a:ext cx="1828800" cy="1709928"/>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Entrepreneur</a:t>
            </a:r>
            <a:endParaRPr lang="en-US" sz="1700" dirty="0"/>
          </a:p>
        </p:txBody>
      </p:sp>
      <p:sp>
        <p:nvSpPr>
          <p:cNvPr id="10" name="node 1"/>
          <p:cNvSpPr/>
          <p:nvPr/>
        </p:nvSpPr>
        <p:spPr>
          <a:xfrm>
            <a:off x="4453128" y="1367028"/>
            <a:ext cx="3291840" cy="1234440"/>
          </a:xfrm>
          <a:prstGeom prst="roundRect">
            <a:avLst>
              <a:gd name="adj" fmla="val 8889"/>
            </a:avLst>
          </a:prstGeom>
          <a:solidFill>
            <a:schemeClr val="bg2"/>
          </a:solidFill>
          <a:ln w="12700">
            <a:solidFill>
              <a:schemeClr val="bg2"/>
            </a:solidFill>
            <a:prstDash val="solid"/>
          </a:ln>
        </p:spPr>
      </p:sp>
      <p:sp>
        <p:nvSpPr>
          <p:cNvPr id="11" name="Text 9"/>
          <p:cNvSpPr txBox="1"/>
          <p:nvPr/>
        </p:nvSpPr>
        <p:spPr>
          <a:xfrm>
            <a:off x="4617720" y="1440180"/>
            <a:ext cx="3017520" cy="1106424"/>
          </a:xfrm>
          <a:prstGeom prst="rect">
            <a:avLst/>
          </a:prstGeom>
          <a:noFill/>
          <a:ln/>
        </p:spPr>
        <p:txBody>
          <a:bodyPr wrap="square" lIns="0" tIns="0" rIns="0" bIns="0" rtlCol="0" anchor="ctr"/>
          <a:lstStyle/>
          <a:p>
            <a:pPr indent="0" marL="0">
              <a:buNone/>
            </a:pPr>
            <a:r>
              <a:rPr lang="en-US" sz="1600" b="1" dirty="0">
                <a:solidFill>
                  <a:schemeClr val="accent1"/>
                </a:solidFill>
              </a:rPr>
              <a:t>Takes risks</a:t>
            </a:r>
            <a:endParaRPr lang="en-US" sz="1600" dirty="0"/>
          </a:p>
          <a:p>
            <a:pPr indent="0" marL="0">
              <a:buNone/>
            </a:pPr>
            <a:r>
              <a:rPr lang="en-US" sz="1600" dirty="0">
                <a:solidFill>
                  <a:schemeClr val="tx1"/>
                </a:solidFill>
              </a:rPr>
              <a:t>Invests money and time without a guaranteed result</a:t>
            </a:r>
            <a:endParaRPr lang="en-US" sz="1600" dirty="0"/>
          </a:p>
        </p:txBody>
      </p:sp>
      <p:sp>
        <p:nvSpPr>
          <p:cNvPr id="12" name="node 2"/>
          <p:cNvSpPr/>
          <p:nvPr/>
        </p:nvSpPr>
        <p:spPr>
          <a:xfrm>
            <a:off x="8192606" y="2630698"/>
            <a:ext cx="3291840" cy="1234440"/>
          </a:xfrm>
          <a:prstGeom prst="roundRect">
            <a:avLst>
              <a:gd name="adj" fmla="val 8889"/>
            </a:avLst>
          </a:prstGeom>
          <a:solidFill>
            <a:schemeClr val="bg2"/>
          </a:solidFill>
          <a:ln w="12700">
            <a:solidFill>
              <a:schemeClr val="bg2"/>
            </a:solidFill>
            <a:prstDash val="solid"/>
          </a:ln>
        </p:spPr>
      </p:sp>
      <p:sp>
        <p:nvSpPr>
          <p:cNvPr id="13" name="Text 11"/>
          <p:cNvSpPr txBox="1"/>
          <p:nvPr/>
        </p:nvSpPr>
        <p:spPr>
          <a:xfrm>
            <a:off x="8357198" y="2703850"/>
            <a:ext cx="3017520" cy="1106424"/>
          </a:xfrm>
          <a:prstGeom prst="rect">
            <a:avLst/>
          </a:prstGeom>
          <a:noFill/>
          <a:ln/>
        </p:spPr>
        <p:txBody>
          <a:bodyPr wrap="square" lIns="0" tIns="0" rIns="0" bIns="0" rtlCol="0" anchor="ctr"/>
          <a:lstStyle/>
          <a:p>
            <a:pPr indent="0" marL="0">
              <a:buNone/>
            </a:pPr>
            <a:r>
              <a:rPr lang="en-US" sz="1600" b="1" dirty="0">
                <a:solidFill>
                  <a:schemeClr val="accent2"/>
                </a:solidFill>
              </a:rPr>
              <a:t>Combines resources</a:t>
            </a:r>
            <a:endParaRPr lang="en-US" sz="1600" dirty="0"/>
          </a:p>
          <a:p>
            <a:pPr indent="0" marL="0">
              <a:buNone/>
            </a:pPr>
            <a:r>
              <a:rPr lang="en-US" sz="1600" dirty="0">
                <a:solidFill>
                  <a:schemeClr val="tx1"/>
                </a:solidFill>
              </a:rPr>
              <a:t>Brings together the factors of production</a:t>
            </a:r>
            <a:endParaRPr lang="en-US" sz="1600" dirty="0"/>
          </a:p>
        </p:txBody>
      </p:sp>
      <p:sp>
        <p:nvSpPr>
          <p:cNvPr id="14" name="node 3"/>
          <p:cNvSpPr/>
          <p:nvPr/>
        </p:nvSpPr>
        <p:spPr>
          <a:xfrm>
            <a:off x="6764253" y="4675358"/>
            <a:ext cx="3291840" cy="1234440"/>
          </a:xfrm>
          <a:prstGeom prst="roundRect">
            <a:avLst>
              <a:gd name="adj" fmla="val 8889"/>
            </a:avLst>
          </a:prstGeom>
          <a:solidFill>
            <a:schemeClr val="bg2"/>
          </a:solidFill>
          <a:ln w="12700">
            <a:solidFill>
              <a:schemeClr val="bg2"/>
            </a:solidFill>
            <a:prstDash val="solid"/>
          </a:ln>
        </p:spPr>
      </p:sp>
      <p:sp>
        <p:nvSpPr>
          <p:cNvPr id="15" name="Text 13"/>
          <p:cNvSpPr txBox="1"/>
          <p:nvPr/>
        </p:nvSpPr>
        <p:spPr>
          <a:xfrm>
            <a:off x="6928845" y="4748510"/>
            <a:ext cx="3017520" cy="1106424"/>
          </a:xfrm>
          <a:prstGeom prst="rect">
            <a:avLst/>
          </a:prstGeom>
          <a:noFill/>
          <a:ln/>
        </p:spPr>
        <p:txBody>
          <a:bodyPr wrap="square" lIns="0" tIns="0" rIns="0" bIns="0" rtlCol="0" anchor="ctr"/>
          <a:lstStyle/>
          <a:p>
            <a:pPr indent="0" marL="0">
              <a:buNone/>
            </a:pPr>
            <a:r>
              <a:rPr lang="en-US" sz="1600" b="1" dirty="0">
                <a:solidFill>
                  <a:schemeClr val="accent4"/>
                </a:solidFill>
              </a:rPr>
              <a:t>Makes key decisions</a:t>
            </a:r>
            <a:endParaRPr lang="en-US" sz="1600" dirty="0"/>
          </a:p>
          <a:p>
            <a:pPr indent="0" marL="0">
              <a:buNone/>
            </a:pPr>
            <a:r>
              <a:rPr lang="en-US" sz="1600" dirty="0">
                <a:solidFill>
                  <a:schemeClr val="tx1"/>
                </a:solidFill>
              </a:rPr>
              <a:t>Decides how the business runs and grows</a:t>
            </a:r>
            <a:endParaRPr lang="en-US" sz="1600" dirty="0"/>
          </a:p>
        </p:txBody>
      </p:sp>
      <p:sp>
        <p:nvSpPr>
          <p:cNvPr id="16" name="node 4"/>
          <p:cNvSpPr/>
          <p:nvPr/>
        </p:nvSpPr>
        <p:spPr>
          <a:xfrm>
            <a:off x="2142003" y="4675358"/>
            <a:ext cx="3291840" cy="1234440"/>
          </a:xfrm>
          <a:prstGeom prst="roundRect">
            <a:avLst>
              <a:gd name="adj" fmla="val 8889"/>
            </a:avLst>
          </a:prstGeom>
          <a:solidFill>
            <a:schemeClr val="bg2"/>
          </a:solidFill>
          <a:ln w="12700">
            <a:solidFill>
              <a:schemeClr val="bg2"/>
            </a:solidFill>
            <a:prstDash val="solid"/>
          </a:ln>
        </p:spPr>
      </p:sp>
      <p:sp>
        <p:nvSpPr>
          <p:cNvPr id="17" name="Text 15"/>
          <p:cNvSpPr txBox="1"/>
          <p:nvPr/>
        </p:nvSpPr>
        <p:spPr>
          <a:xfrm>
            <a:off x="2306595" y="4748510"/>
            <a:ext cx="3017520" cy="1106424"/>
          </a:xfrm>
          <a:prstGeom prst="rect">
            <a:avLst/>
          </a:prstGeom>
          <a:noFill/>
          <a:ln/>
        </p:spPr>
        <p:txBody>
          <a:bodyPr wrap="square" lIns="0" tIns="0" rIns="0" bIns="0" rtlCol="0" anchor="ctr"/>
          <a:lstStyle/>
          <a:p>
            <a:pPr indent="0" marL="0">
              <a:buNone/>
            </a:pPr>
            <a:r>
              <a:rPr lang="en-US" sz="1600" b="1" dirty="0">
                <a:solidFill>
                  <a:schemeClr val="accent5"/>
                </a:solidFill>
              </a:rPr>
              <a:t>Solves problems</a:t>
            </a:r>
            <a:endParaRPr lang="en-US" sz="1600" dirty="0"/>
          </a:p>
          <a:p>
            <a:pPr indent="0" marL="0">
              <a:buNone/>
            </a:pPr>
            <a:r>
              <a:rPr lang="en-US" sz="1600" dirty="0">
                <a:solidFill>
                  <a:schemeClr val="tx1"/>
                </a:solidFill>
              </a:rPr>
              <a:t>Spots a problem and finds an innovative solution</a:t>
            </a:r>
            <a:endParaRPr lang="en-US" sz="1600" dirty="0"/>
          </a:p>
        </p:txBody>
      </p:sp>
      <p:sp>
        <p:nvSpPr>
          <p:cNvPr id="18" name="node 5"/>
          <p:cNvSpPr/>
          <p:nvPr/>
        </p:nvSpPr>
        <p:spPr>
          <a:xfrm>
            <a:off x="713650" y="2630698"/>
            <a:ext cx="3291840" cy="1234440"/>
          </a:xfrm>
          <a:prstGeom prst="roundRect">
            <a:avLst>
              <a:gd name="adj" fmla="val 8889"/>
            </a:avLst>
          </a:prstGeom>
          <a:solidFill>
            <a:schemeClr val="bg2"/>
          </a:solidFill>
          <a:ln w="12700">
            <a:solidFill>
              <a:schemeClr val="bg2"/>
            </a:solidFill>
            <a:prstDash val="solid"/>
          </a:ln>
        </p:spPr>
      </p:sp>
      <p:sp>
        <p:nvSpPr>
          <p:cNvPr id="19" name="Text 17"/>
          <p:cNvSpPr txBox="1"/>
          <p:nvPr/>
        </p:nvSpPr>
        <p:spPr>
          <a:xfrm>
            <a:off x="878242" y="2703850"/>
            <a:ext cx="3017520" cy="1106424"/>
          </a:xfrm>
          <a:prstGeom prst="rect">
            <a:avLst/>
          </a:prstGeom>
          <a:noFill/>
          <a:ln/>
        </p:spPr>
        <p:txBody>
          <a:bodyPr wrap="square" lIns="0" tIns="0" rIns="0" bIns="0" rtlCol="0" anchor="ctr"/>
          <a:lstStyle/>
          <a:p>
            <a:pPr indent="0" marL="0">
              <a:buNone/>
            </a:pPr>
            <a:r>
              <a:rPr lang="en-US" sz="1600" b="1" dirty="0">
                <a:solidFill>
                  <a:schemeClr val="accent6"/>
                </a:solidFill>
              </a:rPr>
              <a:t>Serves society</a:t>
            </a:r>
            <a:endParaRPr lang="en-US" sz="1600" dirty="0"/>
          </a:p>
          <a:p>
            <a:pPr indent="0" marL="0">
              <a:buNone/>
            </a:pPr>
            <a:r>
              <a:rPr lang="en-US" sz="1600" dirty="0">
                <a:solidFill>
                  <a:schemeClr val="tx1"/>
                </a:solidFill>
              </a:rPr>
              <a:t>Contributes to people's welfare through innovation</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 Jataka Tale: From a Dead Mouse to Riches</a:t>
            </a:r>
            <a:endParaRPr lang="en-US" sz="3600" dirty="0"/>
          </a:p>
        </p:txBody>
      </p:sp>
      <p:sp>
        <p:nvSpPr>
          <p:cNvPr id="3" name="step 1 card"/>
          <p:cNvSpPr/>
          <p:nvPr/>
        </p:nvSpPr>
        <p:spPr>
          <a:xfrm>
            <a:off x="548640" y="1417320"/>
            <a:ext cx="1883664" cy="4160520"/>
          </a:xfrm>
          <a:prstGeom prst="roundRect">
            <a:avLst>
              <a:gd name="adj" fmla="val 5825"/>
            </a:avLst>
          </a:prstGeom>
          <a:solidFill>
            <a:schemeClr val="bg2"/>
          </a:solidFill>
          <a:ln w="12700">
            <a:solidFill>
              <a:schemeClr val="bg2"/>
            </a:solidFill>
            <a:prstDash val="solid"/>
          </a:ln>
        </p:spPr>
      </p:sp>
      <p:sp>
        <p:nvSpPr>
          <p:cNvPr id="4" name="step 1 disc"/>
          <p:cNvSpPr/>
          <p:nvPr/>
        </p:nvSpPr>
        <p:spPr>
          <a:xfrm>
            <a:off x="1094903" y="1691640"/>
            <a:ext cx="791139" cy="791139"/>
          </a:xfrm>
          <a:prstGeom prst="ellipse">
            <a:avLst/>
          </a:prstGeom>
          <a:solidFill>
            <a:schemeClr val="accent1"/>
          </a:solidFill>
          <a:ln w="12700">
            <a:solidFill>
              <a:schemeClr val="accent1"/>
            </a:solidFill>
            <a:prstDash val="solid"/>
          </a:ln>
        </p:spPr>
      </p:sp>
      <p:pic>
        <p:nvPicPr>
          <p:cNvPr id="5" name="step 1 glyph" descr="preencoded.png">    </p:cNvPr>
          <p:cNvPicPr>
            <a:picLocks noChangeAspect="1"/>
          </p:cNvPicPr>
          <p:nvPr/>
        </p:nvPicPr>
        <p:blipFill>
          <a:blip r:embed="rId1"/>
          <a:stretch>
            <a:fillRect/>
          </a:stretch>
        </p:blipFill>
        <p:spPr>
          <a:xfrm>
            <a:off x="1268953" y="1865691"/>
            <a:ext cx="443038" cy="443038"/>
          </a:xfrm>
          <a:prstGeom prst="rect">
            <a:avLst/>
          </a:prstGeom>
        </p:spPr>
      </p:pic>
      <p:sp>
        <p:nvSpPr>
          <p:cNvPr id="6" name="Text 3"/>
          <p:cNvSpPr txBox="1"/>
          <p:nvPr/>
        </p:nvSpPr>
        <p:spPr>
          <a:xfrm>
            <a:off x="685800"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1. A dead mouse</a:t>
            </a:r>
            <a:endParaRPr lang="en-US" sz="1700" dirty="0"/>
          </a:p>
        </p:txBody>
      </p:sp>
      <p:sp>
        <p:nvSpPr>
          <p:cNvPr id="7" name="Text 4"/>
          <p:cNvSpPr txBox="1"/>
          <p:nvPr/>
        </p:nvSpPr>
        <p:spPr>
          <a:xfrm>
            <a:off x="731520"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Sold to a shopkeeper for 2 coins, to feed his hungry cat.</a:t>
            </a:r>
            <a:endParaRPr lang="en-US" sz="1600" dirty="0"/>
          </a:p>
        </p:txBody>
      </p:sp>
      <p:sp>
        <p:nvSpPr>
          <p:cNvPr id="8" name="arrow 1"/>
          <p:cNvSpPr/>
          <p:nvPr/>
        </p:nvSpPr>
        <p:spPr>
          <a:xfrm>
            <a:off x="2487168" y="1940905"/>
            <a:ext cx="301752" cy="292608"/>
          </a:xfrm>
          <a:prstGeom prst="rightArrow">
            <a:avLst/>
          </a:prstGeom>
          <a:solidFill>
            <a:schemeClr val="accent3"/>
          </a:solidFill>
          <a:ln w="12700">
            <a:solidFill>
              <a:schemeClr val="accent3"/>
            </a:solidFill>
            <a:prstDash val="solid"/>
          </a:ln>
        </p:spPr>
      </p:sp>
      <p:sp>
        <p:nvSpPr>
          <p:cNvPr id="9" name="step 2 card"/>
          <p:cNvSpPr/>
          <p:nvPr/>
        </p:nvSpPr>
        <p:spPr>
          <a:xfrm>
            <a:off x="2843784" y="1417320"/>
            <a:ext cx="1883664" cy="4160520"/>
          </a:xfrm>
          <a:prstGeom prst="roundRect">
            <a:avLst>
              <a:gd name="adj" fmla="val 5825"/>
            </a:avLst>
          </a:prstGeom>
          <a:solidFill>
            <a:schemeClr val="bg2"/>
          </a:solidFill>
          <a:ln w="12700">
            <a:solidFill>
              <a:schemeClr val="bg2"/>
            </a:solidFill>
            <a:prstDash val="solid"/>
          </a:ln>
        </p:spPr>
      </p:sp>
      <p:sp>
        <p:nvSpPr>
          <p:cNvPr id="10" name="step 2 disc"/>
          <p:cNvSpPr/>
          <p:nvPr/>
        </p:nvSpPr>
        <p:spPr>
          <a:xfrm>
            <a:off x="3390047" y="1691640"/>
            <a:ext cx="791139" cy="791139"/>
          </a:xfrm>
          <a:prstGeom prst="ellipse">
            <a:avLst/>
          </a:prstGeom>
          <a:solidFill>
            <a:schemeClr val="accent2"/>
          </a:solidFill>
          <a:ln w="12700">
            <a:solidFill>
              <a:schemeClr val="accent2"/>
            </a:solidFill>
            <a:prstDash val="solid"/>
          </a:ln>
        </p:spPr>
      </p:sp>
      <p:pic>
        <p:nvPicPr>
          <p:cNvPr id="11" name="step 2 glyph" descr="preencoded.png">    </p:cNvPr>
          <p:cNvPicPr>
            <a:picLocks noChangeAspect="1"/>
          </p:cNvPicPr>
          <p:nvPr/>
        </p:nvPicPr>
        <p:blipFill>
          <a:blip r:embed="rId2"/>
          <a:stretch>
            <a:fillRect/>
          </a:stretch>
        </p:blipFill>
        <p:spPr>
          <a:xfrm>
            <a:off x="3564097" y="1865691"/>
            <a:ext cx="443038" cy="443038"/>
          </a:xfrm>
          <a:prstGeom prst="rect">
            <a:avLst/>
          </a:prstGeom>
        </p:spPr>
      </p:pic>
      <p:sp>
        <p:nvSpPr>
          <p:cNvPr id="12" name="Text 8"/>
          <p:cNvSpPr txBox="1"/>
          <p:nvPr/>
        </p:nvSpPr>
        <p:spPr>
          <a:xfrm>
            <a:off x="2980944"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2. Fruit and water</a:t>
            </a:r>
            <a:endParaRPr lang="en-US" sz="1700" dirty="0"/>
          </a:p>
        </p:txBody>
      </p:sp>
      <p:sp>
        <p:nvSpPr>
          <p:cNvPr id="13" name="Text 9"/>
          <p:cNvSpPr txBox="1"/>
          <p:nvPr/>
        </p:nvSpPr>
        <p:spPr>
          <a:xfrm>
            <a:off x="3026664"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Bought with the coins and traded with a tired flower picker for flowers.</a:t>
            </a:r>
            <a:endParaRPr lang="en-US" sz="1600" dirty="0"/>
          </a:p>
        </p:txBody>
      </p:sp>
      <p:sp>
        <p:nvSpPr>
          <p:cNvPr id="14" name="arrow 2"/>
          <p:cNvSpPr/>
          <p:nvPr/>
        </p:nvSpPr>
        <p:spPr>
          <a:xfrm>
            <a:off x="4782312" y="1940905"/>
            <a:ext cx="301752" cy="292608"/>
          </a:xfrm>
          <a:prstGeom prst="rightArrow">
            <a:avLst/>
          </a:prstGeom>
          <a:solidFill>
            <a:schemeClr val="accent3"/>
          </a:solidFill>
          <a:ln w="12700">
            <a:solidFill>
              <a:schemeClr val="accent3"/>
            </a:solidFill>
            <a:prstDash val="solid"/>
          </a:ln>
        </p:spPr>
      </p:sp>
      <p:sp>
        <p:nvSpPr>
          <p:cNvPr id="15" name="step 3 card"/>
          <p:cNvSpPr/>
          <p:nvPr/>
        </p:nvSpPr>
        <p:spPr>
          <a:xfrm>
            <a:off x="5138928" y="1417320"/>
            <a:ext cx="1883664" cy="4160520"/>
          </a:xfrm>
          <a:prstGeom prst="roundRect">
            <a:avLst>
              <a:gd name="adj" fmla="val 5825"/>
            </a:avLst>
          </a:prstGeom>
          <a:solidFill>
            <a:schemeClr val="bg2"/>
          </a:solidFill>
          <a:ln w="12700">
            <a:solidFill>
              <a:schemeClr val="bg2"/>
            </a:solidFill>
            <a:prstDash val="solid"/>
          </a:ln>
        </p:spPr>
      </p:sp>
      <p:sp>
        <p:nvSpPr>
          <p:cNvPr id="16" name="step 3 disc"/>
          <p:cNvSpPr/>
          <p:nvPr/>
        </p:nvSpPr>
        <p:spPr>
          <a:xfrm>
            <a:off x="5685191" y="1691640"/>
            <a:ext cx="791139" cy="791139"/>
          </a:xfrm>
          <a:prstGeom prst="ellipse">
            <a:avLst/>
          </a:prstGeom>
          <a:solidFill>
            <a:schemeClr val="accent1"/>
          </a:solidFill>
          <a:ln w="12700">
            <a:solidFill>
              <a:schemeClr val="accent1"/>
            </a:solidFill>
            <a:prstDash val="solid"/>
          </a:ln>
        </p:spPr>
      </p:sp>
      <p:pic>
        <p:nvPicPr>
          <p:cNvPr id="17" name="step 3 glyph" descr="preencoded.png">    </p:cNvPr>
          <p:cNvPicPr>
            <a:picLocks noChangeAspect="1"/>
          </p:cNvPicPr>
          <p:nvPr/>
        </p:nvPicPr>
        <p:blipFill>
          <a:blip r:embed="rId3"/>
          <a:stretch>
            <a:fillRect/>
          </a:stretch>
        </p:blipFill>
        <p:spPr>
          <a:xfrm>
            <a:off x="5859241" y="1865691"/>
            <a:ext cx="443038" cy="443038"/>
          </a:xfrm>
          <a:prstGeom prst="rect">
            <a:avLst/>
          </a:prstGeom>
        </p:spPr>
      </p:pic>
      <p:sp>
        <p:nvSpPr>
          <p:cNvPr id="18" name="Text 13"/>
          <p:cNvSpPr txBox="1"/>
          <p:nvPr/>
        </p:nvSpPr>
        <p:spPr>
          <a:xfrm>
            <a:off x="5276088"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3. Flowers</a:t>
            </a:r>
            <a:endParaRPr lang="en-US" sz="1700" dirty="0"/>
          </a:p>
        </p:txBody>
      </p:sp>
      <p:sp>
        <p:nvSpPr>
          <p:cNvPr id="19" name="Text 14"/>
          <p:cNvSpPr txBox="1"/>
          <p:nvPr/>
        </p:nvSpPr>
        <p:spPr>
          <a:xfrm>
            <a:off x="5321808"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Sold in the city; earnings grow step by step.</a:t>
            </a:r>
            <a:endParaRPr lang="en-US" sz="1600" dirty="0"/>
          </a:p>
        </p:txBody>
      </p:sp>
      <p:sp>
        <p:nvSpPr>
          <p:cNvPr id="20" name="arrow 3"/>
          <p:cNvSpPr/>
          <p:nvPr/>
        </p:nvSpPr>
        <p:spPr>
          <a:xfrm>
            <a:off x="7077456" y="1940905"/>
            <a:ext cx="301752" cy="292608"/>
          </a:xfrm>
          <a:prstGeom prst="rightArrow">
            <a:avLst/>
          </a:prstGeom>
          <a:solidFill>
            <a:schemeClr val="accent3"/>
          </a:solidFill>
          <a:ln w="12700">
            <a:solidFill>
              <a:schemeClr val="accent3"/>
            </a:solidFill>
            <a:prstDash val="solid"/>
          </a:ln>
        </p:spPr>
      </p:sp>
      <p:sp>
        <p:nvSpPr>
          <p:cNvPr id="21" name="step 4 card"/>
          <p:cNvSpPr/>
          <p:nvPr/>
        </p:nvSpPr>
        <p:spPr>
          <a:xfrm>
            <a:off x="7434072" y="1417320"/>
            <a:ext cx="1883664" cy="4160520"/>
          </a:xfrm>
          <a:prstGeom prst="roundRect">
            <a:avLst>
              <a:gd name="adj" fmla="val 5825"/>
            </a:avLst>
          </a:prstGeom>
          <a:solidFill>
            <a:schemeClr val="bg2"/>
          </a:solidFill>
          <a:ln w="12700">
            <a:solidFill>
              <a:schemeClr val="bg2"/>
            </a:solidFill>
            <a:prstDash val="solid"/>
          </a:ln>
        </p:spPr>
      </p:sp>
      <p:sp>
        <p:nvSpPr>
          <p:cNvPr id="22" name="step 4 disc"/>
          <p:cNvSpPr/>
          <p:nvPr/>
        </p:nvSpPr>
        <p:spPr>
          <a:xfrm>
            <a:off x="7980335" y="1691640"/>
            <a:ext cx="791139" cy="791139"/>
          </a:xfrm>
          <a:prstGeom prst="ellipse">
            <a:avLst/>
          </a:prstGeom>
          <a:solidFill>
            <a:schemeClr val="accent2"/>
          </a:solidFill>
          <a:ln w="12700">
            <a:solidFill>
              <a:schemeClr val="accent2"/>
            </a:solidFill>
            <a:prstDash val="solid"/>
          </a:ln>
        </p:spPr>
      </p:sp>
      <p:pic>
        <p:nvPicPr>
          <p:cNvPr id="23" name="step 4 glyph" descr="preencoded.png">    </p:cNvPr>
          <p:cNvPicPr>
            <a:picLocks noChangeAspect="1"/>
          </p:cNvPicPr>
          <p:nvPr/>
        </p:nvPicPr>
        <p:blipFill>
          <a:blip r:embed="rId4"/>
          <a:stretch>
            <a:fillRect/>
          </a:stretch>
        </p:blipFill>
        <p:spPr>
          <a:xfrm>
            <a:off x="8154385" y="1865691"/>
            <a:ext cx="443038" cy="443038"/>
          </a:xfrm>
          <a:prstGeom prst="rect">
            <a:avLst/>
          </a:prstGeom>
        </p:spPr>
      </p:pic>
      <p:sp>
        <p:nvSpPr>
          <p:cNvPr id="24" name="Text 18"/>
          <p:cNvSpPr txBox="1"/>
          <p:nvPr/>
        </p:nvSpPr>
        <p:spPr>
          <a:xfrm>
            <a:off x="7571232"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4. More trades</a:t>
            </a:r>
            <a:endParaRPr lang="en-US" sz="1700" dirty="0"/>
          </a:p>
        </p:txBody>
      </p:sp>
      <p:sp>
        <p:nvSpPr>
          <p:cNvPr id="25" name="Text 19"/>
          <p:cNvSpPr txBox="1"/>
          <p:nvPr/>
        </p:nvSpPr>
        <p:spPr>
          <a:xfrm>
            <a:off x="7616952"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Firewood after a storm, grass for horse dealers, a refreshment shop.</a:t>
            </a:r>
            <a:endParaRPr lang="en-US" sz="1600" dirty="0"/>
          </a:p>
        </p:txBody>
      </p:sp>
      <p:sp>
        <p:nvSpPr>
          <p:cNvPr id="26" name="arrow 4"/>
          <p:cNvSpPr/>
          <p:nvPr/>
        </p:nvSpPr>
        <p:spPr>
          <a:xfrm>
            <a:off x="9372600" y="1940905"/>
            <a:ext cx="301752" cy="292608"/>
          </a:xfrm>
          <a:prstGeom prst="rightArrow">
            <a:avLst/>
          </a:prstGeom>
          <a:solidFill>
            <a:schemeClr val="accent3"/>
          </a:solidFill>
          <a:ln w="12700">
            <a:solidFill>
              <a:schemeClr val="accent3"/>
            </a:solidFill>
            <a:prstDash val="solid"/>
          </a:ln>
        </p:spPr>
      </p:sp>
      <p:sp>
        <p:nvSpPr>
          <p:cNvPr id="27" name="step 5 card"/>
          <p:cNvSpPr/>
          <p:nvPr/>
        </p:nvSpPr>
        <p:spPr>
          <a:xfrm>
            <a:off x="9729216" y="1417320"/>
            <a:ext cx="1883664" cy="4160520"/>
          </a:xfrm>
          <a:prstGeom prst="roundRect">
            <a:avLst>
              <a:gd name="adj" fmla="val 5825"/>
            </a:avLst>
          </a:prstGeom>
          <a:solidFill>
            <a:schemeClr val="bg2"/>
          </a:solidFill>
          <a:ln w="12700">
            <a:solidFill>
              <a:schemeClr val="bg2"/>
            </a:solidFill>
            <a:prstDash val="solid"/>
          </a:ln>
        </p:spPr>
      </p:sp>
      <p:sp>
        <p:nvSpPr>
          <p:cNvPr id="28" name="step 5 disc"/>
          <p:cNvSpPr/>
          <p:nvPr/>
        </p:nvSpPr>
        <p:spPr>
          <a:xfrm>
            <a:off x="10275479" y="1691640"/>
            <a:ext cx="791139" cy="791139"/>
          </a:xfrm>
          <a:prstGeom prst="ellipse">
            <a:avLst/>
          </a:prstGeom>
          <a:solidFill>
            <a:schemeClr val="accent1"/>
          </a:solidFill>
          <a:ln w="12700">
            <a:solidFill>
              <a:schemeClr val="accent1"/>
            </a:solidFill>
            <a:prstDash val="solid"/>
          </a:ln>
        </p:spPr>
      </p:sp>
      <p:pic>
        <p:nvPicPr>
          <p:cNvPr id="29" name="step 5 glyph" descr="preencoded.png">    </p:cNvPr>
          <p:cNvPicPr>
            <a:picLocks noChangeAspect="1"/>
          </p:cNvPicPr>
          <p:nvPr/>
        </p:nvPicPr>
        <p:blipFill>
          <a:blip r:embed="rId5"/>
          <a:stretch>
            <a:fillRect/>
          </a:stretch>
        </p:blipFill>
        <p:spPr>
          <a:xfrm>
            <a:off x="10449529" y="1865691"/>
            <a:ext cx="443038" cy="443038"/>
          </a:xfrm>
          <a:prstGeom prst="rect">
            <a:avLst/>
          </a:prstGeom>
        </p:spPr>
      </p:pic>
      <p:sp>
        <p:nvSpPr>
          <p:cNvPr id="30" name="Text 23"/>
          <p:cNvSpPr txBox="1"/>
          <p:nvPr/>
        </p:nvSpPr>
        <p:spPr>
          <a:xfrm>
            <a:off x="9866376"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5. Wealth shared</a:t>
            </a:r>
            <a:endParaRPr lang="en-US" sz="1700" dirty="0"/>
          </a:p>
        </p:txBody>
      </p:sp>
      <p:sp>
        <p:nvSpPr>
          <p:cNvPr id="31" name="Text 24"/>
          <p:cNvSpPr txBox="1"/>
          <p:nvPr/>
        </p:nvSpPr>
        <p:spPr>
          <a:xfrm>
            <a:off x="9912096"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Trades with foreign merchants; gives half to the merchant and helps the city.</a:t>
            </a:r>
            <a:endParaRPr lang="en-US" sz="1600" dirty="0"/>
          </a:p>
        </p:txBody>
      </p:sp>
      <p:sp>
        <p:nvSpPr>
          <p:cNvPr id="32" name="footnote band"/>
          <p:cNvSpPr/>
          <p:nvPr/>
        </p:nvSpPr>
        <p:spPr>
          <a:xfrm>
            <a:off x="548640" y="5715000"/>
            <a:ext cx="11064240" cy="548640"/>
          </a:xfrm>
          <a:prstGeom prst="roundRect">
            <a:avLst>
              <a:gd name="adj" fmla="val 13333"/>
            </a:avLst>
          </a:prstGeom>
          <a:solidFill>
            <a:schemeClr val="tx2"/>
          </a:solidFill>
          <a:ln w="12700">
            <a:solidFill>
              <a:schemeClr val="tx2"/>
            </a:solidFill>
            <a:prstDash val="solid"/>
          </a:ln>
        </p:spPr>
      </p:sp>
      <p:sp>
        <p:nvSpPr>
          <p:cNvPr id="33" name="Text 26"/>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b="1" dirty="0">
                <a:solidFill>
                  <a:schemeClr val="bg1"/>
                </a:solidFill>
              </a:rPr>
              <a:t>Lesson:</a:t>
            </a:r>
            <a:r>
              <a:rPr lang="en-US" sz="1500" dirty="0">
                <a:solidFill>
                  <a:schemeClr val="bg1"/>
                </a:solidFill>
              </a:rPr>
              <a:t> spot opportunities, work smart, grow step by step, and give back to the community.</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Case Study: Lijjat Papad, from Rooftop to Revolution</a:t>
            </a:r>
            <a:endParaRPr lang="en-US" sz="3600" dirty="0"/>
          </a:p>
        </p:txBody>
      </p:sp>
      <p:sp>
        <p:nvSpPr>
          <p:cNvPr id="3" name="stat 1"/>
          <p:cNvSpPr/>
          <p:nvPr/>
        </p:nvSpPr>
        <p:spPr>
          <a:xfrm>
            <a:off x="548640" y="1463040"/>
            <a:ext cx="3505200" cy="4114800"/>
          </a:xfrm>
          <a:prstGeom prst="roundRect">
            <a:avLst>
              <a:gd name="adj" fmla="val 3130"/>
            </a:avLst>
          </a:prstGeom>
          <a:solidFill>
            <a:schemeClr val="tx2"/>
          </a:solidFill>
          <a:ln w="12700">
            <a:solidFill>
              <a:schemeClr val="tx2"/>
            </a:solidFill>
            <a:prstDash val="solid"/>
          </a:ln>
        </p:spPr>
      </p:sp>
      <p:pic>
        <p:nvPicPr>
          <p:cNvPr id="4" name="stat 1 icon" descr="preencoded.png">    </p:cNvPr>
          <p:cNvPicPr>
            <a:picLocks noChangeAspect="1"/>
          </p:cNvPicPr>
          <p:nvPr/>
        </p:nvPicPr>
        <p:blipFill>
          <a:blip r:embed="rId1"/>
          <a:stretch>
            <a:fillRect/>
          </a:stretch>
        </p:blipFill>
        <p:spPr>
          <a:xfrm>
            <a:off x="822960" y="1737360"/>
            <a:ext cx="548640" cy="548640"/>
          </a:xfrm>
          <a:prstGeom prst="rect">
            <a:avLst/>
          </a:prstGeom>
        </p:spPr>
      </p:pic>
      <p:sp>
        <p:nvSpPr>
          <p:cNvPr id="5" name="Text 2"/>
          <p:cNvSpPr txBox="1"/>
          <p:nvPr/>
        </p:nvSpPr>
        <p:spPr>
          <a:xfrm>
            <a:off x="777240" y="2377440"/>
            <a:ext cx="3048000" cy="100584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₹80</a:t>
            </a:r>
            <a:endParaRPr lang="en-US" sz="4400" dirty="0"/>
          </a:p>
        </p:txBody>
      </p:sp>
      <p:sp>
        <p:nvSpPr>
          <p:cNvPr id="6" name="Text 3"/>
          <p:cNvSpPr txBox="1"/>
          <p:nvPr/>
        </p:nvSpPr>
        <p:spPr>
          <a:xfrm>
            <a:off x="77724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1959: the start</a:t>
            </a:r>
            <a:endParaRPr lang="en-US" sz="1800" dirty="0"/>
          </a:p>
        </p:txBody>
      </p:sp>
      <p:sp>
        <p:nvSpPr>
          <p:cNvPr id="7" name="Text 4"/>
          <p:cNvSpPr txBox="1"/>
          <p:nvPr/>
        </p:nvSpPr>
        <p:spPr>
          <a:xfrm>
            <a:off x="77724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Seven homemakers in a Mumbai chawl, a borrowed recipe and equipment.</a:t>
            </a:r>
            <a:endParaRPr lang="en-US" sz="1600" dirty="0"/>
          </a:p>
        </p:txBody>
      </p:sp>
      <p:sp>
        <p:nvSpPr>
          <p:cNvPr id="8" name="stat 2"/>
          <p:cNvSpPr/>
          <p:nvPr/>
        </p:nvSpPr>
        <p:spPr>
          <a:xfrm>
            <a:off x="4328160" y="1463040"/>
            <a:ext cx="3505200" cy="4114800"/>
          </a:xfrm>
          <a:prstGeom prst="roundRect">
            <a:avLst>
              <a:gd name="adj" fmla="val 3130"/>
            </a:avLst>
          </a:prstGeom>
          <a:solidFill>
            <a:schemeClr val="accent2"/>
          </a:solidFill>
          <a:ln w="12700">
            <a:solidFill>
              <a:schemeClr val="accent2"/>
            </a:solidFill>
            <a:prstDash val="solid"/>
          </a:ln>
        </p:spPr>
      </p:sp>
      <p:pic>
        <p:nvPicPr>
          <p:cNvPr id="9" name="stat 2 icon" descr="preencoded.png">    </p:cNvPr>
          <p:cNvPicPr>
            <a:picLocks noChangeAspect="1"/>
          </p:cNvPicPr>
          <p:nvPr/>
        </p:nvPicPr>
        <p:blipFill>
          <a:blip r:embed="rId2"/>
          <a:stretch>
            <a:fillRect/>
          </a:stretch>
        </p:blipFill>
        <p:spPr>
          <a:xfrm>
            <a:off x="4602480" y="1737360"/>
            <a:ext cx="548640" cy="548640"/>
          </a:xfrm>
          <a:prstGeom prst="rect">
            <a:avLst/>
          </a:prstGeom>
        </p:spPr>
      </p:pic>
      <p:sp>
        <p:nvSpPr>
          <p:cNvPr id="10" name="Text 6"/>
          <p:cNvSpPr txBox="1"/>
          <p:nvPr/>
        </p:nvSpPr>
        <p:spPr>
          <a:xfrm>
            <a:off x="4556760" y="2377440"/>
            <a:ext cx="3048000" cy="100584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45,000+</a:t>
            </a:r>
            <a:endParaRPr lang="en-US" sz="4400" dirty="0"/>
          </a:p>
        </p:txBody>
      </p:sp>
      <p:sp>
        <p:nvSpPr>
          <p:cNvPr id="11" name="Text 7"/>
          <p:cNvSpPr txBox="1"/>
          <p:nvPr/>
        </p:nvSpPr>
        <p:spPr>
          <a:xfrm>
            <a:off x="455676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Women members (2023)</a:t>
            </a:r>
            <a:endParaRPr lang="en-US" sz="1800" dirty="0"/>
          </a:p>
        </p:txBody>
      </p:sp>
      <p:sp>
        <p:nvSpPr>
          <p:cNvPr id="12" name="Text 8"/>
          <p:cNvSpPr txBox="1"/>
          <p:nvPr/>
        </p:nvSpPr>
        <p:spPr>
          <a:xfrm>
            <a:off x="455676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A cooperative: every member an </a:t>
            </a:r>
            <a:r>
              <a:rPr lang="en-US" sz="1800" b="1" dirty="0">
                <a:solidFill>
                  <a:schemeClr val="bg1"/>
                </a:solidFill>
              </a:rPr>
              <a:t>equal owner</a:t>
            </a:r>
            <a:r>
              <a:rPr lang="en-US" sz="1800" dirty="0">
                <a:solidFill>
                  <a:schemeClr val="bg1"/>
                </a:solidFill>
              </a:rPr>
              <a:t>; profits shared equally.</a:t>
            </a:r>
            <a:endParaRPr lang="en-US" sz="1600" dirty="0"/>
          </a:p>
        </p:txBody>
      </p:sp>
      <p:sp>
        <p:nvSpPr>
          <p:cNvPr id="13" name="stat 3"/>
          <p:cNvSpPr/>
          <p:nvPr/>
        </p:nvSpPr>
        <p:spPr>
          <a:xfrm>
            <a:off x="8107680" y="1463040"/>
            <a:ext cx="3505200" cy="4114800"/>
          </a:xfrm>
          <a:prstGeom prst="roundRect">
            <a:avLst>
              <a:gd name="adj" fmla="val 3130"/>
            </a:avLst>
          </a:prstGeom>
          <a:solidFill>
            <a:schemeClr val="tx2"/>
          </a:solidFill>
          <a:ln w="12700">
            <a:solidFill>
              <a:schemeClr val="tx2"/>
            </a:solidFill>
            <a:prstDash val="solid"/>
          </a:ln>
        </p:spPr>
      </p:sp>
      <p:pic>
        <p:nvPicPr>
          <p:cNvPr id="14" name="stat 3 icon" descr="preencoded.png">    </p:cNvPr>
          <p:cNvPicPr>
            <a:picLocks noChangeAspect="1"/>
          </p:cNvPicPr>
          <p:nvPr/>
        </p:nvPicPr>
        <p:blipFill>
          <a:blip r:embed="rId3"/>
          <a:stretch>
            <a:fillRect/>
          </a:stretch>
        </p:blipFill>
        <p:spPr>
          <a:xfrm>
            <a:off x="8382000" y="1737360"/>
            <a:ext cx="548640" cy="548640"/>
          </a:xfrm>
          <a:prstGeom prst="rect">
            <a:avLst/>
          </a:prstGeom>
        </p:spPr>
      </p:pic>
      <p:sp>
        <p:nvSpPr>
          <p:cNvPr id="15" name="Text 10"/>
          <p:cNvSpPr txBox="1"/>
          <p:nvPr/>
        </p:nvSpPr>
        <p:spPr>
          <a:xfrm>
            <a:off x="8336280" y="2377440"/>
            <a:ext cx="3048000" cy="100584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₹1,600 cr</a:t>
            </a:r>
            <a:endParaRPr lang="en-US" sz="4000" dirty="0"/>
          </a:p>
        </p:txBody>
      </p:sp>
      <p:sp>
        <p:nvSpPr>
          <p:cNvPr id="16" name="Text 11"/>
          <p:cNvSpPr txBox="1"/>
          <p:nvPr/>
        </p:nvSpPr>
        <p:spPr>
          <a:xfrm>
            <a:off x="833628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Annual turnover</a:t>
            </a:r>
            <a:endParaRPr lang="en-US" sz="1800" dirty="0"/>
          </a:p>
        </p:txBody>
      </p:sp>
      <p:sp>
        <p:nvSpPr>
          <p:cNvPr id="17" name="Text 12"/>
          <p:cNvSpPr txBox="1"/>
          <p:nvPr/>
        </p:nvSpPr>
        <p:spPr>
          <a:xfrm>
            <a:off x="833628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83 branches; papads, flour, masalas, soaps, and exports.</a:t>
            </a:r>
            <a:endParaRPr lang="en-US" sz="1600" dirty="0"/>
          </a:p>
        </p:txBody>
      </p:sp>
      <p:sp>
        <p:nvSpPr>
          <p:cNvPr id="18" name="footnote band"/>
          <p:cNvSpPr/>
          <p:nvPr/>
        </p:nvSpPr>
        <p:spPr>
          <a:xfrm>
            <a:off x="548640" y="5715000"/>
            <a:ext cx="11064240" cy="548640"/>
          </a:xfrm>
          <a:prstGeom prst="roundRect">
            <a:avLst>
              <a:gd name="adj" fmla="val 13333"/>
            </a:avLst>
          </a:prstGeom>
          <a:solidFill>
            <a:schemeClr val="bg2"/>
          </a:solidFill>
          <a:ln w="12700">
            <a:solidFill>
              <a:schemeClr val="bg2"/>
            </a:solidFill>
            <a:prstDash val="solid"/>
          </a:ln>
        </p:spPr>
      </p:sp>
      <p:sp>
        <p:nvSpPr>
          <p:cNvPr id="19" name="Text 14"/>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dirty="0">
                <a:solidFill>
                  <a:schemeClr val="tx2"/>
                </a:solidFill>
              </a:rPr>
              <a:t>Registered in 1962 as </a:t>
            </a:r>
            <a:r>
              <a:rPr lang="en-US" sz="1500" b="1" dirty="0">
                <a:solidFill>
                  <a:schemeClr val="tx2"/>
                </a:solidFill>
              </a:rPr>
              <a:t>Shri Mahila Griha Udyog Lijjat Papad</a:t>
            </a:r>
            <a:r>
              <a:rPr lang="en-US" sz="1500" dirty="0">
                <a:solidFill>
                  <a:schemeClr val="tx2"/>
                </a:solidFill>
              </a:rPr>
              <a:t> ('lijjat' means tasty in Gujarati). Rule: </a:t>
            </a:r>
            <a:r>
              <a:rPr lang="en-US" sz="1500" b="1" dirty="0">
                <a:solidFill>
                  <a:schemeClr val="tx2"/>
                </a:solidFill>
              </a:rPr>
              <a:t>quality must be consistent</a:t>
            </a:r>
            <a:r>
              <a:rPr lang="en-US" sz="1500" dirty="0">
                <a:solidFill>
                  <a:schemeClr val="tx2"/>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Case Study: Mohan Singh Oberoi</a:t>
            </a:r>
            <a:endParaRPr lang="en-US" sz="3600" dirty="0"/>
          </a:p>
        </p:txBody>
      </p:sp>
      <p:sp>
        <p:nvSpPr>
          <p:cNvPr id="3" name="step 1 card"/>
          <p:cNvSpPr/>
          <p:nvPr/>
        </p:nvSpPr>
        <p:spPr>
          <a:xfrm>
            <a:off x="548640" y="1417320"/>
            <a:ext cx="1883664" cy="4160520"/>
          </a:xfrm>
          <a:prstGeom prst="roundRect">
            <a:avLst>
              <a:gd name="adj" fmla="val 5825"/>
            </a:avLst>
          </a:prstGeom>
          <a:solidFill>
            <a:schemeClr val="bg2"/>
          </a:solidFill>
          <a:ln w="12700">
            <a:solidFill>
              <a:schemeClr val="bg2"/>
            </a:solidFill>
            <a:prstDash val="solid"/>
          </a:ln>
        </p:spPr>
      </p:sp>
      <p:sp>
        <p:nvSpPr>
          <p:cNvPr id="4" name="step 1 disc"/>
          <p:cNvSpPr/>
          <p:nvPr/>
        </p:nvSpPr>
        <p:spPr>
          <a:xfrm>
            <a:off x="1094903" y="1691640"/>
            <a:ext cx="791139" cy="791139"/>
          </a:xfrm>
          <a:prstGeom prst="ellipse">
            <a:avLst/>
          </a:prstGeom>
          <a:solidFill>
            <a:schemeClr val="accent1"/>
          </a:solidFill>
          <a:ln w="12700">
            <a:solidFill>
              <a:schemeClr val="accent1"/>
            </a:solidFill>
            <a:prstDash val="solid"/>
          </a:ln>
        </p:spPr>
      </p:sp>
      <p:pic>
        <p:nvPicPr>
          <p:cNvPr id="5" name="step 1 glyph" descr="preencoded.png">    </p:cNvPr>
          <p:cNvPicPr>
            <a:picLocks noChangeAspect="1"/>
          </p:cNvPicPr>
          <p:nvPr/>
        </p:nvPicPr>
        <p:blipFill>
          <a:blip r:embed="rId1"/>
          <a:stretch>
            <a:fillRect/>
          </a:stretch>
        </p:blipFill>
        <p:spPr>
          <a:xfrm>
            <a:off x="1268953" y="1865691"/>
            <a:ext cx="443038" cy="443038"/>
          </a:xfrm>
          <a:prstGeom prst="rect">
            <a:avLst/>
          </a:prstGeom>
        </p:spPr>
      </p:pic>
      <p:sp>
        <p:nvSpPr>
          <p:cNvPr id="6" name="Text 3"/>
          <p:cNvSpPr txBox="1"/>
          <p:nvPr/>
        </p:nvSpPr>
        <p:spPr>
          <a:xfrm>
            <a:off x="685800"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1. Hard start</a:t>
            </a:r>
            <a:endParaRPr lang="en-US" sz="1700" dirty="0"/>
          </a:p>
        </p:txBody>
      </p:sp>
      <p:sp>
        <p:nvSpPr>
          <p:cNvPr id="7" name="Text 4"/>
          <p:cNvSpPr txBox="1"/>
          <p:nvPr/>
        </p:nvSpPr>
        <p:spPr>
          <a:xfrm>
            <a:off x="731520"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Born in Punjab in 1898; his father died when he was an infant.</a:t>
            </a:r>
            <a:endParaRPr lang="en-US" sz="1600" dirty="0"/>
          </a:p>
        </p:txBody>
      </p:sp>
      <p:sp>
        <p:nvSpPr>
          <p:cNvPr id="8" name="arrow 1"/>
          <p:cNvSpPr/>
          <p:nvPr/>
        </p:nvSpPr>
        <p:spPr>
          <a:xfrm>
            <a:off x="2487168" y="1940905"/>
            <a:ext cx="301752" cy="292608"/>
          </a:xfrm>
          <a:prstGeom prst="rightArrow">
            <a:avLst/>
          </a:prstGeom>
          <a:solidFill>
            <a:schemeClr val="accent3"/>
          </a:solidFill>
          <a:ln w="12700">
            <a:solidFill>
              <a:schemeClr val="accent3"/>
            </a:solidFill>
            <a:prstDash val="solid"/>
          </a:ln>
        </p:spPr>
      </p:sp>
      <p:sp>
        <p:nvSpPr>
          <p:cNvPr id="9" name="step 2 card"/>
          <p:cNvSpPr/>
          <p:nvPr/>
        </p:nvSpPr>
        <p:spPr>
          <a:xfrm>
            <a:off x="2843784" y="1417320"/>
            <a:ext cx="1883664" cy="4160520"/>
          </a:xfrm>
          <a:prstGeom prst="roundRect">
            <a:avLst>
              <a:gd name="adj" fmla="val 5825"/>
            </a:avLst>
          </a:prstGeom>
          <a:solidFill>
            <a:schemeClr val="bg2"/>
          </a:solidFill>
          <a:ln w="12700">
            <a:solidFill>
              <a:schemeClr val="bg2"/>
            </a:solidFill>
            <a:prstDash val="solid"/>
          </a:ln>
        </p:spPr>
      </p:sp>
      <p:sp>
        <p:nvSpPr>
          <p:cNvPr id="10" name="step 2 disc"/>
          <p:cNvSpPr/>
          <p:nvPr/>
        </p:nvSpPr>
        <p:spPr>
          <a:xfrm>
            <a:off x="3390047" y="1691640"/>
            <a:ext cx="791139" cy="791139"/>
          </a:xfrm>
          <a:prstGeom prst="ellipse">
            <a:avLst/>
          </a:prstGeom>
          <a:solidFill>
            <a:schemeClr val="accent2"/>
          </a:solidFill>
          <a:ln w="12700">
            <a:solidFill>
              <a:schemeClr val="accent2"/>
            </a:solidFill>
            <a:prstDash val="solid"/>
          </a:ln>
        </p:spPr>
      </p:sp>
      <p:pic>
        <p:nvPicPr>
          <p:cNvPr id="11" name="step 2 glyph" descr="preencoded.png">    </p:cNvPr>
          <p:cNvPicPr>
            <a:picLocks noChangeAspect="1"/>
          </p:cNvPicPr>
          <p:nvPr/>
        </p:nvPicPr>
        <p:blipFill>
          <a:blip r:embed="rId2"/>
          <a:stretch>
            <a:fillRect/>
          </a:stretch>
        </p:blipFill>
        <p:spPr>
          <a:xfrm>
            <a:off x="3564097" y="1865691"/>
            <a:ext cx="443038" cy="443038"/>
          </a:xfrm>
          <a:prstGeom prst="rect">
            <a:avLst/>
          </a:prstGeom>
        </p:spPr>
      </p:pic>
      <p:sp>
        <p:nvSpPr>
          <p:cNvPr id="12" name="Text 8"/>
          <p:cNvSpPr txBox="1"/>
          <p:nvPr/>
        </p:nvSpPr>
        <p:spPr>
          <a:xfrm>
            <a:off x="2980944"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2. ₹50 a month</a:t>
            </a:r>
            <a:endParaRPr lang="en-US" sz="1700" dirty="0"/>
          </a:p>
        </p:txBody>
      </p:sp>
      <p:sp>
        <p:nvSpPr>
          <p:cNvPr id="13" name="Text 9"/>
          <p:cNvSpPr txBox="1"/>
          <p:nvPr/>
        </p:nvSpPr>
        <p:spPr>
          <a:xfrm>
            <a:off x="3026664"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A hotel desk clerk in Shimla who learnt every part of hotel work.</a:t>
            </a:r>
            <a:endParaRPr lang="en-US" sz="1600" dirty="0"/>
          </a:p>
        </p:txBody>
      </p:sp>
      <p:sp>
        <p:nvSpPr>
          <p:cNvPr id="14" name="arrow 2"/>
          <p:cNvSpPr/>
          <p:nvPr/>
        </p:nvSpPr>
        <p:spPr>
          <a:xfrm>
            <a:off x="4782312" y="1940905"/>
            <a:ext cx="301752" cy="292608"/>
          </a:xfrm>
          <a:prstGeom prst="rightArrow">
            <a:avLst/>
          </a:prstGeom>
          <a:solidFill>
            <a:schemeClr val="accent3"/>
          </a:solidFill>
          <a:ln w="12700">
            <a:solidFill>
              <a:schemeClr val="accent3"/>
            </a:solidFill>
            <a:prstDash val="solid"/>
          </a:ln>
        </p:spPr>
      </p:sp>
      <p:sp>
        <p:nvSpPr>
          <p:cNvPr id="15" name="step 3 card"/>
          <p:cNvSpPr/>
          <p:nvPr/>
        </p:nvSpPr>
        <p:spPr>
          <a:xfrm>
            <a:off x="5138928" y="1417320"/>
            <a:ext cx="1883664" cy="4160520"/>
          </a:xfrm>
          <a:prstGeom prst="roundRect">
            <a:avLst>
              <a:gd name="adj" fmla="val 5825"/>
            </a:avLst>
          </a:prstGeom>
          <a:solidFill>
            <a:schemeClr val="bg2"/>
          </a:solidFill>
          <a:ln w="12700">
            <a:solidFill>
              <a:schemeClr val="bg2"/>
            </a:solidFill>
            <a:prstDash val="solid"/>
          </a:ln>
        </p:spPr>
      </p:sp>
      <p:sp>
        <p:nvSpPr>
          <p:cNvPr id="16" name="step 3 disc"/>
          <p:cNvSpPr/>
          <p:nvPr/>
        </p:nvSpPr>
        <p:spPr>
          <a:xfrm>
            <a:off x="5685191" y="1691640"/>
            <a:ext cx="791139" cy="791139"/>
          </a:xfrm>
          <a:prstGeom prst="ellipse">
            <a:avLst/>
          </a:prstGeom>
          <a:solidFill>
            <a:schemeClr val="accent1"/>
          </a:solidFill>
          <a:ln w="12700">
            <a:solidFill>
              <a:schemeClr val="accent1"/>
            </a:solidFill>
            <a:prstDash val="solid"/>
          </a:ln>
        </p:spPr>
      </p:sp>
      <p:pic>
        <p:nvPicPr>
          <p:cNvPr id="17" name="step 3 glyph" descr="preencoded.png">    </p:cNvPr>
          <p:cNvPicPr>
            <a:picLocks noChangeAspect="1"/>
          </p:cNvPicPr>
          <p:nvPr/>
        </p:nvPicPr>
        <p:blipFill>
          <a:blip r:embed="rId3"/>
          <a:stretch>
            <a:fillRect/>
          </a:stretch>
        </p:blipFill>
        <p:spPr>
          <a:xfrm>
            <a:off x="5859241" y="1865691"/>
            <a:ext cx="443038" cy="443038"/>
          </a:xfrm>
          <a:prstGeom prst="rect">
            <a:avLst/>
          </a:prstGeom>
        </p:spPr>
      </p:pic>
      <p:sp>
        <p:nvSpPr>
          <p:cNvPr id="18" name="Text 13"/>
          <p:cNvSpPr txBox="1"/>
          <p:nvPr/>
        </p:nvSpPr>
        <p:spPr>
          <a:xfrm>
            <a:off x="5276088"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3. Bold risk, 1934</a:t>
            </a:r>
            <a:endParaRPr lang="en-US" sz="1700" dirty="0"/>
          </a:p>
        </p:txBody>
      </p:sp>
      <p:sp>
        <p:nvSpPr>
          <p:cNvPr id="19" name="Text 14"/>
          <p:cNvSpPr txBox="1"/>
          <p:nvPr/>
        </p:nvSpPr>
        <p:spPr>
          <a:xfrm>
            <a:off x="5321808"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Mortgaged his wife's jewellery and used all savings to buy a small hotel.</a:t>
            </a:r>
            <a:endParaRPr lang="en-US" sz="1600" dirty="0"/>
          </a:p>
        </p:txBody>
      </p:sp>
      <p:sp>
        <p:nvSpPr>
          <p:cNvPr id="20" name="arrow 3"/>
          <p:cNvSpPr/>
          <p:nvPr/>
        </p:nvSpPr>
        <p:spPr>
          <a:xfrm>
            <a:off x="7077456" y="1940905"/>
            <a:ext cx="301752" cy="292608"/>
          </a:xfrm>
          <a:prstGeom prst="rightArrow">
            <a:avLst/>
          </a:prstGeom>
          <a:solidFill>
            <a:schemeClr val="accent3"/>
          </a:solidFill>
          <a:ln w="12700">
            <a:solidFill>
              <a:schemeClr val="accent3"/>
            </a:solidFill>
            <a:prstDash val="solid"/>
          </a:ln>
        </p:spPr>
      </p:sp>
      <p:sp>
        <p:nvSpPr>
          <p:cNvPr id="21" name="step 4 card"/>
          <p:cNvSpPr/>
          <p:nvPr/>
        </p:nvSpPr>
        <p:spPr>
          <a:xfrm>
            <a:off x="7434072" y="1417320"/>
            <a:ext cx="1883664" cy="4160520"/>
          </a:xfrm>
          <a:prstGeom prst="roundRect">
            <a:avLst>
              <a:gd name="adj" fmla="val 5825"/>
            </a:avLst>
          </a:prstGeom>
          <a:solidFill>
            <a:schemeClr val="bg2"/>
          </a:solidFill>
          <a:ln w="12700">
            <a:solidFill>
              <a:schemeClr val="bg2"/>
            </a:solidFill>
            <a:prstDash val="solid"/>
          </a:ln>
        </p:spPr>
      </p:sp>
      <p:sp>
        <p:nvSpPr>
          <p:cNvPr id="22" name="step 4 disc"/>
          <p:cNvSpPr/>
          <p:nvPr/>
        </p:nvSpPr>
        <p:spPr>
          <a:xfrm>
            <a:off x="7980335" y="1691640"/>
            <a:ext cx="791139" cy="791139"/>
          </a:xfrm>
          <a:prstGeom prst="ellipse">
            <a:avLst/>
          </a:prstGeom>
          <a:solidFill>
            <a:schemeClr val="accent2"/>
          </a:solidFill>
          <a:ln w="12700">
            <a:solidFill>
              <a:schemeClr val="accent2"/>
            </a:solidFill>
            <a:prstDash val="solid"/>
          </a:ln>
        </p:spPr>
      </p:sp>
      <p:pic>
        <p:nvPicPr>
          <p:cNvPr id="23" name="step 4 glyph" descr="preencoded.png">    </p:cNvPr>
          <p:cNvPicPr>
            <a:picLocks noChangeAspect="1"/>
          </p:cNvPicPr>
          <p:nvPr/>
        </p:nvPicPr>
        <p:blipFill>
          <a:blip r:embed="rId4"/>
          <a:stretch>
            <a:fillRect/>
          </a:stretch>
        </p:blipFill>
        <p:spPr>
          <a:xfrm>
            <a:off x="8154385" y="1865691"/>
            <a:ext cx="443038" cy="443038"/>
          </a:xfrm>
          <a:prstGeom prst="rect">
            <a:avLst/>
          </a:prstGeom>
        </p:spPr>
      </p:pic>
      <p:sp>
        <p:nvSpPr>
          <p:cNvPr id="24" name="Text 18"/>
          <p:cNvSpPr txBox="1"/>
          <p:nvPr/>
        </p:nvSpPr>
        <p:spPr>
          <a:xfrm>
            <a:off x="7571232"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4. Growth</a:t>
            </a:r>
            <a:endParaRPr lang="en-US" sz="1700" dirty="0"/>
          </a:p>
        </p:txBody>
      </p:sp>
      <p:sp>
        <p:nvSpPr>
          <p:cNvPr id="25" name="Text 19"/>
          <p:cNvSpPr txBox="1"/>
          <p:nvPr/>
        </p:nvSpPr>
        <p:spPr>
          <a:xfrm>
            <a:off x="7616952"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Turned struggling hotels around; built a chain and a hotel management school.</a:t>
            </a:r>
            <a:endParaRPr lang="en-US" sz="1600" dirty="0"/>
          </a:p>
        </p:txBody>
      </p:sp>
      <p:sp>
        <p:nvSpPr>
          <p:cNvPr id="26" name="arrow 4"/>
          <p:cNvSpPr/>
          <p:nvPr/>
        </p:nvSpPr>
        <p:spPr>
          <a:xfrm>
            <a:off x="9372600" y="1940905"/>
            <a:ext cx="301752" cy="292608"/>
          </a:xfrm>
          <a:prstGeom prst="rightArrow">
            <a:avLst/>
          </a:prstGeom>
          <a:solidFill>
            <a:schemeClr val="accent3"/>
          </a:solidFill>
          <a:ln w="12700">
            <a:solidFill>
              <a:schemeClr val="accent3"/>
            </a:solidFill>
            <a:prstDash val="solid"/>
          </a:ln>
        </p:spPr>
      </p:sp>
      <p:sp>
        <p:nvSpPr>
          <p:cNvPr id="27" name="step 5 card"/>
          <p:cNvSpPr/>
          <p:nvPr/>
        </p:nvSpPr>
        <p:spPr>
          <a:xfrm>
            <a:off x="9729216" y="1417320"/>
            <a:ext cx="1883664" cy="4160520"/>
          </a:xfrm>
          <a:prstGeom prst="roundRect">
            <a:avLst>
              <a:gd name="adj" fmla="val 5825"/>
            </a:avLst>
          </a:prstGeom>
          <a:solidFill>
            <a:schemeClr val="bg2"/>
          </a:solidFill>
          <a:ln w="12700">
            <a:solidFill>
              <a:schemeClr val="bg2"/>
            </a:solidFill>
            <a:prstDash val="solid"/>
          </a:ln>
        </p:spPr>
      </p:sp>
      <p:sp>
        <p:nvSpPr>
          <p:cNvPr id="28" name="step 5 disc"/>
          <p:cNvSpPr/>
          <p:nvPr/>
        </p:nvSpPr>
        <p:spPr>
          <a:xfrm>
            <a:off x="10275479" y="1691640"/>
            <a:ext cx="791139" cy="791139"/>
          </a:xfrm>
          <a:prstGeom prst="ellipse">
            <a:avLst/>
          </a:prstGeom>
          <a:solidFill>
            <a:schemeClr val="accent1"/>
          </a:solidFill>
          <a:ln w="12700">
            <a:solidFill>
              <a:schemeClr val="accent1"/>
            </a:solidFill>
            <a:prstDash val="solid"/>
          </a:ln>
        </p:spPr>
      </p:sp>
      <p:pic>
        <p:nvPicPr>
          <p:cNvPr id="29" name="step 5 glyph" descr="preencoded.png">    </p:cNvPr>
          <p:cNvPicPr>
            <a:picLocks noChangeAspect="1"/>
          </p:cNvPicPr>
          <p:nvPr/>
        </p:nvPicPr>
        <p:blipFill>
          <a:blip r:embed="rId5"/>
          <a:stretch>
            <a:fillRect/>
          </a:stretch>
        </p:blipFill>
        <p:spPr>
          <a:xfrm>
            <a:off x="10449529" y="1865691"/>
            <a:ext cx="443038" cy="443038"/>
          </a:xfrm>
          <a:prstGeom prst="rect">
            <a:avLst/>
          </a:prstGeom>
        </p:spPr>
      </p:pic>
      <p:sp>
        <p:nvSpPr>
          <p:cNvPr id="30" name="Text 23"/>
          <p:cNvSpPr txBox="1"/>
          <p:nvPr/>
        </p:nvSpPr>
        <p:spPr>
          <a:xfrm>
            <a:off x="9866376"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5. Padma Bhushan, 2001</a:t>
            </a:r>
            <a:endParaRPr lang="en-US" sz="1700" dirty="0"/>
          </a:p>
        </p:txBody>
      </p:sp>
      <p:sp>
        <p:nvSpPr>
          <p:cNvPr id="31" name="Text 24"/>
          <p:cNvSpPr txBox="1"/>
          <p:nvPr/>
        </p:nvSpPr>
        <p:spPr>
          <a:xfrm>
            <a:off x="9912096"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The Oberoi Group became a world-respected hotel brand.</a:t>
            </a:r>
            <a:endParaRPr lang="en-US" sz="1600" dirty="0"/>
          </a:p>
        </p:txBody>
      </p:sp>
      <p:sp>
        <p:nvSpPr>
          <p:cNvPr id="32" name="footnote band"/>
          <p:cNvSpPr/>
          <p:nvPr/>
        </p:nvSpPr>
        <p:spPr>
          <a:xfrm>
            <a:off x="548640" y="5715000"/>
            <a:ext cx="11064240" cy="548640"/>
          </a:xfrm>
          <a:prstGeom prst="roundRect">
            <a:avLst>
              <a:gd name="adj" fmla="val 13333"/>
            </a:avLst>
          </a:prstGeom>
          <a:solidFill>
            <a:schemeClr val="tx2"/>
          </a:solidFill>
          <a:ln w="12700">
            <a:solidFill>
              <a:schemeClr val="tx2"/>
            </a:solidFill>
            <a:prstDash val="solid"/>
          </a:ln>
        </p:spPr>
      </p:sp>
      <p:sp>
        <p:nvSpPr>
          <p:cNvPr id="33" name="Text 26"/>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dirty="0">
                <a:solidFill>
                  <a:schemeClr val="bg1"/>
                </a:solidFill>
              </a:rPr>
              <a:t>He managed </a:t>
            </a:r>
            <a:r>
              <a:rPr lang="en-US" sz="1500" b="1" dirty="0">
                <a:solidFill>
                  <a:schemeClr val="bg1"/>
                </a:solidFill>
              </a:rPr>
              <a:t>people, money, operations, brand and customer satisfaction</a:t>
            </a:r>
            <a:r>
              <a:rPr lang="en-US" sz="1500" dirty="0">
                <a:solidFill>
                  <a:schemeClr val="bg1"/>
                </a:solidFill>
              </a:rPr>
              <a:t>: the functional areas of a business.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Traits of an Entrepreneur</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Curiosity</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Asks 'why?' and 'what if?'; notices unmet needs.</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Risk-taking</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Like Oberoi mortgaging jewellery to buy a hotel.</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Perseverance</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Keeps going after setbacks; learns from failure.</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Innovation</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Finds new solutions, like jute bags instead of plastic.</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Teamwork</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Lijjat's women built success through grit and unity.</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Social responsibility</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Creates value for society, not just profit.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Case Study: The Dandekar Brothers</a:t>
            </a:r>
            <a:endParaRPr lang="en-US" sz="3600" dirty="0"/>
          </a:p>
        </p:txBody>
      </p:sp>
      <p:sp>
        <p:nvSpPr>
          <p:cNvPr id="3" name="source card"/>
          <p:cNvSpPr/>
          <p:nvPr/>
        </p:nvSpPr>
        <p:spPr>
          <a:xfrm>
            <a:off x="548640" y="1371600"/>
            <a:ext cx="6309360" cy="4846320"/>
          </a:xfrm>
          <a:prstGeom prst="roundRect">
            <a:avLst>
              <a:gd name="adj" fmla="val 2264"/>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4" name="source icon" descr="preencoded.png">    </p:cNvPr>
          <p:cNvPicPr>
            <a:picLocks noChangeAspect="1"/>
          </p:cNvPicPr>
          <p:nvPr/>
        </p:nvPicPr>
        <p:blipFill>
          <a:blip r:embed="rId1"/>
          <a:stretch>
            <a:fillRect/>
          </a:stretch>
        </p:blipFill>
        <p:spPr>
          <a:xfrm>
            <a:off x="868680" y="1645920"/>
            <a:ext cx="502920" cy="502920"/>
          </a:xfrm>
          <a:prstGeom prst="rect">
            <a:avLst/>
          </a:prstGeom>
        </p:spPr>
      </p:pic>
      <p:sp>
        <p:nvSpPr>
          <p:cNvPr id="5" name="Text 2"/>
          <p:cNvSpPr txBox="1"/>
          <p:nvPr/>
        </p:nvSpPr>
        <p:spPr>
          <a:xfrm>
            <a:off x="1508760" y="1645920"/>
            <a:ext cx="5029200" cy="502920"/>
          </a:xfrm>
          <a:prstGeom prst="rect">
            <a:avLst/>
          </a:prstGeom>
          <a:noFill/>
          <a:ln/>
        </p:spPr>
        <p:txBody>
          <a:bodyPr wrap="square" lIns="0" tIns="0" rIns="0" bIns="0" rtlCol="0" anchor="ctr"/>
          <a:lstStyle/>
          <a:p>
            <a:pPr indent="0" marL="0">
              <a:buNone/>
            </a:pPr>
            <a:r>
              <a:rPr lang="en-US" sz="1400" b="1" spc="200" kern="0" dirty="0">
                <a:solidFill>
                  <a:schemeClr val="accent3"/>
                </a:solidFill>
              </a:rPr>
              <a:t>CASE ANALYSIS</a:t>
            </a:r>
            <a:endParaRPr lang="en-US" sz="1400" dirty="0"/>
          </a:p>
        </p:txBody>
      </p:sp>
      <p:sp>
        <p:nvSpPr>
          <p:cNvPr id="6" name="Text 3"/>
          <p:cNvSpPr txBox="1"/>
          <p:nvPr/>
        </p:nvSpPr>
        <p:spPr>
          <a:xfrm>
            <a:off x="868680" y="2331720"/>
            <a:ext cx="5669280" cy="3246120"/>
          </a:xfrm>
          <a:prstGeom prst="rect">
            <a:avLst/>
          </a:prstGeom>
          <a:noFill/>
          <a:ln/>
        </p:spPr>
        <p:txBody>
          <a:bodyPr wrap="square" lIns="0" tIns="0" rIns="0" bIns="0" rtlCol="0" anchor="t"/>
          <a:lstStyle/>
          <a:p>
            <a:pPr indent="0" marL="0">
              <a:buNone/>
            </a:pPr>
            <a:r>
              <a:rPr lang="en-US" sz="1800" dirty="0">
                <a:solidFill>
                  <a:schemeClr val="bg1"/>
                </a:solidFill>
              </a:rPr>
              <a:t>In 1931, Digambar and Govind Dandekar started selling ink powder in South Mumbai, using recycled glass bottles for liquid ink. Money was short and customers did not trust them at first. They focused on good-quality, affordable stationery. Seeing that Indian artists lacked good art materials, they travelled to Glasgow to study colour chemistry, then set up a laboratory in India. The company grew into pencils, crayons, geometry boxes and paints, a well-known brand.</a:t>
            </a:r>
            <a:endParaRPr lang="en-US" sz="1800" dirty="0"/>
          </a:p>
        </p:txBody>
      </p:sp>
      <p:sp>
        <p:nvSpPr>
          <p:cNvPr id="7" name="Text 4"/>
          <p:cNvSpPr txBox="1"/>
          <p:nvPr/>
        </p:nvSpPr>
        <p:spPr>
          <a:xfrm>
            <a:off x="868680" y="5623560"/>
            <a:ext cx="5669280" cy="457200"/>
          </a:xfrm>
          <a:prstGeom prst="rect">
            <a:avLst/>
          </a:prstGeom>
          <a:noFill/>
          <a:ln/>
        </p:spPr>
        <p:txBody>
          <a:bodyPr wrap="square" lIns="0" tIns="0" rIns="0" bIns="0" rtlCol="0" anchor="b"/>
          <a:lstStyle/>
          <a:p>
            <a:pPr indent="0" marL="0">
              <a:buNone/>
            </a:pPr>
            <a:r>
              <a:rPr lang="en-US" sz="1200" dirty="0">
                <a:solidFill>
                  <a:schemeClr val="bg2"/>
                </a:solidFill>
              </a:rPr>
              <a:t>Textbook Question 5</a:t>
            </a:r>
            <a:endParaRPr lang="en-US" sz="1200" dirty="0"/>
          </a:p>
        </p:txBody>
      </p:sp>
      <p:sp>
        <p:nvSpPr>
          <p:cNvPr id="8" name="tasks card"/>
          <p:cNvSpPr/>
          <p:nvPr/>
        </p:nvSpPr>
        <p:spPr>
          <a:xfrm>
            <a:off x="7132320" y="1371600"/>
            <a:ext cx="4480560" cy="4846320"/>
          </a:xfrm>
          <a:prstGeom prst="roundRect">
            <a:avLst>
              <a:gd name="adj" fmla="val 2449"/>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Text 6"/>
          <p:cNvSpPr txBox="1"/>
          <p:nvPr/>
        </p:nvSpPr>
        <p:spPr>
          <a:xfrm>
            <a:off x="7406640" y="1600200"/>
            <a:ext cx="3931920" cy="457200"/>
          </a:xfrm>
          <a:prstGeom prst="rect">
            <a:avLst/>
          </a:prstGeom>
          <a:noFill/>
          <a:ln/>
        </p:spPr>
        <p:txBody>
          <a:bodyPr wrap="square" lIns="0" tIns="0" rIns="0" bIns="0" rtlCol="0" anchor="ctr"/>
          <a:lstStyle/>
          <a:p>
            <a:pPr indent="0" marL="0">
              <a:buNone/>
            </a:pPr>
            <a:r>
              <a:rPr lang="en-US" sz="2000" b="1" dirty="0">
                <a:solidFill>
                  <a:schemeClr val="accent1"/>
                </a:solidFill>
              </a:rPr>
              <a:t>Your task</a:t>
            </a:r>
            <a:endParaRPr lang="en-US" sz="2000" dirty="0"/>
          </a:p>
        </p:txBody>
      </p:sp>
      <p:sp>
        <p:nvSpPr>
          <p:cNvPr id="10" name="task 1 badge"/>
          <p:cNvSpPr/>
          <p:nvPr/>
        </p:nvSpPr>
        <p:spPr>
          <a:xfrm>
            <a:off x="7406640" y="2212848"/>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740664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9"/>
          <p:cNvSpPr txBox="1"/>
          <p:nvPr/>
        </p:nvSpPr>
        <p:spPr>
          <a:xfrm>
            <a:off x="7955280" y="2194560"/>
            <a:ext cx="3474720" cy="909828"/>
          </a:xfrm>
          <a:prstGeom prst="rect">
            <a:avLst/>
          </a:prstGeom>
          <a:noFill/>
          <a:ln/>
        </p:spPr>
        <p:txBody>
          <a:bodyPr wrap="square" lIns="0" tIns="0" rIns="0" bIns="0" rtlCol="0" anchor="t"/>
          <a:lstStyle/>
          <a:p>
            <a:pPr indent="0" marL="0">
              <a:buNone/>
            </a:pPr>
            <a:r>
              <a:rPr lang="en-US" sz="1600" dirty="0">
                <a:solidFill>
                  <a:schemeClr val="tx1"/>
                </a:solidFill>
              </a:rPr>
              <a:t>What </a:t>
            </a:r>
            <a:r>
              <a:rPr lang="en-US" sz="1600" b="1" dirty="0">
                <a:solidFill>
                  <a:schemeClr val="tx1"/>
                </a:solidFill>
              </a:rPr>
              <a:t>entrepreneurial qualities</a:t>
            </a:r>
            <a:r>
              <a:rPr lang="en-US" sz="1600" dirty="0">
                <a:solidFill>
                  <a:schemeClr val="tx1"/>
                </a:solidFill>
              </a:rPr>
              <a:t> did they show?</a:t>
            </a:r>
            <a:endParaRPr lang="en-US" sz="1600" dirty="0"/>
          </a:p>
        </p:txBody>
      </p:sp>
      <p:sp>
        <p:nvSpPr>
          <p:cNvPr id="13" name="task 2 badge"/>
          <p:cNvSpPr/>
          <p:nvPr/>
        </p:nvSpPr>
        <p:spPr>
          <a:xfrm>
            <a:off x="7406640" y="3195828"/>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7406640" y="31958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7955280" y="3177540"/>
            <a:ext cx="3474720" cy="909828"/>
          </a:xfrm>
          <a:prstGeom prst="rect">
            <a:avLst/>
          </a:prstGeom>
          <a:noFill/>
          <a:ln/>
        </p:spPr>
        <p:txBody>
          <a:bodyPr wrap="square" lIns="0" tIns="0" rIns="0" bIns="0" rtlCol="0" anchor="t"/>
          <a:lstStyle/>
          <a:p>
            <a:pPr indent="0" marL="0">
              <a:buNone/>
            </a:pPr>
            <a:r>
              <a:rPr lang="en-US" sz="1600" dirty="0">
                <a:solidFill>
                  <a:schemeClr val="tx1"/>
                </a:solidFill>
              </a:rPr>
              <a:t>What </a:t>
            </a:r>
            <a:r>
              <a:rPr lang="en-US" sz="1600" b="1" dirty="0">
                <a:solidFill>
                  <a:schemeClr val="tx1"/>
                </a:solidFill>
              </a:rPr>
              <a:t>opportunity</a:t>
            </a:r>
            <a:r>
              <a:rPr lang="en-US" sz="1600" dirty="0">
                <a:solidFill>
                  <a:schemeClr val="tx1"/>
                </a:solidFill>
              </a:rPr>
              <a:t> did they spot?</a:t>
            </a:r>
            <a:endParaRPr lang="en-US" sz="1600" dirty="0"/>
          </a:p>
        </p:txBody>
      </p:sp>
      <p:sp>
        <p:nvSpPr>
          <p:cNvPr id="16" name="task 3 badge"/>
          <p:cNvSpPr/>
          <p:nvPr/>
        </p:nvSpPr>
        <p:spPr>
          <a:xfrm>
            <a:off x="7406640" y="4178808"/>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7406640" y="41788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7955280" y="4160520"/>
            <a:ext cx="3474720" cy="909828"/>
          </a:xfrm>
          <a:prstGeom prst="rect">
            <a:avLst/>
          </a:prstGeom>
          <a:noFill/>
          <a:ln/>
        </p:spPr>
        <p:txBody>
          <a:bodyPr wrap="square" lIns="0" tIns="0" rIns="0" bIns="0" rtlCol="0" anchor="t"/>
          <a:lstStyle/>
          <a:p>
            <a:pPr indent="0" marL="0">
              <a:buNone/>
            </a:pPr>
            <a:r>
              <a:rPr lang="en-US" sz="1600" dirty="0">
                <a:solidFill>
                  <a:schemeClr val="tx1"/>
                </a:solidFill>
              </a:rPr>
              <a:t>Was going to Glasgow </a:t>
            </a:r>
            <a:r>
              <a:rPr lang="en-US" sz="1600" b="1" dirty="0">
                <a:solidFill>
                  <a:schemeClr val="tx1"/>
                </a:solidFill>
              </a:rPr>
              <a:t>risky</a:t>
            </a:r>
            <a:r>
              <a:rPr lang="en-US" sz="1600" dirty="0">
                <a:solidFill>
                  <a:schemeClr val="tx1"/>
                </a:solidFill>
              </a:rPr>
              <a:t>? Which functional area did it help?</a:t>
            </a:r>
            <a:endParaRPr lang="en-US" sz="1600" dirty="0"/>
          </a:p>
        </p:txBody>
      </p:sp>
      <p:sp>
        <p:nvSpPr>
          <p:cNvPr id="19" name="task 4 badge"/>
          <p:cNvSpPr/>
          <p:nvPr/>
        </p:nvSpPr>
        <p:spPr>
          <a:xfrm>
            <a:off x="7406640" y="5161788"/>
            <a:ext cx="384048" cy="384048"/>
          </a:xfrm>
          <a:prstGeom prst="ellipse">
            <a:avLst/>
          </a:prstGeom>
          <a:solidFill>
            <a:schemeClr val="accent1"/>
          </a:solidFill>
          <a:ln w="12700">
            <a:solidFill>
              <a:schemeClr val="accent1"/>
            </a:solidFill>
            <a:prstDash val="solid"/>
          </a:ln>
        </p:spPr>
      </p:sp>
      <p:sp>
        <p:nvSpPr>
          <p:cNvPr id="20" name="Text 17"/>
          <p:cNvSpPr txBox="1"/>
          <p:nvPr/>
        </p:nvSpPr>
        <p:spPr>
          <a:xfrm>
            <a:off x="7406640" y="51617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8"/>
          <p:cNvSpPr txBox="1"/>
          <p:nvPr/>
        </p:nvSpPr>
        <p:spPr>
          <a:xfrm>
            <a:off x="7955280" y="5143500"/>
            <a:ext cx="3474720" cy="909828"/>
          </a:xfrm>
          <a:prstGeom prst="rect">
            <a:avLst/>
          </a:prstGeom>
          <a:noFill/>
          <a:ln/>
        </p:spPr>
        <p:txBody>
          <a:bodyPr wrap="square" lIns="0" tIns="0" rIns="0" bIns="0" rtlCol="0" anchor="t"/>
          <a:lstStyle/>
          <a:p>
            <a:pPr indent="0" marL="0">
              <a:buNone/>
            </a:pPr>
            <a:r>
              <a:rPr lang="en-US" sz="1600" dirty="0">
                <a:solidFill>
                  <a:schemeClr val="tx1"/>
                </a:solidFill>
              </a:rPr>
              <a:t>How did they serve </a:t>
            </a:r>
            <a:r>
              <a:rPr lang="en-US" sz="1600" b="1" dirty="0">
                <a:solidFill>
                  <a:schemeClr val="tx1"/>
                </a:solidFill>
              </a:rPr>
              <a:t>society</a:t>
            </a:r>
            <a:r>
              <a:rPr lang="en-US" sz="1600" dirty="0">
                <a:solidFill>
                  <a:schemeClr val="tx1"/>
                </a:solidFill>
              </a:rPr>
              <a:t>, apart from profit?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2</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The Business Plan: A Road Map</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A written blueprint of goals and the steps to reach them.</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Eight Questions for a Business Plan</a:t>
            </a:r>
            <a:endParaRPr lang="en-US" sz="3600" dirty="0"/>
          </a:p>
        </p:txBody>
      </p:sp>
      <p:sp>
        <p:nvSpPr>
          <p:cNvPr id="3" name="card 1"/>
          <p:cNvSpPr/>
          <p:nvPr/>
        </p:nvSpPr>
        <p:spPr>
          <a:xfrm>
            <a:off x="548640" y="1371600"/>
            <a:ext cx="256032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31520" y="1554480"/>
            <a:ext cx="457200" cy="457200"/>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832104" y="1655064"/>
            <a:ext cx="256032" cy="256032"/>
          </a:xfrm>
          <a:prstGeom prst="rect">
            <a:avLst/>
          </a:prstGeom>
        </p:spPr>
      </p:pic>
      <p:sp>
        <p:nvSpPr>
          <p:cNvPr id="6" name="Text 3"/>
          <p:cNvSpPr txBox="1"/>
          <p:nvPr/>
        </p:nvSpPr>
        <p:spPr>
          <a:xfrm>
            <a:off x="1325880" y="155448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Needs and idea</a:t>
            </a:r>
            <a:endParaRPr lang="en-US" sz="1800" dirty="0"/>
          </a:p>
        </p:txBody>
      </p:sp>
      <p:sp>
        <p:nvSpPr>
          <p:cNvPr id="7" name="Text 4"/>
          <p:cNvSpPr txBox="1"/>
          <p:nvPr/>
        </p:nvSpPr>
        <p:spPr>
          <a:xfrm>
            <a:off x="731520" y="2121408"/>
            <a:ext cx="2194560" cy="1399032"/>
          </a:xfrm>
          <a:prstGeom prst="rect">
            <a:avLst/>
          </a:prstGeom>
          <a:noFill/>
          <a:ln/>
        </p:spPr>
        <p:txBody>
          <a:bodyPr wrap="square" lIns="0" tIns="0" rIns="0" bIns="0" rtlCol="0" anchor="t"/>
          <a:lstStyle/>
          <a:p>
            <a:pPr indent="0" marL="0">
              <a:buNone/>
            </a:pPr>
            <a:r>
              <a:rPr lang="en-US" sz="1800" dirty="0">
                <a:solidFill>
                  <a:schemeClr val="tx1"/>
                </a:solidFill>
              </a:rPr>
              <a:t>What do people need? What problem does it solve?</a:t>
            </a:r>
            <a:endParaRPr lang="en-US" sz="1600" dirty="0"/>
          </a:p>
        </p:txBody>
      </p:sp>
      <p:sp>
        <p:nvSpPr>
          <p:cNvPr id="8" name="card 2"/>
          <p:cNvSpPr/>
          <p:nvPr/>
        </p:nvSpPr>
        <p:spPr>
          <a:xfrm>
            <a:off x="3383280" y="1371600"/>
            <a:ext cx="256032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3566160" y="1554480"/>
            <a:ext cx="457200" cy="457200"/>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3666744" y="1655064"/>
            <a:ext cx="256032" cy="256032"/>
          </a:xfrm>
          <a:prstGeom prst="rect">
            <a:avLst/>
          </a:prstGeom>
        </p:spPr>
      </p:pic>
      <p:sp>
        <p:nvSpPr>
          <p:cNvPr id="11" name="Text 7"/>
          <p:cNvSpPr txBox="1"/>
          <p:nvPr/>
        </p:nvSpPr>
        <p:spPr>
          <a:xfrm>
            <a:off x="4160520" y="155448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Customers</a:t>
            </a:r>
            <a:endParaRPr lang="en-US" sz="1800" dirty="0"/>
          </a:p>
        </p:txBody>
      </p:sp>
      <p:sp>
        <p:nvSpPr>
          <p:cNvPr id="12" name="Text 8"/>
          <p:cNvSpPr txBox="1"/>
          <p:nvPr/>
        </p:nvSpPr>
        <p:spPr>
          <a:xfrm>
            <a:off x="3566160" y="2121408"/>
            <a:ext cx="2194560" cy="1399032"/>
          </a:xfrm>
          <a:prstGeom prst="rect">
            <a:avLst/>
          </a:prstGeom>
          <a:noFill/>
          <a:ln/>
        </p:spPr>
        <p:txBody>
          <a:bodyPr wrap="square" lIns="0" tIns="0" rIns="0" bIns="0" rtlCol="0" anchor="t"/>
          <a:lstStyle/>
          <a:p>
            <a:pPr indent="0" marL="0">
              <a:buNone/>
            </a:pPr>
            <a:r>
              <a:rPr lang="en-US" sz="1800" dirty="0">
                <a:solidFill>
                  <a:schemeClr val="tx1"/>
                </a:solidFill>
              </a:rPr>
              <a:t>Who will buy: children, young adults, families, elderly?</a:t>
            </a:r>
            <a:endParaRPr lang="en-US" sz="1600" dirty="0"/>
          </a:p>
        </p:txBody>
      </p:sp>
      <p:sp>
        <p:nvSpPr>
          <p:cNvPr id="13" name="card 3"/>
          <p:cNvSpPr/>
          <p:nvPr/>
        </p:nvSpPr>
        <p:spPr>
          <a:xfrm>
            <a:off x="6217920" y="1371600"/>
            <a:ext cx="256032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6400800" y="1554480"/>
            <a:ext cx="457200" cy="457200"/>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6501384" y="1655064"/>
            <a:ext cx="256032" cy="256032"/>
          </a:xfrm>
          <a:prstGeom prst="rect">
            <a:avLst/>
          </a:prstGeom>
        </p:spPr>
      </p:pic>
      <p:sp>
        <p:nvSpPr>
          <p:cNvPr id="16" name="Text 11"/>
          <p:cNvSpPr txBox="1"/>
          <p:nvPr/>
        </p:nvSpPr>
        <p:spPr>
          <a:xfrm>
            <a:off x="6995160" y="155448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Money and costs</a:t>
            </a:r>
            <a:endParaRPr lang="en-US" sz="1800" dirty="0"/>
          </a:p>
        </p:txBody>
      </p:sp>
      <p:sp>
        <p:nvSpPr>
          <p:cNvPr id="17" name="Text 12"/>
          <p:cNvSpPr txBox="1"/>
          <p:nvPr/>
        </p:nvSpPr>
        <p:spPr>
          <a:xfrm>
            <a:off x="6400800" y="2121408"/>
            <a:ext cx="2194560" cy="1399032"/>
          </a:xfrm>
          <a:prstGeom prst="rect">
            <a:avLst/>
          </a:prstGeom>
          <a:noFill/>
          <a:ln/>
        </p:spPr>
        <p:txBody>
          <a:bodyPr wrap="square" lIns="0" tIns="0" rIns="0" bIns="0" rtlCol="0" anchor="t"/>
          <a:lstStyle/>
          <a:p>
            <a:pPr indent="0" marL="0">
              <a:buNone/>
            </a:pPr>
            <a:r>
              <a:rPr lang="en-US" sz="1800" dirty="0">
                <a:solidFill>
                  <a:schemeClr val="tx1"/>
                </a:solidFill>
              </a:rPr>
              <a:t>How much is needed? Savings, loans, family, investors?</a:t>
            </a:r>
            <a:endParaRPr lang="en-US" sz="1600" dirty="0"/>
          </a:p>
        </p:txBody>
      </p:sp>
      <p:sp>
        <p:nvSpPr>
          <p:cNvPr id="18" name="card 4"/>
          <p:cNvSpPr/>
          <p:nvPr/>
        </p:nvSpPr>
        <p:spPr>
          <a:xfrm>
            <a:off x="9052560" y="1371600"/>
            <a:ext cx="256032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9235440" y="1554480"/>
            <a:ext cx="457200" cy="457200"/>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336024" y="1655064"/>
            <a:ext cx="256032" cy="256032"/>
          </a:xfrm>
          <a:prstGeom prst="rect">
            <a:avLst/>
          </a:prstGeom>
        </p:spPr>
      </p:pic>
      <p:sp>
        <p:nvSpPr>
          <p:cNvPr id="21" name="Text 15"/>
          <p:cNvSpPr txBox="1"/>
          <p:nvPr/>
        </p:nvSpPr>
        <p:spPr>
          <a:xfrm>
            <a:off x="9829800" y="155448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Location</a:t>
            </a:r>
            <a:endParaRPr lang="en-US" sz="1800" dirty="0"/>
          </a:p>
        </p:txBody>
      </p:sp>
      <p:sp>
        <p:nvSpPr>
          <p:cNvPr id="22" name="Text 16"/>
          <p:cNvSpPr txBox="1"/>
          <p:nvPr/>
        </p:nvSpPr>
        <p:spPr>
          <a:xfrm>
            <a:off x="9235440" y="2121408"/>
            <a:ext cx="2194560" cy="1399032"/>
          </a:xfrm>
          <a:prstGeom prst="rect">
            <a:avLst/>
          </a:prstGeom>
          <a:noFill/>
          <a:ln/>
        </p:spPr>
        <p:txBody>
          <a:bodyPr wrap="square" lIns="0" tIns="0" rIns="0" bIns="0" rtlCol="0" anchor="t"/>
          <a:lstStyle/>
          <a:p>
            <a:pPr indent="0" marL="0">
              <a:buNone/>
            </a:pPr>
            <a:r>
              <a:rPr lang="en-US" sz="1800" dirty="0">
                <a:solidFill>
                  <a:schemeClr val="tx1"/>
                </a:solidFill>
              </a:rPr>
              <a:t>Where to make and sell: a shop, near schools, or online?</a:t>
            </a:r>
            <a:endParaRPr lang="en-US" sz="1600" dirty="0"/>
          </a:p>
        </p:txBody>
      </p:sp>
      <p:sp>
        <p:nvSpPr>
          <p:cNvPr id="23" name="card 5"/>
          <p:cNvSpPr/>
          <p:nvPr/>
        </p:nvSpPr>
        <p:spPr>
          <a:xfrm>
            <a:off x="548640" y="3931920"/>
            <a:ext cx="256032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731520" y="4114800"/>
            <a:ext cx="457200" cy="457200"/>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832104" y="4215384"/>
            <a:ext cx="256032" cy="256032"/>
          </a:xfrm>
          <a:prstGeom prst="rect">
            <a:avLst/>
          </a:prstGeom>
        </p:spPr>
      </p:pic>
      <p:sp>
        <p:nvSpPr>
          <p:cNvPr id="26" name="Text 19"/>
          <p:cNvSpPr txBox="1"/>
          <p:nvPr/>
        </p:nvSpPr>
        <p:spPr>
          <a:xfrm>
            <a:off x="1325880" y="411480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People and skills</a:t>
            </a:r>
            <a:endParaRPr lang="en-US" sz="1800" dirty="0"/>
          </a:p>
        </p:txBody>
      </p:sp>
      <p:sp>
        <p:nvSpPr>
          <p:cNvPr id="27" name="Text 20"/>
          <p:cNvSpPr txBox="1"/>
          <p:nvPr/>
        </p:nvSpPr>
        <p:spPr>
          <a:xfrm>
            <a:off x="731520" y="4681728"/>
            <a:ext cx="2194560" cy="1399032"/>
          </a:xfrm>
          <a:prstGeom prst="rect">
            <a:avLst/>
          </a:prstGeom>
          <a:noFill/>
          <a:ln/>
        </p:spPr>
        <p:txBody>
          <a:bodyPr wrap="square" lIns="0" tIns="0" rIns="0" bIns="0" rtlCol="0" anchor="t"/>
          <a:lstStyle/>
          <a:p>
            <a:pPr indent="0" marL="0">
              <a:buNone/>
            </a:pPr>
            <a:r>
              <a:rPr lang="en-US" sz="1800" dirty="0">
                <a:solidFill>
                  <a:schemeClr val="tx1"/>
                </a:solidFill>
              </a:rPr>
              <a:t>How many people, and with what skills?</a:t>
            </a:r>
            <a:endParaRPr lang="en-US" sz="1600" dirty="0"/>
          </a:p>
        </p:txBody>
      </p:sp>
      <p:sp>
        <p:nvSpPr>
          <p:cNvPr id="28" name="card 6"/>
          <p:cNvSpPr/>
          <p:nvPr/>
        </p:nvSpPr>
        <p:spPr>
          <a:xfrm>
            <a:off x="3383280" y="3931920"/>
            <a:ext cx="256032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3566160" y="4114800"/>
            <a:ext cx="457200" cy="457200"/>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3666744" y="4215384"/>
            <a:ext cx="256032" cy="256032"/>
          </a:xfrm>
          <a:prstGeom prst="rect">
            <a:avLst/>
          </a:prstGeom>
        </p:spPr>
      </p:pic>
      <p:sp>
        <p:nvSpPr>
          <p:cNvPr id="31" name="Text 23"/>
          <p:cNvSpPr txBox="1"/>
          <p:nvPr/>
        </p:nvSpPr>
        <p:spPr>
          <a:xfrm>
            <a:off x="4160520" y="411480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Pricing and profit</a:t>
            </a:r>
            <a:endParaRPr lang="en-US" sz="1800" dirty="0"/>
          </a:p>
        </p:txBody>
      </p:sp>
      <p:sp>
        <p:nvSpPr>
          <p:cNvPr id="32" name="Text 24"/>
          <p:cNvSpPr txBox="1"/>
          <p:nvPr/>
        </p:nvSpPr>
        <p:spPr>
          <a:xfrm>
            <a:off x="3566160" y="4681728"/>
            <a:ext cx="2194560" cy="1399032"/>
          </a:xfrm>
          <a:prstGeom prst="rect">
            <a:avLst/>
          </a:prstGeom>
          <a:noFill/>
          <a:ln/>
        </p:spPr>
        <p:txBody>
          <a:bodyPr wrap="square" lIns="0" tIns="0" rIns="0" bIns="0" rtlCol="0" anchor="t"/>
          <a:lstStyle/>
          <a:p>
            <a:pPr indent="0" marL="0">
              <a:buNone/>
            </a:pPr>
            <a:r>
              <a:rPr lang="en-US" sz="1800" dirty="0">
                <a:solidFill>
                  <a:schemeClr val="tx1"/>
                </a:solidFill>
              </a:rPr>
              <a:t>A price that covers costs, earns profit and stays affordable.</a:t>
            </a:r>
            <a:endParaRPr lang="en-US" sz="1600" dirty="0"/>
          </a:p>
        </p:txBody>
      </p:sp>
      <p:sp>
        <p:nvSpPr>
          <p:cNvPr id="33" name="card 7"/>
          <p:cNvSpPr/>
          <p:nvPr/>
        </p:nvSpPr>
        <p:spPr>
          <a:xfrm>
            <a:off x="6217920" y="3931920"/>
            <a:ext cx="2560320" cy="2286000"/>
          </a:xfrm>
          <a:prstGeom prst="roundRect">
            <a:avLst>
              <a:gd name="adj" fmla="val 4800"/>
            </a:avLst>
          </a:prstGeom>
          <a:solidFill>
            <a:schemeClr val="bg2"/>
          </a:solidFill>
          <a:ln w="12700">
            <a:solidFill>
              <a:schemeClr val="bg2"/>
            </a:solidFill>
            <a:prstDash val="solid"/>
          </a:ln>
        </p:spPr>
      </p:sp>
      <p:sp>
        <p:nvSpPr>
          <p:cNvPr id="34" name="card 7 disc"/>
          <p:cNvSpPr/>
          <p:nvPr/>
        </p:nvSpPr>
        <p:spPr>
          <a:xfrm>
            <a:off x="6400800" y="4114800"/>
            <a:ext cx="457200" cy="457200"/>
          </a:xfrm>
          <a:prstGeom prst="ellipse">
            <a:avLst/>
          </a:prstGeom>
          <a:solidFill>
            <a:schemeClr val="accent1"/>
          </a:solidFill>
          <a:ln w="12700">
            <a:solidFill>
              <a:schemeClr val="accent1"/>
            </a:solidFill>
            <a:prstDash val="solid"/>
          </a:ln>
        </p:spPr>
      </p:sp>
      <p:pic>
        <p:nvPicPr>
          <p:cNvPr id="35" name="card 7 glyph" descr="preencoded.png">    </p:cNvPr>
          <p:cNvPicPr>
            <a:picLocks noChangeAspect="1"/>
          </p:cNvPicPr>
          <p:nvPr/>
        </p:nvPicPr>
        <p:blipFill>
          <a:blip r:embed="rId7"/>
          <a:stretch>
            <a:fillRect/>
          </a:stretch>
        </p:blipFill>
        <p:spPr>
          <a:xfrm>
            <a:off x="6501384" y="4215384"/>
            <a:ext cx="256032" cy="256032"/>
          </a:xfrm>
          <a:prstGeom prst="rect">
            <a:avLst/>
          </a:prstGeom>
        </p:spPr>
      </p:pic>
      <p:sp>
        <p:nvSpPr>
          <p:cNvPr id="36" name="Text 27"/>
          <p:cNvSpPr txBox="1"/>
          <p:nvPr/>
        </p:nvSpPr>
        <p:spPr>
          <a:xfrm>
            <a:off x="6995160" y="411480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Marketing</a:t>
            </a:r>
            <a:endParaRPr lang="en-US" sz="1800" dirty="0"/>
          </a:p>
        </p:txBody>
      </p:sp>
      <p:sp>
        <p:nvSpPr>
          <p:cNvPr id="37" name="Text 28"/>
          <p:cNvSpPr txBox="1"/>
          <p:nvPr/>
        </p:nvSpPr>
        <p:spPr>
          <a:xfrm>
            <a:off x="6400800" y="4681728"/>
            <a:ext cx="2194560" cy="1399032"/>
          </a:xfrm>
          <a:prstGeom prst="rect">
            <a:avLst/>
          </a:prstGeom>
          <a:noFill/>
          <a:ln/>
        </p:spPr>
        <p:txBody>
          <a:bodyPr wrap="square" lIns="0" tIns="0" rIns="0" bIns="0" rtlCol="0" anchor="t"/>
          <a:lstStyle/>
          <a:p>
            <a:pPr indent="0" marL="0">
              <a:buNone/>
            </a:pPr>
            <a:r>
              <a:rPr lang="en-US" sz="1800" dirty="0">
                <a:solidFill>
                  <a:schemeClr val="tx1"/>
                </a:solidFill>
              </a:rPr>
              <a:t>Social media, posters, offers, good packaging.</a:t>
            </a:r>
            <a:endParaRPr lang="en-US" sz="1600" dirty="0"/>
          </a:p>
        </p:txBody>
      </p:sp>
      <p:sp>
        <p:nvSpPr>
          <p:cNvPr id="38" name="card 8"/>
          <p:cNvSpPr/>
          <p:nvPr/>
        </p:nvSpPr>
        <p:spPr>
          <a:xfrm>
            <a:off x="9052560" y="3931920"/>
            <a:ext cx="2560320" cy="2286000"/>
          </a:xfrm>
          <a:prstGeom prst="roundRect">
            <a:avLst>
              <a:gd name="adj" fmla="val 4800"/>
            </a:avLst>
          </a:prstGeom>
          <a:solidFill>
            <a:schemeClr val="bg2"/>
          </a:solidFill>
          <a:ln w="12700">
            <a:solidFill>
              <a:schemeClr val="bg2"/>
            </a:solidFill>
            <a:prstDash val="solid"/>
          </a:ln>
        </p:spPr>
      </p:sp>
      <p:sp>
        <p:nvSpPr>
          <p:cNvPr id="39" name="card 8 disc"/>
          <p:cNvSpPr/>
          <p:nvPr/>
        </p:nvSpPr>
        <p:spPr>
          <a:xfrm>
            <a:off x="9235440" y="4114800"/>
            <a:ext cx="457200" cy="457200"/>
          </a:xfrm>
          <a:prstGeom prst="ellipse">
            <a:avLst/>
          </a:prstGeom>
          <a:solidFill>
            <a:schemeClr val="accent2"/>
          </a:solidFill>
          <a:ln w="12700">
            <a:solidFill>
              <a:schemeClr val="accent2"/>
            </a:solidFill>
            <a:prstDash val="solid"/>
          </a:ln>
        </p:spPr>
      </p:sp>
      <p:pic>
        <p:nvPicPr>
          <p:cNvPr id="40" name="card 8 glyph" descr="preencoded.png">    </p:cNvPr>
          <p:cNvPicPr>
            <a:picLocks noChangeAspect="1"/>
          </p:cNvPicPr>
          <p:nvPr/>
        </p:nvPicPr>
        <p:blipFill>
          <a:blip r:embed="rId8"/>
          <a:stretch>
            <a:fillRect/>
          </a:stretch>
        </p:blipFill>
        <p:spPr>
          <a:xfrm>
            <a:off x="9336024" y="4215384"/>
            <a:ext cx="256032" cy="256032"/>
          </a:xfrm>
          <a:prstGeom prst="rect">
            <a:avLst/>
          </a:prstGeom>
        </p:spPr>
      </p:pic>
      <p:sp>
        <p:nvSpPr>
          <p:cNvPr id="41" name="Text 31"/>
          <p:cNvSpPr txBox="1"/>
          <p:nvPr/>
        </p:nvSpPr>
        <p:spPr>
          <a:xfrm>
            <a:off x="9829800" y="411480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Risks</a:t>
            </a:r>
            <a:endParaRPr lang="en-US" sz="1800" dirty="0"/>
          </a:p>
        </p:txBody>
      </p:sp>
      <p:sp>
        <p:nvSpPr>
          <p:cNvPr id="42" name="Text 32"/>
          <p:cNvSpPr txBox="1"/>
          <p:nvPr/>
        </p:nvSpPr>
        <p:spPr>
          <a:xfrm>
            <a:off x="9235440" y="4681728"/>
            <a:ext cx="2194560" cy="1399032"/>
          </a:xfrm>
          <a:prstGeom prst="rect">
            <a:avLst/>
          </a:prstGeom>
          <a:noFill/>
          <a:ln/>
        </p:spPr>
        <p:txBody>
          <a:bodyPr wrap="square" lIns="0" tIns="0" rIns="0" bIns="0" rtlCol="0" anchor="t"/>
          <a:lstStyle/>
          <a:p>
            <a:pPr indent="0" marL="0">
              <a:buNone/>
            </a:pPr>
            <a:r>
              <a:rPr lang="en-US" sz="1800" dirty="0">
                <a:solidFill>
                  <a:schemeClr val="tx1"/>
                </a:solidFill>
              </a:rPr>
              <a:t>Competition, rising costs, changing tastes, perishable stock.</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Activity: Startup Pitch Sprint</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SHARK TANK STYLE</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Pitch your bakery</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40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Groups of 4</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Business plan template (activity book), chart paper</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600" dirty="0">
                <a:solidFill>
                  <a:schemeClr val="tx1"/>
                </a:solidFill>
              </a:rPr>
              <a:t>Name your bakery and choose your </a:t>
            </a:r>
            <a:r>
              <a:rPr lang="en-US" sz="1600" b="1" dirty="0">
                <a:solidFill>
                  <a:schemeClr val="tx1"/>
                </a:solidFill>
              </a:rPr>
              <a:t>target customers</a:t>
            </a:r>
            <a:r>
              <a:rPr lang="en-US" sz="1600" dirty="0">
                <a:solidFill>
                  <a:schemeClr val="tx1"/>
                </a:solidFill>
              </a:rPr>
              <a:t>.</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600" dirty="0">
                <a:solidFill>
                  <a:schemeClr val="tx1"/>
                </a:solidFill>
              </a:rPr>
              <a:t>Answer the </a:t>
            </a:r>
            <a:r>
              <a:rPr lang="en-US" sz="1600" b="1" dirty="0">
                <a:solidFill>
                  <a:schemeClr val="tx1"/>
                </a:solidFill>
              </a:rPr>
              <a:t>8 business plan questions</a:t>
            </a:r>
            <a:r>
              <a:rPr lang="en-US" sz="1600" dirty="0">
                <a:solidFill>
                  <a:schemeClr val="tx1"/>
                </a:solidFill>
              </a:rPr>
              <a:t>.</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600" dirty="0">
                <a:solidFill>
                  <a:schemeClr val="tx1"/>
                </a:solidFill>
              </a:rPr>
              <a:t>Estimate one month's </a:t>
            </a:r>
            <a:r>
              <a:rPr lang="en-US" sz="1600" b="1" dirty="0">
                <a:solidFill>
                  <a:schemeClr val="tx1"/>
                </a:solidFill>
              </a:rPr>
              <a:t>costs and revenue</a:t>
            </a:r>
            <a:r>
              <a:rPr lang="en-US" sz="1600" dirty="0">
                <a:solidFill>
                  <a:schemeClr val="tx1"/>
                </a:solidFill>
              </a:rPr>
              <a:t>.</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600" dirty="0">
                <a:solidFill>
                  <a:schemeClr val="tx1"/>
                </a:solidFill>
              </a:rPr>
              <a:t>Prepare a </a:t>
            </a:r>
            <a:r>
              <a:rPr lang="en-US" sz="1600" b="1" dirty="0">
                <a:solidFill>
                  <a:schemeClr val="tx1"/>
                </a:solidFill>
              </a:rPr>
              <a:t>1-minute pitch</a:t>
            </a:r>
            <a:r>
              <a:rPr lang="en-US" sz="1600" dirty="0">
                <a:solidFill>
                  <a:schemeClr val="tx1"/>
                </a:solidFill>
              </a:rPr>
              <a:t> with a tagline.</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600" dirty="0">
                <a:solidFill>
                  <a:schemeClr val="tx1"/>
                </a:solidFill>
              </a:rPr>
              <a:t>'Investors' (classmates) ask 2 questions and give stars.</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A business plan turns an idea into a clear, testable roadmap.</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Functional Areas of a Business</a:t>
            </a:r>
            <a:endParaRPr lang="en-US" sz="3600" dirty="0"/>
          </a:p>
        </p:txBody>
      </p:sp>
      <p:sp>
        <p:nvSpPr>
          <p:cNvPr id="3" name="card 1"/>
          <p:cNvSpPr/>
          <p:nvPr/>
        </p:nvSpPr>
        <p:spPr>
          <a:xfrm>
            <a:off x="548640" y="1371600"/>
            <a:ext cx="5394960" cy="1988820"/>
          </a:xfrm>
          <a:prstGeom prst="roundRect">
            <a:avLst>
              <a:gd name="adj" fmla="val 5517"/>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Management and operations</a:t>
            </a:r>
            <a:endParaRPr lang="en-US" sz="1800" dirty="0"/>
          </a:p>
        </p:txBody>
      </p:sp>
      <p:sp>
        <p:nvSpPr>
          <p:cNvPr id="7" name="Text 4"/>
          <p:cNvSpPr txBox="1"/>
          <p:nvPr/>
        </p:nvSpPr>
        <p:spPr>
          <a:xfrm>
            <a:off x="777240" y="2276856"/>
            <a:ext cx="4937760" cy="946404"/>
          </a:xfrm>
          <a:prstGeom prst="rect">
            <a:avLst/>
          </a:prstGeom>
          <a:noFill/>
          <a:ln/>
        </p:spPr>
        <p:txBody>
          <a:bodyPr wrap="square" lIns="0" tIns="0" rIns="0" bIns="0" rtlCol="0" anchor="t"/>
          <a:lstStyle/>
          <a:p>
            <a:pPr indent="0" marL="0">
              <a:buNone/>
            </a:pPr>
            <a:r>
              <a:rPr lang="en-US" sz="1800" dirty="0">
                <a:solidFill>
                  <a:schemeClr val="tx1"/>
                </a:solidFill>
              </a:rPr>
              <a:t>Day-to-day running: production, </a:t>
            </a:r>
            <a:r>
              <a:rPr lang="en-US" sz="1800" b="1" dirty="0">
                <a:solidFill>
                  <a:schemeClr val="tx1"/>
                </a:solidFill>
              </a:rPr>
              <a:t>quality</a:t>
            </a:r>
            <a:r>
              <a:rPr lang="en-US" sz="1800" dirty="0">
                <a:solidFill>
                  <a:schemeClr val="tx1"/>
                </a:solidFill>
              </a:rPr>
              <a:t>, supply chain. In a bakery: equipment, ingredients, fresh daily output.</a:t>
            </a:r>
            <a:endParaRPr lang="en-US" sz="1600" dirty="0"/>
          </a:p>
        </p:txBody>
      </p:sp>
      <p:sp>
        <p:nvSpPr>
          <p:cNvPr id="8" name="card 2"/>
          <p:cNvSpPr/>
          <p:nvPr/>
        </p:nvSpPr>
        <p:spPr>
          <a:xfrm>
            <a:off x="6217920" y="1371600"/>
            <a:ext cx="5394960" cy="1988820"/>
          </a:xfrm>
          <a:prstGeom prst="roundRect">
            <a:avLst>
              <a:gd name="adj" fmla="val 5517"/>
            </a:avLst>
          </a:prstGeom>
          <a:solidFill>
            <a:schemeClr val="bg2"/>
          </a:solidFill>
          <a:ln w="12700">
            <a:solidFill>
              <a:schemeClr val="bg2"/>
            </a:solidFill>
            <a:prstDash val="solid"/>
          </a:ln>
        </p:spPr>
      </p:sp>
      <p:sp>
        <p:nvSpPr>
          <p:cNvPr id="9" name="card 2 disc"/>
          <p:cNvSpPr/>
          <p:nvPr/>
        </p:nvSpPr>
        <p:spPr>
          <a:xfrm>
            <a:off x="644652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6571244" y="1724924"/>
            <a:ext cx="317480" cy="317480"/>
          </a:xfrm>
          <a:prstGeom prst="rect">
            <a:avLst/>
          </a:prstGeom>
        </p:spPr>
      </p:pic>
      <p:sp>
        <p:nvSpPr>
          <p:cNvPr id="11" name="Text 7"/>
          <p:cNvSpPr txBox="1"/>
          <p:nvPr/>
        </p:nvSpPr>
        <p:spPr>
          <a:xfrm>
            <a:off x="715060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Finance and accounting</a:t>
            </a:r>
            <a:endParaRPr lang="en-US" sz="1800" dirty="0"/>
          </a:p>
        </p:txBody>
      </p:sp>
      <p:sp>
        <p:nvSpPr>
          <p:cNvPr id="12" name="Text 8"/>
          <p:cNvSpPr txBox="1"/>
          <p:nvPr/>
        </p:nvSpPr>
        <p:spPr>
          <a:xfrm>
            <a:off x="6446520" y="2276856"/>
            <a:ext cx="4937760" cy="946404"/>
          </a:xfrm>
          <a:prstGeom prst="rect">
            <a:avLst/>
          </a:prstGeom>
          <a:noFill/>
          <a:ln/>
        </p:spPr>
        <p:txBody>
          <a:bodyPr wrap="square" lIns="0" tIns="0" rIns="0" bIns="0" rtlCol="0" anchor="t"/>
          <a:lstStyle/>
          <a:p>
            <a:pPr indent="0" marL="0">
              <a:buNone/>
            </a:pPr>
            <a:r>
              <a:rPr lang="en-US" sz="1800" dirty="0">
                <a:solidFill>
                  <a:schemeClr val="tx1"/>
                </a:solidFill>
              </a:rPr>
              <a:t>Managing money: budgeting, records, </a:t>
            </a:r>
            <a:r>
              <a:rPr lang="en-US" sz="1800" b="1" dirty="0">
                <a:solidFill>
                  <a:schemeClr val="tx1"/>
                </a:solidFill>
              </a:rPr>
              <a:t>cash flow</a:t>
            </a:r>
            <a:r>
              <a:rPr lang="en-US" sz="1800" dirty="0">
                <a:solidFill>
                  <a:schemeClr val="tx1"/>
                </a:solidFill>
              </a:rPr>
              <a:t>, the profit and loss account, tax compliance.</a:t>
            </a:r>
            <a:endParaRPr lang="en-US" sz="1600" dirty="0"/>
          </a:p>
        </p:txBody>
      </p:sp>
      <p:sp>
        <p:nvSpPr>
          <p:cNvPr id="13" name="card 3"/>
          <p:cNvSpPr/>
          <p:nvPr/>
        </p:nvSpPr>
        <p:spPr>
          <a:xfrm>
            <a:off x="548640" y="3634740"/>
            <a:ext cx="5394960" cy="1988820"/>
          </a:xfrm>
          <a:prstGeom prst="roundRect">
            <a:avLst>
              <a:gd name="adj" fmla="val 5517"/>
            </a:avLst>
          </a:prstGeom>
          <a:solidFill>
            <a:schemeClr val="bg2"/>
          </a:solidFill>
          <a:ln w="12700">
            <a:solidFill>
              <a:schemeClr val="bg2"/>
            </a:solidFill>
            <a:prstDash val="solid"/>
          </a:ln>
        </p:spPr>
      </p:sp>
      <p:sp>
        <p:nvSpPr>
          <p:cNvPr id="14" name="card 3 disc"/>
          <p:cNvSpPr/>
          <p:nvPr/>
        </p:nvSpPr>
        <p:spPr>
          <a:xfrm>
            <a:off x="777240" y="386334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901964" y="3988064"/>
            <a:ext cx="317480" cy="317480"/>
          </a:xfrm>
          <a:prstGeom prst="rect">
            <a:avLst/>
          </a:prstGeom>
        </p:spPr>
      </p:pic>
      <p:sp>
        <p:nvSpPr>
          <p:cNvPr id="16" name="Text 11"/>
          <p:cNvSpPr txBox="1"/>
          <p:nvPr/>
        </p:nvSpPr>
        <p:spPr>
          <a:xfrm>
            <a:off x="1481328" y="386334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Human resources</a:t>
            </a:r>
            <a:endParaRPr lang="en-US" sz="1800" dirty="0"/>
          </a:p>
        </p:txBody>
      </p:sp>
      <p:sp>
        <p:nvSpPr>
          <p:cNvPr id="17" name="Text 12"/>
          <p:cNvSpPr txBox="1"/>
          <p:nvPr/>
        </p:nvSpPr>
        <p:spPr>
          <a:xfrm>
            <a:off x="777240" y="4539996"/>
            <a:ext cx="4937760" cy="946404"/>
          </a:xfrm>
          <a:prstGeom prst="rect">
            <a:avLst/>
          </a:prstGeom>
          <a:noFill/>
          <a:ln/>
        </p:spPr>
        <p:txBody>
          <a:bodyPr wrap="square" lIns="0" tIns="0" rIns="0" bIns="0" rtlCol="0" anchor="t"/>
          <a:lstStyle/>
          <a:p>
            <a:pPr indent="0" marL="0">
              <a:buNone/>
            </a:pPr>
            <a:r>
              <a:rPr lang="en-US" sz="1800" dirty="0">
                <a:solidFill>
                  <a:schemeClr val="tx1"/>
                </a:solidFill>
              </a:rPr>
              <a:t>Managing people: hiring bakers, helpers and cashiers; </a:t>
            </a:r>
            <a:r>
              <a:rPr lang="en-US" sz="1800" b="1" dirty="0">
                <a:solidFill>
                  <a:schemeClr val="tx1"/>
                </a:solidFill>
              </a:rPr>
              <a:t>training</a:t>
            </a:r>
            <a:r>
              <a:rPr lang="en-US" sz="1800" dirty="0">
                <a:solidFill>
                  <a:schemeClr val="tx1"/>
                </a:solidFill>
              </a:rPr>
              <a:t> in hygiene; a motivating workplace.</a:t>
            </a:r>
            <a:endParaRPr lang="en-US" sz="1600" dirty="0"/>
          </a:p>
        </p:txBody>
      </p:sp>
      <p:sp>
        <p:nvSpPr>
          <p:cNvPr id="18" name="card 4"/>
          <p:cNvSpPr/>
          <p:nvPr/>
        </p:nvSpPr>
        <p:spPr>
          <a:xfrm>
            <a:off x="6217920" y="3634740"/>
            <a:ext cx="5394960" cy="1988820"/>
          </a:xfrm>
          <a:prstGeom prst="roundRect">
            <a:avLst>
              <a:gd name="adj" fmla="val 5517"/>
            </a:avLst>
          </a:prstGeom>
          <a:solidFill>
            <a:schemeClr val="bg2"/>
          </a:solidFill>
          <a:ln w="12700">
            <a:solidFill>
              <a:schemeClr val="bg2"/>
            </a:solidFill>
            <a:prstDash val="solid"/>
          </a:ln>
        </p:spPr>
      </p:sp>
      <p:sp>
        <p:nvSpPr>
          <p:cNvPr id="19" name="card 4 disc"/>
          <p:cNvSpPr/>
          <p:nvPr/>
        </p:nvSpPr>
        <p:spPr>
          <a:xfrm>
            <a:off x="6446520" y="386334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6571244" y="3988064"/>
            <a:ext cx="317480" cy="317480"/>
          </a:xfrm>
          <a:prstGeom prst="rect">
            <a:avLst/>
          </a:prstGeom>
        </p:spPr>
      </p:pic>
      <p:sp>
        <p:nvSpPr>
          <p:cNvPr id="21" name="Text 15"/>
          <p:cNvSpPr txBox="1"/>
          <p:nvPr/>
        </p:nvSpPr>
        <p:spPr>
          <a:xfrm>
            <a:off x="7150608" y="386334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Marketing and sales</a:t>
            </a:r>
            <a:endParaRPr lang="en-US" sz="1800" dirty="0"/>
          </a:p>
        </p:txBody>
      </p:sp>
      <p:sp>
        <p:nvSpPr>
          <p:cNvPr id="22" name="Text 16"/>
          <p:cNvSpPr txBox="1"/>
          <p:nvPr/>
        </p:nvSpPr>
        <p:spPr>
          <a:xfrm>
            <a:off x="6446520" y="4539996"/>
            <a:ext cx="4937760" cy="946404"/>
          </a:xfrm>
          <a:prstGeom prst="rect">
            <a:avLst/>
          </a:prstGeom>
          <a:noFill/>
          <a:ln/>
        </p:spPr>
        <p:txBody>
          <a:bodyPr wrap="square" lIns="0" tIns="0" rIns="0" bIns="0" rtlCol="0" anchor="t"/>
          <a:lstStyle/>
          <a:p>
            <a:pPr indent="0" marL="0">
              <a:buNone/>
            </a:pPr>
            <a:r>
              <a:rPr lang="en-US" sz="1800" dirty="0">
                <a:solidFill>
                  <a:schemeClr val="tx1"/>
                </a:solidFill>
              </a:rPr>
              <a:t>Awareness and sales: catchy name, social media, seasonal items, offers, </a:t>
            </a:r>
            <a:r>
              <a:rPr lang="en-US" sz="1800" b="1" dirty="0">
                <a:solidFill>
                  <a:schemeClr val="tx1"/>
                </a:solidFill>
              </a:rPr>
              <a:t>eco-friendly packaging</a:t>
            </a:r>
            <a:r>
              <a:rPr lang="en-US" sz="1800" dirty="0">
                <a:solidFill>
                  <a:schemeClr val="tx1"/>
                </a:solidFill>
              </a:rPr>
              <a:t>.</a:t>
            </a:r>
            <a:endParaRPr lang="en-US" sz="1600" dirty="0"/>
          </a:p>
        </p:txBody>
      </p:sp>
      <p:sp>
        <p:nvSpPr>
          <p:cNvPr id="23"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24" name="Text 18"/>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chemeClr val="bg1"/>
                </a:solidFill>
              </a:rPr>
              <a:t>All four work together: a weak area can sink even a great idea.</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Fixed Costs and Variable Costs</a:t>
            </a:r>
            <a:endParaRPr lang="en-US" sz="3600" dirty="0"/>
          </a:p>
        </p:txBody>
      </p:sp>
      <p:sp>
        <p:nvSpPr>
          <p:cNvPr id="3" name="Fixed costs header"/>
          <p:cNvSpPr/>
          <p:nvPr/>
        </p:nvSpPr>
        <p:spPr>
          <a:xfrm>
            <a:off x="548640" y="1371600"/>
            <a:ext cx="5257800" cy="777240"/>
          </a:xfrm>
          <a:prstGeom prst="roundRect">
            <a:avLst>
              <a:gd name="adj" fmla="val 14118"/>
            </a:avLst>
          </a:prstGeom>
          <a:solidFill>
            <a:schemeClr val="accent1"/>
          </a:solidFill>
          <a:ln w="12700">
            <a:solidFill>
              <a:schemeClr val="accent1"/>
            </a:solidFill>
            <a:prstDash val="solid"/>
          </a:ln>
        </p:spPr>
      </p:sp>
      <p:pic>
        <p:nvPicPr>
          <p:cNvPr id="4" name="Fixed costs icon" descr="preencoded.png">    </p:cNvPr>
          <p:cNvPicPr>
            <a:picLocks noChangeAspect="1"/>
          </p:cNvPicPr>
          <p:nvPr/>
        </p:nvPicPr>
        <p:blipFill>
          <a:blip r:embed="rId1"/>
          <a:stretch>
            <a:fillRect/>
          </a:stretch>
        </p:blipFill>
        <p:spPr>
          <a:xfrm>
            <a:off x="777240" y="1508760"/>
            <a:ext cx="502920" cy="502920"/>
          </a:xfrm>
          <a:prstGeom prst="rect">
            <a:avLst/>
          </a:prstGeom>
        </p:spPr>
      </p:pic>
      <p:sp>
        <p:nvSpPr>
          <p:cNvPr id="5" name="Text 2"/>
          <p:cNvSpPr txBox="1"/>
          <p:nvPr/>
        </p:nvSpPr>
        <p:spPr>
          <a:xfrm>
            <a:off x="146304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Fixed costs</a:t>
            </a:r>
            <a:endParaRPr lang="en-US" sz="2200" dirty="0"/>
          </a:p>
        </p:txBody>
      </p:sp>
      <p:sp>
        <p:nvSpPr>
          <p:cNvPr id="6" name="Fixed costs body"/>
          <p:cNvSpPr/>
          <p:nvPr/>
        </p:nvSpPr>
        <p:spPr>
          <a:xfrm>
            <a:off x="548640" y="2240280"/>
            <a:ext cx="5257800" cy="3383280"/>
          </a:xfrm>
          <a:prstGeom prst="roundRect">
            <a:avLst>
              <a:gd name="adj" fmla="val 3243"/>
            </a:avLst>
          </a:prstGeom>
          <a:solidFill>
            <a:schemeClr val="bg2"/>
          </a:solidFill>
          <a:ln w="12700">
            <a:solidFill>
              <a:schemeClr val="bg2"/>
            </a:solidFill>
            <a:prstDash val="solid"/>
          </a:ln>
        </p:spPr>
      </p:sp>
      <p:sp>
        <p:nvSpPr>
          <p:cNvPr id="7" name="Text 4"/>
          <p:cNvSpPr txBox="1"/>
          <p:nvPr/>
        </p:nvSpPr>
        <p:spPr>
          <a:xfrm>
            <a:off x="82296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chemeClr val="tx1"/>
                </a:solidFill>
              </a:rPr>
              <a:t>Stay the </a:t>
            </a:r>
            <a:r>
              <a:rPr lang="en-US" sz="2200" b="1" dirty="0">
                <a:solidFill>
                  <a:schemeClr val="tx1"/>
                </a:solidFill>
              </a:rPr>
              <a:t>same</a:t>
            </a:r>
            <a:r>
              <a:rPr lang="en-US" sz="2200" dirty="0">
                <a:solidFill>
                  <a:schemeClr val="tx1"/>
                </a:solidFill>
              </a:rPr>
              <a:t> however much you produce</a:t>
            </a:r>
            <a:endParaRPr lang="en-US" sz="1600" dirty="0"/>
          </a:p>
          <a:p>
            <a:pPr marL="228600" indent="-228600">
              <a:spcAft>
                <a:spcPts val="800"/>
              </a:spcAft>
              <a:buSzPct val="100000"/>
              <a:buChar char="•"/>
            </a:pPr>
            <a:r>
              <a:rPr lang="en-US" sz="2200" dirty="0">
                <a:solidFill>
                  <a:schemeClr val="tx1"/>
                </a:solidFill>
              </a:rPr>
              <a:t>e.g. </a:t>
            </a:r>
            <a:r>
              <a:rPr lang="en-US" sz="2200" b="1" dirty="0">
                <a:solidFill>
                  <a:schemeClr val="tx1"/>
                </a:solidFill>
              </a:rPr>
              <a:t>rent</a:t>
            </a:r>
            <a:r>
              <a:rPr lang="en-US" sz="2200" dirty="0">
                <a:solidFill>
                  <a:schemeClr val="tx1"/>
                </a:solidFill>
              </a:rPr>
              <a:t>, equipment (oven, mixer, fridge), insurance</a:t>
            </a:r>
            <a:endParaRPr lang="en-US" sz="1600" dirty="0"/>
          </a:p>
          <a:p>
            <a:pPr marL="228600" indent="-228600">
              <a:spcAft>
                <a:spcPts val="800"/>
              </a:spcAft>
              <a:buSzPct val="100000"/>
              <a:buChar char="•"/>
            </a:pPr>
            <a:r>
              <a:rPr lang="en-US" sz="2200" dirty="0">
                <a:solidFill>
                  <a:schemeClr val="tx1"/>
                </a:solidFill>
              </a:rPr>
              <a:t>Also called overhead costs</a:t>
            </a:r>
            <a:endParaRPr lang="en-US" sz="1600" dirty="0"/>
          </a:p>
        </p:txBody>
      </p:sp>
      <p:sp>
        <p:nvSpPr>
          <p:cNvPr id="8" name="Variable costs header"/>
          <p:cNvSpPr/>
          <p:nvPr/>
        </p:nvSpPr>
        <p:spPr>
          <a:xfrm>
            <a:off x="6355080" y="1371600"/>
            <a:ext cx="5257800" cy="777240"/>
          </a:xfrm>
          <a:prstGeom prst="roundRect">
            <a:avLst>
              <a:gd name="adj" fmla="val 14118"/>
            </a:avLst>
          </a:prstGeom>
          <a:solidFill>
            <a:schemeClr val="accent2"/>
          </a:solidFill>
          <a:ln w="12700">
            <a:solidFill>
              <a:schemeClr val="accent2"/>
            </a:solidFill>
            <a:prstDash val="solid"/>
          </a:ln>
        </p:spPr>
      </p:sp>
      <p:pic>
        <p:nvPicPr>
          <p:cNvPr id="9" name="Variable costs icon" descr="preencoded.png">    </p:cNvPr>
          <p:cNvPicPr>
            <a:picLocks noChangeAspect="1"/>
          </p:cNvPicPr>
          <p:nvPr/>
        </p:nvPicPr>
        <p:blipFill>
          <a:blip r:embed="rId2"/>
          <a:stretch>
            <a:fillRect/>
          </a:stretch>
        </p:blipFill>
        <p:spPr>
          <a:xfrm>
            <a:off x="6583680" y="1508760"/>
            <a:ext cx="502920" cy="502920"/>
          </a:xfrm>
          <a:prstGeom prst="rect">
            <a:avLst/>
          </a:prstGeom>
        </p:spPr>
      </p:pic>
      <p:sp>
        <p:nvSpPr>
          <p:cNvPr id="10" name="Text 6"/>
          <p:cNvSpPr txBox="1"/>
          <p:nvPr/>
        </p:nvSpPr>
        <p:spPr>
          <a:xfrm>
            <a:off x="726948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Variable costs</a:t>
            </a:r>
            <a:endParaRPr lang="en-US" sz="2200" dirty="0"/>
          </a:p>
        </p:txBody>
      </p:sp>
      <p:sp>
        <p:nvSpPr>
          <p:cNvPr id="11" name="Variable costs body"/>
          <p:cNvSpPr/>
          <p:nvPr/>
        </p:nvSpPr>
        <p:spPr>
          <a:xfrm>
            <a:off x="6355080" y="2240280"/>
            <a:ext cx="5257800" cy="3383280"/>
          </a:xfrm>
          <a:prstGeom prst="roundRect">
            <a:avLst>
              <a:gd name="adj" fmla="val 3243"/>
            </a:avLst>
          </a:prstGeom>
          <a:solidFill>
            <a:schemeClr val="bg2"/>
          </a:solidFill>
          <a:ln w="12700">
            <a:solidFill>
              <a:schemeClr val="bg2"/>
            </a:solidFill>
            <a:prstDash val="solid"/>
          </a:ln>
        </p:spPr>
      </p:sp>
      <p:sp>
        <p:nvSpPr>
          <p:cNvPr id="12" name="Text 8"/>
          <p:cNvSpPr txBox="1"/>
          <p:nvPr/>
        </p:nvSpPr>
        <p:spPr>
          <a:xfrm>
            <a:off x="662940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chemeClr val="tx1"/>
                </a:solidFill>
              </a:rPr>
              <a:t>Rise and fall</a:t>
            </a:r>
            <a:r>
              <a:rPr lang="en-US" sz="2200" dirty="0">
                <a:solidFill>
                  <a:schemeClr val="tx1"/>
                </a:solidFill>
              </a:rPr>
              <a:t> with production</a:t>
            </a:r>
            <a:endParaRPr lang="en-US" sz="1600" dirty="0"/>
          </a:p>
          <a:p>
            <a:pPr marL="228600" indent="-228600">
              <a:spcAft>
                <a:spcPts val="800"/>
              </a:spcAft>
              <a:buSzPct val="100000"/>
              <a:buChar char="•"/>
            </a:pPr>
            <a:r>
              <a:rPr lang="en-US" sz="2200" dirty="0">
                <a:solidFill>
                  <a:schemeClr val="tx1"/>
                </a:solidFill>
              </a:rPr>
              <a:t>e.g. </a:t>
            </a:r>
            <a:r>
              <a:rPr lang="en-US" sz="2200" b="1" dirty="0">
                <a:solidFill>
                  <a:schemeClr val="tx1"/>
                </a:solidFill>
              </a:rPr>
              <a:t>flour, sugar</a:t>
            </a:r>
            <a:r>
              <a:rPr lang="en-US" sz="2200" dirty="0">
                <a:solidFill>
                  <a:schemeClr val="tx1"/>
                </a:solidFill>
              </a:rPr>
              <a:t>, other raw materials, packaging</a:t>
            </a:r>
            <a:endParaRPr lang="en-US" sz="1600" dirty="0"/>
          </a:p>
          <a:p>
            <a:pPr marL="228600" indent="-228600">
              <a:spcAft>
                <a:spcPts val="800"/>
              </a:spcAft>
              <a:buSzPct val="100000"/>
              <a:buChar char="•"/>
            </a:pPr>
            <a:r>
              <a:rPr lang="en-US" sz="2200" dirty="0">
                <a:solidFill>
                  <a:schemeClr val="tx1"/>
                </a:solidFill>
              </a:rPr>
              <a:t>More cakes mean more ingredients</a:t>
            </a:r>
            <a:endParaRPr lang="en-US" sz="1600" dirty="0"/>
          </a:p>
        </p:txBody>
      </p:sp>
      <p:sp>
        <p:nvSpPr>
          <p:cNvPr id="13" name="vs badge"/>
          <p:cNvSpPr/>
          <p:nvPr/>
        </p:nvSpPr>
        <p:spPr>
          <a:xfrm>
            <a:off x="5733288" y="1417320"/>
            <a:ext cx="713232" cy="713232"/>
          </a:xfrm>
          <a:prstGeom prst="ellipse">
            <a:avLst/>
          </a:prstGeom>
          <a:solidFill>
            <a:schemeClr val="accent3"/>
          </a:solidFill>
          <a:ln w="25400">
            <a:solidFill>
              <a:schemeClr val="bg1"/>
            </a:solidFill>
            <a:prstDash val="solid"/>
          </a:ln>
        </p:spPr>
      </p:sp>
      <p:sp>
        <p:nvSpPr>
          <p:cNvPr id="14" name="Text 10"/>
          <p:cNvSpPr txBox="1"/>
          <p:nvPr/>
        </p:nvSpPr>
        <p:spPr>
          <a:xfrm>
            <a:off x="5733288" y="1417320"/>
            <a:ext cx="713232" cy="713232"/>
          </a:xfrm>
          <a:prstGeom prst="rect">
            <a:avLst/>
          </a:prstGeom>
          <a:noFill/>
          <a:ln/>
        </p:spPr>
        <p:txBody>
          <a:bodyPr wrap="square" lIns="0" tIns="0" rIns="0" bIns="0" rtlCol="0" anchor="ctr"/>
          <a:lstStyle/>
          <a:p>
            <a:pPr algn="ctr" indent="0" marL="0">
              <a:buNone/>
            </a:pPr>
            <a:r>
              <a:rPr lang="en-US" sz="1600" b="1" dirty="0">
                <a:solidFill>
                  <a:schemeClr val="tx2"/>
                </a:solidFill>
              </a:rPr>
              <a:t>&amp;</a:t>
            </a:r>
            <a:endParaRPr lang="en-US" sz="1600" dirty="0"/>
          </a:p>
        </p:txBody>
      </p:sp>
      <p:sp>
        <p:nvSpPr>
          <p:cNvPr id="15"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6" name="Text 12"/>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Profit = Total revenue – Total expenses.</a:t>
            </a:r>
            <a:r>
              <a:rPr lang="en-US" sz="1500" dirty="0">
                <a:solidFill>
                  <a:schemeClr val="bg1"/>
                </a:solidFill>
              </a:rPr>
              <a:t> Revenue is money earned from selling goods and services.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Reading a Profit and Loss Account</a:t>
            </a:r>
            <a:endParaRPr lang="en-US" sz="3600" dirty="0"/>
          </a:p>
        </p:txBody>
      </p:sp>
      <p:sp>
        <p:nvSpPr>
          <p:cNvPr id="3" name="Text 1"/>
          <p:cNvSpPr txBox="1"/>
          <p:nvPr/>
        </p:nvSpPr>
        <p:spPr>
          <a:xfrm>
            <a:off x="548640" y="1234440"/>
            <a:ext cx="11064240" cy="411480"/>
          </a:xfrm>
          <a:prstGeom prst="rect">
            <a:avLst/>
          </a:prstGeom>
          <a:noFill/>
          <a:ln/>
        </p:spPr>
        <p:txBody>
          <a:bodyPr wrap="square" lIns="0" tIns="0" rIns="0" bIns="0" rtlCol="0" anchor="ctr"/>
          <a:lstStyle/>
          <a:p>
            <a:pPr indent="0" marL="0">
              <a:buNone/>
            </a:pPr>
            <a:r>
              <a:rPr lang="en-US" sz="1600" b="1" dirty="0">
                <a:solidFill>
                  <a:schemeClr val="tx1"/>
                </a:solidFill>
              </a:rPr>
              <a:t>ABC Bakery</a:t>
            </a:r>
            <a:r>
              <a:rPr lang="en-US" sz="1600" dirty="0">
                <a:solidFill>
                  <a:schemeClr val="tx1"/>
                </a:solidFill>
              </a:rPr>
              <a:t> (a fictional teen enterprise), month ended March 2026</a:t>
            </a:r>
            <a:endParaRPr lang="en-US" sz="1600" dirty="0"/>
          </a:p>
        </p:txBody>
      </p:sp>
      <p:graphicFrame>
        <p:nvGraphicFramePr>
          <p:cNvPr id="17" name="income table"/>
          <p:cNvGraphicFramePr>
            <a:graphicFrameLocks noGrp="1"/>
          </p:cNvGraphicFramePr>
          <p:nvPr>
            <p:extLst>
              <p:ext uri="{D42A27DB-BD31-4B8C-83A1-F6EECF244321}">
                <p14:modId xmlns:p14="http://schemas.microsoft.com/office/powerpoint/2010/main" val="1579011935"/>
              </p:ext>
            </p:extLst>
          </p:nvPr>
        </p:nvGraphicFramePr>
        <p:xfrm>
          <a:off x="548640" y="1783080"/>
          <a:ext cx="4937760" cy="914400"/>
        </p:xfrm>
        <a:graphic>
          <a:graphicData uri="http://schemas.openxmlformats.org/drawingml/2006/table">
            <a:tbl>
              <a:tblPr/>
              <a:tblGrid>
                <a:gridCol w="3383280"/>
                <a:gridCol w="1554480"/>
              </a:tblGrid>
              <a:tr h="402336">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Income</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1F7A6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1F7A6F"/>
                    </a:solidFill>
                  </a:tcPr>
                </a:tc>
              </a:tr>
              <a:tr h="402336">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Bread and buns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1,20,000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r>
              <a:tr h="402336">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Pastries and cookies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75,000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r>
              <a:tr h="402336">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Cake orders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85,000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r>
              <a:tr h="402336">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Delivery charges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15,000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r>
              <a:tr h="402336">
                <a:tc>
                  <a:txBody>
                    <a:bodyPr/>
                    <a:lstStyle/>
                    <a:p>
                      <a:pPr indent="0" marL="0">
                        <a:buNone/>
                      </a:pPr>
                      <a:r>
                        <a:rPr lang="en-US" sz="1500" b="1" dirty="0">
                          <a:solidFill>
                            <a:srgbClr val="1F2328"/>
                          </a:solidFill>
                          <a:latin typeface="Calibri" pitchFamily="34" charset="0"/>
                          <a:ea typeface="Calibri" pitchFamily="34" charset="-122"/>
                          <a:cs typeface="Calibri" pitchFamily="34" charset="-120"/>
                        </a:rPr>
                        <a:t>Total income</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c>
                  <a:txBody>
                    <a:bodyPr/>
                    <a:lstStyle/>
                    <a:p>
                      <a:pPr algn="r" indent="0" marL="0">
                        <a:buNone/>
                      </a:pPr>
                      <a:r>
                        <a:rPr lang="en-US" sz="1500" b="1" dirty="0">
                          <a:solidFill>
                            <a:srgbClr val="1F2328"/>
                          </a:solidFill>
                          <a:latin typeface="Calibri" pitchFamily="34" charset="0"/>
                          <a:ea typeface="Calibri" pitchFamily="34" charset="-122"/>
                          <a:cs typeface="Calibri" pitchFamily="34" charset="-120"/>
                        </a:rPr>
                        <a:t>2,95,000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r>
            </a:tbl>
          </a:graphicData>
        </a:graphic>
      </p:graphicFrame>
      <p:graphicFrame>
        <p:nvGraphicFramePr>
          <p:cNvPr id="33" name="expense table"/>
          <p:cNvGraphicFramePr>
            <a:graphicFrameLocks noGrp="1"/>
          </p:cNvGraphicFramePr>
          <p:nvPr>
            <p:extLst>
              <p:ext uri="{D42A27DB-BD31-4B8C-83A1-F6EECF244321}">
                <p14:modId xmlns:p14="http://schemas.microsoft.com/office/powerpoint/2010/main" val="1579011935"/>
              </p:ext>
            </p:extLst>
          </p:nvPr>
        </p:nvGraphicFramePr>
        <p:xfrm>
          <a:off x="5852160" y="1783080"/>
          <a:ext cx="5760720" cy="914400"/>
        </p:xfrm>
        <a:graphic>
          <a:graphicData uri="http://schemas.openxmlformats.org/drawingml/2006/table">
            <a:tbl>
              <a:tblPr/>
              <a:tblGrid>
                <a:gridCol w="4114800"/>
                <a:gridCol w="1645920"/>
              </a:tblGrid>
              <a:tr h="38404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Expenses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C8364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C8364A"/>
                    </a:solidFill>
                  </a:tcPr>
                </a:tc>
              </a:tr>
              <a:tr h="384048">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Raw materials (flour, sugar)</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1,00,000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r>
              <a:tr h="384048">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Packaging material</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12,000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r>
              <a:tr h="384048">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Rent</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40,000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r>
              <a:tr h="384048">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Salaries and wages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30,000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r>
              <a:tr h="384048">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Utilities (electricity, gas)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15,000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r>
              <a:tr h="384048">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Advertising and marketing</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8,000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r>
              <a:tr h="384048">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Miscellaneous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7,000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r>
              <a:tr h="384048">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Interest on loan</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10,000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r>
              <a:tr h="384048">
                <a:tc>
                  <a:txBody>
                    <a:bodyPr/>
                    <a:lstStyle/>
                    <a:p>
                      <a:pPr indent="0" marL="0">
                        <a:buNone/>
                      </a:pPr>
                      <a:r>
                        <a:rPr lang="en-US" sz="1500" b="1" dirty="0">
                          <a:solidFill>
                            <a:srgbClr val="1F2328"/>
                          </a:solidFill>
                          <a:latin typeface="Calibri" pitchFamily="34" charset="0"/>
                          <a:ea typeface="Calibri" pitchFamily="34" charset="-122"/>
                          <a:cs typeface="Calibri" pitchFamily="34" charset="-120"/>
                        </a:rPr>
                        <a:t>Total expenses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c>
                  <a:txBody>
                    <a:bodyPr/>
                    <a:lstStyle/>
                    <a:p>
                      <a:pPr algn="r" indent="0" marL="0">
                        <a:buNone/>
                      </a:pPr>
                      <a:r>
                        <a:rPr lang="en-US" sz="1500" b="1" dirty="0">
                          <a:solidFill>
                            <a:srgbClr val="1F2328"/>
                          </a:solidFill>
                          <a:latin typeface="Calibri" pitchFamily="34" charset="0"/>
                          <a:ea typeface="Calibri" pitchFamily="34" charset="-122"/>
                          <a:cs typeface="Calibri" pitchFamily="34" charset="-120"/>
                        </a:rPr>
                        <a:t>2,22,000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r>
            </a:tbl>
          </a:graphicData>
        </a:graphic>
      </p:graphicFrame>
      <p:sp>
        <p:nvSpPr>
          <p:cNvPr id="6" name="profit card"/>
          <p:cNvSpPr/>
          <p:nvPr/>
        </p:nvSpPr>
        <p:spPr>
          <a:xfrm>
            <a:off x="548640" y="4343400"/>
            <a:ext cx="4937760" cy="1874520"/>
          </a:xfrm>
          <a:prstGeom prst="roundRect">
            <a:avLst>
              <a:gd name="adj" fmla="val 5854"/>
            </a:avLst>
          </a:prstGeom>
          <a:solidFill>
            <a:schemeClr val="tx2"/>
          </a:solidFill>
          <a:ln w="12700">
            <a:solidFill>
              <a:schemeClr val="tx2"/>
            </a:solidFill>
            <a:prstDash val="solid"/>
          </a:ln>
        </p:spPr>
      </p:sp>
      <p:sp>
        <p:nvSpPr>
          <p:cNvPr id="7" name="Text 3"/>
          <p:cNvSpPr txBox="1"/>
          <p:nvPr/>
        </p:nvSpPr>
        <p:spPr>
          <a:xfrm>
            <a:off x="777240" y="4434840"/>
            <a:ext cx="4572000" cy="1691640"/>
          </a:xfrm>
          <a:prstGeom prst="rect">
            <a:avLst/>
          </a:prstGeom>
          <a:noFill/>
          <a:ln/>
        </p:spPr>
        <p:txBody>
          <a:bodyPr wrap="square" lIns="0" tIns="0" rIns="0" bIns="0" rtlCol="0" anchor="ctr"/>
          <a:lstStyle/>
          <a:p>
            <a:pPr indent="0" marL="0">
              <a:spcAft>
                <a:spcPts val="400"/>
              </a:spcAft>
              <a:buNone/>
            </a:pPr>
            <a:r>
              <a:rPr lang="en-US" sz="1700" b="1" dirty="0">
                <a:solidFill>
                  <a:schemeClr val="bg1"/>
                </a:solidFill>
              </a:rPr>
              <a:t>Profit before tax: ₹73,000</a:t>
            </a:r>
            <a:endParaRPr lang="en-US" sz="1600" dirty="0"/>
          </a:p>
          <a:p>
            <a:pPr indent="0" marL="0">
              <a:spcAft>
                <a:spcPts val="400"/>
              </a:spcAft>
              <a:buNone/>
            </a:pPr>
            <a:r>
              <a:rPr lang="en-US" sz="1600" dirty="0">
                <a:solidFill>
                  <a:schemeClr val="bg1"/>
                </a:solidFill>
              </a:rPr>
              <a:t>Tax: – ₹13,000</a:t>
            </a:r>
            <a:endParaRPr lang="en-US" sz="1600" dirty="0"/>
          </a:p>
          <a:p>
            <a:pPr indent="0" marL="0">
              <a:spcAft>
                <a:spcPts val="400"/>
              </a:spcAft>
              <a:buNone/>
            </a:pPr>
            <a:r>
              <a:rPr lang="en-US" sz="2200" b="1" dirty="0">
                <a:solidFill>
                  <a:schemeClr val="accent3"/>
                </a:solidFill>
              </a:rPr>
              <a:t>Profit after tax: ₹60,000</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Challenge: Profit Detective</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MATHS IN SST</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The nimbu pani stall</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15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Pairs</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Notebook, calculator (optional)</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Costs: lemons ₹150, sugar ₹70, ice and water ₹50, cups ₹80, banner ₹50.</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You sold </a:t>
            </a:r>
            <a:r>
              <a:rPr lang="en-US" sz="1400" b="1" dirty="0">
                <a:solidFill>
                  <a:schemeClr val="tx1"/>
                </a:solidFill>
              </a:rPr>
              <a:t>100 glasses at ₹10</a:t>
            </a:r>
            <a:r>
              <a:rPr lang="en-US" sz="1400" dirty="0">
                <a:solidFill>
                  <a:schemeClr val="tx1"/>
                </a:solidFill>
              </a:rPr>
              <a:t> each. What is your </a:t>
            </a:r>
            <a:r>
              <a:rPr lang="en-US" sz="1400" b="1" dirty="0">
                <a:solidFill>
                  <a:schemeClr val="tx1"/>
                </a:solidFill>
              </a:rPr>
              <a:t>revenue</a:t>
            </a:r>
            <a:r>
              <a:rPr lang="en-US" sz="1400" dirty="0">
                <a:solidFill>
                  <a:schemeClr val="tx1"/>
                </a:solidFill>
              </a:rPr>
              <a:t>?</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What is your </a:t>
            </a:r>
            <a:r>
              <a:rPr lang="en-US" sz="1400" b="1" dirty="0">
                <a:solidFill>
                  <a:schemeClr val="tx1"/>
                </a:solidFill>
              </a:rPr>
              <a:t>total cost</a:t>
            </a:r>
            <a:r>
              <a:rPr lang="en-US" sz="1400" dirty="0">
                <a:solidFill>
                  <a:schemeClr val="tx1"/>
                </a:solidFill>
              </a:rPr>
              <a:t> and your </a:t>
            </a:r>
            <a:r>
              <a:rPr lang="en-US" sz="1400" b="1" dirty="0">
                <a:solidFill>
                  <a:schemeClr val="tx1"/>
                </a:solidFill>
              </a:rPr>
              <a:t>profit</a:t>
            </a:r>
            <a:r>
              <a:rPr lang="en-US" sz="1400" dirty="0">
                <a:solidFill>
                  <a:schemeClr val="tx1"/>
                </a:solidFill>
              </a:rPr>
              <a:t>?</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Sort the costs into </a:t>
            </a:r>
            <a:r>
              <a:rPr lang="en-US" sz="1400" b="1" dirty="0">
                <a:solidFill>
                  <a:schemeClr val="tx1"/>
                </a:solidFill>
              </a:rPr>
              <a:t>fixed</a:t>
            </a:r>
            <a:r>
              <a:rPr lang="en-US" sz="1400" dirty="0">
                <a:solidFill>
                  <a:schemeClr val="tx1"/>
                </a:solidFill>
              </a:rPr>
              <a:t> and </a:t>
            </a:r>
            <a:r>
              <a:rPr lang="en-US" sz="1400" b="1" dirty="0">
                <a:solidFill>
                  <a:schemeClr val="tx1"/>
                </a:solidFill>
              </a:rPr>
              <a:t>variable</a:t>
            </a:r>
            <a:r>
              <a:rPr lang="en-US" sz="1400" dirty="0">
                <a:solidFill>
                  <a:schemeClr val="tx1"/>
                </a:solidFill>
              </a:rPr>
              <a:t>.</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Suggest </a:t>
            </a:r>
            <a:r>
              <a:rPr lang="en-US" sz="1400" b="1" dirty="0">
                <a:solidFill>
                  <a:schemeClr val="tx1"/>
                </a:solidFill>
              </a:rPr>
              <a:t>two ways</a:t>
            </a:r>
            <a:r>
              <a:rPr lang="en-US" sz="1400" dirty="0">
                <a:solidFill>
                  <a:schemeClr val="tx1"/>
                </a:solidFill>
              </a:rPr>
              <a:t> to increase profit next year.</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Profit = Revenue – Expenses; knowing your costs helps you decide prices.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3</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Entrepreneurship and the Nation</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Traditions of enterprise, today's startups and the dream of Viksit Bharat 2047.</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India's Traditional Entrepreneurs: The Chettiars</a:t>
            </a:r>
            <a:endParaRPr lang="en-US" sz="3600" dirty="0"/>
          </a:p>
        </p:txBody>
      </p:sp>
      <p:sp>
        <p:nvSpPr>
          <p:cNvPr id="3" name="Text 1"/>
          <p:cNvSpPr txBox="1"/>
          <p:nvPr/>
        </p:nvSpPr>
        <p:spPr>
          <a:xfrm>
            <a:off x="548640" y="1280160"/>
            <a:ext cx="11064240" cy="640080"/>
          </a:xfrm>
          <a:prstGeom prst="rect">
            <a:avLst/>
          </a:prstGeom>
          <a:noFill/>
          <a:ln/>
        </p:spPr>
        <p:txBody>
          <a:bodyPr wrap="square" lIns="0" tIns="0" rIns="0" bIns="0" rtlCol="0" anchor="ctr"/>
          <a:lstStyle/>
          <a:p>
            <a:pPr indent="0" marL="0">
              <a:buNone/>
            </a:pPr>
            <a:r>
              <a:rPr lang="en-US" sz="1700" dirty="0">
                <a:solidFill>
                  <a:schemeClr val="tx1"/>
                </a:solidFill>
              </a:rPr>
              <a:t>The </a:t>
            </a:r>
            <a:r>
              <a:rPr lang="en-US" sz="1700" b="1" dirty="0">
                <a:solidFill>
                  <a:schemeClr val="tx1"/>
                </a:solidFill>
              </a:rPr>
              <a:t>Nattukottai Chettiars</a:t>
            </a:r>
            <a:r>
              <a:rPr lang="en-US" sz="1700" dirty="0">
                <a:solidFill>
                  <a:schemeClr val="tx1"/>
                </a:solidFill>
              </a:rPr>
              <a:t> of Tamil Nadu were traders, bankers and moneylenders in India, </a:t>
            </a:r>
            <a:r>
              <a:rPr lang="en-US" sz="1700" b="1" dirty="0">
                <a:solidFill>
                  <a:schemeClr val="tx1"/>
                </a:solidFill>
              </a:rPr>
              <a:t>Sri Lanka, Burma, Malaysia</a:t>
            </a:r>
            <a:r>
              <a:rPr lang="en-US" sz="1700" dirty="0">
                <a:solidFill>
                  <a:schemeClr val="tx1"/>
                </a:solidFill>
              </a:rPr>
              <a:t> and Southeast Asia.</a:t>
            </a:r>
            <a:endParaRPr lang="en-US" sz="1600" dirty="0"/>
          </a:p>
        </p:txBody>
      </p:sp>
      <p:sp>
        <p:nvSpPr>
          <p:cNvPr id="4" name="card 1"/>
          <p:cNvSpPr/>
          <p:nvPr/>
        </p:nvSpPr>
        <p:spPr>
          <a:xfrm>
            <a:off x="548640" y="2057400"/>
            <a:ext cx="3505200" cy="3566160"/>
          </a:xfrm>
          <a:prstGeom prst="roundRect">
            <a:avLst>
              <a:gd name="adj" fmla="val 3130"/>
            </a:avLst>
          </a:prstGeom>
          <a:solidFill>
            <a:schemeClr val="bg2"/>
          </a:solidFill>
          <a:ln w="12700">
            <a:solidFill>
              <a:schemeClr val="bg2"/>
            </a:solidFill>
            <a:prstDash val="solid"/>
          </a:ln>
        </p:spPr>
      </p:sp>
      <p:sp>
        <p:nvSpPr>
          <p:cNvPr id="5" name="card 1 disc"/>
          <p:cNvSpPr/>
          <p:nvPr/>
        </p:nvSpPr>
        <p:spPr>
          <a:xfrm>
            <a:off x="777240" y="2286000"/>
            <a:ext cx="566928" cy="566928"/>
          </a:xfrm>
          <a:prstGeom prst="ellipse">
            <a:avLst/>
          </a:prstGeom>
          <a:solidFill>
            <a:schemeClr val="accent1"/>
          </a:solidFill>
          <a:ln w="12700">
            <a:solidFill>
              <a:schemeClr val="accent1"/>
            </a:solidFill>
            <a:prstDash val="solid"/>
          </a:ln>
        </p:spPr>
      </p:sp>
      <p:pic>
        <p:nvPicPr>
          <p:cNvPr id="6" name="card 1 glyph" descr="preencoded.png">    </p:cNvPr>
          <p:cNvPicPr>
            <a:picLocks noChangeAspect="1"/>
          </p:cNvPicPr>
          <p:nvPr/>
        </p:nvPicPr>
        <p:blipFill>
          <a:blip r:embed="rId1"/>
          <a:stretch>
            <a:fillRect/>
          </a:stretch>
        </p:blipFill>
        <p:spPr>
          <a:xfrm>
            <a:off x="901964" y="2410724"/>
            <a:ext cx="317480" cy="317480"/>
          </a:xfrm>
          <a:prstGeom prst="rect">
            <a:avLst/>
          </a:prstGeom>
        </p:spPr>
      </p:pic>
      <p:sp>
        <p:nvSpPr>
          <p:cNvPr id="7" name="Text 4"/>
          <p:cNvSpPr txBox="1"/>
          <p:nvPr/>
        </p:nvSpPr>
        <p:spPr>
          <a:xfrm>
            <a:off x="1481328" y="22860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Trust and ethics</a:t>
            </a:r>
            <a:endParaRPr lang="en-US" sz="1800" dirty="0"/>
          </a:p>
        </p:txBody>
      </p:sp>
      <p:sp>
        <p:nvSpPr>
          <p:cNvPr id="8" name="Text 5"/>
          <p:cNvSpPr txBox="1"/>
          <p:nvPr/>
        </p:nvSpPr>
        <p:spPr>
          <a:xfrm>
            <a:off x="777240" y="2962656"/>
            <a:ext cx="3048000" cy="2523744"/>
          </a:xfrm>
          <a:prstGeom prst="rect">
            <a:avLst/>
          </a:prstGeom>
          <a:noFill/>
          <a:ln/>
        </p:spPr>
        <p:txBody>
          <a:bodyPr wrap="square" lIns="0" tIns="0" rIns="0" bIns="0" rtlCol="0" anchor="t"/>
          <a:lstStyle/>
          <a:p>
            <a:pPr indent="0" marL="0">
              <a:buNone/>
            </a:pPr>
            <a:r>
              <a:rPr lang="en-US" sz="1800" dirty="0">
                <a:solidFill>
                  <a:schemeClr val="tx1"/>
                </a:solidFill>
              </a:rPr>
              <a:t>Strong business ethics and </a:t>
            </a:r>
            <a:r>
              <a:rPr lang="en-US" sz="1800" b="1" dirty="0">
                <a:solidFill>
                  <a:schemeClr val="tx1"/>
                </a:solidFill>
              </a:rPr>
              <a:t>trust-based lending</a:t>
            </a:r>
            <a:r>
              <a:rPr lang="en-US" sz="1800" dirty="0">
                <a:solidFill>
                  <a:schemeClr val="tx1"/>
                </a:solidFill>
              </a:rPr>
              <a:t>.</a:t>
            </a:r>
            <a:endParaRPr lang="en-US" sz="1600" dirty="0"/>
          </a:p>
        </p:txBody>
      </p:sp>
      <p:sp>
        <p:nvSpPr>
          <p:cNvPr id="9" name="card 2"/>
          <p:cNvSpPr/>
          <p:nvPr/>
        </p:nvSpPr>
        <p:spPr>
          <a:xfrm>
            <a:off x="4328160" y="2057400"/>
            <a:ext cx="3505200" cy="3566160"/>
          </a:xfrm>
          <a:prstGeom prst="roundRect">
            <a:avLst>
              <a:gd name="adj" fmla="val 3130"/>
            </a:avLst>
          </a:prstGeom>
          <a:solidFill>
            <a:schemeClr val="bg2"/>
          </a:solidFill>
          <a:ln w="12700">
            <a:solidFill>
              <a:schemeClr val="bg2"/>
            </a:solidFill>
            <a:prstDash val="solid"/>
          </a:ln>
        </p:spPr>
      </p:sp>
      <p:sp>
        <p:nvSpPr>
          <p:cNvPr id="10" name="card 2 disc"/>
          <p:cNvSpPr/>
          <p:nvPr/>
        </p:nvSpPr>
        <p:spPr>
          <a:xfrm>
            <a:off x="4556760" y="2286000"/>
            <a:ext cx="566928" cy="566928"/>
          </a:xfrm>
          <a:prstGeom prst="ellipse">
            <a:avLst/>
          </a:prstGeom>
          <a:solidFill>
            <a:schemeClr val="accent2"/>
          </a:solidFill>
          <a:ln w="12700">
            <a:solidFill>
              <a:schemeClr val="accent2"/>
            </a:solidFill>
            <a:prstDash val="solid"/>
          </a:ln>
        </p:spPr>
      </p:sp>
      <p:pic>
        <p:nvPicPr>
          <p:cNvPr id="11" name="card 2 glyph" descr="preencoded.png">    </p:cNvPr>
          <p:cNvPicPr>
            <a:picLocks noChangeAspect="1"/>
          </p:cNvPicPr>
          <p:nvPr/>
        </p:nvPicPr>
        <p:blipFill>
          <a:blip r:embed="rId2"/>
          <a:stretch>
            <a:fillRect/>
          </a:stretch>
        </p:blipFill>
        <p:spPr>
          <a:xfrm>
            <a:off x="4681484" y="2410724"/>
            <a:ext cx="317480" cy="317480"/>
          </a:xfrm>
          <a:prstGeom prst="rect">
            <a:avLst/>
          </a:prstGeom>
        </p:spPr>
      </p:pic>
      <p:sp>
        <p:nvSpPr>
          <p:cNvPr id="12" name="Text 8"/>
          <p:cNvSpPr txBox="1"/>
          <p:nvPr/>
        </p:nvSpPr>
        <p:spPr>
          <a:xfrm>
            <a:off x="5260848" y="22860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Record-keeping</a:t>
            </a:r>
            <a:endParaRPr lang="en-US" sz="1800" dirty="0"/>
          </a:p>
        </p:txBody>
      </p:sp>
      <p:sp>
        <p:nvSpPr>
          <p:cNvPr id="13" name="Text 9"/>
          <p:cNvSpPr txBox="1"/>
          <p:nvPr/>
        </p:nvSpPr>
        <p:spPr>
          <a:xfrm>
            <a:off x="4556760" y="2962656"/>
            <a:ext cx="3048000" cy="2523744"/>
          </a:xfrm>
          <a:prstGeom prst="rect">
            <a:avLst/>
          </a:prstGeom>
          <a:noFill/>
          <a:ln/>
        </p:spPr>
        <p:txBody>
          <a:bodyPr wrap="square" lIns="0" tIns="0" rIns="0" bIns="0" rtlCol="0" anchor="t"/>
          <a:lstStyle/>
          <a:p>
            <a:pPr indent="0" marL="0">
              <a:buNone/>
            </a:pPr>
            <a:r>
              <a:rPr lang="en-US" sz="1800" dirty="0">
                <a:solidFill>
                  <a:schemeClr val="tx1"/>
                </a:solidFill>
              </a:rPr>
              <a:t>Excellent accounting and record-keeping skills.</a:t>
            </a:r>
            <a:endParaRPr lang="en-US" sz="1600" dirty="0"/>
          </a:p>
        </p:txBody>
      </p:sp>
      <p:sp>
        <p:nvSpPr>
          <p:cNvPr id="14" name="card 3"/>
          <p:cNvSpPr/>
          <p:nvPr/>
        </p:nvSpPr>
        <p:spPr>
          <a:xfrm>
            <a:off x="8107680" y="2057400"/>
            <a:ext cx="3505200" cy="3566160"/>
          </a:xfrm>
          <a:prstGeom prst="roundRect">
            <a:avLst>
              <a:gd name="adj" fmla="val 3130"/>
            </a:avLst>
          </a:prstGeom>
          <a:solidFill>
            <a:schemeClr val="bg2"/>
          </a:solidFill>
          <a:ln w="12700">
            <a:solidFill>
              <a:schemeClr val="bg2"/>
            </a:solidFill>
            <a:prstDash val="solid"/>
          </a:ln>
        </p:spPr>
      </p:sp>
      <p:sp>
        <p:nvSpPr>
          <p:cNvPr id="15" name="card 3 disc"/>
          <p:cNvSpPr/>
          <p:nvPr/>
        </p:nvSpPr>
        <p:spPr>
          <a:xfrm>
            <a:off x="8336280" y="2286000"/>
            <a:ext cx="566928" cy="566928"/>
          </a:xfrm>
          <a:prstGeom prst="ellipse">
            <a:avLst/>
          </a:prstGeom>
          <a:solidFill>
            <a:schemeClr val="accent4"/>
          </a:solidFill>
          <a:ln w="12700">
            <a:solidFill>
              <a:schemeClr val="accent4"/>
            </a:solidFill>
            <a:prstDash val="solid"/>
          </a:ln>
        </p:spPr>
      </p:sp>
      <p:pic>
        <p:nvPicPr>
          <p:cNvPr id="16" name="card 3 glyph" descr="preencoded.png">    </p:cNvPr>
          <p:cNvPicPr>
            <a:picLocks noChangeAspect="1"/>
          </p:cNvPicPr>
          <p:nvPr/>
        </p:nvPicPr>
        <p:blipFill>
          <a:blip r:embed="rId3"/>
          <a:stretch>
            <a:fillRect/>
          </a:stretch>
        </p:blipFill>
        <p:spPr>
          <a:xfrm>
            <a:off x="8461004" y="2410724"/>
            <a:ext cx="317480" cy="317480"/>
          </a:xfrm>
          <a:prstGeom prst="rect">
            <a:avLst/>
          </a:prstGeom>
        </p:spPr>
      </p:pic>
      <p:sp>
        <p:nvSpPr>
          <p:cNvPr id="17" name="Text 12"/>
          <p:cNvSpPr txBox="1"/>
          <p:nvPr/>
        </p:nvSpPr>
        <p:spPr>
          <a:xfrm>
            <a:off x="9040368" y="22860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Giving back</a:t>
            </a:r>
            <a:endParaRPr lang="en-US" sz="1800" dirty="0"/>
          </a:p>
        </p:txBody>
      </p:sp>
      <p:sp>
        <p:nvSpPr>
          <p:cNvPr id="18" name="Text 13"/>
          <p:cNvSpPr txBox="1"/>
          <p:nvPr/>
        </p:nvSpPr>
        <p:spPr>
          <a:xfrm>
            <a:off x="8336280" y="2962656"/>
            <a:ext cx="3048000" cy="2523744"/>
          </a:xfrm>
          <a:prstGeom prst="rect">
            <a:avLst/>
          </a:prstGeom>
          <a:noFill/>
          <a:ln/>
        </p:spPr>
        <p:txBody>
          <a:bodyPr wrap="square" lIns="0" tIns="0" rIns="0" bIns="0" rtlCol="0" anchor="t"/>
          <a:lstStyle/>
          <a:p>
            <a:pPr indent="0" marL="0">
              <a:buNone/>
            </a:pPr>
            <a:r>
              <a:rPr lang="en-US" sz="1800" dirty="0">
                <a:solidFill>
                  <a:schemeClr val="tx1"/>
                </a:solidFill>
              </a:rPr>
              <a:t>Reinvested profits in trade, temples, education and community welfare.</a:t>
            </a:r>
            <a:endParaRPr lang="en-US" sz="1600" dirty="0"/>
          </a:p>
        </p:txBody>
      </p:sp>
      <p:sp>
        <p:nvSpPr>
          <p:cNvPr id="19"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20" name="Text 15"/>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Let's Explore:</a:t>
            </a:r>
            <a:r>
              <a:rPr lang="en-US" sz="1500" dirty="0">
                <a:solidFill>
                  <a:schemeClr val="bg1"/>
                </a:solidFill>
              </a:rPr>
              <a:t> Find out about other regional communities known for enterprise.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India's Startup Story</a:t>
            </a:r>
            <a:endParaRPr lang="en-US" sz="3600" dirty="0"/>
          </a:p>
        </p:txBody>
      </p:sp>
      <p:sp>
        <p:nvSpPr>
          <p:cNvPr id="3" name="stat 1"/>
          <p:cNvSpPr/>
          <p:nvPr/>
        </p:nvSpPr>
        <p:spPr>
          <a:xfrm>
            <a:off x="548640" y="1463040"/>
            <a:ext cx="3505200" cy="4114800"/>
          </a:xfrm>
          <a:prstGeom prst="roundRect">
            <a:avLst>
              <a:gd name="adj" fmla="val 3130"/>
            </a:avLst>
          </a:prstGeom>
          <a:solidFill>
            <a:schemeClr val="tx2"/>
          </a:solidFill>
          <a:ln w="12700">
            <a:solidFill>
              <a:schemeClr val="tx2"/>
            </a:solidFill>
            <a:prstDash val="solid"/>
          </a:ln>
        </p:spPr>
      </p:sp>
      <p:pic>
        <p:nvPicPr>
          <p:cNvPr id="4" name="stat 1 icon" descr="preencoded.png">    </p:cNvPr>
          <p:cNvPicPr>
            <a:picLocks noChangeAspect="1"/>
          </p:cNvPicPr>
          <p:nvPr/>
        </p:nvPicPr>
        <p:blipFill>
          <a:blip r:embed="rId1"/>
          <a:stretch>
            <a:fillRect/>
          </a:stretch>
        </p:blipFill>
        <p:spPr>
          <a:xfrm>
            <a:off x="822960" y="1737360"/>
            <a:ext cx="548640" cy="548640"/>
          </a:xfrm>
          <a:prstGeom prst="rect">
            <a:avLst/>
          </a:prstGeom>
        </p:spPr>
      </p:pic>
      <p:sp>
        <p:nvSpPr>
          <p:cNvPr id="5" name="Text 2"/>
          <p:cNvSpPr txBox="1"/>
          <p:nvPr/>
        </p:nvSpPr>
        <p:spPr>
          <a:xfrm>
            <a:off x="777240" y="2377440"/>
            <a:ext cx="3048000" cy="100584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3rd</a:t>
            </a:r>
            <a:endParaRPr lang="en-US" sz="4400" dirty="0"/>
          </a:p>
        </p:txBody>
      </p:sp>
      <p:sp>
        <p:nvSpPr>
          <p:cNvPr id="6" name="Text 3"/>
          <p:cNvSpPr txBox="1"/>
          <p:nvPr/>
        </p:nvSpPr>
        <p:spPr>
          <a:xfrm>
            <a:off x="77724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Largest ecosystem</a:t>
            </a:r>
            <a:endParaRPr lang="en-US" sz="1800" dirty="0"/>
          </a:p>
        </p:txBody>
      </p:sp>
      <p:sp>
        <p:nvSpPr>
          <p:cNvPr id="7" name="Text 4"/>
          <p:cNvSpPr txBox="1"/>
          <p:nvPr/>
        </p:nvSpPr>
        <p:spPr>
          <a:xfrm>
            <a:off x="77724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India is the world's third-largest startup ecosystem.</a:t>
            </a:r>
            <a:endParaRPr lang="en-US" sz="1600" dirty="0"/>
          </a:p>
        </p:txBody>
      </p:sp>
      <p:sp>
        <p:nvSpPr>
          <p:cNvPr id="8" name="stat 2"/>
          <p:cNvSpPr/>
          <p:nvPr/>
        </p:nvSpPr>
        <p:spPr>
          <a:xfrm>
            <a:off x="4328160" y="1463040"/>
            <a:ext cx="3505200" cy="4114800"/>
          </a:xfrm>
          <a:prstGeom prst="roundRect">
            <a:avLst>
              <a:gd name="adj" fmla="val 3130"/>
            </a:avLst>
          </a:prstGeom>
          <a:solidFill>
            <a:schemeClr val="accent2"/>
          </a:solidFill>
          <a:ln w="12700">
            <a:solidFill>
              <a:schemeClr val="accent2"/>
            </a:solidFill>
            <a:prstDash val="solid"/>
          </a:ln>
        </p:spPr>
      </p:sp>
      <p:pic>
        <p:nvPicPr>
          <p:cNvPr id="9" name="stat 2 icon" descr="preencoded.png">    </p:cNvPr>
          <p:cNvPicPr>
            <a:picLocks noChangeAspect="1"/>
          </p:cNvPicPr>
          <p:nvPr/>
        </p:nvPicPr>
        <p:blipFill>
          <a:blip r:embed="rId2"/>
          <a:stretch>
            <a:fillRect/>
          </a:stretch>
        </p:blipFill>
        <p:spPr>
          <a:xfrm>
            <a:off x="4602480" y="1737360"/>
            <a:ext cx="548640" cy="548640"/>
          </a:xfrm>
          <a:prstGeom prst="rect">
            <a:avLst/>
          </a:prstGeom>
        </p:spPr>
      </p:pic>
      <p:sp>
        <p:nvSpPr>
          <p:cNvPr id="10" name="Text 6"/>
          <p:cNvSpPr txBox="1"/>
          <p:nvPr/>
        </p:nvSpPr>
        <p:spPr>
          <a:xfrm>
            <a:off x="4556760" y="2377440"/>
            <a:ext cx="3048000" cy="100584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~120</a:t>
            </a:r>
            <a:endParaRPr lang="en-US" sz="4400" dirty="0"/>
          </a:p>
        </p:txBody>
      </p:sp>
      <p:sp>
        <p:nvSpPr>
          <p:cNvPr id="11" name="Text 7"/>
          <p:cNvSpPr txBox="1"/>
          <p:nvPr/>
        </p:nvSpPr>
        <p:spPr>
          <a:xfrm>
            <a:off x="455676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Unicorns in 2025</a:t>
            </a:r>
            <a:endParaRPr lang="en-US" sz="1800" dirty="0"/>
          </a:p>
        </p:txBody>
      </p:sp>
      <p:sp>
        <p:nvSpPr>
          <p:cNvPr id="12" name="Text 8"/>
          <p:cNvSpPr txBox="1"/>
          <p:nvPr/>
        </p:nvSpPr>
        <p:spPr>
          <a:xfrm>
            <a:off x="455676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Startups valued at over </a:t>
            </a:r>
            <a:r>
              <a:rPr lang="en-US" sz="1800" b="1" dirty="0">
                <a:solidFill>
                  <a:schemeClr val="bg1"/>
                </a:solidFill>
              </a:rPr>
              <a:t>1 billion dollars</a:t>
            </a:r>
            <a:r>
              <a:rPr lang="en-US" sz="1800" dirty="0">
                <a:solidFill>
                  <a:schemeClr val="bg1"/>
                </a:solidFill>
              </a:rPr>
              <a:t>.</a:t>
            </a:r>
            <a:endParaRPr lang="en-US" sz="1600" dirty="0"/>
          </a:p>
        </p:txBody>
      </p:sp>
      <p:sp>
        <p:nvSpPr>
          <p:cNvPr id="13" name="stat 3"/>
          <p:cNvSpPr/>
          <p:nvPr/>
        </p:nvSpPr>
        <p:spPr>
          <a:xfrm>
            <a:off x="8107680" y="1463040"/>
            <a:ext cx="3505200" cy="4114800"/>
          </a:xfrm>
          <a:prstGeom prst="roundRect">
            <a:avLst>
              <a:gd name="adj" fmla="val 3130"/>
            </a:avLst>
          </a:prstGeom>
          <a:solidFill>
            <a:schemeClr val="tx2"/>
          </a:solidFill>
          <a:ln w="12700">
            <a:solidFill>
              <a:schemeClr val="tx2"/>
            </a:solidFill>
            <a:prstDash val="solid"/>
          </a:ln>
        </p:spPr>
      </p:sp>
      <p:pic>
        <p:nvPicPr>
          <p:cNvPr id="14" name="stat 3 icon" descr="preencoded.png">    </p:cNvPr>
          <p:cNvPicPr>
            <a:picLocks noChangeAspect="1"/>
          </p:cNvPicPr>
          <p:nvPr/>
        </p:nvPicPr>
        <p:blipFill>
          <a:blip r:embed="rId3"/>
          <a:stretch>
            <a:fillRect/>
          </a:stretch>
        </p:blipFill>
        <p:spPr>
          <a:xfrm>
            <a:off x="8382000" y="1737360"/>
            <a:ext cx="548640" cy="548640"/>
          </a:xfrm>
          <a:prstGeom prst="rect">
            <a:avLst/>
          </a:prstGeom>
        </p:spPr>
      </p:pic>
      <p:sp>
        <p:nvSpPr>
          <p:cNvPr id="15" name="Text 10"/>
          <p:cNvSpPr txBox="1"/>
          <p:nvPr/>
        </p:nvSpPr>
        <p:spPr>
          <a:xfrm>
            <a:off x="8336280" y="2377440"/>
            <a:ext cx="3048000" cy="100584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4 hubs</a:t>
            </a:r>
            <a:endParaRPr lang="en-US" sz="4400" dirty="0"/>
          </a:p>
        </p:txBody>
      </p:sp>
      <p:sp>
        <p:nvSpPr>
          <p:cNvPr id="16" name="Text 11"/>
          <p:cNvSpPr txBox="1"/>
          <p:nvPr/>
        </p:nvSpPr>
        <p:spPr>
          <a:xfrm>
            <a:off x="833628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Startup cities</a:t>
            </a:r>
            <a:endParaRPr lang="en-US" sz="1800" dirty="0"/>
          </a:p>
        </p:txBody>
      </p:sp>
      <p:sp>
        <p:nvSpPr>
          <p:cNvPr id="17" name="Text 12"/>
          <p:cNvSpPr txBox="1"/>
          <p:nvPr/>
        </p:nvSpPr>
        <p:spPr>
          <a:xfrm>
            <a:off x="833628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Bengaluru, Hyderabad, Mumbai and Delhi NCR.</a:t>
            </a:r>
            <a:endParaRPr lang="en-US" sz="1600" dirty="0"/>
          </a:p>
        </p:txBody>
      </p:sp>
      <p:sp>
        <p:nvSpPr>
          <p:cNvPr id="18" name="footnote band"/>
          <p:cNvSpPr/>
          <p:nvPr/>
        </p:nvSpPr>
        <p:spPr>
          <a:xfrm>
            <a:off x="548640" y="5715000"/>
            <a:ext cx="11064240" cy="548640"/>
          </a:xfrm>
          <a:prstGeom prst="roundRect">
            <a:avLst>
              <a:gd name="adj" fmla="val 13333"/>
            </a:avLst>
          </a:prstGeom>
          <a:solidFill>
            <a:schemeClr val="bg2"/>
          </a:solidFill>
          <a:ln w="12700">
            <a:solidFill>
              <a:schemeClr val="bg2"/>
            </a:solidFill>
            <a:prstDash val="solid"/>
          </a:ln>
        </p:spPr>
      </p:sp>
      <p:sp>
        <p:nvSpPr>
          <p:cNvPr id="19" name="Text 14"/>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dirty="0">
                <a:solidFill>
                  <a:schemeClr val="tx2"/>
                </a:solidFill>
              </a:rPr>
              <a:t>Fields: </a:t>
            </a:r>
            <a:r>
              <a:rPr lang="en-US" sz="1500" b="1" dirty="0">
                <a:solidFill>
                  <a:schemeClr val="tx2"/>
                </a:solidFill>
              </a:rPr>
              <a:t>e-commerce, fintech, health-tech, agri-tech</a:t>
            </a:r>
            <a:r>
              <a:rPr lang="en-US" sz="1500" dirty="0">
                <a:solidFill>
                  <a:schemeClr val="tx2"/>
                </a:solidFill>
              </a:rPr>
              <a:t>. </a:t>
            </a:r>
            <a:r>
              <a:rPr lang="en-US" sz="1500" b="1" dirty="0">
                <a:solidFill>
                  <a:schemeClr val="tx2"/>
                </a:solidFill>
              </a:rPr>
              <a:t>Startup India</a:t>
            </a:r>
            <a:r>
              <a:rPr lang="en-US" sz="1500" dirty="0">
                <a:solidFill>
                  <a:schemeClr val="tx2"/>
                </a:solidFill>
              </a:rPr>
              <a:t> supports </a:t>
            </a:r>
            <a:r>
              <a:rPr lang="en-US" sz="1500" b="1" dirty="0">
                <a:solidFill>
                  <a:schemeClr val="tx2"/>
                </a:solidFill>
              </a:rPr>
              <a:t>Atmanirbhar Bharat</a:t>
            </a:r>
            <a:r>
              <a:rPr lang="en-US" sz="1500" dirty="0">
                <a:solidFill>
                  <a:schemeClr val="tx2"/>
                </a:solidFill>
              </a:rPr>
              <a:t> on the road to </a:t>
            </a:r>
            <a:r>
              <a:rPr lang="en-US" sz="1500" b="1" dirty="0">
                <a:solidFill>
                  <a:schemeClr val="tx2"/>
                </a:solidFill>
              </a:rPr>
              <a:t>Viksit Bharat 2047</a:t>
            </a:r>
            <a:r>
              <a:rPr lang="en-US" sz="1500" dirty="0">
                <a:solidFill>
                  <a:schemeClr val="tx2"/>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How Businesses Contribute</a:t>
            </a:r>
            <a:endParaRPr lang="en-US" sz="3600" dirty="0"/>
          </a:p>
        </p:txBody>
      </p:sp>
      <p:sp>
        <p:nvSpPr>
          <p:cNvPr id="3" name="spoke 1"/>
          <p:cNvSpPr/>
          <p:nvPr/>
        </p:nvSpPr>
        <p:spPr>
          <a:xfrm>
            <a:off x="6099048" y="1984248"/>
            <a:ext cx="914" cy="1828800"/>
          </a:xfrm>
          <a:prstGeom prst="line">
            <a:avLst/>
          </a:prstGeom>
          <a:noFill/>
          <a:ln w="25400">
            <a:solidFill>
              <a:schemeClr val="accent3"/>
            </a:solidFill>
            <a:prstDash val="solid"/>
          </a:ln>
        </p:spPr>
      </p:sp>
      <p:sp>
        <p:nvSpPr>
          <p:cNvPr id="4" name="spoke 2"/>
          <p:cNvSpPr/>
          <p:nvPr/>
        </p:nvSpPr>
        <p:spPr>
          <a:xfrm flipV="1">
            <a:off x="6099048" y="2898648"/>
            <a:ext cx="3405143" cy="914400"/>
          </a:xfrm>
          <a:prstGeom prst="line">
            <a:avLst/>
          </a:prstGeom>
          <a:noFill/>
          <a:ln w="25400">
            <a:solidFill>
              <a:schemeClr val="accent3"/>
            </a:solidFill>
            <a:prstDash val="solid"/>
          </a:ln>
        </p:spPr>
      </p:sp>
      <p:sp>
        <p:nvSpPr>
          <p:cNvPr id="5" name="spoke 3"/>
          <p:cNvSpPr/>
          <p:nvPr/>
        </p:nvSpPr>
        <p:spPr>
          <a:xfrm>
            <a:off x="6099048" y="3813048"/>
            <a:ext cx="3405143" cy="914400"/>
          </a:xfrm>
          <a:prstGeom prst="line">
            <a:avLst/>
          </a:prstGeom>
          <a:noFill/>
          <a:ln w="25400">
            <a:solidFill>
              <a:schemeClr val="accent3"/>
            </a:solidFill>
            <a:prstDash val="solid"/>
          </a:ln>
        </p:spPr>
      </p:sp>
      <p:sp>
        <p:nvSpPr>
          <p:cNvPr id="6" name="spoke 4"/>
          <p:cNvSpPr/>
          <p:nvPr/>
        </p:nvSpPr>
        <p:spPr>
          <a:xfrm flipV="1">
            <a:off x="6099048" y="3813048"/>
            <a:ext cx="914" cy="1828800"/>
          </a:xfrm>
          <a:prstGeom prst="line">
            <a:avLst/>
          </a:prstGeom>
          <a:noFill/>
          <a:ln w="25400">
            <a:solidFill>
              <a:schemeClr val="accent3"/>
            </a:solidFill>
            <a:prstDash val="solid"/>
          </a:ln>
        </p:spPr>
      </p:sp>
      <p:sp>
        <p:nvSpPr>
          <p:cNvPr id="7" name="spoke 5"/>
          <p:cNvSpPr/>
          <p:nvPr/>
        </p:nvSpPr>
        <p:spPr>
          <a:xfrm flipV="1">
            <a:off x="2693905" y="3813048"/>
            <a:ext cx="3405143" cy="914400"/>
          </a:xfrm>
          <a:prstGeom prst="line">
            <a:avLst/>
          </a:prstGeom>
          <a:noFill/>
          <a:ln w="25400">
            <a:solidFill>
              <a:schemeClr val="accent3"/>
            </a:solidFill>
            <a:prstDash val="solid"/>
          </a:ln>
        </p:spPr>
      </p:sp>
      <p:sp>
        <p:nvSpPr>
          <p:cNvPr id="8" name="spoke 6"/>
          <p:cNvSpPr/>
          <p:nvPr/>
        </p:nvSpPr>
        <p:spPr>
          <a:xfrm>
            <a:off x="2693905" y="2898648"/>
            <a:ext cx="3405143" cy="914400"/>
          </a:xfrm>
          <a:prstGeom prst="line">
            <a:avLst/>
          </a:prstGeom>
          <a:noFill/>
          <a:ln w="25400">
            <a:solidFill>
              <a:schemeClr val="accent3"/>
            </a:solidFill>
            <a:prstDash val="solid"/>
          </a:ln>
        </p:spPr>
      </p:sp>
      <p:sp>
        <p:nvSpPr>
          <p:cNvPr id="9" name="wheel centre"/>
          <p:cNvSpPr/>
          <p:nvPr/>
        </p:nvSpPr>
        <p:spPr>
          <a:xfrm>
            <a:off x="5093208" y="2958084"/>
            <a:ext cx="2011680" cy="1709928"/>
          </a:xfrm>
          <a:prstGeom prst="ellipse">
            <a:avLst/>
          </a:prstGeom>
          <a:solidFill>
            <a:schemeClr val="tx2"/>
          </a:solidFill>
          <a:ln w="38100">
            <a:solidFill>
              <a:schemeClr val="bg1"/>
            </a:solidFill>
            <a:prstDash val="solid"/>
          </a:ln>
        </p:spPr>
      </p:sp>
      <p:sp>
        <p:nvSpPr>
          <p:cNvPr id="10" name="Text 8"/>
          <p:cNvSpPr txBox="1"/>
          <p:nvPr/>
        </p:nvSpPr>
        <p:spPr>
          <a:xfrm>
            <a:off x="5184648" y="2958084"/>
            <a:ext cx="1828800" cy="170992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Businesses and Society</a:t>
            </a:r>
            <a:endParaRPr lang="en-US" sz="1500" dirty="0"/>
          </a:p>
        </p:txBody>
      </p:sp>
      <p:sp>
        <p:nvSpPr>
          <p:cNvPr id="11" name="node 1"/>
          <p:cNvSpPr/>
          <p:nvPr/>
        </p:nvSpPr>
        <p:spPr>
          <a:xfrm>
            <a:off x="4453128" y="1367028"/>
            <a:ext cx="3291840" cy="1234440"/>
          </a:xfrm>
          <a:prstGeom prst="roundRect">
            <a:avLst>
              <a:gd name="adj" fmla="val 8889"/>
            </a:avLst>
          </a:prstGeom>
          <a:solidFill>
            <a:schemeClr val="bg2"/>
          </a:solidFill>
          <a:ln w="12700">
            <a:solidFill>
              <a:schemeClr val="bg2"/>
            </a:solidFill>
            <a:prstDash val="solid"/>
          </a:ln>
        </p:spPr>
      </p:sp>
      <p:sp>
        <p:nvSpPr>
          <p:cNvPr id="12" name="Text 10"/>
          <p:cNvSpPr txBox="1"/>
          <p:nvPr/>
        </p:nvSpPr>
        <p:spPr>
          <a:xfrm>
            <a:off x="4617720" y="1440180"/>
            <a:ext cx="3017520" cy="1106424"/>
          </a:xfrm>
          <a:prstGeom prst="rect">
            <a:avLst/>
          </a:prstGeom>
          <a:noFill/>
          <a:ln/>
        </p:spPr>
        <p:txBody>
          <a:bodyPr wrap="square" lIns="0" tIns="0" rIns="0" bIns="0" rtlCol="0" anchor="ctr"/>
          <a:lstStyle/>
          <a:p>
            <a:pPr indent="0" marL="0">
              <a:buNone/>
            </a:pPr>
            <a:r>
              <a:rPr lang="en-US" sz="1600" b="1" dirty="0">
                <a:solidFill>
                  <a:schemeClr val="accent1"/>
                </a:solidFill>
              </a:rPr>
              <a:t>Better quality of life</a:t>
            </a:r>
            <a:endParaRPr lang="en-US" sz="1600" dirty="0"/>
          </a:p>
          <a:p>
            <a:pPr indent="0" marL="0">
              <a:buNone/>
            </a:pPr>
            <a:r>
              <a:rPr lang="en-US" sz="1600" dirty="0">
                <a:solidFill>
                  <a:schemeClr val="tx1"/>
                </a:solidFill>
              </a:rPr>
              <a:t>Medicines, transport, technology, innovations</a:t>
            </a:r>
            <a:endParaRPr lang="en-US" sz="1600" dirty="0"/>
          </a:p>
        </p:txBody>
      </p:sp>
      <p:sp>
        <p:nvSpPr>
          <p:cNvPr id="13" name="node 2"/>
          <p:cNvSpPr/>
          <p:nvPr/>
        </p:nvSpPr>
        <p:spPr>
          <a:xfrm>
            <a:off x="7858271" y="2281428"/>
            <a:ext cx="3291840" cy="1234440"/>
          </a:xfrm>
          <a:prstGeom prst="roundRect">
            <a:avLst>
              <a:gd name="adj" fmla="val 8889"/>
            </a:avLst>
          </a:prstGeom>
          <a:solidFill>
            <a:schemeClr val="bg2"/>
          </a:solidFill>
          <a:ln w="12700">
            <a:solidFill>
              <a:schemeClr val="bg2"/>
            </a:solidFill>
            <a:prstDash val="solid"/>
          </a:ln>
        </p:spPr>
      </p:sp>
      <p:sp>
        <p:nvSpPr>
          <p:cNvPr id="14" name="Text 12"/>
          <p:cNvSpPr txBox="1"/>
          <p:nvPr/>
        </p:nvSpPr>
        <p:spPr>
          <a:xfrm>
            <a:off x="8022863" y="2354580"/>
            <a:ext cx="3017520" cy="1106424"/>
          </a:xfrm>
          <a:prstGeom prst="rect">
            <a:avLst/>
          </a:prstGeom>
          <a:noFill/>
          <a:ln/>
        </p:spPr>
        <p:txBody>
          <a:bodyPr wrap="square" lIns="0" tIns="0" rIns="0" bIns="0" rtlCol="0" anchor="ctr"/>
          <a:lstStyle/>
          <a:p>
            <a:pPr indent="0" marL="0">
              <a:buNone/>
            </a:pPr>
            <a:r>
              <a:rPr lang="en-US" sz="1600" b="1" dirty="0">
                <a:solidFill>
                  <a:schemeClr val="accent2"/>
                </a:solidFill>
              </a:rPr>
              <a:t>Jobs and income</a:t>
            </a:r>
            <a:endParaRPr lang="en-US" sz="1600" dirty="0"/>
          </a:p>
          <a:p>
            <a:pPr indent="0" marL="0">
              <a:buNone/>
            </a:pPr>
            <a:r>
              <a:rPr lang="en-US" sz="1600" dirty="0">
                <a:solidFill>
                  <a:schemeClr val="tx1"/>
                </a:solidFill>
              </a:rPr>
              <a:t>Employment for households</a:t>
            </a:r>
            <a:endParaRPr lang="en-US" sz="1600" dirty="0"/>
          </a:p>
        </p:txBody>
      </p:sp>
      <p:sp>
        <p:nvSpPr>
          <p:cNvPr id="15" name="node 3"/>
          <p:cNvSpPr/>
          <p:nvPr/>
        </p:nvSpPr>
        <p:spPr>
          <a:xfrm>
            <a:off x="7858271" y="4110228"/>
            <a:ext cx="3291840" cy="1234440"/>
          </a:xfrm>
          <a:prstGeom prst="roundRect">
            <a:avLst>
              <a:gd name="adj" fmla="val 8889"/>
            </a:avLst>
          </a:prstGeom>
          <a:solidFill>
            <a:schemeClr val="bg2"/>
          </a:solidFill>
          <a:ln w="12700">
            <a:solidFill>
              <a:schemeClr val="bg2"/>
            </a:solidFill>
            <a:prstDash val="solid"/>
          </a:ln>
        </p:spPr>
      </p:sp>
      <p:sp>
        <p:nvSpPr>
          <p:cNvPr id="16" name="Text 14"/>
          <p:cNvSpPr txBox="1"/>
          <p:nvPr/>
        </p:nvSpPr>
        <p:spPr>
          <a:xfrm>
            <a:off x="8022863" y="4183380"/>
            <a:ext cx="3017520" cy="1106424"/>
          </a:xfrm>
          <a:prstGeom prst="rect">
            <a:avLst/>
          </a:prstGeom>
          <a:noFill/>
          <a:ln/>
        </p:spPr>
        <p:txBody>
          <a:bodyPr wrap="square" lIns="0" tIns="0" rIns="0" bIns="0" rtlCol="0" anchor="ctr"/>
          <a:lstStyle/>
          <a:p>
            <a:pPr indent="0" marL="0">
              <a:buNone/>
            </a:pPr>
            <a:r>
              <a:rPr lang="en-US" sz="1600" b="1" dirty="0">
                <a:solidFill>
                  <a:schemeClr val="accent4"/>
                </a:solidFill>
              </a:rPr>
              <a:t>Paying taxes</a:t>
            </a:r>
            <a:endParaRPr lang="en-US" sz="1600" dirty="0"/>
          </a:p>
          <a:p>
            <a:pPr indent="0" marL="0">
              <a:buNone/>
            </a:pPr>
            <a:r>
              <a:rPr lang="en-US" sz="1600" dirty="0">
                <a:solidFill>
                  <a:schemeClr val="tx1"/>
                </a:solidFill>
              </a:rPr>
              <a:t>Funds roads, schools and hospitals</a:t>
            </a:r>
            <a:endParaRPr lang="en-US" sz="1600" dirty="0"/>
          </a:p>
        </p:txBody>
      </p:sp>
      <p:sp>
        <p:nvSpPr>
          <p:cNvPr id="17" name="node 4"/>
          <p:cNvSpPr/>
          <p:nvPr/>
        </p:nvSpPr>
        <p:spPr>
          <a:xfrm>
            <a:off x="4453128" y="5024628"/>
            <a:ext cx="3291840" cy="1234440"/>
          </a:xfrm>
          <a:prstGeom prst="roundRect">
            <a:avLst>
              <a:gd name="adj" fmla="val 8889"/>
            </a:avLst>
          </a:prstGeom>
          <a:solidFill>
            <a:schemeClr val="bg2"/>
          </a:solidFill>
          <a:ln w="12700">
            <a:solidFill>
              <a:schemeClr val="bg2"/>
            </a:solidFill>
            <a:prstDash val="solid"/>
          </a:ln>
        </p:spPr>
      </p:sp>
      <p:sp>
        <p:nvSpPr>
          <p:cNvPr id="18" name="Text 16"/>
          <p:cNvSpPr txBox="1"/>
          <p:nvPr/>
        </p:nvSpPr>
        <p:spPr>
          <a:xfrm>
            <a:off x="4617720" y="5097780"/>
            <a:ext cx="3017520" cy="1106424"/>
          </a:xfrm>
          <a:prstGeom prst="rect">
            <a:avLst/>
          </a:prstGeom>
          <a:noFill/>
          <a:ln/>
        </p:spPr>
        <p:txBody>
          <a:bodyPr wrap="square" lIns="0" tIns="0" rIns="0" bIns="0" rtlCol="0" anchor="ctr"/>
          <a:lstStyle/>
          <a:p>
            <a:pPr indent="0" marL="0">
              <a:buNone/>
            </a:pPr>
            <a:r>
              <a:rPr lang="en-US" sz="1600" b="1" dirty="0">
                <a:solidFill>
                  <a:schemeClr val="accent5"/>
                </a:solidFill>
              </a:rPr>
              <a:t>Goods and services</a:t>
            </a:r>
            <a:endParaRPr lang="en-US" sz="1600" dirty="0"/>
          </a:p>
          <a:p>
            <a:pPr indent="0" marL="0">
              <a:buNone/>
            </a:pPr>
            <a:r>
              <a:rPr lang="en-US" sz="1600" dirty="0">
                <a:solidFill>
                  <a:schemeClr val="tx1"/>
                </a:solidFill>
              </a:rPr>
              <a:t>Boosts economic activity</a:t>
            </a:r>
            <a:endParaRPr lang="en-US" sz="1600" dirty="0"/>
          </a:p>
        </p:txBody>
      </p:sp>
      <p:sp>
        <p:nvSpPr>
          <p:cNvPr id="19" name="node 5"/>
          <p:cNvSpPr/>
          <p:nvPr/>
        </p:nvSpPr>
        <p:spPr>
          <a:xfrm>
            <a:off x="1047985" y="4110228"/>
            <a:ext cx="3291840" cy="1234440"/>
          </a:xfrm>
          <a:prstGeom prst="roundRect">
            <a:avLst>
              <a:gd name="adj" fmla="val 8889"/>
            </a:avLst>
          </a:prstGeom>
          <a:solidFill>
            <a:schemeClr val="bg2"/>
          </a:solidFill>
          <a:ln w="12700">
            <a:solidFill>
              <a:schemeClr val="bg2"/>
            </a:solidFill>
            <a:prstDash val="solid"/>
          </a:ln>
        </p:spPr>
      </p:sp>
      <p:sp>
        <p:nvSpPr>
          <p:cNvPr id="20" name="Text 18"/>
          <p:cNvSpPr txBox="1"/>
          <p:nvPr/>
        </p:nvSpPr>
        <p:spPr>
          <a:xfrm>
            <a:off x="1212577" y="4183380"/>
            <a:ext cx="3017520" cy="1106424"/>
          </a:xfrm>
          <a:prstGeom prst="rect">
            <a:avLst/>
          </a:prstGeom>
          <a:noFill/>
          <a:ln/>
        </p:spPr>
        <p:txBody>
          <a:bodyPr wrap="square" lIns="0" tIns="0" rIns="0" bIns="0" rtlCol="0" anchor="ctr"/>
          <a:lstStyle/>
          <a:p>
            <a:pPr indent="0" marL="0">
              <a:buNone/>
            </a:pPr>
            <a:r>
              <a:rPr lang="en-US" sz="1600" b="1" dirty="0">
                <a:solidFill>
                  <a:schemeClr val="accent6"/>
                </a:solidFill>
              </a:rPr>
              <a:t>Innovation</a:t>
            </a:r>
            <a:endParaRPr lang="en-US" sz="1600" dirty="0"/>
          </a:p>
          <a:p>
            <a:pPr indent="0" marL="0">
              <a:buNone/>
            </a:pPr>
            <a:r>
              <a:rPr lang="en-US" sz="1600" dirty="0">
                <a:solidFill>
                  <a:schemeClr val="tx1"/>
                </a:solidFill>
              </a:rPr>
              <a:t>Drives growth and offers solutions</a:t>
            </a:r>
            <a:endParaRPr lang="en-US" sz="1600" dirty="0"/>
          </a:p>
        </p:txBody>
      </p:sp>
      <p:sp>
        <p:nvSpPr>
          <p:cNvPr id="21" name="node 6"/>
          <p:cNvSpPr/>
          <p:nvPr/>
        </p:nvSpPr>
        <p:spPr>
          <a:xfrm>
            <a:off x="1047985" y="2281428"/>
            <a:ext cx="3291840" cy="1234440"/>
          </a:xfrm>
          <a:prstGeom prst="roundRect">
            <a:avLst>
              <a:gd name="adj" fmla="val 8889"/>
            </a:avLst>
          </a:prstGeom>
          <a:solidFill>
            <a:schemeClr val="bg2"/>
          </a:solidFill>
          <a:ln w="12700">
            <a:solidFill>
              <a:schemeClr val="bg2"/>
            </a:solidFill>
            <a:prstDash val="solid"/>
          </a:ln>
        </p:spPr>
      </p:sp>
      <p:sp>
        <p:nvSpPr>
          <p:cNvPr id="22" name="Text 20"/>
          <p:cNvSpPr txBox="1"/>
          <p:nvPr/>
        </p:nvSpPr>
        <p:spPr>
          <a:xfrm>
            <a:off x="1212577" y="2354580"/>
            <a:ext cx="3017520" cy="1106424"/>
          </a:xfrm>
          <a:prstGeom prst="rect">
            <a:avLst/>
          </a:prstGeom>
          <a:noFill/>
          <a:ln/>
        </p:spPr>
        <p:txBody>
          <a:bodyPr wrap="square" lIns="0" tIns="0" rIns="0" bIns="0" rtlCol="0" anchor="ctr"/>
          <a:lstStyle/>
          <a:p>
            <a:pPr indent="0" marL="0">
              <a:buNone/>
            </a:pPr>
            <a:r>
              <a:rPr lang="en-US" sz="1600" b="1" dirty="0">
                <a:solidFill>
                  <a:schemeClr val="accent1"/>
                </a:solidFill>
              </a:rPr>
              <a:t>CSR</a:t>
            </a:r>
            <a:endParaRPr lang="en-US" sz="1600" dirty="0"/>
          </a:p>
          <a:p>
            <a:pPr indent="0" marL="0">
              <a:buNone/>
            </a:pPr>
            <a:r>
              <a:rPr lang="en-US" sz="1600" dirty="0">
                <a:solidFill>
                  <a:schemeClr val="tx1"/>
                </a:solidFill>
              </a:rPr>
              <a:t>Corporate social responsibility: education, environment, health</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Failure Is a Teacher</a:t>
            </a:r>
            <a:endParaRPr lang="en-US" sz="3600" dirty="0"/>
          </a:p>
        </p:txBody>
      </p:sp>
      <p:sp>
        <p:nvSpPr>
          <p:cNvPr id="3" name="source card"/>
          <p:cNvSpPr/>
          <p:nvPr/>
        </p:nvSpPr>
        <p:spPr>
          <a:xfrm>
            <a:off x="548640" y="1371600"/>
            <a:ext cx="6309360" cy="4846320"/>
          </a:xfrm>
          <a:prstGeom prst="roundRect">
            <a:avLst>
              <a:gd name="adj" fmla="val 2264"/>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4" name="source icon" descr="preencoded.png">    </p:cNvPr>
          <p:cNvPicPr>
            <a:picLocks noChangeAspect="1"/>
          </p:cNvPicPr>
          <p:nvPr/>
        </p:nvPicPr>
        <p:blipFill>
          <a:blip r:embed="rId1"/>
          <a:stretch>
            <a:fillRect/>
          </a:stretch>
        </p:blipFill>
        <p:spPr>
          <a:xfrm>
            <a:off x="868680" y="1645920"/>
            <a:ext cx="502920" cy="502920"/>
          </a:xfrm>
          <a:prstGeom prst="rect">
            <a:avLst/>
          </a:prstGeom>
        </p:spPr>
      </p:pic>
      <p:sp>
        <p:nvSpPr>
          <p:cNvPr id="5" name="Text 2"/>
          <p:cNvSpPr txBox="1"/>
          <p:nvPr/>
        </p:nvSpPr>
        <p:spPr>
          <a:xfrm>
            <a:off x="1508760" y="1645920"/>
            <a:ext cx="5029200" cy="502920"/>
          </a:xfrm>
          <a:prstGeom prst="rect">
            <a:avLst/>
          </a:prstGeom>
          <a:noFill/>
          <a:ln/>
        </p:spPr>
        <p:txBody>
          <a:bodyPr wrap="square" lIns="0" tIns="0" rIns="0" bIns="0" rtlCol="0" anchor="ctr"/>
          <a:lstStyle/>
          <a:p>
            <a:pPr indent="0" marL="0">
              <a:buNone/>
            </a:pPr>
            <a:r>
              <a:rPr lang="en-US" sz="1400" b="1" spc="200" kern="0" dirty="0">
                <a:solidFill>
                  <a:schemeClr val="accent3"/>
                </a:solidFill>
              </a:rPr>
              <a:t>THINK ABOUT IT</a:t>
            </a:r>
            <a:endParaRPr lang="en-US" sz="1400" dirty="0"/>
          </a:p>
        </p:txBody>
      </p:sp>
      <p:sp>
        <p:nvSpPr>
          <p:cNvPr id="6" name="Text 3"/>
          <p:cNvSpPr txBox="1"/>
          <p:nvPr/>
        </p:nvSpPr>
        <p:spPr>
          <a:xfrm>
            <a:off x="868680" y="2331720"/>
            <a:ext cx="5669280" cy="3246120"/>
          </a:xfrm>
          <a:prstGeom prst="rect">
            <a:avLst/>
          </a:prstGeom>
          <a:noFill/>
          <a:ln/>
        </p:spPr>
        <p:txBody>
          <a:bodyPr wrap="square" lIns="0" tIns="0" rIns="0" bIns="0" rtlCol="0" anchor="t"/>
          <a:lstStyle/>
          <a:p>
            <a:pPr indent="0" marL="0">
              <a:buNone/>
            </a:pPr>
            <a:r>
              <a:rPr lang="en-US" sz="2200" i="1" dirty="0">
                <a:solidFill>
                  <a:schemeClr val="bg1"/>
                </a:solidFill>
                <a:latin typeface="Cambria" pitchFamily="34" charset="0"/>
                <a:ea typeface="Cambria" pitchFamily="34" charset="-122"/>
                <a:cs typeface="Cambria" pitchFamily="34" charset="-120"/>
              </a:rPr>
              <a:t>"Arise, awake and stop not till the goal is reached."</a:t>
            </a:r>
            <a:endParaRPr lang="en-US" sz="2200" dirty="0"/>
          </a:p>
          <a:p>
            <a:pPr indent="0" marL="0">
              <a:buNone/>
            </a:pPr>
            <a:endParaRPr lang="en-US" sz="2200" dirty="0"/>
          </a:p>
          <a:p>
            <a:pPr indent="0" marL="0">
              <a:buNone/>
            </a:pPr>
            <a:r>
              <a:rPr lang="en-US" sz="2200" i="1" dirty="0">
                <a:solidFill>
                  <a:schemeClr val="bg1"/>
                </a:solidFill>
                <a:latin typeface="Cambria" pitchFamily="34" charset="0"/>
                <a:ea typeface="Cambria" pitchFamily="34" charset="-122"/>
                <a:cs typeface="Cambria" pitchFamily="34" charset="-120"/>
              </a:rPr>
              <a:t>Some startups grow fast, others struggle or close. There is nothing wrong with failure if an honest effort has been made: every attempt teaches lessons for a better business.</a:t>
            </a:r>
            <a:endParaRPr lang="en-US" sz="2200" dirty="0"/>
          </a:p>
        </p:txBody>
      </p:sp>
      <p:sp>
        <p:nvSpPr>
          <p:cNvPr id="7" name="Text 4"/>
          <p:cNvSpPr txBox="1"/>
          <p:nvPr/>
        </p:nvSpPr>
        <p:spPr>
          <a:xfrm>
            <a:off x="868680" y="5623560"/>
            <a:ext cx="5669280" cy="457200"/>
          </a:xfrm>
          <a:prstGeom prst="rect">
            <a:avLst/>
          </a:prstGeom>
          <a:noFill/>
          <a:ln/>
        </p:spPr>
        <p:txBody>
          <a:bodyPr wrap="square" lIns="0" tIns="0" rIns="0" bIns="0" rtlCol="0" anchor="b"/>
          <a:lstStyle/>
          <a:p>
            <a:pPr indent="0" marL="0">
              <a:buNone/>
            </a:pPr>
            <a:r>
              <a:rPr lang="en-US" sz="1200" dirty="0">
                <a:solidFill>
                  <a:schemeClr val="bg2"/>
                </a:solidFill>
              </a:rPr>
              <a:t>Swami Vivekananda; and the textbook on startups</a:t>
            </a:r>
            <a:endParaRPr lang="en-US" sz="1200" dirty="0"/>
          </a:p>
        </p:txBody>
      </p:sp>
      <p:sp>
        <p:nvSpPr>
          <p:cNvPr id="8" name="tasks card"/>
          <p:cNvSpPr/>
          <p:nvPr/>
        </p:nvSpPr>
        <p:spPr>
          <a:xfrm>
            <a:off x="7132320" y="1371600"/>
            <a:ext cx="4480560" cy="4846320"/>
          </a:xfrm>
          <a:prstGeom prst="roundRect">
            <a:avLst>
              <a:gd name="adj" fmla="val 2449"/>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Text 6"/>
          <p:cNvSpPr txBox="1"/>
          <p:nvPr/>
        </p:nvSpPr>
        <p:spPr>
          <a:xfrm>
            <a:off x="7406640" y="1600200"/>
            <a:ext cx="3931920" cy="457200"/>
          </a:xfrm>
          <a:prstGeom prst="rect">
            <a:avLst/>
          </a:prstGeom>
          <a:noFill/>
          <a:ln/>
        </p:spPr>
        <p:txBody>
          <a:bodyPr wrap="square" lIns="0" tIns="0" rIns="0" bIns="0" rtlCol="0" anchor="ctr"/>
          <a:lstStyle/>
          <a:p>
            <a:pPr indent="0" marL="0">
              <a:buNone/>
            </a:pPr>
            <a:r>
              <a:rPr lang="en-US" sz="2000" b="1" dirty="0">
                <a:solidFill>
                  <a:schemeClr val="accent1"/>
                </a:solidFill>
              </a:rPr>
              <a:t>Your task</a:t>
            </a:r>
            <a:endParaRPr lang="en-US" sz="2000" dirty="0"/>
          </a:p>
        </p:txBody>
      </p:sp>
      <p:sp>
        <p:nvSpPr>
          <p:cNvPr id="10" name="task 1 badge"/>
          <p:cNvSpPr/>
          <p:nvPr/>
        </p:nvSpPr>
        <p:spPr>
          <a:xfrm>
            <a:off x="7406640" y="2212848"/>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740664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9"/>
          <p:cNvSpPr txBox="1"/>
          <p:nvPr/>
        </p:nvSpPr>
        <p:spPr>
          <a:xfrm>
            <a:off x="7955280" y="2194560"/>
            <a:ext cx="3474720" cy="1115568"/>
          </a:xfrm>
          <a:prstGeom prst="rect">
            <a:avLst/>
          </a:prstGeom>
          <a:noFill/>
          <a:ln/>
        </p:spPr>
        <p:txBody>
          <a:bodyPr wrap="square" lIns="0" tIns="0" rIns="0" bIns="0" rtlCol="0" anchor="t"/>
          <a:lstStyle/>
          <a:p>
            <a:pPr indent="0" marL="0">
              <a:buNone/>
            </a:pPr>
            <a:r>
              <a:rPr lang="en-US" sz="1600" dirty="0">
                <a:solidFill>
                  <a:schemeClr val="tx1"/>
                </a:solidFill>
              </a:rPr>
              <a:t>Why is failure </a:t>
            </a:r>
            <a:r>
              <a:rPr lang="en-US" sz="1600" b="1" dirty="0">
                <a:solidFill>
                  <a:schemeClr val="tx1"/>
                </a:solidFill>
              </a:rPr>
              <a:t>not the end</a:t>
            </a:r>
            <a:r>
              <a:rPr lang="en-US" sz="1600" dirty="0">
                <a:solidFill>
                  <a:schemeClr val="tx1"/>
                </a:solidFill>
              </a:rPr>
              <a:t> for an entrepreneur?</a:t>
            </a:r>
            <a:endParaRPr lang="en-US" sz="1600" dirty="0"/>
          </a:p>
        </p:txBody>
      </p:sp>
      <p:sp>
        <p:nvSpPr>
          <p:cNvPr id="13" name="task 2 badge"/>
          <p:cNvSpPr/>
          <p:nvPr/>
        </p:nvSpPr>
        <p:spPr>
          <a:xfrm>
            <a:off x="7406640" y="3401568"/>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7406640" y="34015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7955280" y="3383280"/>
            <a:ext cx="3474720" cy="1115568"/>
          </a:xfrm>
          <a:prstGeom prst="rect">
            <a:avLst/>
          </a:prstGeom>
          <a:noFill/>
          <a:ln/>
        </p:spPr>
        <p:txBody>
          <a:bodyPr wrap="square" lIns="0" tIns="0" rIns="0" bIns="0" rtlCol="0" anchor="t"/>
          <a:lstStyle/>
          <a:p>
            <a:pPr indent="0" marL="0">
              <a:buNone/>
            </a:pPr>
            <a:r>
              <a:rPr lang="en-US" sz="1600" dirty="0">
                <a:solidFill>
                  <a:schemeClr val="tx1"/>
                </a:solidFill>
              </a:rPr>
              <a:t>Share a time you </a:t>
            </a:r>
            <a:r>
              <a:rPr lang="en-US" sz="1600" b="1" dirty="0">
                <a:solidFill>
                  <a:schemeClr val="tx1"/>
                </a:solidFill>
              </a:rPr>
              <a:t>learnt from a mistake</a:t>
            </a:r>
            <a:r>
              <a:rPr lang="en-US" sz="1600" dirty="0">
                <a:solidFill>
                  <a:schemeClr val="tx1"/>
                </a:solidFill>
              </a:rPr>
              <a:t>.</a:t>
            </a:r>
            <a:endParaRPr lang="en-US" sz="1600" dirty="0"/>
          </a:p>
        </p:txBody>
      </p:sp>
      <p:sp>
        <p:nvSpPr>
          <p:cNvPr id="16" name="task 3 badge"/>
          <p:cNvSpPr/>
          <p:nvPr/>
        </p:nvSpPr>
        <p:spPr>
          <a:xfrm>
            <a:off x="7406640" y="4590288"/>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7406640" y="45902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7955280" y="4572000"/>
            <a:ext cx="3474720" cy="1115568"/>
          </a:xfrm>
          <a:prstGeom prst="rect">
            <a:avLst/>
          </a:prstGeom>
          <a:noFill/>
          <a:ln/>
        </p:spPr>
        <p:txBody>
          <a:bodyPr wrap="square" lIns="0" tIns="0" rIns="0" bIns="0" rtlCol="0" anchor="t"/>
          <a:lstStyle/>
          <a:p>
            <a:pPr indent="0" marL="0">
              <a:buNone/>
            </a:pPr>
            <a:r>
              <a:rPr lang="en-US" sz="1600" dirty="0">
                <a:solidFill>
                  <a:schemeClr val="tx1"/>
                </a:solidFill>
              </a:rPr>
              <a:t>What would you do </a:t>
            </a:r>
            <a:r>
              <a:rPr lang="en-US" sz="1600" b="1" dirty="0">
                <a:solidFill>
                  <a:schemeClr val="tx1"/>
                </a:solidFill>
              </a:rPr>
              <a:t>differently</a:t>
            </a:r>
            <a:r>
              <a:rPr lang="en-US" sz="1600" dirty="0">
                <a:solidFill>
                  <a:schemeClr val="tx1"/>
                </a:solidFill>
              </a:rPr>
              <a:t> on your second try at the nimbu pani stall?</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Project: Problem Spotter</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DESIGN THINKING</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Find a problem worth solving</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1 week of observation</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Individual</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Problem-spotter table (activity book)</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500" dirty="0">
                <a:solidFill>
                  <a:schemeClr val="tx1"/>
                </a:solidFill>
              </a:rPr>
              <a:t>Observe your day at </a:t>
            </a:r>
            <a:r>
              <a:rPr lang="en-US" sz="1500" b="1" dirty="0">
                <a:solidFill>
                  <a:schemeClr val="tx1"/>
                </a:solidFill>
              </a:rPr>
              <a:t>school and home</a:t>
            </a:r>
            <a:r>
              <a:rPr lang="en-US" sz="1500" dirty="0">
                <a:solidFill>
                  <a:schemeClr val="tx1"/>
                </a:solidFill>
              </a:rPr>
              <a:t> for a week.</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500" dirty="0">
                <a:solidFill>
                  <a:schemeClr val="tx1"/>
                </a:solidFill>
              </a:rPr>
              <a:t>Note </a:t>
            </a:r>
            <a:r>
              <a:rPr lang="en-US" sz="1500" b="1" dirty="0">
                <a:solidFill>
                  <a:schemeClr val="tx1"/>
                </a:solidFill>
              </a:rPr>
              <a:t>2–3 problems</a:t>
            </a:r>
            <a:r>
              <a:rPr lang="en-US" sz="1500" dirty="0">
                <a:solidFill>
                  <a:schemeClr val="tx1"/>
                </a:solidFill>
              </a:rPr>
              <a:t> or inconveniences.</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500" dirty="0">
                <a:solidFill>
                  <a:schemeClr val="tx1"/>
                </a:solidFill>
              </a:rPr>
              <a:t>For each: </a:t>
            </a:r>
            <a:r>
              <a:rPr lang="en-US" sz="1500" b="1" dirty="0">
                <a:solidFill>
                  <a:schemeClr val="tx1"/>
                </a:solidFill>
              </a:rPr>
              <a:t>who</a:t>
            </a:r>
            <a:r>
              <a:rPr lang="en-US" sz="1500" dirty="0">
                <a:solidFill>
                  <a:schemeClr val="tx1"/>
                </a:solidFill>
              </a:rPr>
              <a:t> faces it and </a:t>
            </a:r>
            <a:r>
              <a:rPr lang="en-US" sz="1500" b="1" dirty="0">
                <a:solidFill>
                  <a:schemeClr val="tx1"/>
                </a:solidFill>
              </a:rPr>
              <a:t>how often</a:t>
            </a:r>
            <a:r>
              <a:rPr lang="en-US" sz="1500" dirty="0">
                <a:solidFill>
                  <a:schemeClr val="tx1"/>
                </a:solidFill>
              </a:rPr>
              <a:t>?</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500" b="1" dirty="0">
                <a:solidFill>
                  <a:schemeClr val="tx1"/>
                </a:solidFill>
              </a:rPr>
              <a:t>Why</a:t>
            </a:r>
            <a:r>
              <a:rPr lang="en-US" sz="1500" dirty="0">
                <a:solidFill>
                  <a:schemeClr val="tx1"/>
                </a:solidFill>
              </a:rPr>
              <a:t> hasn't it been solved? What </a:t>
            </a:r>
            <a:r>
              <a:rPr lang="en-US" sz="1500" b="1" dirty="0">
                <a:solidFill>
                  <a:schemeClr val="tx1"/>
                </a:solidFill>
              </a:rPr>
              <a:t>business idea</a:t>
            </a:r>
            <a:r>
              <a:rPr lang="en-US" sz="1500" dirty="0">
                <a:solidFill>
                  <a:schemeClr val="tx1"/>
                </a:solidFill>
              </a:rPr>
              <a:t> could solve it?</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500" dirty="0">
                <a:solidFill>
                  <a:schemeClr val="tx1"/>
                </a:solidFill>
              </a:rPr>
              <a:t>Would people </a:t>
            </a:r>
            <a:r>
              <a:rPr lang="en-US" sz="1500" b="1" dirty="0">
                <a:solidFill>
                  <a:schemeClr val="tx1"/>
                </a:solidFill>
              </a:rPr>
              <a:t>pay</a:t>
            </a:r>
            <a:r>
              <a:rPr lang="en-US" sz="1500" dirty="0">
                <a:solidFill>
                  <a:schemeClr val="tx1"/>
                </a:solidFill>
              </a:rPr>
              <a:t> for your solution? How much?</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Every great business starts with a real problem and a person who cares to solve it.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a:t>
            </a:r>
            <a:endParaRPr lang="en-US" sz="3600" dirty="0"/>
          </a:p>
        </p:txBody>
      </p:sp>
      <p:sp>
        <p:nvSpPr>
          <p:cNvPr id="3" name="quiz q1"/>
          <p:cNvSpPr/>
          <p:nvPr/>
        </p:nvSpPr>
        <p:spPr>
          <a:xfrm>
            <a:off x="54864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quiz q1 badge"/>
          <p:cNvSpPr/>
          <p:nvPr/>
        </p:nvSpPr>
        <p:spPr>
          <a:xfrm>
            <a:off x="731520" y="155448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Q1</a:t>
            </a:r>
            <a:endParaRPr lang="en-US" sz="1300" dirty="0"/>
          </a:p>
        </p:txBody>
      </p:sp>
      <p:sp>
        <p:nvSpPr>
          <p:cNvPr id="6" name="Text 4"/>
          <p:cNvSpPr txBox="1"/>
          <p:nvPr/>
        </p:nvSpPr>
        <p:spPr>
          <a:xfrm>
            <a:off x="132588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Lijjat Papad began in 1959 with…</a:t>
            </a:r>
            <a:endParaRPr lang="en-US" sz="1600" dirty="0"/>
          </a:p>
        </p:txBody>
      </p:sp>
      <p:sp>
        <p:nvSpPr>
          <p:cNvPr id="7" name="Text 5"/>
          <p:cNvSpPr txBox="1"/>
          <p:nvPr/>
        </p:nvSpPr>
        <p:spPr>
          <a:xfrm>
            <a:off x="1325880" y="224028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₹8,000</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₹80</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₹800</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a ₹1 lakh bank loan</a:t>
            </a:r>
            <a:endParaRPr lang="en-US" sz="1700" dirty="0"/>
          </a:p>
        </p:txBody>
      </p:sp>
      <p:sp>
        <p:nvSpPr>
          <p:cNvPr id="8" name="quiz q2"/>
          <p:cNvSpPr/>
          <p:nvPr/>
        </p:nvSpPr>
        <p:spPr>
          <a:xfrm>
            <a:off x="621792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quiz q2 badge"/>
          <p:cNvSpPr/>
          <p:nvPr/>
        </p:nvSpPr>
        <p:spPr>
          <a:xfrm>
            <a:off x="6400800" y="155448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640080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Q2</a:t>
            </a:r>
            <a:endParaRPr lang="en-US" sz="1300" dirty="0"/>
          </a:p>
        </p:txBody>
      </p:sp>
      <p:sp>
        <p:nvSpPr>
          <p:cNvPr id="11" name="Text 9"/>
          <p:cNvSpPr txBox="1"/>
          <p:nvPr/>
        </p:nvSpPr>
        <p:spPr>
          <a:xfrm>
            <a:off x="699516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Which is a variable cost for a bakery?</a:t>
            </a:r>
            <a:endParaRPr lang="en-US" sz="1600" dirty="0"/>
          </a:p>
        </p:txBody>
      </p:sp>
      <p:sp>
        <p:nvSpPr>
          <p:cNvPr id="12" name="Text 10"/>
          <p:cNvSpPr txBox="1"/>
          <p:nvPr/>
        </p:nvSpPr>
        <p:spPr>
          <a:xfrm>
            <a:off x="6995160" y="224028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Rent</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Oven</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Flour</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Insurance</a:t>
            </a:r>
            <a:endParaRPr lang="en-US" sz="1700" dirty="0"/>
          </a:p>
        </p:txBody>
      </p:sp>
      <p:sp>
        <p:nvSpPr>
          <p:cNvPr id="13" name="quiz q3"/>
          <p:cNvSpPr/>
          <p:nvPr/>
        </p:nvSpPr>
        <p:spPr>
          <a:xfrm>
            <a:off x="54864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4" name="quiz q3 badge"/>
          <p:cNvSpPr/>
          <p:nvPr/>
        </p:nvSpPr>
        <p:spPr>
          <a:xfrm>
            <a:off x="731520" y="411480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Q3</a:t>
            </a:r>
            <a:endParaRPr lang="en-US" sz="1300" dirty="0"/>
          </a:p>
        </p:txBody>
      </p:sp>
      <p:sp>
        <p:nvSpPr>
          <p:cNvPr id="16" name="Text 14"/>
          <p:cNvSpPr txBox="1"/>
          <p:nvPr/>
        </p:nvSpPr>
        <p:spPr>
          <a:xfrm>
            <a:off x="132588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Profit equals…</a:t>
            </a:r>
            <a:endParaRPr lang="en-US" sz="1600" dirty="0"/>
          </a:p>
        </p:txBody>
      </p:sp>
      <p:sp>
        <p:nvSpPr>
          <p:cNvPr id="17" name="Text 15"/>
          <p:cNvSpPr txBox="1"/>
          <p:nvPr/>
        </p:nvSpPr>
        <p:spPr>
          <a:xfrm>
            <a:off x="132588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Revenue + Expenses</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Revenue – Expenses</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Expenses – Revenue</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Revenue × Expenses</a:t>
            </a:r>
            <a:endParaRPr lang="en-US" sz="1700" dirty="0"/>
          </a:p>
        </p:txBody>
      </p:sp>
      <p:sp>
        <p:nvSpPr>
          <p:cNvPr id="18" name="quiz q4"/>
          <p:cNvSpPr/>
          <p:nvPr/>
        </p:nvSpPr>
        <p:spPr>
          <a:xfrm>
            <a:off x="621792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9" name="quiz q4 badge"/>
          <p:cNvSpPr/>
          <p:nvPr/>
        </p:nvSpPr>
        <p:spPr>
          <a:xfrm>
            <a:off x="6400800" y="411480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640080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Q4</a:t>
            </a:r>
            <a:endParaRPr lang="en-US" sz="1300" dirty="0"/>
          </a:p>
        </p:txBody>
      </p:sp>
      <p:sp>
        <p:nvSpPr>
          <p:cNvPr id="21" name="Text 19"/>
          <p:cNvSpPr txBox="1"/>
          <p:nvPr/>
        </p:nvSpPr>
        <p:spPr>
          <a:xfrm>
            <a:off x="699516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Advertising belongs to which functional area?</a:t>
            </a:r>
            <a:endParaRPr lang="en-US" sz="1600" dirty="0"/>
          </a:p>
        </p:txBody>
      </p:sp>
      <p:sp>
        <p:nvSpPr>
          <p:cNvPr id="22" name="Text 20"/>
          <p:cNvSpPr txBox="1"/>
          <p:nvPr/>
        </p:nvSpPr>
        <p:spPr>
          <a:xfrm>
            <a:off x="699516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Human resources</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Finance</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Marketing and sales</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Operations</a:t>
            </a:r>
            <a:endParaRPr lang="en-US" sz="17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 Answers</a:t>
            </a:r>
            <a:endParaRPr lang="en-US" sz="3600" dirty="0"/>
          </a:p>
        </p:txBody>
      </p:sp>
      <p:sp>
        <p:nvSpPr>
          <p:cNvPr id="3" name="answer 1"/>
          <p:cNvSpPr/>
          <p:nvPr/>
        </p:nvSpPr>
        <p:spPr>
          <a:xfrm>
            <a:off x="548640" y="1371600"/>
            <a:ext cx="11064240" cy="1074420"/>
          </a:xfrm>
          <a:prstGeom prst="roundRect">
            <a:avLst>
              <a:gd name="adj" fmla="val 10213"/>
            </a:avLst>
          </a:prstGeom>
          <a:solidFill>
            <a:schemeClr val="bg2"/>
          </a:solidFill>
          <a:ln w="12700">
            <a:solidFill>
              <a:schemeClr val="bg2"/>
            </a:solidFill>
            <a:prstDash val="solid"/>
          </a:ln>
        </p:spPr>
      </p:sp>
      <p:sp>
        <p:nvSpPr>
          <p:cNvPr id="4" name="answer 1 badge"/>
          <p:cNvSpPr/>
          <p:nvPr/>
        </p:nvSpPr>
        <p:spPr>
          <a:xfrm>
            <a:off x="731520" y="168021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31520" y="16802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6" name="Text 4"/>
          <p:cNvSpPr txBox="1"/>
          <p:nvPr/>
        </p:nvSpPr>
        <p:spPr>
          <a:xfrm>
            <a:off x="1371600" y="137160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Q1. ₹80</a:t>
            </a:r>
            <a:endParaRPr lang="en-US" sz="1600" dirty="0"/>
          </a:p>
          <a:p>
            <a:pPr indent="0" marL="0">
              <a:buNone/>
            </a:pPr>
            <a:r>
              <a:rPr lang="en-US" sz="1400" dirty="0">
                <a:solidFill>
                  <a:schemeClr val="tx1"/>
                </a:solidFill>
              </a:rPr>
              <a:t>Seven homemakers started with ₹80 on a Mumbai rooftop.</a:t>
            </a:r>
            <a:endParaRPr lang="en-US" sz="1600" dirty="0"/>
          </a:p>
        </p:txBody>
      </p:sp>
      <p:sp>
        <p:nvSpPr>
          <p:cNvPr id="7" name="answer 2"/>
          <p:cNvSpPr/>
          <p:nvPr/>
        </p:nvSpPr>
        <p:spPr>
          <a:xfrm>
            <a:off x="548640" y="2583180"/>
            <a:ext cx="11064240" cy="1074420"/>
          </a:xfrm>
          <a:prstGeom prst="roundRect">
            <a:avLst>
              <a:gd name="adj" fmla="val 10213"/>
            </a:avLst>
          </a:prstGeom>
          <a:solidFill>
            <a:schemeClr val="bg2"/>
          </a:solidFill>
          <a:ln w="12700">
            <a:solidFill>
              <a:schemeClr val="bg2"/>
            </a:solidFill>
            <a:prstDash val="solid"/>
          </a:ln>
        </p:spPr>
      </p:sp>
      <p:sp>
        <p:nvSpPr>
          <p:cNvPr id="8" name="answer 2 badge"/>
          <p:cNvSpPr/>
          <p:nvPr/>
        </p:nvSpPr>
        <p:spPr>
          <a:xfrm>
            <a:off x="731520" y="2891790"/>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731520" y="289179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0" name="Text 8"/>
          <p:cNvSpPr txBox="1"/>
          <p:nvPr/>
        </p:nvSpPr>
        <p:spPr>
          <a:xfrm>
            <a:off x="1371600" y="258318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Q2. Flour</a:t>
            </a:r>
            <a:endParaRPr lang="en-US" sz="1600" dirty="0"/>
          </a:p>
          <a:p>
            <a:pPr indent="0" marL="0">
              <a:buNone/>
            </a:pPr>
            <a:r>
              <a:rPr lang="en-US" sz="1400" dirty="0">
                <a:solidFill>
                  <a:schemeClr val="tx1"/>
                </a:solidFill>
              </a:rPr>
              <a:t>Flour use rises and falls with production.</a:t>
            </a:r>
            <a:endParaRPr lang="en-US" sz="1600" dirty="0"/>
          </a:p>
        </p:txBody>
      </p:sp>
      <p:sp>
        <p:nvSpPr>
          <p:cNvPr id="11" name="answer 3"/>
          <p:cNvSpPr/>
          <p:nvPr/>
        </p:nvSpPr>
        <p:spPr>
          <a:xfrm>
            <a:off x="548640" y="3794760"/>
            <a:ext cx="11064240" cy="1074420"/>
          </a:xfrm>
          <a:prstGeom prst="roundRect">
            <a:avLst>
              <a:gd name="adj" fmla="val 10213"/>
            </a:avLst>
          </a:prstGeom>
          <a:solidFill>
            <a:schemeClr val="bg2"/>
          </a:solidFill>
          <a:ln w="12700">
            <a:solidFill>
              <a:schemeClr val="bg2"/>
            </a:solidFill>
            <a:prstDash val="solid"/>
          </a:ln>
        </p:spPr>
      </p:sp>
      <p:sp>
        <p:nvSpPr>
          <p:cNvPr id="12" name="answer 3 badge"/>
          <p:cNvSpPr/>
          <p:nvPr/>
        </p:nvSpPr>
        <p:spPr>
          <a:xfrm>
            <a:off x="731520" y="4103370"/>
            <a:ext cx="457200" cy="457200"/>
          </a:xfrm>
          <a:prstGeom prst="ellipse">
            <a:avLst/>
          </a:prstGeom>
          <a:solidFill>
            <a:schemeClr val="accent2"/>
          </a:solidFill>
          <a:ln w="12700">
            <a:solidFill>
              <a:schemeClr val="accent2"/>
            </a:solidFill>
            <a:prstDash val="solid"/>
          </a:ln>
        </p:spPr>
      </p:sp>
      <p:sp>
        <p:nvSpPr>
          <p:cNvPr id="13" name="Text 11"/>
          <p:cNvSpPr txBox="1"/>
          <p:nvPr/>
        </p:nvSpPr>
        <p:spPr>
          <a:xfrm>
            <a:off x="731520" y="41033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4" name="Text 12"/>
          <p:cNvSpPr txBox="1"/>
          <p:nvPr/>
        </p:nvSpPr>
        <p:spPr>
          <a:xfrm>
            <a:off x="1371600" y="379476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Q3. Revenue – Expenses</a:t>
            </a:r>
            <a:endParaRPr lang="en-US" sz="1600" dirty="0"/>
          </a:p>
          <a:p>
            <a:pPr indent="0" marL="0">
              <a:buNone/>
            </a:pPr>
            <a:r>
              <a:rPr lang="en-US" sz="1400" dirty="0">
                <a:solidFill>
                  <a:schemeClr val="tx1"/>
                </a:solidFill>
              </a:rPr>
              <a:t>Profit = Total revenue – Total expenses.</a:t>
            </a:r>
            <a:endParaRPr lang="en-US" sz="1600" dirty="0"/>
          </a:p>
        </p:txBody>
      </p:sp>
      <p:sp>
        <p:nvSpPr>
          <p:cNvPr id="15" name="answer 4"/>
          <p:cNvSpPr/>
          <p:nvPr/>
        </p:nvSpPr>
        <p:spPr>
          <a:xfrm>
            <a:off x="548640" y="5006340"/>
            <a:ext cx="11064240" cy="1074420"/>
          </a:xfrm>
          <a:prstGeom prst="roundRect">
            <a:avLst>
              <a:gd name="adj" fmla="val 10213"/>
            </a:avLst>
          </a:prstGeom>
          <a:solidFill>
            <a:schemeClr val="bg2"/>
          </a:solidFill>
          <a:ln w="12700">
            <a:solidFill>
              <a:schemeClr val="bg2"/>
            </a:solidFill>
            <a:prstDash val="solid"/>
          </a:ln>
        </p:spPr>
      </p:sp>
      <p:sp>
        <p:nvSpPr>
          <p:cNvPr id="16" name="answer 4 badge"/>
          <p:cNvSpPr/>
          <p:nvPr/>
        </p:nvSpPr>
        <p:spPr>
          <a:xfrm>
            <a:off x="731520" y="531495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731520" y="53149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8" name="Text 16"/>
          <p:cNvSpPr txBox="1"/>
          <p:nvPr/>
        </p:nvSpPr>
        <p:spPr>
          <a:xfrm>
            <a:off x="1371600" y="500634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Q4. Marketing and sales</a:t>
            </a:r>
            <a:endParaRPr lang="en-US" sz="1600" dirty="0"/>
          </a:p>
          <a:p>
            <a:pPr indent="0" marL="0">
              <a:buNone/>
            </a:pPr>
            <a:r>
              <a:rPr lang="en-US" sz="1400" dirty="0">
                <a:solidFill>
                  <a:schemeClr val="tx1"/>
                </a:solidFill>
              </a:rPr>
              <a:t>Marketing and sales spread awareness and drive sales.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Myth or Fact?</a:t>
            </a:r>
            <a:endParaRPr lang="en-US" sz="3600" dirty="0"/>
          </a:p>
        </p:txBody>
      </p:sp>
      <p:sp>
        <p:nvSpPr>
          <p:cNvPr id="3" name="statement 1"/>
          <p:cNvSpPr/>
          <p:nvPr/>
        </p:nvSpPr>
        <p:spPr>
          <a:xfrm>
            <a:off x="548640" y="1371600"/>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Text 2"/>
          <p:cNvSpPr txBox="1"/>
          <p:nvPr/>
        </p:nvSpPr>
        <p:spPr>
          <a:xfrm>
            <a:off x="822960" y="1371600"/>
            <a:ext cx="8595360" cy="832104"/>
          </a:xfrm>
          <a:prstGeom prst="rect">
            <a:avLst/>
          </a:prstGeom>
          <a:noFill/>
          <a:ln/>
        </p:spPr>
        <p:txBody>
          <a:bodyPr wrap="square" lIns="0" tIns="0" rIns="0" bIns="0" rtlCol="0" anchor="ctr"/>
          <a:lstStyle/>
          <a:p>
            <a:pPr indent="0" marL="0">
              <a:buNone/>
            </a:pPr>
            <a:r>
              <a:rPr lang="en-US" sz="1700" dirty="0">
                <a:solidFill>
                  <a:schemeClr val="tx1"/>
                </a:solidFill>
              </a:rPr>
              <a:t>1.  A great idea alone guarantees business success.</a:t>
            </a:r>
            <a:endParaRPr lang="en-US" sz="1700" dirty="0"/>
          </a:p>
        </p:txBody>
      </p:sp>
      <p:sp>
        <p:nvSpPr>
          <p:cNvPr id="5" name="vote 1"/>
          <p:cNvSpPr/>
          <p:nvPr/>
        </p:nvSpPr>
        <p:spPr>
          <a:xfrm>
            <a:off x="9646920" y="1559052"/>
            <a:ext cx="1737360" cy="457200"/>
          </a:xfrm>
          <a:prstGeom prst="roundRect">
            <a:avLst>
              <a:gd name="adj" fmla="val 50000"/>
            </a:avLst>
          </a:prstGeom>
          <a:solidFill>
            <a:schemeClr val="bg2"/>
          </a:solidFill>
          <a:ln w="12700">
            <a:solidFill>
              <a:schemeClr val="bg2"/>
            </a:solidFill>
            <a:prstDash val="solid"/>
          </a:ln>
        </p:spPr>
      </p:sp>
      <p:sp>
        <p:nvSpPr>
          <p:cNvPr id="6" name="Text 4"/>
          <p:cNvSpPr txBox="1"/>
          <p:nvPr/>
        </p:nvSpPr>
        <p:spPr>
          <a:xfrm>
            <a:off x="9646920" y="1559052"/>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7" name="statement 2"/>
          <p:cNvSpPr/>
          <p:nvPr/>
        </p:nvSpPr>
        <p:spPr>
          <a:xfrm>
            <a:off x="548640" y="2340864"/>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8" name="Text 6"/>
          <p:cNvSpPr txBox="1"/>
          <p:nvPr/>
        </p:nvSpPr>
        <p:spPr>
          <a:xfrm>
            <a:off x="822960" y="2340864"/>
            <a:ext cx="8595360" cy="832104"/>
          </a:xfrm>
          <a:prstGeom prst="rect">
            <a:avLst/>
          </a:prstGeom>
          <a:noFill/>
          <a:ln/>
        </p:spPr>
        <p:txBody>
          <a:bodyPr wrap="square" lIns="0" tIns="0" rIns="0" bIns="0" rtlCol="0" anchor="ctr"/>
          <a:lstStyle/>
          <a:p>
            <a:pPr indent="0" marL="0">
              <a:buNone/>
            </a:pPr>
            <a:r>
              <a:rPr lang="en-US" sz="1700" dirty="0">
                <a:solidFill>
                  <a:schemeClr val="tx1"/>
                </a:solidFill>
              </a:rPr>
              <a:t>2.  A business plan never changes once it is written.</a:t>
            </a:r>
            <a:endParaRPr lang="en-US" sz="1700" dirty="0"/>
          </a:p>
        </p:txBody>
      </p:sp>
      <p:sp>
        <p:nvSpPr>
          <p:cNvPr id="9" name="vote 2"/>
          <p:cNvSpPr/>
          <p:nvPr/>
        </p:nvSpPr>
        <p:spPr>
          <a:xfrm>
            <a:off x="9646920" y="2528316"/>
            <a:ext cx="1737360" cy="457200"/>
          </a:xfrm>
          <a:prstGeom prst="roundRect">
            <a:avLst>
              <a:gd name="adj" fmla="val 50000"/>
            </a:avLst>
          </a:prstGeom>
          <a:solidFill>
            <a:schemeClr val="bg2"/>
          </a:solidFill>
          <a:ln w="12700">
            <a:solidFill>
              <a:schemeClr val="bg2"/>
            </a:solidFill>
            <a:prstDash val="solid"/>
          </a:ln>
        </p:spPr>
      </p:sp>
      <p:sp>
        <p:nvSpPr>
          <p:cNvPr id="10" name="Text 8"/>
          <p:cNvSpPr txBox="1"/>
          <p:nvPr/>
        </p:nvSpPr>
        <p:spPr>
          <a:xfrm>
            <a:off x="9646920" y="2528316"/>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1" name="statement 3"/>
          <p:cNvSpPr/>
          <p:nvPr/>
        </p:nvSpPr>
        <p:spPr>
          <a:xfrm>
            <a:off x="548640" y="3310128"/>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2" name="Text 10"/>
          <p:cNvSpPr txBox="1"/>
          <p:nvPr/>
        </p:nvSpPr>
        <p:spPr>
          <a:xfrm>
            <a:off x="822960" y="3310128"/>
            <a:ext cx="8595360" cy="832104"/>
          </a:xfrm>
          <a:prstGeom prst="rect">
            <a:avLst/>
          </a:prstGeom>
          <a:noFill/>
          <a:ln/>
        </p:spPr>
        <p:txBody>
          <a:bodyPr wrap="square" lIns="0" tIns="0" rIns="0" bIns="0" rtlCol="0" anchor="ctr"/>
          <a:lstStyle/>
          <a:p>
            <a:pPr indent="0" marL="0">
              <a:buNone/>
            </a:pPr>
            <a:r>
              <a:rPr lang="en-US" sz="1700" dirty="0">
                <a:solidFill>
                  <a:schemeClr val="tx1"/>
                </a:solidFill>
              </a:rPr>
              <a:t>3.  Rent is a fixed cost.</a:t>
            </a:r>
            <a:endParaRPr lang="en-US" sz="1700" dirty="0"/>
          </a:p>
        </p:txBody>
      </p:sp>
      <p:sp>
        <p:nvSpPr>
          <p:cNvPr id="13" name="vote 3"/>
          <p:cNvSpPr/>
          <p:nvPr/>
        </p:nvSpPr>
        <p:spPr>
          <a:xfrm>
            <a:off x="9646920" y="3497580"/>
            <a:ext cx="1737360" cy="457200"/>
          </a:xfrm>
          <a:prstGeom prst="roundRect">
            <a:avLst>
              <a:gd name="adj" fmla="val 50000"/>
            </a:avLst>
          </a:prstGeom>
          <a:solidFill>
            <a:schemeClr val="bg2"/>
          </a:solidFill>
          <a:ln w="12700">
            <a:solidFill>
              <a:schemeClr val="bg2"/>
            </a:solidFill>
            <a:prstDash val="solid"/>
          </a:ln>
        </p:spPr>
      </p:sp>
      <p:sp>
        <p:nvSpPr>
          <p:cNvPr id="14" name="Text 12"/>
          <p:cNvSpPr txBox="1"/>
          <p:nvPr/>
        </p:nvSpPr>
        <p:spPr>
          <a:xfrm>
            <a:off x="9646920" y="34975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5" name="statement 4"/>
          <p:cNvSpPr/>
          <p:nvPr/>
        </p:nvSpPr>
        <p:spPr>
          <a:xfrm>
            <a:off x="548640" y="4279392"/>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6" name="Text 14"/>
          <p:cNvSpPr txBox="1"/>
          <p:nvPr/>
        </p:nvSpPr>
        <p:spPr>
          <a:xfrm>
            <a:off x="822960" y="4279392"/>
            <a:ext cx="8595360" cy="832104"/>
          </a:xfrm>
          <a:prstGeom prst="rect">
            <a:avLst/>
          </a:prstGeom>
          <a:noFill/>
          <a:ln/>
        </p:spPr>
        <p:txBody>
          <a:bodyPr wrap="square" lIns="0" tIns="0" rIns="0" bIns="0" rtlCol="0" anchor="ctr"/>
          <a:lstStyle/>
          <a:p>
            <a:pPr indent="0" marL="0">
              <a:buNone/>
            </a:pPr>
            <a:r>
              <a:rPr lang="en-US" sz="1700" dirty="0">
                <a:solidFill>
                  <a:schemeClr val="tx1"/>
                </a:solidFill>
              </a:rPr>
              <a:t>4.  Failure has no value for an entrepreneur.</a:t>
            </a:r>
            <a:endParaRPr lang="en-US" sz="1700" dirty="0"/>
          </a:p>
        </p:txBody>
      </p:sp>
      <p:sp>
        <p:nvSpPr>
          <p:cNvPr id="17" name="vote 4"/>
          <p:cNvSpPr/>
          <p:nvPr/>
        </p:nvSpPr>
        <p:spPr>
          <a:xfrm>
            <a:off x="9646920" y="4466844"/>
            <a:ext cx="1737360" cy="457200"/>
          </a:xfrm>
          <a:prstGeom prst="roundRect">
            <a:avLst>
              <a:gd name="adj" fmla="val 50000"/>
            </a:avLst>
          </a:prstGeom>
          <a:solidFill>
            <a:schemeClr val="bg2"/>
          </a:solidFill>
          <a:ln w="12700">
            <a:solidFill>
              <a:schemeClr val="bg2"/>
            </a:solidFill>
            <a:prstDash val="solid"/>
          </a:ln>
        </p:spPr>
      </p:sp>
      <p:sp>
        <p:nvSpPr>
          <p:cNvPr id="18" name="Text 16"/>
          <p:cNvSpPr txBox="1"/>
          <p:nvPr/>
        </p:nvSpPr>
        <p:spPr>
          <a:xfrm>
            <a:off x="9646920" y="4466844"/>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9" name="statement 5"/>
          <p:cNvSpPr/>
          <p:nvPr/>
        </p:nvSpPr>
        <p:spPr>
          <a:xfrm>
            <a:off x="548640" y="5248656"/>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Text 18"/>
          <p:cNvSpPr txBox="1"/>
          <p:nvPr/>
        </p:nvSpPr>
        <p:spPr>
          <a:xfrm>
            <a:off x="822960" y="5248656"/>
            <a:ext cx="8595360" cy="832104"/>
          </a:xfrm>
          <a:prstGeom prst="rect">
            <a:avLst/>
          </a:prstGeom>
          <a:noFill/>
          <a:ln/>
        </p:spPr>
        <p:txBody>
          <a:bodyPr wrap="square" lIns="0" tIns="0" rIns="0" bIns="0" rtlCol="0" anchor="ctr"/>
          <a:lstStyle/>
          <a:p>
            <a:pPr indent="0" marL="0">
              <a:buNone/>
            </a:pPr>
            <a:r>
              <a:rPr lang="en-US" sz="1700" dirty="0">
                <a:solidFill>
                  <a:schemeClr val="tx1"/>
                </a:solidFill>
              </a:rPr>
              <a:t>5.  India is the world's third-largest startup ecosystem.</a:t>
            </a:r>
            <a:endParaRPr lang="en-US" sz="1700" dirty="0"/>
          </a:p>
        </p:txBody>
      </p:sp>
      <p:sp>
        <p:nvSpPr>
          <p:cNvPr id="21" name="vote 5"/>
          <p:cNvSpPr/>
          <p:nvPr/>
        </p:nvSpPr>
        <p:spPr>
          <a:xfrm>
            <a:off x="9646920" y="5436108"/>
            <a:ext cx="1737360" cy="457200"/>
          </a:xfrm>
          <a:prstGeom prst="roundRect">
            <a:avLst>
              <a:gd name="adj" fmla="val 50000"/>
            </a:avLst>
          </a:prstGeom>
          <a:solidFill>
            <a:schemeClr val="bg2"/>
          </a:solidFill>
          <a:ln w="12700">
            <a:solidFill>
              <a:schemeClr val="bg2"/>
            </a:solidFill>
            <a:prstDash val="solid"/>
          </a:ln>
        </p:spPr>
      </p:sp>
      <p:sp>
        <p:nvSpPr>
          <p:cNvPr id="22" name="Text 20"/>
          <p:cNvSpPr txBox="1"/>
          <p:nvPr/>
        </p:nvSpPr>
        <p:spPr>
          <a:xfrm>
            <a:off x="9646920" y="5436108"/>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Before We Move On</a:t>
            </a:r>
            <a:endParaRPr lang="en-US" sz="3600" dirty="0"/>
          </a:p>
        </p:txBody>
      </p:sp>
      <p:sp>
        <p:nvSpPr>
          <p:cNvPr id="3" name="mind map centre"/>
          <p:cNvSpPr/>
          <p:nvPr/>
        </p:nvSpPr>
        <p:spPr>
          <a:xfrm>
            <a:off x="4861408" y="3063240"/>
            <a:ext cx="2468880" cy="1463040"/>
          </a:xfrm>
          <a:prstGeom prst="ellipse">
            <a:avLst/>
          </a:prstGeom>
          <a:solidFill>
            <a:schemeClr val="tx2"/>
          </a:solidFill>
          <a:ln w="12700">
            <a:solidFill>
              <a:schemeClr val="tx2"/>
            </a:solidFill>
            <a:prstDash val="solid"/>
          </a:ln>
        </p:spPr>
      </p:sp>
      <p:sp>
        <p:nvSpPr>
          <p:cNvPr id="4" name="Text 2"/>
          <p:cNvSpPr txBox="1"/>
          <p:nvPr/>
        </p:nvSpPr>
        <p:spPr>
          <a:xfrm>
            <a:off x="4952848" y="3063240"/>
            <a:ext cx="2286000" cy="14630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From Ideas to Startups</a:t>
            </a:r>
            <a:endParaRPr lang="en-US" sz="1800" dirty="0"/>
          </a:p>
        </p:txBody>
      </p:sp>
      <p:sp>
        <p:nvSpPr>
          <p:cNvPr id="5" name="branch 1 line"/>
          <p:cNvSpPr/>
          <p:nvPr/>
        </p:nvSpPr>
        <p:spPr>
          <a:xfrm>
            <a:off x="4114800" y="2103120"/>
            <a:ext cx="792328" cy="1691640"/>
          </a:xfrm>
          <a:prstGeom prst="line">
            <a:avLst/>
          </a:prstGeom>
          <a:noFill/>
          <a:ln w="25400">
            <a:solidFill>
              <a:srgbClr val="F9C74F"/>
            </a:solidFill>
            <a:prstDash val="solid"/>
          </a:ln>
        </p:spPr>
      </p:sp>
      <p:sp>
        <p:nvSpPr>
          <p:cNvPr id="6" name="branch 1"/>
          <p:cNvSpPr/>
          <p:nvPr/>
        </p:nvSpPr>
        <p:spPr>
          <a:xfrm>
            <a:off x="548640" y="1371600"/>
            <a:ext cx="3566160" cy="1463040"/>
          </a:xfrm>
          <a:prstGeom prst="roundRect">
            <a:avLst>
              <a:gd name="adj" fmla="val 7500"/>
            </a:avLst>
          </a:prstGeom>
          <a:solidFill>
            <a:schemeClr val="bg2"/>
          </a:solidFill>
          <a:ln w="12700">
            <a:solidFill>
              <a:schemeClr val="bg2"/>
            </a:solidFill>
            <a:prstDash val="solid"/>
          </a:ln>
        </p:spPr>
      </p:sp>
      <p:sp>
        <p:nvSpPr>
          <p:cNvPr id="7" name="Text 5"/>
          <p:cNvSpPr txBox="1"/>
          <p:nvPr/>
        </p:nvSpPr>
        <p:spPr>
          <a:xfrm>
            <a:off x="731520"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Entrepreneurship</a:t>
            </a:r>
            <a:endParaRPr lang="en-US" sz="1600" dirty="0"/>
          </a:p>
          <a:p>
            <a:pPr indent="0" marL="0">
              <a:buNone/>
            </a:pPr>
            <a:r>
              <a:rPr lang="en-US" sz="1600" dirty="0">
                <a:solidFill>
                  <a:schemeClr val="tx1"/>
                </a:solidFill>
              </a:rPr>
              <a:t>Turning ideas into action; taking risks; creating value</a:t>
            </a:r>
            <a:endParaRPr lang="en-US" sz="1600" dirty="0"/>
          </a:p>
        </p:txBody>
      </p:sp>
      <p:sp>
        <p:nvSpPr>
          <p:cNvPr id="8" name="branch 2 line"/>
          <p:cNvSpPr/>
          <p:nvPr/>
        </p:nvSpPr>
        <p:spPr>
          <a:xfrm>
            <a:off x="4114800" y="3794760"/>
            <a:ext cx="792328" cy="914"/>
          </a:xfrm>
          <a:prstGeom prst="line">
            <a:avLst/>
          </a:prstGeom>
          <a:noFill/>
          <a:ln w="25400">
            <a:solidFill>
              <a:srgbClr val="F9C74F"/>
            </a:solidFill>
            <a:prstDash val="solid"/>
          </a:ln>
        </p:spPr>
      </p:sp>
      <p:sp>
        <p:nvSpPr>
          <p:cNvPr id="9" name="branch 2"/>
          <p:cNvSpPr/>
          <p:nvPr/>
        </p:nvSpPr>
        <p:spPr>
          <a:xfrm>
            <a:off x="548640" y="3063240"/>
            <a:ext cx="3566160" cy="1463040"/>
          </a:xfrm>
          <a:prstGeom prst="roundRect">
            <a:avLst>
              <a:gd name="adj" fmla="val 7500"/>
            </a:avLst>
          </a:prstGeom>
          <a:solidFill>
            <a:schemeClr val="bg2"/>
          </a:solidFill>
          <a:ln w="12700">
            <a:solidFill>
              <a:schemeClr val="bg2"/>
            </a:solidFill>
            <a:prstDash val="solid"/>
          </a:ln>
        </p:spPr>
      </p:sp>
      <p:sp>
        <p:nvSpPr>
          <p:cNvPr id="10" name="Text 8"/>
          <p:cNvSpPr txBox="1"/>
          <p:nvPr/>
        </p:nvSpPr>
        <p:spPr>
          <a:xfrm>
            <a:off x="731520"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Inspiring stories</a:t>
            </a:r>
            <a:endParaRPr lang="en-US" sz="1600" dirty="0"/>
          </a:p>
          <a:p>
            <a:pPr indent="0" marL="0">
              <a:buNone/>
            </a:pPr>
            <a:r>
              <a:rPr lang="en-US" sz="1600" dirty="0">
                <a:solidFill>
                  <a:schemeClr val="tx1"/>
                </a:solidFill>
              </a:rPr>
              <a:t>Jataka tale, Lijjat, Oberoi, Dandekar brothers, Chettiars</a:t>
            </a:r>
            <a:endParaRPr lang="en-US" sz="1600" dirty="0"/>
          </a:p>
        </p:txBody>
      </p:sp>
      <p:sp>
        <p:nvSpPr>
          <p:cNvPr id="11" name="branch 3 line"/>
          <p:cNvSpPr/>
          <p:nvPr/>
        </p:nvSpPr>
        <p:spPr>
          <a:xfrm flipV="1">
            <a:off x="4114800" y="3794760"/>
            <a:ext cx="792328" cy="1691640"/>
          </a:xfrm>
          <a:prstGeom prst="line">
            <a:avLst/>
          </a:prstGeom>
          <a:noFill/>
          <a:ln w="25400">
            <a:solidFill>
              <a:srgbClr val="F9C74F"/>
            </a:solidFill>
            <a:prstDash val="solid"/>
          </a:ln>
        </p:spPr>
      </p:sp>
      <p:sp>
        <p:nvSpPr>
          <p:cNvPr id="12" name="branch 3"/>
          <p:cNvSpPr/>
          <p:nvPr/>
        </p:nvSpPr>
        <p:spPr>
          <a:xfrm>
            <a:off x="548640" y="4754880"/>
            <a:ext cx="3566160" cy="1463040"/>
          </a:xfrm>
          <a:prstGeom prst="roundRect">
            <a:avLst>
              <a:gd name="adj" fmla="val 7500"/>
            </a:avLst>
          </a:prstGeom>
          <a:solidFill>
            <a:schemeClr val="bg2"/>
          </a:solidFill>
          <a:ln w="12700">
            <a:solidFill>
              <a:schemeClr val="bg2"/>
            </a:solidFill>
            <a:prstDash val="solid"/>
          </a:ln>
        </p:spPr>
      </p:sp>
      <p:sp>
        <p:nvSpPr>
          <p:cNvPr id="13" name="Text 11"/>
          <p:cNvSpPr txBox="1"/>
          <p:nvPr/>
        </p:nvSpPr>
        <p:spPr>
          <a:xfrm>
            <a:off x="731520"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Business plan</a:t>
            </a:r>
            <a:endParaRPr lang="en-US" sz="1600" dirty="0"/>
          </a:p>
          <a:p>
            <a:pPr indent="0" marL="0">
              <a:buNone/>
            </a:pPr>
            <a:r>
              <a:rPr lang="en-US" sz="1600" dirty="0">
                <a:solidFill>
                  <a:schemeClr val="tx1"/>
                </a:solidFill>
              </a:rPr>
              <a:t>Needs, customers, money, location, people, price, marketing, risks</a:t>
            </a:r>
            <a:endParaRPr lang="en-US" sz="1600" dirty="0"/>
          </a:p>
        </p:txBody>
      </p:sp>
      <p:sp>
        <p:nvSpPr>
          <p:cNvPr id="14" name="branch 4 line"/>
          <p:cNvSpPr/>
          <p:nvPr/>
        </p:nvSpPr>
        <p:spPr>
          <a:xfrm flipV="1">
            <a:off x="7284568" y="2103120"/>
            <a:ext cx="789584" cy="1691640"/>
          </a:xfrm>
          <a:prstGeom prst="line">
            <a:avLst/>
          </a:prstGeom>
          <a:noFill/>
          <a:ln w="25400">
            <a:solidFill>
              <a:srgbClr val="F9C74F"/>
            </a:solidFill>
            <a:prstDash val="solid"/>
          </a:ln>
        </p:spPr>
      </p:sp>
      <p:sp>
        <p:nvSpPr>
          <p:cNvPr id="15" name="branch 4"/>
          <p:cNvSpPr/>
          <p:nvPr/>
        </p:nvSpPr>
        <p:spPr>
          <a:xfrm>
            <a:off x="8074152" y="1371600"/>
            <a:ext cx="3566160" cy="1463040"/>
          </a:xfrm>
          <a:prstGeom prst="roundRect">
            <a:avLst>
              <a:gd name="adj" fmla="val 7500"/>
            </a:avLst>
          </a:prstGeom>
          <a:solidFill>
            <a:schemeClr val="bg2"/>
          </a:solidFill>
          <a:ln w="12700">
            <a:solidFill>
              <a:schemeClr val="bg2"/>
            </a:solidFill>
            <a:prstDash val="solid"/>
          </a:ln>
        </p:spPr>
      </p:sp>
      <p:sp>
        <p:nvSpPr>
          <p:cNvPr id="16" name="Text 14"/>
          <p:cNvSpPr txBox="1"/>
          <p:nvPr/>
        </p:nvSpPr>
        <p:spPr>
          <a:xfrm>
            <a:off x="8257032"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Functional areas</a:t>
            </a:r>
            <a:endParaRPr lang="en-US" sz="1600" dirty="0"/>
          </a:p>
          <a:p>
            <a:pPr indent="0" marL="0">
              <a:buNone/>
            </a:pPr>
            <a:r>
              <a:rPr lang="en-US" sz="1600" dirty="0">
                <a:solidFill>
                  <a:schemeClr val="tx1"/>
                </a:solidFill>
              </a:rPr>
              <a:t>Operations, finance, HR, marketing and sales</a:t>
            </a:r>
            <a:endParaRPr lang="en-US" sz="1600" dirty="0"/>
          </a:p>
        </p:txBody>
      </p:sp>
      <p:sp>
        <p:nvSpPr>
          <p:cNvPr id="17" name="branch 5 line"/>
          <p:cNvSpPr/>
          <p:nvPr/>
        </p:nvSpPr>
        <p:spPr>
          <a:xfrm>
            <a:off x="7284568" y="3794760"/>
            <a:ext cx="789584" cy="914"/>
          </a:xfrm>
          <a:prstGeom prst="line">
            <a:avLst/>
          </a:prstGeom>
          <a:noFill/>
          <a:ln w="25400">
            <a:solidFill>
              <a:srgbClr val="F9C74F"/>
            </a:solidFill>
            <a:prstDash val="solid"/>
          </a:ln>
        </p:spPr>
      </p:sp>
      <p:sp>
        <p:nvSpPr>
          <p:cNvPr id="18" name="branch 5"/>
          <p:cNvSpPr/>
          <p:nvPr/>
        </p:nvSpPr>
        <p:spPr>
          <a:xfrm>
            <a:off x="8074152" y="3063240"/>
            <a:ext cx="3566160" cy="1463040"/>
          </a:xfrm>
          <a:prstGeom prst="roundRect">
            <a:avLst>
              <a:gd name="adj" fmla="val 7500"/>
            </a:avLst>
          </a:prstGeom>
          <a:solidFill>
            <a:schemeClr val="bg2"/>
          </a:solidFill>
          <a:ln w="12700">
            <a:solidFill>
              <a:schemeClr val="bg2"/>
            </a:solidFill>
            <a:prstDash val="solid"/>
          </a:ln>
        </p:spPr>
      </p:sp>
      <p:sp>
        <p:nvSpPr>
          <p:cNvPr id="19" name="Text 17"/>
          <p:cNvSpPr txBox="1"/>
          <p:nvPr/>
        </p:nvSpPr>
        <p:spPr>
          <a:xfrm>
            <a:off x="8257032"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Money basics</a:t>
            </a:r>
            <a:endParaRPr lang="en-US" sz="1600" dirty="0"/>
          </a:p>
          <a:p>
            <a:pPr indent="0" marL="0">
              <a:buNone/>
            </a:pPr>
            <a:r>
              <a:rPr lang="en-US" sz="1600" dirty="0">
                <a:solidFill>
                  <a:schemeClr val="tx1"/>
                </a:solidFill>
              </a:rPr>
              <a:t>Fixed and variable costs; P&amp;L; Profit = Revenue – Expenses</a:t>
            </a:r>
            <a:endParaRPr lang="en-US" sz="1600" dirty="0"/>
          </a:p>
        </p:txBody>
      </p:sp>
      <p:sp>
        <p:nvSpPr>
          <p:cNvPr id="20" name="branch 6 line"/>
          <p:cNvSpPr/>
          <p:nvPr/>
        </p:nvSpPr>
        <p:spPr>
          <a:xfrm>
            <a:off x="7284568" y="3794760"/>
            <a:ext cx="789584" cy="1691640"/>
          </a:xfrm>
          <a:prstGeom prst="line">
            <a:avLst/>
          </a:prstGeom>
          <a:noFill/>
          <a:ln w="25400">
            <a:solidFill>
              <a:srgbClr val="F9C74F"/>
            </a:solidFill>
            <a:prstDash val="solid"/>
          </a:ln>
        </p:spPr>
      </p:sp>
      <p:sp>
        <p:nvSpPr>
          <p:cNvPr id="21" name="branch 6"/>
          <p:cNvSpPr/>
          <p:nvPr/>
        </p:nvSpPr>
        <p:spPr>
          <a:xfrm>
            <a:off x="8074152" y="4754880"/>
            <a:ext cx="3566160" cy="1463040"/>
          </a:xfrm>
          <a:prstGeom prst="roundRect">
            <a:avLst>
              <a:gd name="adj" fmla="val 7500"/>
            </a:avLst>
          </a:prstGeom>
          <a:solidFill>
            <a:schemeClr val="bg2"/>
          </a:solidFill>
          <a:ln w="12700">
            <a:solidFill>
              <a:schemeClr val="bg2"/>
            </a:solidFill>
            <a:prstDash val="solid"/>
          </a:ln>
        </p:spPr>
      </p:sp>
      <p:sp>
        <p:nvSpPr>
          <p:cNvPr id="22" name="Text 20"/>
          <p:cNvSpPr txBox="1"/>
          <p:nvPr/>
        </p:nvSpPr>
        <p:spPr>
          <a:xfrm>
            <a:off x="8257032"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Nation building</a:t>
            </a:r>
            <a:endParaRPr lang="en-US" sz="1600" dirty="0"/>
          </a:p>
          <a:p>
            <a:pPr indent="0" marL="0">
              <a:buNone/>
            </a:pPr>
            <a:r>
              <a:rPr lang="en-US" sz="1600" dirty="0">
                <a:solidFill>
                  <a:schemeClr val="tx1"/>
                </a:solidFill>
              </a:rPr>
              <a:t>Startups, jobs, taxes, CSR; Viksit Bharat 2047</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ctr"/>
          <a:lstStyle/>
          <a:p>
            <a:pPr algn="l" indent="0" marL="0">
              <a:buNone/>
            </a:pPr>
            <a:r>
              <a:rPr lang="en-US" sz="3600" b="1" dirty="0">
                <a:solidFill>
                  <a:schemeClr val="bg1"/>
                </a:solidFill>
              </a:rPr>
              <a:t>Exit Ticket and Homework</a:t>
            </a:r>
            <a:endParaRPr lang="en-US" sz="3600" dirty="0"/>
          </a:p>
        </p:txBody>
      </p:sp>
      <p:sp>
        <p:nvSpPr>
          <p:cNvPr id="3" name="exit 3"/>
          <p:cNvSpPr/>
          <p:nvPr/>
        </p:nvSpPr>
        <p:spPr>
          <a:xfrm>
            <a:off x="731520" y="1508760"/>
            <a:ext cx="2103120" cy="2743200"/>
          </a:xfrm>
          <a:prstGeom prst="roundRect">
            <a:avLst>
              <a:gd name="adj" fmla="val 5217"/>
            </a:avLst>
          </a:prstGeom>
          <a:solidFill>
            <a:schemeClr val="bg1"/>
          </a:solidFill>
          <a:ln w="12700">
            <a:solidFill>
              <a:schemeClr val="bg1"/>
            </a:solidFill>
            <a:prstDash val="solid"/>
          </a:ln>
        </p:spPr>
      </p:sp>
      <p:sp>
        <p:nvSpPr>
          <p:cNvPr id="4" name="Text 2"/>
          <p:cNvSpPr txBox="1"/>
          <p:nvPr/>
        </p:nvSpPr>
        <p:spPr>
          <a:xfrm>
            <a:off x="73152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3</a:t>
            </a:r>
            <a:endParaRPr lang="en-US" sz="5400" dirty="0"/>
          </a:p>
        </p:txBody>
      </p:sp>
      <p:sp>
        <p:nvSpPr>
          <p:cNvPr id="5" name="Text 3"/>
          <p:cNvSpPr txBox="1"/>
          <p:nvPr/>
        </p:nvSpPr>
        <p:spPr>
          <a:xfrm>
            <a:off x="86868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things I learnt</a:t>
            </a:r>
            <a:endParaRPr lang="en-US" sz="1800" dirty="0"/>
          </a:p>
        </p:txBody>
      </p:sp>
      <p:sp>
        <p:nvSpPr>
          <p:cNvPr id="6" name="Text 4"/>
          <p:cNvSpPr txBox="1"/>
          <p:nvPr/>
        </p:nvSpPr>
        <p:spPr>
          <a:xfrm>
            <a:off x="86868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Three key ideas from this chapter</a:t>
            </a:r>
            <a:endParaRPr lang="en-US" sz="1500" dirty="0"/>
          </a:p>
        </p:txBody>
      </p:sp>
      <p:sp>
        <p:nvSpPr>
          <p:cNvPr id="7" name="exit 2"/>
          <p:cNvSpPr/>
          <p:nvPr/>
        </p:nvSpPr>
        <p:spPr>
          <a:xfrm>
            <a:off x="3063240" y="1508760"/>
            <a:ext cx="2103120" cy="2743200"/>
          </a:xfrm>
          <a:prstGeom prst="roundRect">
            <a:avLst>
              <a:gd name="adj" fmla="val 5217"/>
            </a:avLst>
          </a:prstGeom>
          <a:solidFill>
            <a:schemeClr val="bg1"/>
          </a:solidFill>
          <a:ln w="12700">
            <a:solidFill>
              <a:schemeClr val="bg1"/>
            </a:solidFill>
            <a:prstDash val="solid"/>
          </a:ln>
        </p:spPr>
      </p:sp>
      <p:sp>
        <p:nvSpPr>
          <p:cNvPr id="8" name="Text 6"/>
          <p:cNvSpPr txBox="1"/>
          <p:nvPr/>
        </p:nvSpPr>
        <p:spPr>
          <a:xfrm>
            <a:off x="306324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2</a:t>
            </a:r>
            <a:endParaRPr lang="en-US" sz="5400" dirty="0"/>
          </a:p>
        </p:txBody>
      </p:sp>
      <p:sp>
        <p:nvSpPr>
          <p:cNvPr id="9" name="Text 7"/>
          <p:cNvSpPr txBox="1"/>
          <p:nvPr/>
        </p:nvSpPr>
        <p:spPr>
          <a:xfrm>
            <a:off x="320040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connections</a:t>
            </a:r>
            <a:endParaRPr lang="en-US" sz="1800" dirty="0"/>
          </a:p>
        </p:txBody>
      </p:sp>
      <p:sp>
        <p:nvSpPr>
          <p:cNvPr id="10" name="Text 8"/>
          <p:cNvSpPr txBox="1"/>
          <p:nvPr/>
        </p:nvSpPr>
        <p:spPr>
          <a:xfrm>
            <a:off x="320040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Two ways this topic connects to my life or my state</a:t>
            </a:r>
            <a:endParaRPr lang="en-US" sz="1500" dirty="0"/>
          </a:p>
        </p:txBody>
      </p:sp>
      <p:sp>
        <p:nvSpPr>
          <p:cNvPr id="11" name="exit 1"/>
          <p:cNvSpPr/>
          <p:nvPr/>
        </p:nvSpPr>
        <p:spPr>
          <a:xfrm>
            <a:off x="5394960" y="1508760"/>
            <a:ext cx="2103120" cy="2743200"/>
          </a:xfrm>
          <a:prstGeom prst="roundRect">
            <a:avLst>
              <a:gd name="adj" fmla="val 5217"/>
            </a:avLst>
          </a:prstGeom>
          <a:solidFill>
            <a:schemeClr val="bg1"/>
          </a:solidFill>
          <a:ln w="12700">
            <a:solidFill>
              <a:schemeClr val="bg1"/>
            </a:solidFill>
            <a:prstDash val="solid"/>
          </a:ln>
        </p:spPr>
      </p:sp>
      <p:sp>
        <p:nvSpPr>
          <p:cNvPr id="12" name="Text 10"/>
          <p:cNvSpPr txBox="1"/>
          <p:nvPr/>
        </p:nvSpPr>
        <p:spPr>
          <a:xfrm>
            <a:off x="539496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1</a:t>
            </a:r>
            <a:endParaRPr lang="en-US" sz="5400" dirty="0"/>
          </a:p>
        </p:txBody>
      </p:sp>
      <p:sp>
        <p:nvSpPr>
          <p:cNvPr id="13" name="Text 11"/>
          <p:cNvSpPr txBox="1"/>
          <p:nvPr/>
        </p:nvSpPr>
        <p:spPr>
          <a:xfrm>
            <a:off x="553212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question</a:t>
            </a:r>
            <a:endParaRPr lang="en-US" sz="1800" dirty="0"/>
          </a:p>
        </p:txBody>
      </p:sp>
      <p:sp>
        <p:nvSpPr>
          <p:cNvPr id="14" name="Text 12"/>
          <p:cNvSpPr txBox="1"/>
          <p:nvPr/>
        </p:nvSpPr>
        <p:spPr>
          <a:xfrm>
            <a:off x="553212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One question I still have</a:t>
            </a:r>
            <a:endParaRPr lang="en-US" sz="1500" dirty="0"/>
          </a:p>
        </p:txBody>
      </p:sp>
      <p:sp>
        <p:nvSpPr>
          <p:cNvPr id="15" name="homework card"/>
          <p:cNvSpPr/>
          <p:nvPr/>
        </p:nvSpPr>
        <p:spPr>
          <a:xfrm>
            <a:off x="7863840" y="1508760"/>
            <a:ext cx="3749040" cy="4709160"/>
          </a:xfrm>
          <a:prstGeom prst="roundRect">
            <a:avLst>
              <a:gd name="adj" fmla="val 2927"/>
            </a:avLst>
          </a:prstGeom>
          <a:solidFill>
            <a:schemeClr val="accent1"/>
          </a:solidFill>
          <a:ln w="12700">
            <a:solidFill>
              <a:schemeClr val="accent1"/>
            </a:solidFill>
            <a:prstDash val="solid"/>
          </a:ln>
        </p:spPr>
      </p:sp>
      <p:pic>
        <p:nvPicPr>
          <p:cNvPr id="16" name="homework icon" descr="preencoded.png">    </p:cNvPr>
          <p:cNvPicPr>
            <a:picLocks noChangeAspect="1"/>
          </p:cNvPicPr>
          <p:nvPr/>
        </p:nvPicPr>
        <p:blipFill>
          <a:blip r:embed="rId1"/>
          <a:stretch>
            <a:fillRect/>
          </a:stretch>
        </p:blipFill>
        <p:spPr>
          <a:xfrm>
            <a:off x="8138160" y="1737360"/>
            <a:ext cx="502920" cy="502920"/>
          </a:xfrm>
          <a:prstGeom prst="rect">
            <a:avLst/>
          </a:prstGeom>
        </p:spPr>
      </p:pic>
      <p:sp>
        <p:nvSpPr>
          <p:cNvPr id="17" name="Text 14"/>
          <p:cNvSpPr txBox="1"/>
          <p:nvPr/>
        </p:nvSpPr>
        <p:spPr>
          <a:xfrm>
            <a:off x="8778240" y="1737360"/>
            <a:ext cx="2651760" cy="502920"/>
          </a:xfrm>
          <a:prstGeom prst="rect">
            <a:avLst/>
          </a:prstGeom>
          <a:noFill/>
          <a:ln/>
        </p:spPr>
        <p:txBody>
          <a:bodyPr wrap="square" lIns="0" tIns="0" rIns="0" bIns="0" rtlCol="0" anchor="ctr"/>
          <a:lstStyle/>
          <a:p>
            <a:pPr indent="0" marL="0">
              <a:buNone/>
            </a:pPr>
            <a:r>
              <a:rPr lang="en-US" sz="2000" b="1" dirty="0">
                <a:solidFill>
                  <a:schemeClr val="bg1"/>
                </a:solidFill>
              </a:rPr>
              <a:t>Homework / Project</a:t>
            </a:r>
            <a:endParaRPr lang="en-US" sz="2000" dirty="0"/>
          </a:p>
        </p:txBody>
      </p:sp>
      <p:sp>
        <p:nvSpPr>
          <p:cNvPr id="18" name="Text 15"/>
          <p:cNvSpPr txBox="1"/>
          <p:nvPr/>
        </p:nvSpPr>
        <p:spPr>
          <a:xfrm>
            <a:off x="8138160" y="2423160"/>
            <a:ext cx="3291840" cy="36576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bg1"/>
                </a:solidFill>
              </a:rPr>
              <a:t>Fill in the </a:t>
            </a:r>
            <a:r>
              <a:rPr lang="en-US" sz="1500" b="1" dirty="0">
                <a:solidFill>
                  <a:schemeClr val="bg1"/>
                </a:solidFill>
              </a:rPr>
              <a:t>business plan template</a:t>
            </a:r>
            <a:r>
              <a:rPr lang="en-US" sz="1500" dirty="0">
                <a:solidFill>
                  <a:schemeClr val="bg1"/>
                </a:solidFill>
              </a:rPr>
              <a:t> for your own startup idea.</a:t>
            </a:r>
            <a:endParaRPr lang="en-US" sz="1600" dirty="0"/>
          </a:p>
          <a:p>
            <a:pPr marL="228600" indent="-228600">
              <a:spcAft>
                <a:spcPts val="1000"/>
              </a:spcAft>
              <a:buSzPct val="100000"/>
              <a:buChar char="•"/>
            </a:pPr>
            <a:r>
              <a:rPr lang="en-US" sz="1500" b="1" dirty="0">
                <a:solidFill>
                  <a:schemeClr val="bg1"/>
                </a:solidFill>
              </a:rPr>
              <a:t>Interview two local business owners</a:t>
            </a:r>
            <a:r>
              <a:rPr lang="en-US" sz="1500" dirty="0">
                <a:solidFill>
                  <a:schemeClr val="bg1"/>
                </a:solidFill>
              </a:rPr>
              <a:t>: why they started, challenges, risks, lessons.</a:t>
            </a:r>
            <a:endParaRPr lang="en-US" sz="1600" dirty="0"/>
          </a:p>
          <a:p>
            <a:pPr marL="228600" indent="-228600">
              <a:spcAft>
                <a:spcPts val="1000"/>
              </a:spcAft>
              <a:buSzPct val="100000"/>
              <a:buChar char="•"/>
            </a:pPr>
            <a:r>
              <a:rPr lang="en-US" sz="1500" dirty="0">
                <a:solidFill>
                  <a:schemeClr val="bg1"/>
                </a:solidFill>
              </a:rPr>
              <a:t>Find </a:t>
            </a:r>
            <a:r>
              <a:rPr lang="en-US" sz="1500" b="1" dirty="0">
                <a:solidFill>
                  <a:schemeClr val="bg1"/>
                </a:solidFill>
              </a:rPr>
              <a:t>government schemes</a:t>
            </a:r>
            <a:r>
              <a:rPr lang="en-US" sz="1500" dirty="0">
                <a:solidFill>
                  <a:schemeClr val="bg1"/>
                </a:solidFill>
              </a:rPr>
              <a:t> for entrepreneurs (e.g. Startup India, Stand-Up India, PM Mudra Yojana) and their eligibility.</a:t>
            </a:r>
            <a:endParaRPr lang="en-US" sz="1600" dirty="0"/>
          </a:p>
          <a:p>
            <a:pPr marL="228600" indent="-228600">
              <a:spcAft>
                <a:spcPts val="1000"/>
              </a:spcAft>
              <a:buSzPct val="100000"/>
              <a:buChar char="•"/>
            </a:pPr>
            <a:r>
              <a:rPr lang="en-US" sz="1500" dirty="0">
                <a:solidFill>
                  <a:schemeClr val="bg1"/>
                </a:solidFill>
              </a:rPr>
              <a:t>Pick a popular brand: what </a:t>
            </a:r>
            <a:r>
              <a:rPr lang="en-US" sz="1500" b="1" dirty="0">
                <a:solidFill>
                  <a:schemeClr val="bg1"/>
                </a:solidFill>
              </a:rPr>
              <a:t>problem</a:t>
            </a:r>
            <a:r>
              <a:rPr lang="en-US" sz="1500" dirty="0">
                <a:solidFill>
                  <a:schemeClr val="bg1"/>
                </a:solidFill>
              </a:rPr>
              <a:t> did it solve?</a:t>
            </a:r>
            <a:endParaRPr lang="en-US" sz="1600" dirty="0"/>
          </a:p>
        </p:txBody>
      </p:sp>
      <p:pic>
        <p:nvPicPr>
          <p:cNvPr id="19" name="quote mark" descr="preencoded.png">    </p:cNvPr>
          <p:cNvPicPr>
            <a:picLocks noChangeAspect="1"/>
          </p:cNvPicPr>
          <p:nvPr/>
        </p:nvPicPr>
        <p:blipFill>
          <a:blip r:embed="rId2"/>
          <a:stretch>
            <a:fillRect/>
          </a:stretch>
        </p:blipFill>
        <p:spPr>
          <a:xfrm>
            <a:off x="731520" y="4617720"/>
            <a:ext cx="502920" cy="502920"/>
          </a:xfrm>
          <a:prstGeom prst="rect">
            <a:avLst/>
          </a:prstGeom>
        </p:spPr>
      </p:pic>
      <p:sp>
        <p:nvSpPr>
          <p:cNvPr id="20" name="Text 16"/>
          <p:cNvSpPr txBox="1"/>
          <p:nvPr/>
        </p:nvSpPr>
        <p:spPr>
          <a:xfrm>
            <a:off x="1463040" y="4526280"/>
            <a:ext cx="6035040" cy="1691640"/>
          </a:xfrm>
          <a:prstGeom prst="rect">
            <a:avLst/>
          </a:prstGeom>
          <a:noFill/>
          <a:ln/>
        </p:spPr>
        <p:txBody>
          <a:bodyPr wrap="square" lIns="0" tIns="0" rIns="0" bIns="0" rtlCol="0" anchor="ctr"/>
          <a:lstStyle/>
          <a:p>
            <a:pPr indent="0" marL="0">
              <a:buNone/>
            </a:pPr>
            <a:r>
              <a:rPr lang="en-US" sz="2200" i="1" dirty="0">
                <a:solidFill>
                  <a:schemeClr val="bg1"/>
                </a:solidFill>
                <a:latin typeface="Cambria" pitchFamily="34" charset="0"/>
                <a:ea typeface="Cambria" pitchFamily="34" charset="-122"/>
                <a:cs typeface="Cambria" pitchFamily="34" charset="-120"/>
              </a:rPr>
              <a:t>Arise, awake and stop not till the goal is reached.</a:t>
            </a:r>
            <a:endParaRPr lang="en-US" sz="2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DEEEC"/>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From Ideas to Startups">
  <a:themeElements>
    <a:clrScheme name="From Ideas to Startups">
      <a:dk1>
        <a:srgbClr val="1F2328"/>
      </a:dk1>
      <a:lt1>
        <a:srgbClr val="FFFFFF"/>
      </a:lt1>
      <a:dk2>
        <a:srgbClr val="2F3C7E"/>
      </a:dk2>
      <a:lt2>
        <a:srgbClr val="FDEEEC"/>
      </a:lt2>
      <a:accent1>
        <a:srgbClr val="C8364A"/>
      </a:accent1>
      <a:accent2>
        <a:srgbClr val="1F7A6F"/>
      </a:accent2>
      <a:accent3>
        <a:srgbClr val="F9C74F"/>
      </a:accent3>
      <a:accent4>
        <a:srgbClr val="577590"/>
      </a:accent4>
      <a:accent5>
        <a:srgbClr val="B4501A"/>
      </a:accent5>
      <a:accent6>
        <a:srgbClr val="6A4C93"/>
      </a:accent6>
      <a:hlink>
        <a:srgbClr val="0563C1"/>
      </a:hlink>
      <a:folHlink>
        <a:srgbClr val="954F72"/>
      </a:folHlink>
    </a:clrScheme>
    <a:fontScheme name="From Ideas to Startu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Edubytez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Edubytez | Grade 9 Social Science | Chapter 6: From Ideas to Startups</dc:title>
  <dc:subject>Understanding Society: India and Beyond, Grade 9 Part 2</dc:subject>
  <dc:creator>Edubytez</dc:creator>
  <cp:lastModifiedBy>Edubytez</cp:lastModifiedBy>
  <cp:revision>1</cp:revision>
  <dcterms:created xsi:type="dcterms:W3CDTF">2026-10-09T15:57:27Z</dcterms:created>
  <dcterms:modified xsi:type="dcterms:W3CDTF">2026-10-09T15:57:27Z</dcterms:modified>
</cp:coreProperties>
</file>